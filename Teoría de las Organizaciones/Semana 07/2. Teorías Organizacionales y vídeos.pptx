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2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Fop-lQPeuHk?feature=oembed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EkasNbKMJm8?start=10&amp;feature=oembe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4631977"/>
            <a:ext cx="6096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952500"/>
            <a:ext cx="5257800" cy="4953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2187922"/>
            <a:ext cx="65722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Plus Jakarta Sans"/>
              </a:rPr>
              <a:t>MARCOS DE GESTIÓN Y ESTRUCTURA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387947"/>
            <a:ext cx="5620702" cy="1139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>
                <a:solidFill>
                  <a:srgbClr val="FFFFFF"/>
                </a:solidFill>
                <a:latin typeface="Plus Jakarta Sans"/>
              </a:rPr>
              <a:t>Teorías Organizacionales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755677"/>
            <a:ext cx="53530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Evolución histórica, modelos estructurales y paradigmas clave en la gestión empresarial.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28950"/>
            <a:ext cx="2600325" cy="1809750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0425" y="3028950"/>
            <a:ext cx="2600325" cy="1809750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3028950"/>
            <a:ext cx="2600325" cy="1809750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82075" y="3028950"/>
            <a:ext cx="2600325" cy="1809750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4829175"/>
            <a:ext cx="26003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3028950"/>
            <a:ext cx="2600325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3028950"/>
            <a:ext cx="9525" cy="18097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0" y="3028950"/>
            <a:ext cx="9525" cy="18097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00425" y="4829175"/>
            <a:ext cx="26003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00425" y="3028950"/>
            <a:ext cx="2600325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00425" y="3028950"/>
            <a:ext cx="9525" cy="18097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91225" y="3028950"/>
            <a:ext cx="9525" cy="18097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1250" y="4829175"/>
            <a:ext cx="26003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91250" y="3028950"/>
            <a:ext cx="2600325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91250" y="3028950"/>
            <a:ext cx="9525" cy="18097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782050" y="3028950"/>
            <a:ext cx="9525" cy="18097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982075" y="4829175"/>
            <a:ext cx="26003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982075" y="3028950"/>
            <a:ext cx="260032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982075" y="3028950"/>
            <a:ext cx="9525" cy="18097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572875" y="3028950"/>
            <a:ext cx="9525" cy="18097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PERSPECTIVA HISTÓRICA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Evolución Cronológica de las Teorías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725" y="3295650"/>
            <a:ext cx="265509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1900 – 1930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725" y="3543300"/>
            <a:ext cx="278784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Era Clásica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7725" y="3876675"/>
            <a:ext cx="2219325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Enfoque en eficiencia de producción, tareas y estructura jerárquica rígida.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38550" y="3295650"/>
            <a:ext cx="265509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1930 – 1950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38550" y="3543300"/>
            <a:ext cx="278784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Era Humanista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38550" y="3876675"/>
            <a:ext cx="2219325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Prioridad en aspectos emocionales, motivación y dinámica de grupos.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9375" y="3295650"/>
            <a:ext cx="265509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1950 – 1970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9375" y="3543300"/>
            <a:ext cx="278784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Era Sistémica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9375" y="3876675"/>
            <a:ext cx="2219325" cy="723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Organización vista como sistema abierto interconectado con el entorno.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20200" y="3295650"/>
            <a:ext cx="265509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1980 – Presente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20200" y="3543300"/>
            <a:ext cx="278784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Era Contemporánea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20200" y="3876675"/>
            <a:ext cx="2219325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Enfoque en capacidades, institucionalismo y adaptabilidad estratégica.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447925"/>
            <a:ext cx="5735835" cy="838200"/>
          </a:xfrm>
          <a:prstGeom prst="roundRect">
            <a:avLst>
              <a:gd name="adj" fmla="val 1136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476625"/>
            <a:ext cx="5735835" cy="838200"/>
          </a:xfrm>
          <a:prstGeom prst="roundRect">
            <a:avLst>
              <a:gd name="adj" fmla="val 1136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505325"/>
            <a:ext cx="5735835" cy="838200"/>
          </a:xfrm>
          <a:prstGeom prst="roundRect">
            <a:avLst>
              <a:gd name="adj" fmla="val 1136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2635" y="2085975"/>
            <a:ext cx="4779764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FREDERICK WINSLOW TAYLOR (1911)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1. Administración Científica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2638425"/>
            <a:ext cx="702822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Estudio de Tiempos y Movimientos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2914650"/>
            <a:ext cx="6693544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Sustitución de métodos empíricos por estándares científicos de producción.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3667125"/>
            <a:ext cx="702822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Especialización del Operario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3943350"/>
            <a:ext cx="6693544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Selección y entrenamiento riguroso según aptitudes individuales.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4695825"/>
            <a:ext cx="702822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Incentivos por Salario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4972050"/>
            <a:ext cx="6693544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Remuneración basada directamente en metas de productividad alcanzadas.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33712"/>
            <a:ext cx="3505200" cy="1762125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033712"/>
            <a:ext cx="3505200" cy="1762125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033712"/>
            <a:ext cx="3505200" cy="1762125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338512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3338512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0" y="3338512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937" y="3462337"/>
            <a:ext cx="238125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3450" y="3462337"/>
            <a:ext cx="26670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825" y="3462337"/>
            <a:ext cx="20955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HENRI FAYOL (1916)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2. Teoría Clásica y Funcional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95712"/>
            <a:ext cx="38004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Estructura Formal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29087"/>
            <a:ext cx="29908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Organización basada en departamentos, niveles jerárquicos y unidad de mando.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8200" y="3795712"/>
            <a:ext cx="38004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Proceso Administrativo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4129087"/>
            <a:ext cx="29908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Cinco funciones universales: Planear, Organizar, Dirigir, Coordinar y Controlar.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0" y="3795712"/>
            <a:ext cx="38004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14 Principios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0" y="4129087"/>
            <a:ext cx="29908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Normas guía como la división del trabajo, disciplina y equidad organizativa.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3319462"/>
            <a:ext cx="3505200" cy="11906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343400" y="3319462"/>
            <a:ext cx="3505200" cy="11906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077200" y="3319462"/>
            <a:ext cx="3505200" cy="11906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3319462"/>
            <a:ext cx="38100" cy="1190625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43400" y="3319462"/>
            <a:ext cx="38100" cy="11906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077200" y="3319462"/>
            <a:ext cx="38100" cy="11906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MAX WEBER (1924)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3. Teoría de la Burocracia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86162"/>
            <a:ext cx="385048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Autoridad Racional-Legal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81437"/>
            <a:ext cx="30289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Legitimidad basada en normas escritas y reglamentos oficiales.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8200" y="3586162"/>
            <a:ext cx="385048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Impersonalidad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8200" y="3881437"/>
            <a:ext cx="30289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Decisiones tomadas según reglas previas sin favoritismos personales.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0" y="3586162"/>
            <a:ext cx="38100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Carrera Profesional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0" y="3881437"/>
            <a:ext cx="30289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Promoción y selección basadas en competencia técnica y méritos.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846564" y="2419350"/>
            <a:ext cx="5735835" cy="8572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846564" y="3467100"/>
            <a:ext cx="5735835" cy="8572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846564" y="4514850"/>
            <a:ext cx="5735835" cy="8572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085975"/>
            <a:ext cx="4779764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ELTON MAYO (1930)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4. Teoría de las Relaciones Humanas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46589" y="2619375"/>
            <a:ext cx="614541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Efecto Hawthorne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46589" y="2895600"/>
            <a:ext cx="614541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La atención recibida incrementa la productividad del trabajador.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46589" y="3667125"/>
            <a:ext cx="614541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Organización Informal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46589" y="3943350"/>
            <a:ext cx="614541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Surgimiento de normas grupales y relaciones sociales no oficiales.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46589" y="4714875"/>
            <a:ext cx="614541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Motivación Social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46589" y="4991100"/>
            <a:ext cx="614541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Reconocimiento y sentido de pertenencia superan el factor económico.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lementos multimedia en línea 1" title="EL EFECTO HAWTHORNE: Elton Mayo y las Relaciones Humanas">
            <a:hlinkClick r:id="" action="ppaction://media"/>
            <a:extLst>
              <a:ext uri="{FF2B5EF4-FFF2-40B4-BE49-F238E27FC236}">
                <a16:creationId xmlns:a16="http://schemas.microsoft.com/office/drawing/2014/main" id="{0AC1722D-6796-8B58-365C-DFADF3CBEB1A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6988" y="0"/>
            <a:ext cx="121380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879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281362"/>
            <a:ext cx="5334000" cy="1266825"/>
          </a:xfrm>
          <a:prstGeom prst="roundRect">
            <a:avLst>
              <a:gd name="adj" fmla="val 1203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3281362"/>
            <a:ext cx="5334000" cy="1266825"/>
          </a:xfrm>
          <a:prstGeom prst="roundRect">
            <a:avLst>
              <a:gd name="adj" fmla="val 1203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CHESTER BARNARD (1938)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5. Teoría de los Sistemas Cooperativos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3624262"/>
            <a:ext cx="610076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3A8A"/>
                </a:solidFill>
                <a:latin typeface="Plus Jakarta Sans"/>
              </a:rPr>
              <a:t>Eficacia Organizacional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4005262"/>
            <a:ext cx="58102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Cumplimiento efectivo de los objetivos corporativos globales.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91300" y="3624262"/>
            <a:ext cx="56007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2563EB"/>
                </a:solidFill>
                <a:latin typeface="Plus Jakarta Sans"/>
              </a:rPr>
              <a:t>Eficiencia Individual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1300" y="4005262"/>
            <a:ext cx="56007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Satisfacción de los motivos e incentivos de cada colaborador.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43237"/>
            <a:ext cx="5324475" cy="1743075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38875" y="3043237"/>
            <a:ext cx="5343525" cy="1743075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23925" y="3367087"/>
            <a:ext cx="1038225" cy="219075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62725" y="3376612"/>
            <a:ext cx="1038225" cy="21907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DOUGLAS MCGREGOR (1960)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6. Teoría X y Teoría 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8225" y="3405187"/>
            <a:ext cx="9048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Plus Jakarta Sans"/>
              </a:rPr>
              <a:t>PARADIGMA 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709987"/>
            <a:ext cx="616327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Visión Tradicional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4090987"/>
            <a:ext cx="479107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Considera que las personas evitan el trabajo y requieren control estricto.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7025" y="3414712"/>
            <a:ext cx="9048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Plus Jakarta Sans"/>
              </a:rPr>
              <a:t>PARADIGMA 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725" y="3719512"/>
            <a:ext cx="562927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Visión Humanista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725" y="4100512"/>
            <a:ext cx="479107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Asume el trabajo como fuente de satisfacción y autocontrol creativo.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447925"/>
            <a:ext cx="5735835" cy="838200"/>
          </a:xfrm>
          <a:prstGeom prst="roundRect">
            <a:avLst>
              <a:gd name="adj" fmla="val 1136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476625"/>
            <a:ext cx="5735835" cy="838200"/>
          </a:xfrm>
          <a:prstGeom prst="roundRect">
            <a:avLst>
              <a:gd name="adj" fmla="val 1136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505325"/>
            <a:ext cx="5735835" cy="838200"/>
          </a:xfrm>
          <a:prstGeom prst="roundRect">
            <a:avLst>
              <a:gd name="adj" fmla="val 1136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2635" y="2085975"/>
            <a:ext cx="4779764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LUDWIG VON BERTALANFFY (1968)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7. Teoría General de Sistemas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2638425"/>
            <a:ext cx="702822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Sistemas Abiertos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2914650"/>
            <a:ext cx="6693544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Intercambio constante de energía, materia e información con el entorno.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3667125"/>
            <a:ext cx="702822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Sinergia e Interdependencia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3943350"/>
            <a:ext cx="6693544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El todo genera mayor impacto que la suma de sus partes individuales.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4695825"/>
            <a:ext cx="702822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Entropía Negativa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4972050"/>
            <a:ext cx="6693544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Capacidad de autorregulación para evitar la desorganización interna.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243262"/>
            <a:ext cx="3505200" cy="1343025"/>
          </a:xfrm>
          <a:prstGeom prst="roundRect">
            <a:avLst>
              <a:gd name="adj" fmla="val 851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243262"/>
            <a:ext cx="3505200" cy="1343025"/>
          </a:xfrm>
          <a:prstGeom prst="roundRect">
            <a:avLst>
              <a:gd name="adj" fmla="val 851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243262"/>
            <a:ext cx="3505200" cy="1343025"/>
          </a:xfrm>
          <a:prstGeom prst="roundRect">
            <a:avLst>
              <a:gd name="adj" fmla="val 851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HERBERT SIMON (1957)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8. Teoría del Comportamiento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557587"/>
            <a:ext cx="37754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Racionalidad Limitada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910012"/>
            <a:ext cx="29718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Las decisiones se ven acotadas por la información disponible y el tiempo.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57725" y="3557587"/>
            <a:ext cx="37754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Proceso Decisorio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7725" y="3910012"/>
            <a:ext cx="29718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El núcleo esencial de la administración radica en la toma de decisiones.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1525" y="3557587"/>
            <a:ext cx="37754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Soluciones Satisfactorias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1525" y="3910012"/>
            <a:ext cx="29718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Búsqueda de opciones viables en lugar de la optimización perfecta.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319462"/>
            <a:ext cx="3505200" cy="1190625"/>
          </a:xfrm>
          <a:prstGeom prst="roundRect">
            <a:avLst>
              <a:gd name="adj" fmla="val 96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319462"/>
            <a:ext cx="3505200" cy="1190625"/>
          </a:xfrm>
          <a:prstGeom prst="roundRect">
            <a:avLst>
              <a:gd name="adj" fmla="val 96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319462"/>
            <a:ext cx="3505200" cy="1190625"/>
          </a:xfrm>
          <a:prstGeom prst="roundRect">
            <a:avLst>
              <a:gd name="adj" fmla="val 96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BURNS, STALKER Y WOODWARD (1960S)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9. Teoría Contingencial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586162"/>
            <a:ext cx="390048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3A8A"/>
                </a:solidFill>
                <a:latin typeface="Plus Jakarta Sans"/>
              </a:rPr>
              <a:t>Ausencia de Absolutos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881437"/>
            <a:ext cx="30670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No existe una única estructura ideal aplicable a todas las organizaciones.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0100" y="3586162"/>
            <a:ext cx="390048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563EB"/>
                </a:solidFill>
                <a:latin typeface="Plus Jakarta Sans"/>
              </a:rPr>
              <a:t>Estructuras Mecánicas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0100" y="3881437"/>
            <a:ext cx="30670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Adecuadas para entornos estables, predictivos y poco cambiantes.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3900" y="3586162"/>
            <a:ext cx="38481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Plus Jakarta Sans"/>
              </a:rPr>
              <a:t>Estructuras Orgánicas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3900" y="3881437"/>
            <a:ext cx="30670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Diseñadas para adaptarse con rapidez a entornos altamente dinámicos.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305175"/>
            <a:ext cx="3530649" cy="12192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30749" y="3305175"/>
            <a:ext cx="3530649" cy="12192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51899" y="3305175"/>
            <a:ext cx="3530649" cy="12192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KURT LEWIN Y COLABORADORES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10. Desarrollo Organizacional (DO)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3533775"/>
            <a:ext cx="3168699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PASO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9349" y="3533775"/>
            <a:ext cx="3168699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PASO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0499" y="3533775"/>
            <a:ext cx="3168699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PASO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819525"/>
            <a:ext cx="400889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Diagnóstico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4114800"/>
            <a:ext cx="3817999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Identificación de problemas y cultura actual.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8874" y="3819525"/>
            <a:ext cx="400889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Intervención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8874" y="4114800"/>
            <a:ext cx="3817999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Aplicación de acciones planificadas de cambio.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0024" y="3819525"/>
            <a:ext cx="39019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Evaluación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0024" y="4114800"/>
            <a:ext cx="3817999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Medición de impactos en el clima y desempeño.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3067050"/>
            <a:ext cx="5334000" cy="16954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248400" y="3067050"/>
            <a:ext cx="5334000" cy="16954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3067050"/>
            <a:ext cx="53340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248400" y="3067050"/>
            <a:ext cx="53340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ENFOQUES MODERNOS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11. Institucionalismo y Recursos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09950"/>
            <a:ext cx="62007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Teoría Institucional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62375"/>
            <a:ext cx="59055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DiMaggio y Powell (1983)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95750"/>
            <a:ext cx="48196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Plus Jakarta Sans"/>
              </a:rPr>
              <a:t>Búsqueda de legitimidad social e isomorfismo estructural en el sector.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200" y="3409950"/>
            <a:ext cx="56388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Recursos y Capacidades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200" y="3762375"/>
            <a:ext cx="56388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Jay Barney (1991)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200" y="4095750"/>
            <a:ext cx="48196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Plus Jakarta Sans"/>
              </a:rPr>
              <a:t>Generación de ventajas competitivas mediante activos valiosos e inimitables.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09887"/>
            <a:ext cx="10972800" cy="193357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600" y="2909887"/>
          <a:ext cx="10972798" cy="19335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59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89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878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3393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Dimensiones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Enfoque Clásico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Enfoque Moderno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393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Visión Humana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Recurso mecánico y ejecutor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Agente decisor y estratégico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393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Estructura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Rígida, jerárquica y centralizada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Orgánica, flexible y en red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396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Entorno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Sistema cerrado y predecible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Sistema abierto y contingente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SÍNTESIS COMPARATIVA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Paradigmas: Clásico vs. Moderno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4591942"/>
            <a:ext cx="6096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2635" y="1143000"/>
            <a:ext cx="4779764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2227957"/>
            <a:ext cx="716979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Plus Jakarta Sans"/>
              </a:rPr>
              <a:t>SÍNTESIS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580382"/>
            <a:ext cx="6122640" cy="963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95"/>
              </a:lnSpc>
            </a:pPr>
            <a:r>
              <a:rPr sz="3300" b="1" i="0" u="none">
                <a:solidFill>
                  <a:srgbClr val="FFFFFF"/>
                </a:solidFill>
                <a:latin typeface="Plus Jakarta Sans"/>
              </a:rPr>
              <a:t>La Organización del Siglo XXI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772792"/>
            <a:ext cx="583108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Plus Jakarta Sans"/>
              </a:rPr>
              <a:t>Las teorías organizacionales combinan la eficiencia operativa clásica con la agilidad estratégica del entorno digital.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lementos multimedia en línea 1" title="CUÁLES SON LAS TEORÍAS ADMINISTRATIVAS MÁS IMPORTANTES,Taylor, Fayol, Drucker, Weber, Ford, Mayo">
            <a:hlinkClick r:id="" action="ppaction://media"/>
            <a:extLst>
              <a:ext uri="{FF2B5EF4-FFF2-40B4-BE49-F238E27FC236}">
                <a16:creationId xmlns:a16="http://schemas.microsoft.com/office/drawing/2014/main" id="{4209A78A-D76A-C43A-5BC5-72675C6EC921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6988" y="0"/>
            <a:ext cx="121380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150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672</Words>
  <Application>Microsoft Office PowerPoint</Application>
  <PresentationFormat>Panorámica</PresentationFormat>
  <Paragraphs>123</Paragraphs>
  <Slides>17</Slides>
  <Notes>0</Notes>
  <HiddenSlides>0</HiddenSlides>
  <MMClips>2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Arial</vt:lpstr>
      <vt:lpstr>Calibri</vt:lpstr>
      <vt:lpstr>Plus Jakarta Sans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PRIVADO</dc:creator>
  <cp:keywords/>
  <dc:description>generated using python-pptx</dc:description>
  <cp:lastModifiedBy>juan carlos diaz pascuas</cp:lastModifiedBy>
  <cp:revision>2</cp:revision>
  <dcterms:created xsi:type="dcterms:W3CDTF">2013-01-27T09:14:16Z</dcterms:created>
  <dcterms:modified xsi:type="dcterms:W3CDTF">2026-09-13T15:45:55Z</dcterms:modified>
  <cp:category/>
</cp:coreProperties>
</file>