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</p:sldIdLst>
  <p:sldSz cx="9144000" cy="6858000" type="screen4x3"/>
  <p:notesSz cx="9144000" cy="6858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386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9/23/2020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500" b="1" i="1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9/23/2020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9/23/2020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9/23/2020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9/23/2020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176143" y="461899"/>
            <a:ext cx="2791713" cy="696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3399" y="1507485"/>
            <a:ext cx="8077200" cy="45370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1" i="1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9/23/2020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proquis.com/" TargetMode="External"/><Relationship Id="rId2" Type="http://schemas.openxmlformats.org/officeDocument/2006/relationships/hyperlink" Target="http://www.allclearonline.com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www.criticaltools.com/" TargetMode="External"/><Relationship Id="rId4" Type="http://schemas.openxmlformats.org/officeDocument/2006/relationships/hyperlink" Target="http://office.microsoft.com/es-hn/visio" TargetMode="Externa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01034" y="461899"/>
            <a:ext cx="174307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A</a:t>
            </a:r>
            <a:r>
              <a:rPr spc="-40" dirty="0"/>
              <a:t>g</a:t>
            </a:r>
            <a:r>
              <a:rPr dirty="0"/>
              <a:t>enda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408938"/>
            <a:ext cx="3620135" cy="4141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1500" b="1" spc="-5" dirty="0">
                <a:latin typeface="Calibri"/>
                <a:cs typeface="Calibri"/>
              </a:rPr>
              <a:t>GRUPO DE PROCESOS DE</a:t>
            </a:r>
            <a:r>
              <a:rPr sz="1500" b="1" spc="-45" dirty="0">
                <a:latin typeface="Calibri"/>
                <a:cs typeface="Calibri"/>
              </a:rPr>
              <a:t> </a:t>
            </a:r>
            <a:r>
              <a:rPr sz="1500" b="1" spc="-5" dirty="0">
                <a:latin typeface="Calibri"/>
                <a:cs typeface="Calibri"/>
              </a:rPr>
              <a:t>PLANIFICACION</a:t>
            </a:r>
            <a:endParaRPr sz="15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Font typeface="Arial"/>
              <a:buChar char="•"/>
            </a:pPr>
            <a:endParaRPr sz="1550">
              <a:latin typeface="Times New Roman"/>
              <a:cs typeface="Times New Roman"/>
            </a:endParaRPr>
          </a:p>
          <a:p>
            <a:pPr marL="756285" lvl="1" indent="-287020">
              <a:lnSpc>
                <a:spcPct val="100000"/>
              </a:lnSpc>
              <a:buFont typeface="Arial"/>
              <a:buChar char="–"/>
              <a:tabLst>
                <a:tab pos="756285" algn="l"/>
                <a:tab pos="756920" algn="l"/>
              </a:tabLst>
            </a:pPr>
            <a:r>
              <a:rPr sz="1500" spc="-5" dirty="0">
                <a:latin typeface="Calibri"/>
                <a:cs typeface="Calibri"/>
              </a:rPr>
              <a:t>Planificar </a:t>
            </a:r>
            <a:r>
              <a:rPr sz="1500" dirty="0">
                <a:latin typeface="Calibri"/>
                <a:cs typeface="Calibri"/>
              </a:rPr>
              <a:t>la </a:t>
            </a:r>
            <a:r>
              <a:rPr sz="1500" spc="-5" dirty="0">
                <a:latin typeface="Calibri"/>
                <a:cs typeface="Calibri"/>
              </a:rPr>
              <a:t>Gestión </a:t>
            </a:r>
            <a:r>
              <a:rPr sz="1500" dirty="0">
                <a:latin typeface="Calibri"/>
                <a:cs typeface="Calibri"/>
              </a:rPr>
              <a:t>del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spc="-5" dirty="0">
                <a:latin typeface="Calibri"/>
                <a:cs typeface="Calibri"/>
              </a:rPr>
              <a:t>Alcance</a:t>
            </a:r>
            <a:endParaRPr sz="150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1500" spc="-10" dirty="0">
                <a:latin typeface="Calibri"/>
                <a:cs typeface="Calibri"/>
              </a:rPr>
              <a:t>Entradas</a:t>
            </a:r>
            <a:endParaRPr sz="150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1500" spc="-10" dirty="0">
                <a:latin typeface="Calibri"/>
                <a:cs typeface="Calibri"/>
              </a:rPr>
              <a:t>Herramientas </a:t>
            </a:r>
            <a:r>
              <a:rPr sz="1500" dirty="0">
                <a:latin typeface="Calibri"/>
                <a:cs typeface="Calibri"/>
              </a:rPr>
              <a:t>y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spc="-20" dirty="0">
                <a:latin typeface="Calibri"/>
                <a:cs typeface="Calibri"/>
              </a:rPr>
              <a:t>Técnicas</a:t>
            </a:r>
            <a:endParaRPr sz="150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1500" spc="-5" dirty="0">
                <a:latin typeface="Calibri"/>
                <a:cs typeface="Calibri"/>
              </a:rPr>
              <a:t>Salidas</a:t>
            </a:r>
            <a:endParaRPr sz="15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buFont typeface="Arial"/>
              <a:buChar char="–"/>
              <a:tabLst>
                <a:tab pos="756285" algn="l"/>
                <a:tab pos="756920" algn="l"/>
              </a:tabLst>
            </a:pPr>
            <a:r>
              <a:rPr sz="1500" spc="-10" dirty="0">
                <a:latin typeface="Calibri"/>
                <a:cs typeface="Calibri"/>
              </a:rPr>
              <a:t>Recolectar</a:t>
            </a:r>
            <a:r>
              <a:rPr sz="1500" spc="-5" dirty="0">
                <a:latin typeface="Calibri"/>
                <a:cs typeface="Calibri"/>
              </a:rPr>
              <a:t> Requerimientos</a:t>
            </a:r>
            <a:endParaRPr sz="150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1500" spc="-10" dirty="0">
                <a:latin typeface="Calibri"/>
                <a:cs typeface="Calibri"/>
              </a:rPr>
              <a:t>Entradas</a:t>
            </a:r>
            <a:endParaRPr sz="150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1500" spc="-10" dirty="0">
                <a:latin typeface="Calibri"/>
                <a:cs typeface="Calibri"/>
              </a:rPr>
              <a:t>Herramientas </a:t>
            </a:r>
            <a:r>
              <a:rPr sz="1500" dirty="0">
                <a:latin typeface="Calibri"/>
                <a:cs typeface="Calibri"/>
              </a:rPr>
              <a:t>y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spc="-20" dirty="0">
                <a:latin typeface="Calibri"/>
                <a:cs typeface="Calibri"/>
              </a:rPr>
              <a:t>Técnicas</a:t>
            </a:r>
            <a:endParaRPr sz="150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1500" spc="-5" dirty="0">
                <a:latin typeface="Calibri"/>
                <a:cs typeface="Calibri"/>
              </a:rPr>
              <a:t>Salidas</a:t>
            </a:r>
            <a:endParaRPr sz="15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buFont typeface="Arial"/>
              <a:buChar char="–"/>
              <a:tabLst>
                <a:tab pos="756285" algn="l"/>
                <a:tab pos="756920" algn="l"/>
              </a:tabLst>
            </a:pPr>
            <a:r>
              <a:rPr sz="1500" spc="-5" dirty="0">
                <a:latin typeface="Calibri"/>
                <a:cs typeface="Calibri"/>
              </a:rPr>
              <a:t>Definir </a:t>
            </a:r>
            <a:r>
              <a:rPr sz="1500" dirty="0">
                <a:latin typeface="Calibri"/>
                <a:cs typeface="Calibri"/>
              </a:rPr>
              <a:t>el</a:t>
            </a:r>
            <a:r>
              <a:rPr sz="1500" spc="-55" dirty="0">
                <a:latin typeface="Calibri"/>
                <a:cs typeface="Calibri"/>
              </a:rPr>
              <a:t> </a:t>
            </a:r>
            <a:r>
              <a:rPr sz="1500" spc="-5" dirty="0">
                <a:latin typeface="Calibri"/>
                <a:cs typeface="Calibri"/>
              </a:rPr>
              <a:t>Alcance</a:t>
            </a:r>
            <a:endParaRPr sz="150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1500" spc="-10" dirty="0">
                <a:latin typeface="Calibri"/>
                <a:cs typeface="Calibri"/>
              </a:rPr>
              <a:t>Entradas</a:t>
            </a:r>
            <a:endParaRPr sz="150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1500" spc="-10" dirty="0">
                <a:latin typeface="Calibri"/>
                <a:cs typeface="Calibri"/>
              </a:rPr>
              <a:t>Herramientas </a:t>
            </a:r>
            <a:r>
              <a:rPr sz="1500" dirty="0">
                <a:latin typeface="Calibri"/>
                <a:cs typeface="Calibri"/>
              </a:rPr>
              <a:t>y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spc="-20" dirty="0">
                <a:latin typeface="Calibri"/>
                <a:cs typeface="Calibri"/>
              </a:rPr>
              <a:t>Técnicas</a:t>
            </a:r>
            <a:endParaRPr sz="150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1500" spc="-5" dirty="0">
                <a:latin typeface="Calibri"/>
                <a:cs typeface="Calibri"/>
              </a:rPr>
              <a:t>Salidas</a:t>
            </a:r>
            <a:endParaRPr sz="15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buFont typeface="Arial"/>
              <a:buChar char="–"/>
              <a:tabLst>
                <a:tab pos="756285" algn="l"/>
                <a:tab pos="756920" algn="l"/>
              </a:tabLst>
            </a:pPr>
            <a:r>
              <a:rPr sz="1500" spc="-5" dirty="0">
                <a:latin typeface="Calibri"/>
                <a:cs typeface="Calibri"/>
              </a:rPr>
              <a:t>Crear </a:t>
            </a:r>
            <a:r>
              <a:rPr sz="1500" dirty="0">
                <a:latin typeface="Calibri"/>
                <a:cs typeface="Calibri"/>
              </a:rPr>
              <a:t>la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EDT</a:t>
            </a:r>
            <a:endParaRPr sz="150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1500" spc="-10" dirty="0">
                <a:latin typeface="Calibri"/>
                <a:cs typeface="Calibri"/>
              </a:rPr>
              <a:t>Entradas</a:t>
            </a:r>
            <a:endParaRPr sz="150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1500" spc="-10" dirty="0">
                <a:latin typeface="Calibri"/>
                <a:cs typeface="Calibri"/>
              </a:rPr>
              <a:t>Herramientas </a:t>
            </a:r>
            <a:r>
              <a:rPr sz="1500" dirty="0">
                <a:latin typeface="Calibri"/>
                <a:cs typeface="Calibri"/>
              </a:rPr>
              <a:t>y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spc="-20" dirty="0">
                <a:latin typeface="Calibri"/>
                <a:cs typeface="Calibri"/>
              </a:rPr>
              <a:t>Técnicas</a:t>
            </a:r>
            <a:endParaRPr sz="150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1500" spc="-5" dirty="0">
                <a:latin typeface="Calibri"/>
                <a:cs typeface="Calibri"/>
              </a:rPr>
              <a:t>Salidas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4" name="CuadroTexto 3"/>
          <p:cNvSpPr txBox="1"/>
          <p:nvPr/>
        </p:nvSpPr>
        <p:spPr>
          <a:xfrm>
            <a:off x="762000" y="5791200"/>
            <a:ext cx="6172200" cy="9361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CO" b="1" i="1" spc="-5" dirty="0">
                <a:latin typeface="Arial"/>
                <a:cs typeface="Arial"/>
              </a:rPr>
              <a:t>Sacado de: </a:t>
            </a:r>
            <a:r>
              <a:rPr lang="es-CO" b="1" i="1" dirty="0">
                <a:latin typeface="Arial"/>
                <a:cs typeface="Arial"/>
              </a:rPr>
              <a:t>Juan Carlos </a:t>
            </a:r>
            <a:r>
              <a:rPr lang="es-CO" b="1" i="1" dirty="0" err="1">
                <a:latin typeface="Arial"/>
                <a:cs typeface="Arial"/>
              </a:rPr>
              <a:t>Jimenez</a:t>
            </a:r>
            <a:r>
              <a:rPr lang="es-CO" b="1" i="1" dirty="0">
                <a:latin typeface="Arial"/>
                <a:cs typeface="Arial"/>
              </a:rPr>
              <a:t> Sanz – </a:t>
            </a:r>
            <a:r>
              <a:rPr lang="es-CO" b="1" i="1" spc="-5" dirty="0">
                <a:latin typeface="Arial"/>
                <a:cs typeface="Arial"/>
              </a:rPr>
              <a:t>PMP</a:t>
            </a:r>
            <a:r>
              <a:rPr lang="es-CO" b="1" i="1" spc="-204" dirty="0">
                <a:latin typeface="Arial"/>
                <a:cs typeface="Arial"/>
              </a:rPr>
              <a:t> </a:t>
            </a:r>
            <a:r>
              <a:rPr lang="es-CO" dirty="0">
                <a:latin typeface="Arial"/>
                <a:cs typeface="Arial"/>
              </a:rPr>
              <a:t>®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CO" dirty="0">
                <a:latin typeface="Arial"/>
                <a:cs typeface="Arial"/>
              </a:rPr>
              <a:t>Exponente Iván Alarcón </a:t>
            </a:r>
            <a:r>
              <a:rPr lang="es-CO" dirty="0" err="1">
                <a:latin typeface="Arial"/>
                <a:cs typeface="Arial"/>
              </a:rPr>
              <a:t>Avila</a:t>
            </a:r>
            <a:endParaRPr lang="es-CO" dirty="0">
              <a:latin typeface="Arial"/>
              <a:cs typeface="Arial"/>
            </a:endParaRPr>
          </a:p>
          <a:p>
            <a:endParaRPr lang="es-CO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1634" y="0"/>
            <a:ext cx="786447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Grupos </a:t>
            </a:r>
            <a:r>
              <a:rPr sz="3600" spc="-5" dirty="0"/>
              <a:t>de </a:t>
            </a:r>
            <a:r>
              <a:rPr sz="3600" spc="-10" dirty="0"/>
              <a:t>proceso-áreas </a:t>
            </a:r>
            <a:r>
              <a:rPr sz="3600" spc="-5" dirty="0"/>
              <a:t>de</a:t>
            </a:r>
            <a:r>
              <a:rPr sz="3600" spc="-75" dirty="0"/>
              <a:t> </a:t>
            </a:r>
            <a:r>
              <a:rPr sz="3600" spc="-15" dirty="0"/>
              <a:t>conocimiento</a:t>
            </a:r>
            <a:endParaRPr sz="360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-6350" y="398272"/>
          <a:ext cx="9163050" cy="63582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49400"/>
                <a:gridCol w="1549400"/>
                <a:gridCol w="1549400"/>
                <a:gridCol w="1549400"/>
                <a:gridCol w="1549400"/>
                <a:gridCol w="1395729"/>
              </a:tblGrid>
              <a:tr h="175387">
                <a:tc>
                  <a:txBody>
                    <a:bodyPr/>
                    <a:lstStyle/>
                    <a:p>
                      <a:pPr algn="ctr">
                        <a:lnSpc>
                          <a:spcPts val="1230"/>
                        </a:lnSpc>
                        <a:spcBef>
                          <a:spcPts val="50"/>
                        </a:spcBef>
                      </a:pPr>
                      <a:r>
                        <a:rPr sz="11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Área </a:t>
                      </a:r>
                      <a:r>
                        <a:rPr sz="11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/</a:t>
                      </a:r>
                      <a:r>
                        <a:rPr sz="1100" b="1" spc="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Proceso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6350" marB="0">
                    <a:lnL w="12700">
                      <a:solidFill>
                        <a:srgbClr val="F79546"/>
                      </a:solidFill>
                      <a:prstDash val="solid"/>
                    </a:lnL>
                    <a:lnR w="6350">
                      <a:solidFill>
                        <a:srgbClr val="F79546"/>
                      </a:solidFill>
                      <a:prstDash val="solid"/>
                    </a:lnR>
                    <a:lnT w="12700">
                      <a:solidFill>
                        <a:srgbClr val="F79546"/>
                      </a:solidFill>
                      <a:prstDash val="solid"/>
                    </a:lnT>
                    <a:lnB w="6350">
                      <a:solidFill>
                        <a:srgbClr val="7E7E7E"/>
                      </a:solidFill>
                      <a:prstDash val="solid"/>
                    </a:lnB>
                    <a:solidFill>
                      <a:srgbClr val="E6B8B8"/>
                    </a:solidFill>
                  </a:tcPr>
                </a:tc>
                <a:tc>
                  <a:txBody>
                    <a:bodyPr/>
                    <a:lstStyle/>
                    <a:p>
                      <a:pPr marL="451484">
                        <a:lnSpc>
                          <a:spcPts val="1230"/>
                        </a:lnSpc>
                        <a:spcBef>
                          <a:spcPts val="50"/>
                        </a:spcBef>
                      </a:pPr>
                      <a:r>
                        <a:rPr sz="11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Iniciación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6350" marB="0">
                    <a:lnL w="6350" cap="flat" cmpd="sng" algn="ctr">
                      <a:solidFill>
                        <a:srgbClr val="F795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6350">
                      <a:solidFill>
                        <a:srgbClr val="7E7E7E"/>
                      </a:solidFill>
                      <a:prstDash val="solid"/>
                    </a:lnB>
                    <a:solidFill>
                      <a:srgbClr val="F79546"/>
                    </a:solidFill>
                  </a:tcPr>
                </a:tc>
                <a:tc>
                  <a:txBody>
                    <a:bodyPr/>
                    <a:lstStyle/>
                    <a:p>
                      <a:pPr marL="341630">
                        <a:lnSpc>
                          <a:spcPts val="1230"/>
                        </a:lnSpc>
                        <a:spcBef>
                          <a:spcPts val="50"/>
                        </a:spcBef>
                      </a:pPr>
                      <a:r>
                        <a:rPr sz="11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Planificación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6350" marB="0">
                    <a:lnB w="6350">
                      <a:solidFill>
                        <a:srgbClr val="7E7E7E"/>
                      </a:solidFill>
                      <a:prstDash val="solid"/>
                    </a:lnB>
                    <a:solidFill>
                      <a:srgbClr val="F79546"/>
                    </a:solidFill>
                  </a:tcPr>
                </a:tc>
                <a:tc>
                  <a:txBody>
                    <a:bodyPr/>
                    <a:lstStyle/>
                    <a:p>
                      <a:pPr marL="444500">
                        <a:lnSpc>
                          <a:spcPts val="1230"/>
                        </a:lnSpc>
                        <a:spcBef>
                          <a:spcPts val="50"/>
                        </a:spcBef>
                      </a:pPr>
                      <a:r>
                        <a:rPr sz="11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Ejecución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6350" marB="0">
                    <a:lnB w="6350">
                      <a:solidFill>
                        <a:srgbClr val="7E7E7E"/>
                      </a:solidFill>
                      <a:prstDash val="solid"/>
                    </a:lnB>
                    <a:solidFill>
                      <a:srgbClr val="F79546"/>
                    </a:solidFill>
                  </a:tcPr>
                </a:tc>
                <a:tc>
                  <a:txBody>
                    <a:bodyPr/>
                    <a:lstStyle/>
                    <a:p>
                      <a:pPr marL="111125">
                        <a:lnSpc>
                          <a:spcPts val="1230"/>
                        </a:lnSpc>
                        <a:spcBef>
                          <a:spcPts val="50"/>
                        </a:spcBef>
                      </a:pPr>
                      <a:r>
                        <a:rPr sz="11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Monitoreo y</a:t>
                      </a:r>
                      <a:r>
                        <a:rPr sz="1100" b="1" spc="-8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Control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6350" marB="0">
                    <a:lnB w="6350">
                      <a:solidFill>
                        <a:srgbClr val="7E7E7E"/>
                      </a:solidFill>
                      <a:prstDash val="solid"/>
                    </a:lnB>
                    <a:solidFill>
                      <a:srgbClr val="F79546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230"/>
                        </a:lnSpc>
                        <a:spcBef>
                          <a:spcPts val="50"/>
                        </a:spcBef>
                      </a:pPr>
                      <a:r>
                        <a:rPr sz="11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Cierre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6350" marB="0">
                    <a:lnB w="6350">
                      <a:solidFill>
                        <a:srgbClr val="7E7E7E"/>
                      </a:solidFill>
                      <a:prstDash val="solid"/>
                    </a:lnB>
                    <a:solidFill>
                      <a:srgbClr val="F79546"/>
                    </a:solidFill>
                  </a:tcPr>
                </a:tc>
              </a:tr>
              <a:tr h="55638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sz="9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Gestión </a:t>
                      </a:r>
                      <a:r>
                        <a:rPr sz="9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de la</a:t>
                      </a:r>
                      <a:r>
                        <a:rPr sz="900" b="1" spc="-3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Integración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3175" marB="0">
                    <a:lnT w="6350">
                      <a:solidFill>
                        <a:srgbClr val="7E7E7E"/>
                      </a:solidFill>
                      <a:prstDash val="solid"/>
                    </a:lnT>
                    <a:lnB w="6350">
                      <a:solidFill>
                        <a:srgbClr val="7E7E7E"/>
                      </a:solidFill>
                      <a:prstDash val="solid"/>
                    </a:lnB>
                    <a:solidFill>
                      <a:srgbClr val="F79546"/>
                    </a:solidFill>
                  </a:tcPr>
                </a:tc>
                <a:tc>
                  <a:txBody>
                    <a:bodyPr/>
                    <a:lstStyle/>
                    <a:p>
                      <a:pPr marL="7620" marR="238760">
                        <a:lnSpc>
                          <a:spcPct val="100000"/>
                        </a:lnSpc>
                        <a:spcBef>
                          <a:spcPts val="35"/>
                        </a:spcBef>
                        <a:buSzPct val="88888"/>
                        <a:buChar char="•"/>
                        <a:tabLst>
                          <a:tab pos="48895" algn="l"/>
                        </a:tabLst>
                      </a:pPr>
                      <a:r>
                        <a:rPr sz="900" dirty="0">
                          <a:latin typeface="Arial"/>
                          <a:cs typeface="Arial"/>
                        </a:rPr>
                        <a:t>Desarrollar 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el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Acta 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de 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Constitución 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del</a:t>
                      </a:r>
                      <a:r>
                        <a:rPr sz="900" spc="-9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Proyecto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4445" marB="0">
                    <a:lnR w="12700">
                      <a:solidFill>
                        <a:srgbClr val="F79546"/>
                      </a:solidFill>
                      <a:prstDash val="solid"/>
                    </a:lnR>
                    <a:lnT w="6350">
                      <a:solidFill>
                        <a:srgbClr val="7E7E7E"/>
                      </a:solidFill>
                      <a:prstDash val="solid"/>
                    </a:lnT>
                    <a:lnB w="6350">
                      <a:solidFill>
                        <a:srgbClr val="7E7E7E"/>
                      </a:solidFill>
                      <a:prstDash val="solid"/>
                    </a:lnB>
                    <a:solidFill>
                      <a:srgbClr val="B8CDE4"/>
                    </a:solidFill>
                  </a:tcPr>
                </a:tc>
                <a:tc>
                  <a:txBody>
                    <a:bodyPr/>
                    <a:lstStyle/>
                    <a:p>
                      <a:pPr marL="7620" marR="140970">
                        <a:lnSpc>
                          <a:spcPct val="100000"/>
                        </a:lnSpc>
                        <a:spcBef>
                          <a:spcPts val="35"/>
                        </a:spcBef>
                        <a:buChar char="•"/>
                        <a:tabLst>
                          <a:tab pos="80010" algn="l"/>
                        </a:tabLst>
                      </a:pPr>
                      <a:r>
                        <a:rPr sz="900" dirty="0">
                          <a:latin typeface="Arial"/>
                          <a:cs typeface="Arial"/>
                        </a:rPr>
                        <a:t>Desarrollar 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el Plan para</a:t>
                      </a:r>
                      <a:r>
                        <a:rPr sz="900" spc="-8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la 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Dirección 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del</a:t>
                      </a:r>
                      <a:r>
                        <a:rPr sz="900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Proyecto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4445" marB="0">
                    <a:lnL w="12700">
                      <a:solidFill>
                        <a:srgbClr val="F79546"/>
                      </a:solidFill>
                      <a:prstDash val="solid"/>
                    </a:lnL>
                    <a:lnR w="6350">
                      <a:solidFill>
                        <a:srgbClr val="F79546"/>
                      </a:solidFill>
                      <a:prstDash val="solid"/>
                    </a:lnR>
                    <a:lnT w="6350">
                      <a:solidFill>
                        <a:srgbClr val="7E7E7E"/>
                      </a:solidFill>
                      <a:prstDash val="solid"/>
                    </a:lnT>
                    <a:lnB w="6350">
                      <a:solidFill>
                        <a:srgbClr val="FF0000"/>
                      </a:solidFill>
                      <a:prstDash val="solid"/>
                    </a:lnB>
                    <a:solidFill>
                      <a:srgbClr val="B8CDE4"/>
                    </a:solidFill>
                  </a:tcPr>
                </a:tc>
                <a:tc>
                  <a:txBody>
                    <a:bodyPr/>
                    <a:lstStyle/>
                    <a:p>
                      <a:pPr marL="8255" marR="75565">
                        <a:lnSpc>
                          <a:spcPct val="100000"/>
                        </a:lnSpc>
                        <a:spcBef>
                          <a:spcPts val="35"/>
                        </a:spcBef>
                        <a:buSzPct val="88888"/>
                        <a:buChar char="•"/>
                        <a:tabLst>
                          <a:tab pos="49530" algn="l"/>
                        </a:tabLst>
                      </a:pPr>
                      <a:r>
                        <a:rPr sz="900" spc="-5" dirty="0">
                          <a:latin typeface="Arial"/>
                          <a:cs typeface="Arial"/>
                        </a:rPr>
                        <a:t>Dirigir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y Gestionar 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el</a:t>
                      </a:r>
                      <a:r>
                        <a:rPr sz="900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trabajo  del</a:t>
                      </a:r>
                      <a:r>
                        <a:rPr sz="9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proyecto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4445" marB="0">
                    <a:lnL w="6350">
                      <a:solidFill>
                        <a:srgbClr val="F79546"/>
                      </a:solidFill>
                      <a:prstDash val="solid"/>
                    </a:lnL>
                    <a:lnR w="12700">
                      <a:solidFill>
                        <a:srgbClr val="F79546"/>
                      </a:solidFill>
                      <a:prstDash val="solid"/>
                    </a:lnR>
                    <a:lnT w="6350">
                      <a:solidFill>
                        <a:srgbClr val="7E7E7E"/>
                      </a:solidFill>
                      <a:prstDash val="solid"/>
                    </a:lnT>
                    <a:lnB w="6350">
                      <a:solidFill>
                        <a:srgbClr val="7E7E7E"/>
                      </a:solidFill>
                      <a:prstDash val="solid"/>
                    </a:lnB>
                    <a:solidFill>
                      <a:srgbClr val="B8CDE4"/>
                    </a:solidFill>
                  </a:tcPr>
                </a:tc>
                <a:tc>
                  <a:txBody>
                    <a:bodyPr/>
                    <a:lstStyle/>
                    <a:p>
                      <a:pPr marL="8255" marR="235585">
                        <a:lnSpc>
                          <a:spcPct val="100000"/>
                        </a:lnSpc>
                        <a:spcBef>
                          <a:spcPts val="35"/>
                        </a:spcBef>
                        <a:buSzPct val="88888"/>
                        <a:buChar char="•"/>
                        <a:tabLst>
                          <a:tab pos="49530" algn="l"/>
                        </a:tabLst>
                      </a:pPr>
                      <a:r>
                        <a:rPr sz="900" spc="-5" dirty="0">
                          <a:latin typeface="Arial"/>
                          <a:cs typeface="Arial"/>
                        </a:rPr>
                        <a:t>Monitorear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y 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Controlar el  trabajo del</a:t>
                      </a:r>
                      <a:r>
                        <a:rPr sz="9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Proyecto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8255" marR="44450">
                        <a:lnSpc>
                          <a:spcPct val="100000"/>
                        </a:lnSpc>
                        <a:spcBef>
                          <a:spcPts val="5"/>
                        </a:spcBef>
                        <a:buSzPct val="88888"/>
                        <a:buChar char="•"/>
                        <a:tabLst>
                          <a:tab pos="49530" algn="l"/>
                        </a:tabLst>
                      </a:pPr>
                      <a:r>
                        <a:rPr sz="900" spc="-5" dirty="0">
                          <a:latin typeface="Arial"/>
                          <a:cs typeface="Arial"/>
                        </a:rPr>
                        <a:t>Realizar el Control integrado  de</a:t>
                      </a:r>
                      <a:r>
                        <a:rPr sz="9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Cambios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4445" marB="0">
                    <a:lnL w="12700">
                      <a:solidFill>
                        <a:srgbClr val="F79546"/>
                      </a:solidFill>
                      <a:prstDash val="solid"/>
                    </a:lnL>
                    <a:lnR w="6350">
                      <a:solidFill>
                        <a:srgbClr val="F79546"/>
                      </a:solidFill>
                      <a:prstDash val="solid"/>
                    </a:lnR>
                    <a:lnT w="6350">
                      <a:solidFill>
                        <a:srgbClr val="7E7E7E"/>
                      </a:solidFill>
                      <a:prstDash val="solid"/>
                    </a:lnT>
                    <a:lnB w="6350">
                      <a:solidFill>
                        <a:srgbClr val="7E7E7E"/>
                      </a:solidFill>
                      <a:prstDash val="solid"/>
                    </a:lnB>
                    <a:solidFill>
                      <a:srgbClr val="B8CDE4"/>
                    </a:solidFill>
                  </a:tcPr>
                </a:tc>
                <a:tc>
                  <a:txBody>
                    <a:bodyPr/>
                    <a:lstStyle/>
                    <a:p>
                      <a:pPr marL="49530" indent="-41275">
                        <a:lnSpc>
                          <a:spcPct val="100000"/>
                        </a:lnSpc>
                        <a:spcBef>
                          <a:spcPts val="35"/>
                        </a:spcBef>
                        <a:buSzPct val="88888"/>
                        <a:buChar char="•"/>
                        <a:tabLst>
                          <a:tab pos="50165" algn="l"/>
                        </a:tabLst>
                      </a:pPr>
                      <a:r>
                        <a:rPr sz="900" dirty="0">
                          <a:latin typeface="Arial"/>
                          <a:cs typeface="Arial"/>
                        </a:rPr>
                        <a:t>Cerrar 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el Proyecto o</a:t>
                      </a:r>
                      <a:r>
                        <a:rPr sz="900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Fase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4445" marB="0">
                    <a:lnL w="6350">
                      <a:solidFill>
                        <a:srgbClr val="F79546"/>
                      </a:solidFill>
                      <a:prstDash val="solid"/>
                    </a:lnL>
                    <a:lnR w="12700">
                      <a:solidFill>
                        <a:srgbClr val="F79546"/>
                      </a:solidFill>
                      <a:prstDash val="solid"/>
                    </a:lnR>
                    <a:lnT w="6350">
                      <a:solidFill>
                        <a:srgbClr val="7E7E7E"/>
                      </a:solidFill>
                      <a:prstDash val="solid"/>
                    </a:lnT>
                    <a:lnB w="6350">
                      <a:solidFill>
                        <a:srgbClr val="7E7E7E"/>
                      </a:solidFill>
                      <a:prstDash val="solid"/>
                    </a:lnB>
                    <a:solidFill>
                      <a:srgbClr val="B8CDE4"/>
                    </a:solidFill>
                  </a:tcPr>
                </a:tc>
              </a:tr>
              <a:tr h="69354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8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Gestión </a:t>
                      </a:r>
                      <a:r>
                        <a:rPr sz="9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del</a:t>
                      </a:r>
                      <a:r>
                        <a:rPr sz="900" b="1" spc="-3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Alcance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6350">
                      <a:solidFill>
                        <a:srgbClr val="7E7E7E"/>
                      </a:solidFill>
                      <a:prstDash val="solid"/>
                    </a:lnT>
                    <a:lnB w="6350">
                      <a:solidFill>
                        <a:srgbClr val="7E7E7E"/>
                      </a:solidFill>
                      <a:prstDash val="solid"/>
                    </a:lnB>
                    <a:solidFill>
                      <a:srgbClr val="F795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38100">
                      <a:solidFill>
                        <a:srgbClr val="FF0000"/>
                      </a:solidFill>
                      <a:prstDash val="solid"/>
                    </a:lnR>
                    <a:lnT w="6350">
                      <a:solidFill>
                        <a:srgbClr val="7E7E7E"/>
                      </a:solidFill>
                      <a:prstDash val="solid"/>
                    </a:lnT>
                    <a:lnB w="635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" marR="319405">
                        <a:lnSpc>
                          <a:spcPct val="100000"/>
                        </a:lnSpc>
                        <a:spcBef>
                          <a:spcPts val="40"/>
                        </a:spcBef>
                        <a:buSzPct val="88888"/>
                        <a:buChar char="•"/>
                        <a:tabLst>
                          <a:tab pos="48895" algn="l"/>
                        </a:tabLst>
                      </a:pPr>
                      <a:r>
                        <a:rPr sz="900" dirty="0">
                          <a:latin typeface="Arial"/>
                          <a:cs typeface="Arial"/>
                        </a:rPr>
                        <a:t>Planificar 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la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gestión</a:t>
                      </a:r>
                      <a:r>
                        <a:rPr sz="900" spc="-114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del 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alcance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48260" indent="-41275">
                        <a:lnSpc>
                          <a:spcPct val="100000"/>
                        </a:lnSpc>
                        <a:buSzPct val="88888"/>
                        <a:buChar char="•"/>
                        <a:tabLst>
                          <a:tab pos="48895" algn="l"/>
                        </a:tabLst>
                      </a:pPr>
                      <a:r>
                        <a:rPr sz="900" dirty="0">
                          <a:latin typeface="Arial"/>
                          <a:cs typeface="Arial"/>
                        </a:rPr>
                        <a:t>Recopilar</a:t>
                      </a:r>
                      <a:r>
                        <a:rPr sz="900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Requisitos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48260" indent="-41275">
                        <a:lnSpc>
                          <a:spcPct val="100000"/>
                        </a:lnSpc>
                        <a:buSzPct val="88888"/>
                        <a:buChar char="•"/>
                        <a:tabLst>
                          <a:tab pos="48895" algn="l"/>
                        </a:tabLst>
                      </a:pPr>
                      <a:r>
                        <a:rPr sz="900" spc="-5" dirty="0">
                          <a:latin typeface="Arial"/>
                          <a:cs typeface="Arial"/>
                        </a:rPr>
                        <a:t>Definir el</a:t>
                      </a:r>
                      <a:r>
                        <a:rPr sz="9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Alcance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48260" indent="-41275">
                        <a:lnSpc>
                          <a:spcPts val="1000"/>
                        </a:lnSpc>
                        <a:buSzPct val="88888"/>
                        <a:buChar char="•"/>
                        <a:tabLst>
                          <a:tab pos="48895" algn="l"/>
                        </a:tabLst>
                      </a:pPr>
                      <a:r>
                        <a:rPr sz="900" spc="-5" dirty="0">
                          <a:latin typeface="Arial"/>
                          <a:cs typeface="Arial"/>
                        </a:rPr>
                        <a:t>Crear la</a:t>
                      </a:r>
                      <a:r>
                        <a:rPr sz="9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EDT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38100">
                      <a:solidFill>
                        <a:srgbClr val="FF0000"/>
                      </a:solidFill>
                      <a:prstDash val="solid"/>
                    </a:lnL>
                    <a:lnR w="38100">
                      <a:solidFill>
                        <a:srgbClr val="FF0000"/>
                      </a:solidFill>
                      <a:prstDash val="solid"/>
                    </a:lnR>
                    <a:lnT w="6350">
                      <a:solidFill>
                        <a:srgbClr val="FF0000"/>
                      </a:solidFill>
                      <a:prstDash val="solid"/>
                    </a:lnT>
                    <a:lnB w="6350">
                      <a:solidFill>
                        <a:srgbClr val="FF0000"/>
                      </a:solidFill>
                      <a:prstDash val="solid"/>
                    </a:lnB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0000"/>
                      </a:solidFill>
                      <a:prstDash val="solid"/>
                    </a:lnL>
                    <a:lnR w="12700">
                      <a:solidFill>
                        <a:srgbClr val="F79546"/>
                      </a:solidFill>
                      <a:prstDash val="solid"/>
                    </a:lnR>
                    <a:lnT w="6350">
                      <a:solidFill>
                        <a:srgbClr val="7E7E7E"/>
                      </a:solidFill>
                      <a:prstDash val="solid"/>
                    </a:lnT>
                    <a:lnB w="635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895" indent="-41275">
                        <a:lnSpc>
                          <a:spcPct val="100000"/>
                        </a:lnSpc>
                        <a:spcBef>
                          <a:spcPts val="40"/>
                        </a:spcBef>
                        <a:buSzPct val="88888"/>
                        <a:buChar char="•"/>
                        <a:tabLst>
                          <a:tab pos="49530" algn="l"/>
                        </a:tabLst>
                      </a:pPr>
                      <a:r>
                        <a:rPr sz="900" spc="-5" dirty="0">
                          <a:latin typeface="Arial"/>
                          <a:cs typeface="Arial"/>
                        </a:rPr>
                        <a:t>Validar el</a:t>
                      </a:r>
                      <a:r>
                        <a:rPr sz="9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Alcance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48895" indent="-41275">
                        <a:lnSpc>
                          <a:spcPct val="100000"/>
                        </a:lnSpc>
                        <a:buSzPct val="88888"/>
                        <a:buChar char="•"/>
                        <a:tabLst>
                          <a:tab pos="49530" algn="l"/>
                        </a:tabLst>
                      </a:pPr>
                      <a:r>
                        <a:rPr sz="900" spc="-5" dirty="0">
                          <a:latin typeface="Arial"/>
                          <a:cs typeface="Arial"/>
                        </a:rPr>
                        <a:t>Controlar el</a:t>
                      </a:r>
                      <a:r>
                        <a:rPr sz="9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Alcance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F79546"/>
                      </a:solidFill>
                      <a:prstDash val="solid"/>
                    </a:lnL>
                    <a:lnR w="6350">
                      <a:solidFill>
                        <a:srgbClr val="F79546"/>
                      </a:solidFill>
                      <a:prstDash val="solid"/>
                    </a:lnR>
                    <a:lnT w="6350">
                      <a:solidFill>
                        <a:srgbClr val="7E7E7E"/>
                      </a:solidFill>
                      <a:prstDash val="solid"/>
                    </a:lnT>
                    <a:lnB w="6350">
                      <a:solidFill>
                        <a:srgbClr val="7E7E7E"/>
                      </a:solidFill>
                      <a:prstDash val="solid"/>
                    </a:lnB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F79546"/>
                      </a:solidFill>
                      <a:prstDash val="solid"/>
                    </a:lnL>
                    <a:lnR w="12700">
                      <a:solidFill>
                        <a:srgbClr val="F79546"/>
                      </a:solidFill>
                      <a:prstDash val="solid"/>
                    </a:lnR>
                    <a:lnT w="6350">
                      <a:solidFill>
                        <a:srgbClr val="7E7E7E"/>
                      </a:solidFill>
                      <a:prstDash val="solid"/>
                    </a:lnT>
                    <a:lnB w="6350">
                      <a:solidFill>
                        <a:srgbClr val="7E7E7E"/>
                      </a:solidFill>
                      <a:prstDash val="solid"/>
                    </a:lnB>
                  </a:tcPr>
                </a:tc>
              </a:tr>
              <a:tr h="12420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885"/>
                        </a:spcBef>
                      </a:pPr>
                      <a:r>
                        <a:rPr sz="9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Gestión </a:t>
                      </a:r>
                      <a:r>
                        <a:rPr sz="9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del</a:t>
                      </a:r>
                      <a:r>
                        <a:rPr sz="9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Tiempo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6350">
                      <a:solidFill>
                        <a:srgbClr val="7E7E7E"/>
                      </a:solidFill>
                      <a:prstDash val="solid"/>
                    </a:lnT>
                    <a:lnB w="6350">
                      <a:solidFill>
                        <a:srgbClr val="7E7E7E"/>
                      </a:solidFill>
                      <a:prstDash val="solid"/>
                    </a:lnB>
                    <a:solidFill>
                      <a:srgbClr val="F795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38100">
                      <a:solidFill>
                        <a:srgbClr val="FF0000"/>
                      </a:solidFill>
                      <a:prstDash val="solid"/>
                    </a:lnR>
                    <a:lnT w="6350">
                      <a:solidFill>
                        <a:srgbClr val="7E7E7E"/>
                      </a:solidFill>
                      <a:prstDash val="solid"/>
                    </a:lnT>
                    <a:lnB w="635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260" indent="-41275">
                        <a:lnSpc>
                          <a:spcPct val="100000"/>
                        </a:lnSpc>
                        <a:spcBef>
                          <a:spcPts val="40"/>
                        </a:spcBef>
                        <a:buSzPct val="88888"/>
                        <a:buChar char="•"/>
                        <a:tabLst>
                          <a:tab pos="48895" algn="l"/>
                        </a:tabLst>
                      </a:pPr>
                      <a:r>
                        <a:rPr sz="900" dirty="0">
                          <a:latin typeface="Arial"/>
                          <a:cs typeface="Arial"/>
                        </a:rPr>
                        <a:t>Planificar la gestión</a:t>
                      </a:r>
                      <a:r>
                        <a:rPr sz="900" spc="-8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del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7620">
                        <a:lnSpc>
                          <a:spcPct val="100000"/>
                        </a:lnSpc>
                      </a:pPr>
                      <a:r>
                        <a:rPr sz="900" dirty="0">
                          <a:latin typeface="Arial"/>
                          <a:cs typeface="Arial"/>
                        </a:rPr>
                        <a:t>cronograma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48260" indent="-41275">
                        <a:lnSpc>
                          <a:spcPct val="100000"/>
                        </a:lnSpc>
                        <a:buSzPct val="88888"/>
                        <a:buChar char="•"/>
                        <a:tabLst>
                          <a:tab pos="48895" algn="l"/>
                        </a:tabLst>
                      </a:pPr>
                      <a:r>
                        <a:rPr sz="900" spc="-5" dirty="0">
                          <a:latin typeface="Arial"/>
                          <a:cs typeface="Arial"/>
                        </a:rPr>
                        <a:t>Definir las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Actividades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48260" indent="-41275">
                        <a:lnSpc>
                          <a:spcPct val="100000"/>
                        </a:lnSpc>
                        <a:buSzPct val="88888"/>
                        <a:buChar char="•"/>
                        <a:tabLst>
                          <a:tab pos="48895" algn="l"/>
                        </a:tabLst>
                      </a:pPr>
                      <a:r>
                        <a:rPr sz="900" dirty="0">
                          <a:latin typeface="Arial"/>
                          <a:cs typeface="Arial"/>
                        </a:rPr>
                        <a:t>Secuenciar 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las</a:t>
                      </a:r>
                      <a:r>
                        <a:rPr sz="900" spc="-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Actividades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7620" marR="78105">
                        <a:lnSpc>
                          <a:spcPct val="100000"/>
                        </a:lnSpc>
                        <a:buSzPct val="88888"/>
                        <a:buChar char="•"/>
                        <a:tabLst>
                          <a:tab pos="48895" algn="l"/>
                        </a:tabLst>
                      </a:pPr>
                      <a:r>
                        <a:rPr sz="900" dirty="0">
                          <a:latin typeface="Arial"/>
                          <a:cs typeface="Arial"/>
                        </a:rPr>
                        <a:t>Estimar los Recursos 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de</a:t>
                      </a:r>
                      <a:r>
                        <a:rPr sz="900" spc="-114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las  Actividades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7620" marR="168910">
                        <a:lnSpc>
                          <a:spcPct val="100000"/>
                        </a:lnSpc>
                        <a:buSzPct val="88888"/>
                        <a:buChar char="•"/>
                        <a:tabLst>
                          <a:tab pos="48895" algn="l"/>
                        </a:tabLst>
                      </a:pPr>
                      <a:r>
                        <a:rPr sz="900" dirty="0">
                          <a:latin typeface="Arial"/>
                          <a:cs typeface="Arial"/>
                        </a:rPr>
                        <a:t>Estimación 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la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Duración</a:t>
                      </a:r>
                      <a:r>
                        <a:rPr sz="900" spc="-1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de  las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Actividades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48260" indent="-41275">
                        <a:lnSpc>
                          <a:spcPts val="1000"/>
                        </a:lnSpc>
                        <a:buSzPct val="88888"/>
                        <a:buChar char="•"/>
                        <a:tabLst>
                          <a:tab pos="48895" algn="l"/>
                        </a:tabLst>
                      </a:pPr>
                      <a:r>
                        <a:rPr sz="900" dirty="0">
                          <a:latin typeface="Arial"/>
                          <a:cs typeface="Arial"/>
                        </a:rPr>
                        <a:t>Desarrollar 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el</a:t>
                      </a:r>
                      <a:r>
                        <a:rPr sz="900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Cronograma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38100">
                      <a:solidFill>
                        <a:srgbClr val="FF0000"/>
                      </a:solidFill>
                      <a:prstDash val="solid"/>
                    </a:lnL>
                    <a:lnR w="38100">
                      <a:solidFill>
                        <a:srgbClr val="FF0000"/>
                      </a:solidFill>
                      <a:prstDash val="solid"/>
                    </a:lnR>
                    <a:lnT w="6350">
                      <a:solidFill>
                        <a:srgbClr val="FF0000"/>
                      </a:solidFill>
                      <a:prstDash val="solid"/>
                    </a:lnT>
                    <a:lnB w="6350">
                      <a:solidFill>
                        <a:srgbClr val="7E7E7E"/>
                      </a:solidFill>
                      <a:prstDash val="solid"/>
                    </a:lnB>
                    <a:solidFill>
                      <a:srgbClr val="B7DE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FF0000"/>
                      </a:solidFill>
                      <a:prstDash val="solid"/>
                    </a:lnL>
                    <a:lnR w="12700">
                      <a:solidFill>
                        <a:srgbClr val="F79546"/>
                      </a:solidFill>
                      <a:prstDash val="solid"/>
                    </a:lnR>
                    <a:lnT w="6350">
                      <a:solidFill>
                        <a:srgbClr val="7E7E7E"/>
                      </a:solidFill>
                      <a:prstDash val="solid"/>
                    </a:lnT>
                    <a:lnB w="635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895" indent="-41275">
                        <a:lnSpc>
                          <a:spcPct val="100000"/>
                        </a:lnSpc>
                        <a:spcBef>
                          <a:spcPts val="40"/>
                        </a:spcBef>
                        <a:buSzPct val="88888"/>
                        <a:buChar char="•"/>
                        <a:tabLst>
                          <a:tab pos="49530" algn="l"/>
                        </a:tabLst>
                      </a:pPr>
                      <a:r>
                        <a:rPr sz="900" dirty="0">
                          <a:latin typeface="Arial"/>
                          <a:cs typeface="Arial"/>
                        </a:rPr>
                        <a:t>Controlar el</a:t>
                      </a:r>
                      <a:r>
                        <a:rPr sz="900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Cronograma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F79546"/>
                      </a:solidFill>
                      <a:prstDash val="solid"/>
                    </a:lnL>
                    <a:lnR w="6350">
                      <a:solidFill>
                        <a:srgbClr val="F79546"/>
                      </a:solidFill>
                      <a:prstDash val="solid"/>
                    </a:lnR>
                    <a:lnT w="6350">
                      <a:solidFill>
                        <a:srgbClr val="7E7E7E"/>
                      </a:solidFill>
                      <a:prstDash val="solid"/>
                    </a:lnT>
                    <a:lnB w="6350">
                      <a:solidFill>
                        <a:srgbClr val="7E7E7E"/>
                      </a:solidFill>
                      <a:prstDash val="solid"/>
                    </a:lnB>
                    <a:solidFill>
                      <a:srgbClr val="B7DE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F79546"/>
                      </a:solidFill>
                      <a:prstDash val="solid"/>
                    </a:lnL>
                    <a:lnR w="12700">
                      <a:solidFill>
                        <a:srgbClr val="F79546"/>
                      </a:solidFill>
                      <a:prstDash val="solid"/>
                    </a:lnR>
                    <a:lnT w="6350">
                      <a:solidFill>
                        <a:srgbClr val="7E7E7E"/>
                      </a:solidFill>
                      <a:prstDash val="solid"/>
                    </a:lnT>
                    <a:lnB w="6350">
                      <a:solidFill>
                        <a:srgbClr val="7E7E7E"/>
                      </a:solidFill>
                      <a:prstDash val="solid"/>
                    </a:lnB>
                  </a:tcPr>
                </a:tc>
              </a:tr>
              <a:tr h="55638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Gestión de </a:t>
                      </a:r>
                      <a:r>
                        <a:rPr sz="9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los</a:t>
                      </a:r>
                      <a:r>
                        <a:rPr sz="900" b="1" spc="-3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Costos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3810" marB="0">
                    <a:lnT w="6350">
                      <a:solidFill>
                        <a:srgbClr val="7E7E7E"/>
                      </a:solidFill>
                      <a:prstDash val="solid"/>
                    </a:lnT>
                    <a:lnB w="6350">
                      <a:solidFill>
                        <a:srgbClr val="7E7E7E"/>
                      </a:solidFill>
                      <a:prstDash val="solid"/>
                    </a:lnB>
                    <a:solidFill>
                      <a:srgbClr val="F795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F79546"/>
                      </a:solidFill>
                      <a:prstDash val="solid"/>
                    </a:lnR>
                    <a:lnT w="6350">
                      <a:solidFill>
                        <a:srgbClr val="7E7E7E"/>
                      </a:solidFill>
                      <a:prstDash val="solid"/>
                    </a:lnT>
                    <a:lnB w="635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" marR="163830">
                        <a:lnSpc>
                          <a:spcPct val="100000"/>
                        </a:lnSpc>
                        <a:spcBef>
                          <a:spcPts val="40"/>
                        </a:spcBef>
                        <a:buSzPct val="88888"/>
                        <a:buChar char="•"/>
                        <a:tabLst>
                          <a:tab pos="48895" algn="l"/>
                        </a:tabLst>
                      </a:pPr>
                      <a:r>
                        <a:rPr sz="900" dirty="0">
                          <a:latin typeface="Arial"/>
                          <a:cs typeface="Arial"/>
                        </a:rPr>
                        <a:t>Planificar 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la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gestión de</a:t>
                      </a:r>
                      <a:r>
                        <a:rPr sz="900" spc="-10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los  costos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48260" indent="-41275">
                        <a:lnSpc>
                          <a:spcPct val="100000"/>
                        </a:lnSpc>
                        <a:buSzPct val="88888"/>
                        <a:buChar char="•"/>
                        <a:tabLst>
                          <a:tab pos="48895" algn="l"/>
                        </a:tabLst>
                      </a:pPr>
                      <a:r>
                        <a:rPr sz="900" dirty="0">
                          <a:latin typeface="Arial"/>
                          <a:cs typeface="Arial"/>
                        </a:rPr>
                        <a:t>Estimar</a:t>
                      </a:r>
                      <a:r>
                        <a:rPr sz="9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Costos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48260" indent="-41275">
                        <a:lnSpc>
                          <a:spcPts val="994"/>
                        </a:lnSpc>
                        <a:spcBef>
                          <a:spcPts val="5"/>
                        </a:spcBef>
                        <a:buSzPct val="88888"/>
                        <a:buChar char="•"/>
                        <a:tabLst>
                          <a:tab pos="48895" algn="l"/>
                        </a:tabLst>
                      </a:pPr>
                      <a:r>
                        <a:rPr sz="900" dirty="0">
                          <a:latin typeface="Arial"/>
                          <a:cs typeface="Arial"/>
                        </a:rPr>
                        <a:t>Determinar 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el</a:t>
                      </a:r>
                      <a:r>
                        <a:rPr sz="900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Presupuesto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F79546"/>
                      </a:solidFill>
                      <a:prstDash val="solid"/>
                    </a:lnL>
                    <a:lnR w="6350">
                      <a:solidFill>
                        <a:srgbClr val="F79546"/>
                      </a:solidFill>
                      <a:prstDash val="solid"/>
                    </a:lnR>
                    <a:lnT w="6350">
                      <a:solidFill>
                        <a:srgbClr val="7E7E7E"/>
                      </a:solidFill>
                      <a:prstDash val="solid"/>
                    </a:lnT>
                    <a:lnB w="6350">
                      <a:solidFill>
                        <a:srgbClr val="7E7E7E"/>
                      </a:solidFill>
                      <a:prstDash val="solid"/>
                    </a:lnB>
                    <a:solidFill>
                      <a:srgbClr val="E6B8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F79546"/>
                      </a:solidFill>
                      <a:prstDash val="solid"/>
                    </a:lnL>
                    <a:lnR w="12700">
                      <a:solidFill>
                        <a:srgbClr val="F79546"/>
                      </a:solidFill>
                      <a:prstDash val="solid"/>
                    </a:lnR>
                    <a:lnT w="6350">
                      <a:solidFill>
                        <a:srgbClr val="7E7E7E"/>
                      </a:solidFill>
                      <a:prstDash val="solid"/>
                    </a:lnT>
                    <a:lnB w="635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895" indent="-41275">
                        <a:lnSpc>
                          <a:spcPct val="100000"/>
                        </a:lnSpc>
                        <a:spcBef>
                          <a:spcPts val="40"/>
                        </a:spcBef>
                        <a:buSzPct val="88888"/>
                        <a:buChar char="•"/>
                        <a:tabLst>
                          <a:tab pos="49530" algn="l"/>
                        </a:tabLst>
                      </a:pPr>
                      <a:r>
                        <a:rPr sz="900" spc="-5" dirty="0">
                          <a:latin typeface="Arial"/>
                          <a:cs typeface="Arial"/>
                        </a:rPr>
                        <a:t>Controlar los</a:t>
                      </a:r>
                      <a:r>
                        <a:rPr sz="9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Costos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L w="12700">
                      <a:solidFill>
                        <a:srgbClr val="F79546"/>
                      </a:solidFill>
                      <a:prstDash val="solid"/>
                    </a:lnL>
                    <a:lnR w="6350">
                      <a:solidFill>
                        <a:srgbClr val="F79546"/>
                      </a:solidFill>
                      <a:prstDash val="solid"/>
                    </a:lnR>
                    <a:lnT w="6350">
                      <a:solidFill>
                        <a:srgbClr val="7E7E7E"/>
                      </a:solidFill>
                      <a:prstDash val="solid"/>
                    </a:lnT>
                    <a:lnB w="6350">
                      <a:solidFill>
                        <a:srgbClr val="7E7E7E"/>
                      </a:solidFill>
                      <a:prstDash val="solid"/>
                    </a:lnB>
                    <a:solidFill>
                      <a:srgbClr val="E6B8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F79546"/>
                      </a:solidFill>
                      <a:prstDash val="solid"/>
                    </a:lnL>
                    <a:lnR w="12700">
                      <a:solidFill>
                        <a:srgbClr val="F79546"/>
                      </a:solidFill>
                      <a:prstDash val="solid"/>
                    </a:lnR>
                    <a:lnT w="6350">
                      <a:solidFill>
                        <a:srgbClr val="7E7E7E"/>
                      </a:solidFill>
                      <a:prstDash val="solid"/>
                    </a:lnT>
                    <a:lnB w="6350">
                      <a:solidFill>
                        <a:srgbClr val="7E7E7E"/>
                      </a:solidFill>
                      <a:prstDash val="solid"/>
                    </a:lnB>
                  </a:tcPr>
                </a:tc>
              </a:tr>
              <a:tr h="28206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9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Gestión de la</a:t>
                      </a:r>
                      <a:r>
                        <a:rPr sz="9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Calidad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71120" marB="0">
                    <a:lnT w="6350">
                      <a:solidFill>
                        <a:srgbClr val="7E7E7E"/>
                      </a:solidFill>
                      <a:prstDash val="solid"/>
                    </a:lnT>
                    <a:lnB w="6350">
                      <a:solidFill>
                        <a:srgbClr val="7E7E7E"/>
                      </a:solidFill>
                      <a:prstDash val="solid"/>
                    </a:lnB>
                    <a:solidFill>
                      <a:srgbClr val="F795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F79546"/>
                      </a:solidFill>
                      <a:prstDash val="solid"/>
                    </a:lnR>
                    <a:lnT w="6350">
                      <a:solidFill>
                        <a:srgbClr val="7E7E7E"/>
                      </a:solidFill>
                      <a:prstDash val="solid"/>
                    </a:lnT>
                    <a:lnB w="635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" marR="320675">
                        <a:lnSpc>
                          <a:spcPct val="100000"/>
                        </a:lnSpc>
                        <a:spcBef>
                          <a:spcPts val="45"/>
                        </a:spcBef>
                        <a:buSzPct val="88888"/>
                        <a:buChar char="•"/>
                        <a:tabLst>
                          <a:tab pos="48895" algn="l"/>
                        </a:tabLst>
                      </a:pPr>
                      <a:r>
                        <a:rPr sz="900" dirty="0">
                          <a:latin typeface="Arial"/>
                          <a:cs typeface="Arial"/>
                        </a:rPr>
                        <a:t>Planificar 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la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Gestión</a:t>
                      </a:r>
                      <a:r>
                        <a:rPr sz="900" spc="-114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de 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Calidad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5715" marB="0">
                    <a:lnL w="12700">
                      <a:solidFill>
                        <a:srgbClr val="F79546"/>
                      </a:solidFill>
                      <a:prstDash val="solid"/>
                    </a:lnL>
                    <a:lnR w="6350">
                      <a:solidFill>
                        <a:srgbClr val="F79546"/>
                      </a:solidFill>
                      <a:prstDash val="solid"/>
                    </a:lnR>
                    <a:lnT w="6350">
                      <a:solidFill>
                        <a:srgbClr val="7E7E7E"/>
                      </a:solidFill>
                      <a:prstDash val="solid"/>
                    </a:lnT>
                    <a:lnB w="6350">
                      <a:solidFill>
                        <a:srgbClr val="7E7E7E"/>
                      </a:solidFill>
                      <a:prstDash val="solid"/>
                    </a:lnB>
                    <a:solidFill>
                      <a:srgbClr val="FCEADA"/>
                    </a:solidFill>
                  </a:tcPr>
                </a:tc>
                <a:tc>
                  <a:txBody>
                    <a:bodyPr/>
                    <a:lstStyle/>
                    <a:p>
                      <a:pPr marL="8255" marR="151765">
                        <a:lnSpc>
                          <a:spcPct val="100000"/>
                        </a:lnSpc>
                        <a:spcBef>
                          <a:spcPts val="45"/>
                        </a:spcBef>
                        <a:buSzPct val="88888"/>
                        <a:buChar char="•"/>
                        <a:tabLst>
                          <a:tab pos="49530" algn="l"/>
                        </a:tabLst>
                      </a:pPr>
                      <a:r>
                        <a:rPr sz="900" spc="-5" dirty="0">
                          <a:latin typeface="Arial"/>
                          <a:cs typeface="Arial"/>
                        </a:rPr>
                        <a:t>Realizar el Aseguramiento  de</a:t>
                      </a:r>
                      <a:r>
                        <a:rPr sz="9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Calidad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5715" marB="0">
                    <a:lnL w="6350">
                      <a:solidFill>
                        <a:srgbClr val="F79546"/>
                      </a:solidFill>
                      <a:prstDash val="solid"/>
                    </a:lnL>
                    <a:lnR w="12700">
                      <a:solidFill>
                        <a:srgbClr val="F79546"/>
                      </a:solidFill>
                      <a:prstDash val="solid"/>
                    </a:lnR>
                    <a:lnT w="6350">
                      <a:solidFill>
                        <a:srgbClr val="7E7E7E"/>
                      </a:solidFill>
                      <a:prstDash val="solid"/>
                    </a:lnT>
                    <a:lnB w="6350">
                      <a:solidFill>
                        <a:srgbClr val="7E7E7E"/>
                      </a:solidFill>
                      <a:prstDash val="solid"/>
                    </a:lnB>
                    <a:solidFill>
                      <a:srgbClr val="FCEADA"/>
                    </a:solidFill>
                  </a:tcPr>
                </a:tc>
                <a:tc>
                  <a:txBody>
                    <a:bodyPr/>
                    <a:lstStyle/>
                    <a:p>
                      <a:pPr marL="48895" indent="-41275">
                        <a:lnSpc>
                          <a:spcPct val="100000"/>
                        </a:lnSpc>
                        <a:spcBef>
                          <a:spcPts val="45"/>
                        </a:spcBef>
                        <a:buSzPct val="88888"/>
                        <a:buChar char="•"/>
                        <a:tabLst>
                          <a:tab pos="49530" algn="l"/>
                        </a:tabLst>
                      </a:pPr>
                      <a:r>
                        <a:rPr sz="900" spc="-5" dirty="0">
                          <a:latin typeface="Arial"/>
                          <a:cs typeface="Arial"/>
                        </a:rPr>
                        <a:t>Controlar la</a:t>
                      </a:r>
                      <a:r>
                        <a:rPr sz="9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calidad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5715" marB="0">
                    <a:lnL w="12700">
                      <a:solidFill>
                        <a:srgbClr val="F79546"/>
                      </a:solidFill>
                      <a:prstDash val="solid"/>
                    </a:lnL>
                    <a:lnR w="6350">
                      <a:solidFill>
                        <a:srgbClr val="F79546"/>
                      </a:solidFill>
                      <a:prstDash val="solid"/>
                    </a:lnR>
                    <a:lnT w="6350">
                      <a:solidFill>
                        <a:srgbClr val="7E7E7E"/>
                      </a:solidFill>
                      <a:prstDash val="solid"/>
                    </a:lnT>
                    <a:lnB w="6350">
                      <a:solidFill>
                        <a:srgbClr val="7E7E7E"/>
                      </a:solidFill>
                      <a:prstDash val="solid"/>
                    </a:lnB>
                    <a:solidFill>
                      <a:srgbClr val="FCEAD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F79546"/>
                      </a:solidFill>
                      <a:prstDash val="solid"/>
                    </a:lnL>
                    <a:lnR w="12700">
                      <a:solidFill>
                        <a:srgbClr val="F79546"/>
                      </a:solidFill>
                      <a:prstDash val="solid"/>
                    </a:lnR>
                    <a:lnT w="6350">
                      <a:solidFill>
                        <a:srgbClr val="7E7E7E"/>
                      </a:solidFill>
                      <a:prstDash val="solid"/>
                    </a:lnT>
                    <a:lnB w="6350">
                      <a:solidFill>
                        <a:srgbClr val="7E7E7E"/>
                      </a:solidFill>
                      <a:prstDash val="solid"/>
                    </a:lnB>
                  </a:tcPr>
                </a:tc>
              </a:tr>
              <a:tr h="69557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512445" marR="97155" indent="-408940">
                        <a:lnSpc>
                          <a:spcPct val="100000"/>
                        </a:lnSpc>
                      </a:pPr>
                      <a:r>
                        <a:rPr sz="9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Gestión </a:t>
                      </a:r>
                      <a:r>
                        <a:rPr sz="9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de </a:t>
                      </a:r>
                      <a:r>
                        <a:rPr sz="9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los</a:t>
                      </a:r>
                      <a:r>
                        <a:rPr sz="900" b="1" spc="-6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Recursos  Humanos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T w="6350">
                      <a:solidFill>
                        <a:srgbClr val="7E7E7E"/>
                      </a:solidFill>
                      <a:prstDash val="solid"/>
                    </a:lnT>
                    <a:lnB w="6350">
                      <a:solidFill>
                        <a:srgbClr val="7E7E7E"/>
                      </a:solidFill>
                      <a:prstDash val="solid"/>
                    </a:lnB>
                    <a:solidFill>
                      <a:srgbClr val="F795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F79546"/>
                      </a:solidFill>
                      <a:prstDash val="solid"/>
                    </a:lnR>
                    <a:lnT w="6350">
                      <a:solidFill>
                        <a:srgbClr val="7E7E7E"/>
                      </a:solidFill>
                      <a:prstDash val="solid"/>
                    </a:lnT>
                    <a:lnB w="635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" marR="141605">
                        <a:lnSpc>
                          <a:spcPct val="100000"/>
                        </a:lnSpc>
                        <a:spcBef>
                          <a:spcPts val="45"/>
                        </a:spcBef>
                        <a:buSzPct val="88888"/>
                        <a:buChar char="•"/>
                        <a:tabLst>
                          <a:tab pos="48895" algn="l"/>
                        </a:tabLst>
                      </a:pPr>
                      <a:r>
                        <a:rPr sz="900" dirty="0">
                          <a:latin typeface="Arial"/>
                          <a:cs typeface="Arial"/>
                        </a:rPr>
                        <a:t>Planificar 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la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Gestión 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de</a:t>
                      </a:r>
                      <a:r>
                        <a:rPr sz="900" spc="-1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los  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RR.HH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5715" marB="0">
                    <a:lnL w="12700">
                      <a:solidFill>
                        <a:srgbClr val="F79546"/>
                      </a:solidFill>
                      <a:prstDash val="solid"/>
                    </a:lnL>
                    <a:lnR w="6350">
                      <a:solidFill>
                        <a:srgbClr val="F79546"/>
                      </a:solidFill>
                      <a:prstDash val="solid"/>
                    </a:lnR>
                    <a:lnT w="6350">
                      <a:solidFill>
                        <a:srgbClr val="7E7E7E"/>
                      </a:solidFill>
                      <a:prstDash val="solid"/>
                    </a:lnT>
                    <a:lnB w="6350">
                      <a:solidFill>
                        <a:srgbClr val="7E7E7E"/>
                      </a:solidFill>
                      <a:prstDash val="solid"/>
                    </a:lnB>
                    <a:solidFill>
                      <a:srgbClr val="EBF0DE"/>
                    </a:solidFill>
                  </a:tcPr>
                </a:tc>
                <a:tc>
                  <a:txBody>
                    <a:bodyPr/>
                    <a:lstStyle/>
                    <a:p>
                      <a:pPr marL="8255" marR="408940">
                        <a:lnSpc>
                          <a:spcPct val="100000"/>
                        </a:lnSpc>
                        <a:spcBef>
                          <a:spcPts val="45"/>
                        </a:spcBef>
                        <a:buSzPct val="88888"/>
                        <a:buChar char="•"/>
                        <a:tabLst>
                          <a:tab pos="49530" algn="l"/>
                        </a:tabLst>
                      </a:pPr>
                      <a:r>
                        <a:rPr sz="900" spc="-5" dirty="0">
                          <a:latin typeface="Arial"/>
                          <a:cs typeface="Arial"/>
                        </a:rPr>
                        <a:t>Adquirir el Equipo</a:t>
                      </a:r>
                      <a:r>
                        <a:rPr sz="900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del  Proyecto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8255" marR="241935">
                        <a:lnSpc>
                          <a:spcPct val="100000"/>
                        </a:lnSpc>
                        <a:buSzPct val="88888"/>
                        <a:buChar char="•"/>
                        <a:tabLst>
                          <a:tab pos="49530" algn="l"/>
                        </a:tabLst>
                      </a:pPr>
                      <a:r>
                        <a:rPr sz="900" dirty="0">
                          <a:latin typeface="Arial"/>
                          <a:cs typeface="Arial"/>
                        </a:rPr>
                        <a:t>Desarrollar el 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Equipo</a:t>
                      </a:r>
                      <a:r>
                        <a:rPr sz="900" spc="-9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del  Proyecto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48895" indent="-41275">
                        <a:lnSpc>
                          <a:spcPts val="1010"/>
                        </a:lnSpc>
                        <a:buSzPct val="88888"/>
                        <a:buChar char="•"/>
                        <a:tabLst>
                          <a:tab pos="49530" algn="l"/>
                        </a:tabLst>
                      </a:pPr>
                      <a:r>
                        <a:rPr sz="900" spc="-5" dirty="0">
                          <a:latin typeface="Arial"/>
                          <a:cs typeface="Arial"/>
                        </a:rPr>
                        <a:t>Dirigir el Equipo del</a:t>
                      </a:r>
                      <a:r>
                        <a:rPr sz="9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Proyecto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5715" marB="0">
                    <a:lnL w="6350">
                      <a:solidFill>
                        <a:srgbClr val="F79546"/>
                      </a:solidFill>
                      <a:prstDash val="solid"/>
                    </a:lnL>
                    <a:lnR w="12700">
                      <a:solidFill>
                        <a:srgbClr val="F79546"/>
                      </a:solidFill>
                      <a:prstDash val="solid"/>
                    </a:lnR>
                    <a:lnT w="6350">
                      <a:solidFill>
                        <a:srgbClr val="7E7E7E"/>
                      </a:solidFill>
                      <a:prstDash val="solid"/>
                    </a:lnT>
                    <a:lnB w="6350">
                      <a:solidFill>
                        <a:srgbClr val="7E7E7E"/>
                      </a:solidFill>
                      <a:prstDash val="solid"/>
                    </a:lnB>
                    <a:solidFill>
                      <a:srgbClr val="EBF0D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79546"/>
                      </a:solidFill>
                      <a:prstDash val="solid"/>
                    </a:lnL>
                    <a:lnR w="6350">
                      <a:solidFill>
                        <a:srgbClr val="F79546"/>
                      </a:solidFill>
                      <a:prstDash val="solid"/>
                    </a:lnR>
                    <a:lnT w="6350">
                      <a:solidFill>
                        <a:srgbClr val="7E7E7E"/>
                      </a:solidFill>
                      <a:prstDash val="solid"/>
                    </a:lnT>
                    <a:lnB w="635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F79546"/>
                      </a:solidFill>
                      <a:prstDash val="solid"/>
                    </a:lnL>
                    <a:lnR w="12700">
                      <a:solidFill>
                        <a:srgbClr val="F79546"/>
                      </a:solidFill>
                      <a:prstDash val="solid"/>
                    </a:lnR>
                    <a:lnT w="6350">
                      <a:solidFill>
                        <a:srgbClr val="7E7E7E"/>
                      </a:solidFill>
                      <a:prstDash val="solid"/>
                    </a:lnT>
                    <a:lnB w="6350">
                      <a:solidFill>
                        <a:srgbClr val="7E7E7E"/>
                      </a:solidFill>
                      <a:prstDash val="solid"/>
                    </a:lnB>
                  </a:tcPr>
                </a:tc>
              </a:tr>
              <a:tr h="340994">
                <a:tc>
                  <a:txBody>
                    <a:bodyPr/>
                    <a:lstStyle/>
                    <a:p>
                      <a:pPr marL="314325" marR="309245" indent="6858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9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Gestión de las  </a:t>
                      </a:r>
                      <a:r>
                        <a:rPr sz="9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Comunicaciones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32384" marB="0">
                    <a:lnT w="6350">
                      <a:solidFill>
                        <a:srgbClr val="7E7E7E"/>
                      </a:solidFill>
                      <a:prstDash val="solid"/>
                    </a:lnT>
                    <a:lnB w="6350">
                      <a:solidFill>
                        <a:srgbClr val="7E7E7E"/>
                      </a:solidFill>
                      <a:prstDash val="solid"/>
                    </a:lnB>
                    <a:solidFill>
                      <a:srgbClr val="F795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F79546"/>
                      </a:solidFill>
                      <a:prstDash val="solid"/>
                    </a:lnR>
                    <a:lnT w="6350">
                      <a:solidFill>
                        <a:srgbClr val="7E7E7E"/>
                      </a:solidFill>
                      <a:prstDash val="solid"/>
                    </a:lnT>
                    <a:lnB w="635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" marR="109855">
                        <a:lnSpc>
                          <a:spcPct val="100000"/>
                        </a:lnSpc>
                        <a:spcBef>
                          <a:spcPts val="45"/>
                        </a:spcBef>
                        <a:buSzPct val="88888"/>
                        <a:buChar char="•"/>
                        <a:tabLst>
                          <a:tab pos="48895" algn="l"/>
                        </a:tabLst>
                      </a:pPr>
                      <a:r>
                        <a:rPr sz="900" dirty="0">
                          <a:latin typeface="Arial"/>
                          <a:cs typeface="Arial"/>
                        </a:rPr>
                        <a:t>Planificar 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la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Gestión 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de las 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Comunicaciones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5715" marB="0">
                    <a:lnL w="12700">
                      <a:solidFill>
                        <a:srgbClr val="F79546"/>
                      </a:solidFill>
                      <a:prstDash val="solid"/>
                    </a:lnL>
                    <a:lnR w="6350">
                      <a:solidFill>
                        <a:srgbClr val="F79546"/>
                      </a:solidFill>
                      <a:prstDash val="solid"/>
                    </a:lnR>
                    <a:lnT w="6350">
                      <a:solidFill>
                        <a:srgbClr val="7E7E7E"/>
                      </a:solidFill>
                      <a:prstDash val="solid"/>
                    </a:lnT>
                    <a:lnB w="6350">
                      <a:solidFill>
                        <a:srgbClr val="7E7E7E"/>
                      </a:solidFill>
                      <a:prstDash val="solid"/>
                    </a:lnB>
                    <a:solidFill>
                      <a:srgbClr val="F9C090"/>
                    </a:solidFill>
                  </a:tcPr>
                </a:tc>
                <a:tc>
                  <a:txBody>
                    <a:bodyPr/>
                    <a:lstStyle/>
                    <a:p>
                      <a:pPr marL="8255" marR="48260">
                        <a:lnSpc>
                          <a:spcPct val="100000"/>
                        </a:lnSpc>
                        <a:spcBef>
                          <a:spcPts val="45"/>
                        </a:spcBef>
                        <a:buSzPct val="88888"/>
                        <a:buChar char="•"/>
                        <a:tabLst>
                          <a:tab pos="49530" algn="l"/>
                        </a:tabLst>
                      </a:pPr>
                      <a:r>
                        <a:rPr sz="900" dirty="0">
                          <a:latin typeface="Arial"/>
                          <a:cs typeface="Arial"/>
                        </a:rPr>
                        <a:t>Gestionar 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las  comunicaciones del</a:t>
                      </a:r>
                      <a:r>
                        <a:rPr sz="9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Proyecto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5715" marB="0">
                    <a:lnL w="6350">
                      <a:solidFill>
                        <a:srgbClr val="F79546"/>
                      </a:solidFill>
                      <a:prstDash val="solid"/>
                    </a:lnL>
                    <a:lnR w="12700">
                      <a:solidFill>
                        <a:srgbClr val="F79546"/>
                      </a:solidFill>
                      <a:prstDash val="solid"/>
                    </a:lnR>
                    <a:lnT w="6350">
                      <a:solidFill>
                        <a:srgbClr val="7E7E7E"/>
                      </a:solidFill>
                      <a:prstDash val="solid"/>
                    </a:lnT>
                    <a:lnB w="6350">
                      <a:solidFill>
                        <a:srgbClr val="7E7E7E"/>
                      </a:solidFill>
                      <a:prstDash val="solid"/>
                    </a:lnB>
                    <a:solidFill>
                      <a:srgbClr val="F9C090"/>
                    </a:solidFill>
                  </a:tcPr>
                </a:tc>
                <a:tc>
                  <a:txBody>
                    <a:bodyPr/>
                    <a:lstStyle/>
                    <a:p>
                      <a:pPr marL="8255" marR="710565">
                        <a:lnSpc>
                          <a:spcPct val="100000"/>
                        </a:lnSpc>
                        <a:spcBef>
                          <a:spcPts val="45"/>
                        </a:spcBef>
                        <a:buSzPct val="88888"/>
                        <a:buChar char="•"/>
                        <a:tabLst>
                          <a:tab pos="49530" algn="l"/>
                        </a:tabLst>
                      </a:pPr>
                      <a:r>
                        <a:rPr sz="900" spc="-5" dirty="0">
                          <a:latin typeface="Arial"/>
                          <a:cs typeface="Arial"/>
                        </a:rPr>
                        <a:t>Controlar las  </a:t>
                      </a:r>
                      <a:r>
                        <a:rPr sz="900" spc="5" dirty="0">
                          <a:latin typeface="Arial"/>
                          <a:cs typeface="Arial"/>
                        </a:rPr>
                        <a:t>c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900" spc="5" dirty="0">
                          <a:latin typeface="Arial"/>
                          <a:cs typeface="Arial"/>
                        </a:rPr>
                        <a:t>m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uni</a:t>
                      </a:r>
                      <a:r>
                        <a:rPr sz="900" spc="5" dirty="0">
                          <a:latin typeface="Arial"/>
                          <a:cs typeface="Arial"/>
                        </a:rPr>
                        <a:t>c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c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io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es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5715" marB="0">
                    <a:lnL w="12700">
                      <a:solidFill>
                        <a:srgbClr val="F79546"/>
                      </a:solidFill>
                      <a:prstDash val="solid"/>
                    </a:lnL>
                    <a:lnR w="6350">
                      <a:solidFill>
                        <a:srgbClr val="F79546"/>
                      </a:solidFill>
                      <a:prstDash val="solid"/>
                    </a:lnR>
                    <a:lnT w="6350">
                      <a:solidFill>
                        <a:srgbClr val="7E7E7E"/>
                      </a:solidFill>
                      <a:prstDash val="solid"/>
                    </a:lnT>
                    <a:lnB w="6350">
                      <a:solidFill>
                        <a:srgbClr val="7E7E7E"/>
                      </a:solidFill>
                      <a:prstDash val="solid"/>
                    </a:lnB>
                    <a:solidFill>
                      <a:srgbClr val="F9C0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F79546"/>
                      </a:solidFill>
                      <a:prstDash val="solid"/>
                    </a:lnL>
                    <a:lnR w="12700">
                      <a:solidFill>
                        <a:srgbClr val="F79546"/>
                      </a:solidFill>
                      <a:prstDash val="solid"/>
                    </a:lnR>
                    <a:lnT w="6350">
                      <a:solidFill>
                        <a:srgbClr val="7E7E7E"/>
                      </a:solidFill>
                      <a:prstDash val="solid"/>
                    </a:lnT>
                    <a:lnB w="6350">
                      <a:solidFill>
                        <a:srgbClr val="7E7E7E"/>
                      </a:solidFill>
                      <a:prstDash val="solid"/>
                    </a:lnB>
                  </a:tcPr>
                </a:tc>
              </a:tr>
              <a:tr h="124221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890"/>
                        </a:spcBef>
                      </a:pPr>
                      <a:r>
                        <a:rPr sz="9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Gestión </a:t>
                      </a:r>
                      <a:r>
                        <a:rPr sz="9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de los</a:t>
                      </a:r>
                      <a:r>
                        <a:rPr sz="900" b="1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Riesgos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6350">
                      <a:solidFill>
                        <a:srgbClr val="7E7E7E"/>
                      </a:solidFill>
                      <a:prstDash val="solid"/>
                    </a:lnT>
                    <a:lnB w="6350">
                      <a:solidFill>
                        <a:srgbClr val="7E7E7E"/>
                      </a:solidFill>
                      <a:prstDash val="solid"/>
                    </a:lnB>
                    <a:solidFill>
                      <a:srgbClr val="F795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F79546"/>
                      </a:solidFill>
                      <a:prstDash val="solid"/>
                    </a:lnR>
                    <a:lnT w="6350">
                      <a:solidFill>
                        <a:srgbClr val="7E7E7E"/>
                      </a:solidFill>
                      <a:prstDash val="solid"/>
                    </a:lnT>
                    <a:lnB w="635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" marR="320675">
                        <a:lnSpc>
                          <a:spcPct val="100000"/>
                        </a:lnSpc>
                        <a:spcBef>
                          <a:spcPts val="45"/>
                        </a:spcBef>
                        <a:buSzPct val="88888"/>
                        <a:buChar char="•"/>
                        <a:tabLst>
                          <a:tab pos="48895" algn="l"/>
                        </a:tabLst>
                      </a:pPr>
                      <a:r>
                        <a:rPr sz="900" dirty="0">
                          <a:latin typeface="Arial"/>
                          <a:cs typeface="Arial"/>
                        </a:rPr>
                        <a:t>Planificar 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la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Gestión</a:t>
                      </a:r>
                      <a:r>
                        <a:rPr sz="900" spc="-1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de 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Riesgos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48260" indent="-41275">
                        <a:lnSpc>
                          <a:spcPct val="100000"/>
                        </a:lnSpc>
                        <a:buSzPct val="88888"/>
                        <a:buChar char="•"/>
                        <a:tabLst>
                          <a:tab pos="48895" algn="l"/>
                        </a:tabLst>
                      </a:pPr>
                      <a:r>
                        <a:rPr sz="900" dirty="0">
                          <a:latin typeface="Arial"/>
                          <a:cs typeface="Arial"/>
                        </a:rPr>
                        <a:t>Identificar</a:t>
                      </a:r>
                      <a:r>
                        <a:rPr sz="9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Riesgos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48260" indent="-41275">
                        <a:lnSpc>
                          <a:spcPct val="100000"/>
                        </a:lnSpc>
                        <a:buSzPct val="88888"/>
                        <a:buChar char="•"/>
                        <a:tabLst>
                          <a:tab pos="48895" algn="l"/>
                        </a:tabLst>
                      </a:pPr>
                      <a:r>
                        <a:rPr sz="900" spc="-5" dirty="0">
                          <a:latin typeface="Arial"/>
                          <a:cs typeface="Arial"/>
                        </a:rPr>
                        <a:t>Realizar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Análisis</a:t>
                      </a:r>
                      <a:r>
                        <a:rPr sz="900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Cualitativo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7620">
                        <a:lnSpc>
                          <a:spcPct val="100000"/>
                        </a:lnSpc>
                      </a:pPr>
                      <a:r>
                        <a:rPr sz="900" dirty="0">
                          <a:latin typeface="Arial"/>
                          <a:cs typeface="Arial"/>
                        </a:rPr>
                        <a:t>de</a:t>
                      </a:r>
                      <a:r>
                        <a:rPr sz="900" spc="-10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Riesgos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7620" marR="12700">
                        <a:lnSpc>
                          <a:spcPct val="100000"/>
                        </a:lnSpc>
                        <a:spcBef>
                          <a:spcPts val="5"/>
                        </a:spcBef>
                        <a:buSzPct val="88888"/>
                        <a:buChar char="•"/>
                        <a:tabLst>
                          <a:tab pos="48895" algn="l"/>
                        </a:tabLst>
                      </a:pPr>
                      <a:r>
                        <a:rPr sz="900" spc="-5" dirty="0">
                          <a:latin typeface="Arial"/>
                          <a:cs typeface="Arial"/>
                        </a:rPr>
                        <a:t>Realizar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Análisis 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Cuantitativo  de</a:t>
                      </a:r>
                      <a:r>
                        <a:rPr sz="9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Riesgos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7620" marR="48895">
                        <a:lnSpc>
                          <a:spcPct val="100000"/>
                        </a:lnSpc>
                        <a:buSzPct val="88888"/>
                        <a:buChar char="•"/>
                        <a:tabLst>
                          <a:tab pos="48895" algn="l"/>
                        </a:tabLst>
                      </a:pPr>
                      <a:r>
                        <a:rPr sz="900" dirty="0">
                          <a:latin typeface="Arial"/>
                          <a:cs typeface="Arial"/>
                        </a:rPr>
                        <a:t>Planificar 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la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Respuesta 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900" spc="-9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los  Riesgos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5715" marB="0">
                    <a:lnL w="12700">
                      <a:solidFill>
                        <a:srgbClr val="F79546"/>
                      </a:solidFill>
                      <a:prstDash val="solid"/>
                    </a:lnL>
                    <a:lnR w="6350">
                      <a:solidFill>
                        <a:srgbClr val="F79546"/>
                      </a:solidFill>
                      <a:prstDash val="solid"/>
                    </a:lnR>
                    <a:lnT w="6350">
                      <a:solidFill>
                        <a:srgbClr val="7E7E7E"/>
                      </a:solidFill>
                      <a:prstDash val="solid"/>
                    </a:lnT>
                    <a:lnB w="6350">
                      <a:solidFill>
                        <a:srgbClr val="7E7E7E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F79546"/>
                      </a:solidFill>
                      <a:prstDash val="solid"/>
                    </a:lnL>
                    <a:lnR w="12700">
                      <a:solidFill>
                        <a:srgbClr val="F79546"/>
                      </a:solidFill>
                      <a:prstDash val="solid"/>
                    </a:lnR>
                    <a:lnT w="6350">
                      <a:solidFill>
                        <a:srgbClr val="7E7E7E"/>
                      </a:solidFill>
                      <a:prstDash val="solid"/>
                    </a:lnT>
                    <a:lnB w="635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895" indent="-41275">
                        <a:lnSpc>
                          <a:spcPct val="100000"/>
                        </a:lnSpc>
                        <a:spcBef>
                          <a:spcPts val="45"/>
                        </a:spcBef>
                        <a:buSzPct val="88888"/>
                        <a:buChar char="•"/>
                        <a:tabLst>
                          <a:tab pos="49530" algn="l"/>
                        </a:tabLst>
                      </a:pPr>
                      <a:r>
                        <a:rPr sz="900" spc="-5" dirty="0">
                          <a:latin typeface="Arial"/>
                          <a:cs typeface="Arial"/>
                        </a:rPr>
                        <a:t>Controlar los</a:t>
                      </a:r>
                      <a:r>
                        <a:rPr sz="9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Riesgos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5715" marB="0">
                    <a:lnL w="12700">
                      <a:solidFill>
                        <a:srgbClr val="F79546"/>
                      </a:solidFill>
                      <a:prstDash val="solid"/>
                    </a:lnL>
                    <a:lnR w="6350">
                      <a:solidFill>
                        <a:srgbClr val="F79546"/>
                      </a:solidFill>
                      <a:prstDash val="solid"/>
                    </a:lnR>
                    <a:lnT w="6350">
                      <a:solidFill>
                        <a:srgbClr val="7E7E7E"/>
                      </a:solidFill>
                      <a:prstDash val="solid"/>
                    </a:lnT>
                    <a:lnB w="6350">
                      <a:solidFill>
                        <a:srgbClr val="7E7E7E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F79546"/>
                      </a:solidFill>
                      <a:prstDash val="solid"/>
                    </a:lnL>
                    <a:lnR w="12700">
                      <a:solidFill>
                        <a:srgbClr val="F79546"/>
                      </a:solidFill>
                      <a:prstDash val="solid"/>
                    </a:lnR>
                    <a:lnT w="6350">
                      <a:solidFill>
                        <a:srgbClr val="7E7E7E"/>
                      </a:solidFill>
                      <a:prstDash val="solid"/>
                    </a:lnT>
                    <a:lnB w="6350">
                      <a:solidFill>
                        <a:srgbClr val="7E7E7E"/>
                      </a:solidFill>
                      <a:prstDash val="solid"/>
                    </a:lnB>
                  </a:tcPr>
                </a:tc>
              </a:tr>
              <a:tr h="282028">
                <a:tc>
                  <a:txBody>
                    <a:bodyPr/>
                    <a:lstStyle/>
                    <a:p>
                      <a:pPr marL="38290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9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Gestión de</a:t>
                      </a:r>
                      <a:r>
                        <a:rPr sz="900" b="1" spc="-6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las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382905">
                        <a:lnSpc>
                          <a:spcPts val="1015"/>
                        </a:lnSpc>
                      </a:pPr>
                      <a:r>
                        <a:rPr sz="9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Adquisiciones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3175" marB="0">
                    <a:lnT w="6350">
                      <a:solidFill>
                        <a:srgbClr val="7E7E7E"/>
                      </a:solidFill>
                      <a:prstDash val="solid"/>
                    </a:lnT>
                    <a:lnB w="6350">
                      <a:solidFill>
                        <a:srgbClr val="7E7E7E"/>
                      </a:solidFill>
                      <a:prstDash val="solid"/>
                    </a:lnB>
                    <a:solidFill>
                      <a:srgbClr val="F795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F79546"/>
                      </a:solidFill>
                      <a:prstDash val="solid"/>
                    </a:lnR>
                    <a:lnT w="6350">
                      <a:solidFill>
                        <a:srgbClr val="7E7E7E"/>
                      </a:solidFill>
                      <a:prstDash val="solid"/>
                    </a:lnT>
                    <a:lnB w="6350">
                      <a:solidFill>
                        <a:srgbClr val="7E7E7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260" indent="-41275">
                        <a:lnSpc>
                          <a:spcPct val="100000"/>
                        </a:lnSpc>
                        <a:spcBef>
                          <a:spcPts val="45"/>
                        </a:spcBef>
                        <a:buSzPct val="88888"/>
                        <a:buChar char="•"/>
                        <a:tabLst>
                          <a:tab pos="48895" algn="l"/>
                        </a:tabLst>
                      </a:pPr>
                      <a:r>
                        <a:rPr sz="900" dirty="0">
                          <a:latin typeface="Arial"/>
                          <a:cs typeface="Arial"/>
                        </a:rPr>
                        <a:t>Planificar 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la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Gestión de</a:t>
                      </a:r>
                      <a:r>
                        <a:rPr sz="900" spc="-7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las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7620">
                        <a:lnSpc>
                          <a:spcPts val="990"/>
                        </a:lnSpc>
                      </a:pPr>
                      <a:r>
                        <a:rPr sz="900" dirty="0">
                          <a:latin typeface="Arial"/>
                          <a:cs typeface="Arial"/>
                        </a:rPr>
                        <a:t>Adquisiciones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5715" marB="0">
                    <a:lnL w="12700">
                      <a:solidFill>
                        <a:srgbClr val="F79546"/>
                      </a:solidFill>
                      <a:prstDash val="solid"/>
                    </a:lnL>
                    <a:lnR w="6350">
                      <a:solidFill>
                        <a:srgbClr val="F79546"/>
                      </a:solidFill>
                      <a:prstDash val="solid"/>
                    </a:lnR>
                    <a:lnT w="6350">
                      <a:solidFill>
                        <a:srgbClr val="7E7E7E"/>
                      </a:solidFill>
                      <a:prstDash val="solid"/>
                    </a:lnT>
                    <a:lnB w="6350">
                      <a:solidFill>
                        <a:srgbClr val="7E7E7E"/>
                      </a:solidFill>
                      <a:prstDash val="solid"/>
                    </a:lnB>
                    <a:solidFill>
                      <a:srgbClr val="548ED4"/>
                    </a:solidFill>
                  </a:tcPr>
                </a:tc>
                <a:tc>
                  <a:txBody>
                    <a:bodyPr/>
                    <a:lstStyle/>
                    <a:p>
                      <a:pPr marL="48895" indent="-41275">
                        <a:lnSpc>
                          <a:spcPct val="100000"/>
                        </a:lnSpc>
                        <a:spcBef>
                          <a:spcPts val="45"/>
                        </a:spcBef>
                        <a:buSzPct val="88888"/>
                        <a:buChar char="•"/>
                        <a:tabLst>
                          <a:tab pos="49530" algn="l"/>
                        </a:tabLst>
                      </a:pPr>
                      <a:r>
                        <a:rPr sz="900" dirty="0">
                          <a:latin typeface="Arial"/>
                          <a:cs typeface="Arial"/>
                        </a:rPr>
                        <a:t>Efectuar 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las</a:t>
                      </a:r>
                      <a:r>
                        <a:rPr sz="9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Adquisiciones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5715" marB="0">
                    <a:lnL w="6350">
                      <a:solidFill>
                        <a:srgbClr val="F79546"/>
                      </a:solidFill>
                      <a:prstDash val="solid"/>
                    </a:lnL>
                    <a:lnR w="12700">
                      <a:solidFill>
                        <a:srgbClr val="F79546"/>
                      </a:solidFill>
                      <a:prstDash val="solid"/>
                    </a:lnR>
                    <a:lnT w="6350">
                      <a:solidFill>
                        <a:srgbClr val="7E7E7E"/>
                      </a:solidFill>
                      <a:prstDash val="solid"/>
                    </a:lnT>
                    <a:lnB w="6350">
                      <a:solidFill>
                        <a:srgbClr val="7E7E7E"/>
                      </a:solidFill>
                      <a:prstDash val="solid"/>
                    </a:lnB>
                    <a:solidFill>
                      <a:srgbClr val="548ED4"/>
                    </a:solidFill>
                  </a:tcPr>
                </a:tc>
                <a:tc>
                  <a:txBody>
                    <a:bodyPr/>
                    <a:lstStyle/>
                    <a:p>
                      <a:pPr marL="48895" indent="-41275">
                        <a:lnSpc>
                          <a:spcPct val="100000"/>
                        </a:lnSpc>
                        <a:spcBef>
                          <a:spcPts val="45"/>
                        </a:spcBef>
                        <a:buSzPct val="88888"/>
                        <a:buChar char="•"/>
                        <a:tabLst>
                          <a:tab pos="49530" algn="l"/>
                        </a:tabLst>
                      </a:pPr>
                      <a:r>
                        <a:rPr sz="900" spc="-5" dirty="0">
                          <a:latin typeface="Arial"/>
                          <a:cs typeface="Arial"/>
                        </a:rPr>
                        <a:t>Controlar las</a:t>
                      </a:r>
                      <a:r>
                        <a:rPr sz="9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Adquisiciones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5715" marB="0">
                    <a:lnL w="12700">
                      <a:solidFill>
                        <a:srgbClr val="F79546"/>
                      </a:solidFill>
                      <a:prstDash val="solid"/>
                    </a:lnL>
                    <a:lnR w="6350">
                      <a:solidFill>
                        <a:srgbClr val="F79546"/>
                      </a:solidFill>
                      <a:prstDash val="solid"/>
                    </a:lnR>
                    <a:lnT w="6350">
                      <a:solidFill>
                        <a:srgbClr val="7E7E7E"/>
                      </a:solidFill>
                      <a:prstDash val="solid"/>
                    </a:lnT>
                    <a:lnB w="6350">
                      <a:solidFill>
                        <a:srgbClr val="7E7E7E"/>
                      </a:solidFill>
                      <a:prstDash val="solid"/>
                    </a:lnB>
                    <a:solidFill>
                      <a:srgbClr val="548ED4"/>
                    </a:solidFill>
                  </a:tcPr>
                </a:tc>
                <a:tc>
                  <a:txBody>
                    <a:bodyPr/>
                    <a:lstStyle/>
                    <a:p>
                      <a:pPr marL="49530" indent="-41275">
                        <a:lnSpc>
                          <a:spcPct val="100000"/>
                        </a:lnSpc>
                        <a:spcBef>
                          <a:spcPts val="45"/>
                        </a:spcBef>
                        <a:buSzPct val="88888"/>
                        <a:buChar char="•"/>
                        <a:tabLst>
                          <a:tab pos="50165" algn="l"/>
                        </a:tabLst>
                      </a:pPr>
                      <a:r>
                        <a:rPr sz="900" dirty="0">
                          <a:latin typeface="Arial"/>
                          <a:cs typeface="Arial"/>
                        </a:rPr>
                        <a:t>Cerrar 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las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Adquisiciones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5715" marB="0">
                    <a:lnL w="6350">
                      <a:solidFill>
                        <a:srgbClr val="F79546"/>
                      </a:solidFill>
                      <a:prstDash val="solid"/>
                    </a:lnL>
                    <a:lnR w="12700">
                      <a:solidFill>
                        <a:srgbClr val="F79546"/>
                      </a:solidFill>
                      <a:prstDash val="solid"/>
                    </a:lnR>
                    <a:lnT w="6350">
                      <a:solidFill>
                        <a:srgbClr val="7E7E7E"/>
                      </a:solidFill>
                      <a:prstDash val="solid"/>
                    </a:lnT>
                    <a:lnB w="6350">
                      <a:solidFill>
                        <a:srgbClr val="7E7E7E"/>
                      </a:solidFill>
                      <a:prstDash val="solid"/>
                    </a:lnB>
                    <a:solidFill>
                      <a:srgbClr val="548ED4"/>
                    </a:solidFill>
                  </a:tcPr>
                </a:tc>
              </a:tr>
              <a:tr h="282039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9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Gestión </a:t>
                      </a:r>
                      <a:r>
                        <a:rPr sz="9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de </a:t>
                      </a:r>
                      <a:r>
                        <a:rPr sz="9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los</a:t>
                      </a:r>
                      <a:r>
                        <a:rPr sz="900" b="1" spc="-5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Interesados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71755" marB="0">
                    <a:lnT w="6350">
                      <a:solidFill>
                        <a:srgbClr val="7E7E7E"/>
                      </a:solidFill>
                      <a:prstDash val="solid"/>
                    </a:lnT>
                    <a:solidFill>
                      <a:srgbClr val="F79546"/>
                    </a:solidFill>
                  </a:tcPr>
                </a:tc>
                <a:tc>
                  <a:txBody>
                    <a:bodyPr/>
                    <a:lstStyle/>
                    <a:p>
                      <a:pPr marL="762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900" dirty="0">
                          <a:latin typeface="Arial"/>
                          <a:cs typeface="Arial"/>
                        </a:rPr>
                        <a:t>Identificar 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a los</a:t>
                      </a:r>
                      <a:r>
                        <a:rPr sz="900" spc="-7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Interesados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6350" marB="0">
                    <a:lnR w="12700">
                      <a:solidFill>
                        <a:srgbClr val="F79546"/>
                      </a:solidFill>
                      <a:prstDash val="solid"/>
                    </a:lnR>
                    <a:lnT w="6350">
                      <a:solidFill>
                        <a:srgbClr val="7E7E7E"/>
                      </a:solidFill>
                      <a:prstDash val="solid"/>
                    </a:lnT>
                    <a:lnB w="6350">
                      <a:solidFill>
                        <a:srgbClr val="F79546"/>
                      </a:solidFill>
                      <a:prstDash val="solid"/>
                    </a:lnB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marL="7620" marR="167640">
                        <a:lnSpc>
                          <a:spcPct val="100000"/>
                        </a:lnSpc>
                        <a:spcBef>
                          <a:spcPts val="50"/>
                        </a:spcBef>
                        <a:buSzPct val="88888"/>
                        <a:buChar char="•"/>
                        <a:tabLst>
                          <a:tab pos="48895" algn="l"/>
                        </a:tabLst>
                      </a:pPr>
                      <a:r>
                        <a:rPr sz="900" dirty="0">
                          <a:latin typeface="Arial"/>
                          <a:cs typeface="Arial"/>
                        </a:rPr>
                        <a:t>Planificar 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la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gestión 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de</a:t>
                      </a:r>
                      <a:r>
                        <a:rPr sz="900" spc="-114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los 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interesados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6350" marB="0">
                    <a:lnL w="12700">
                      <a:solidFill>
                        <a:srgbClr val="F79546"/>
                      </a:solidFill>
                      <a:prstDash val="solid"/>
                    </a:lnL>
                    <a:lnR w="6350">
                      <a:solidFill>
                        <a:srgbClr val="F79546"/>
                      </a:solidFill>
                      <a:prstDash val="solid"/>
                    </a:lnR>
                    <a:lnT w="6350">
                      <a:solidFill>
                        <a:srgbClr val="7E7E7E"/>
                      </a:solidFill>
                      <a:prstDash val="solid"/>
                    </a:lnT>
                    <a:lnB w="6350">
                      <a:solidFill>
                        <a:srgbClr val="F79546"/>
                      </a:solidFill>
                      <a:prstDash val="solid"/>
                    </a:lnB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marL="8255" marR="13335">
                        <a:lnSpc>
                          <a:spcPct val="100000"/>
                        </a:lnSpc>
                        <a:spcBef>
                          <a:spcPts val="50"/>
                        </a:spcBef>
                        <a:buSzPct val="88888"/>
                        <a:buChar char="•"/>
                        <a:tabLst>
                          <a:tab pos="49530" algn="l"/>
                        </a:tabLst>
                      </a:pPr>
                      <a:r>
                        <a:rPr sz="900" dirty="0">
                          <a:latin typeface="Arial"/>
                          <a:cs typeface="Arial"/>
                        </a:rPr>
                        <a:t>Gestionar 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la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participación 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de  los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interesados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6350" marB="0">
                    <a:lnL w="6350">
                      <a:solidFill>
                        <a:srgbClr val="F79546"/>
                      </a:solidFill>
                      <a:prstDash val="solid"/>
                    </a:lnL>
                    <a:lnR w="12700">
                      <a:solidFill>
                        <a:srgbClr val="F79546"/>
                      </a:solidFill>
                      <a:prstDash val="solid"/>
                    </a:lnR>
                    <a:lnT w="6350">
                      <a:solidFill>
                        <a:srgbClr val="7E7E7E"/>
                      </a:solidFill>
                      <a:prstDash val="solid"/>
                    </a:lnT>
                    <a:lnB w="6350">
                      <a:solidFill>
                        <a:srgbClr val="F79546"/>
                      </a:solidFill>
                      <a:prstDash val="solid"/>
                    </a:lnB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 marL="8255" marR="69850">
                        <a:lnSpc>
                          <a:spcPct val="100000"/>
                        </a:lnSpc>
                        <a:spcBef>
                          <a:spcPts val="50"/>
                        </a:spcBef>
                        <a:buSzPct val="88888"/>
                        <a:buChar char="•"/>
                        <a:tabLst>
                          <a:tab pos="49530" algn="l"/>
                        </a:tabLst>
                      </a:pPr>
                      <a:r>
                        <a:rPr sz="900" spc="-5" dirty="0">
                          <a:latin typeface="Arial"/>
                          <a:cs typeface="Arial"/>
                        </a:rPr>
                        <a:t>Controlar la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participación</a:t>
                      </a:r>
                      <a:r>
                        <a:rPr sz="900" spc="-7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de  los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interesados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6350" marB="0">
                    <a:lnL w="12700">
                      <a:solidFill>
                        <a:srgbClr val="F79546"/>
                      </a:solidFill>
                      <a:prstDash val="solid"/>
                    </a:lnL>
                    <a:lnR w="6350">
                      <a:solidFill>
                        <a:srgbClr val="F79546"/>
                      </a:solidFill>
                      <a:prstDash val="solid"/>
                    </a:lnR>
                    <a:lnT w="6350">
                      <a:solidFill>
                        <a:srgbClr val="7E7E7E"/>
                      </a:solidFill>
                      <a:prstDash val="solid"/>
                    </a:lnT>
                    <a:lnB w="6350">
                      <a:solidFill>
                        <a:srgbClr val="F79546"/>
                      </a:solidFill>
                      <a:prstDash val="solid"/>
                    </a:lnB>
                    <a:solidFill>
                      <a:srgbClr val="D6E3B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F79546"/>
                      </a:solidFill>
                      <a:prstDash val="solid"/>
                    </a:lnL>
                    <a:lnR w="12700">
                      <a:solidFill>
                        <a:srgbClr val="F79546"/>
                      </a:solidFill>
                      <a:prstDash val="solid"/>
                    </a:lnR>
                    <a:lnT w="6350">
                      <a:solidFill>
                        <a:srgbClr val="7E7E7E"/>
                      </a:solidFill>
                      <a:prstDash val="solid"/>
                    </a:lnT>
                    <a:lnB w="6350">
                      <a:solidFill>
                        <a:srgbClr val="F79546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9221" y="461899"/>
            <a:ext cx="798957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Grupo </a:t>
            </a:r>
            <a:r>
              <a:rPr spc="-5" dirty="0"/>
              <a:t>de </a:t>
            </a:r>
            <a:r>
              <a:rPr spc="-10" dirty="0"/>
              <a:t>Procesos </a:t>
            </a:r>
            <a:r>
              <a:rPr spc="-5" dirty="0"/>
              <a:t>de</a:t>
            </a:r>
            <a:r>
              <a:rPr spc="20" dirty="0"/>
              <a:t> </a:t>
            </a:r>
            <a:r>
              <a:rPr spc="-5" dirty="0"/>
              <a:t>Planificación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07593" y="1371091"/>
            <a:ext cx="8274050" cy="3464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8255" indent="-342900" algn="just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5600" algn="l"/>
              </a:tabLst>
            </a:pPr>
            <a:r>
              <a:rPr sz="2400" spc="-15" dirty="0">
                <a:latin typeface="Calibri"/>
                <a:cs typeface="Calibri"/>
              </a:rPr>
              <a:t>Estos </a:t>
            </a:r>
            <a:r>
              <a:rPr sz="2400" spc="-10" dirty="0">
                <a:latin typeface="Calibri"/>
                <a:cs typeface="Calibri"/>
              </a:rPr>
              <a:t>procesos </a:t>
            </a:r>
            <a:r>
              <a:rPr sz="2400" spc="-5" dirty="0">
                <a:latin typeface="Calibri"/>
                <a:cs typeface="Calibri"/>
              </a:rPr>
              <a:t>establecen </a:t>
            </a:r>
            <a:r>
              <a:rPr sz="2400" dirty="0">
                <a:latin typeface="Calibri"/>
                <a:cs typeface="Calibri"/>
              </a:rPr>
              <a:t>el </a:t>
            </a:r>
            <a:r>
              <a:rPr sz="2400" spc="-5" dirty="0">
                <a:latin typeface="Calibri"/>
                <a:cs typeface="Calibri"/>
              </a:rPr>
              <a:t>alcance </a:t>
            </a:r>
            <a:r>
              <a:rPr sz="2400" spc="-15" dirty="0">
                <a:latin typeface="Calibri"/>
                <a:cs typeface="Calibri"/>
              </a:rPr>
              <a:t>total </a:t>
            </a:r>
            <a:r>
              <a:rPr sz="2400" spc="-5" dirty="0">
                <a:latin typeface="Calibri"/>
                <a:cs typeface="Calibri"/>
              </a:rPr>
              <a:t>del </a:t>
            </a:r>
            <a:r>
              <a:rPr sz="2400" spc="-20" dirty="0">
                <a:latin typeface="Calibri"/>
                <a:cs typeface="Calibri"/>
              </a:rPr>
              <a:t>esfuerzo, </a:t>
            </a:r>
            <a:r>
              <a:rPr sz="2400" spc="-5" dirty="0">
                <a:latin typeface="Calibri"/>
                <a:cs typeface="Calibri"/>
              </a:rPr>
              <a:t>definen  </a:t>
            </a:r>
            <a:r>
              <a:rPr sz="2400" dirty="0">
                <a:latin typeface="Calibri"/>
                <a:cs typeface="Calibri"/>
              </a:rPr>
              <a:t>el </a:t>
            </a:r>
            <a:r>
              <a:rPr sz="2400" spc="-10" dirty="0">
                <a:latin typeface="Calibri"/>
                <a:cs typeface="Calibri"/>
              </a:rPr>
              <a:t>curso </a:t>
            </a:r>
            <a:r>
              <a:rPr sz="2400" spc="-5" dirty="0">
                <a:latin typeface="Calibri"/>
                <a:cs typeface="Calibri"/>
              </a:rPr>
              <a:t>de </a:t>
            </a:r>
            <a:r>
              <a:rPr sz="2400" dirty="0">
                <a:latin typeface="Calibri"/>
                <a:cs typeface="Calibri"/>
              </a:rPr>
              <a:t>acción, </a:t>
            </a:r>
            <a:r>
              <a:rPr sz="2400" spc="-10" dirty="0">
                <a:latin typeface="Calibri"/>
                <a:cs typeface="Calibri"/>
              </a:rPr>
              <a:t>definen </a:t>
            </a:r>
            <a:r>
              <a:rPr sz="2400" dirty="0">
                <a:latin typeface="Calibri"/>
                <a:cs typeface="Calibri"/>
              </a:rPr>
              <a:t>y </a:t>
            </a:r>
            <a:r>
              <a:rPr sz="2400" spc="-15" dirty="0">
                <a:latin typeface="Calibri"/>
                <a:cs typeface="Calibri"/>
              </a:rPr>
              <a:t>refinan </a:t>
            </a:r>
            <a:r>
              <a:rPr sz="2400" dirty="0">
                <a:latin typeface="Calibri"/>
                <a:cs typeface="Calibri"/>
              </a:rPr>
              <a:t>los </a:t>
            </a:r>
            <a:r>
              <a:rPr sz="2400" spc="-10" dirty="0">
                <a:latin typeface="Calibri"/>
                <a:cs typeface="Calibri"/>
              </a:rPr>
              <a:t>objetivos </a:t>
            </a:r>
            <a:r>
              <a:rPr sz="2400" dirty="0">
                <a:latin typeface="Calibri"/>
                <a:cs typeface="Calibri"/>
              </a:rPr>
              <a:t>y </a:t>
            </a:r>
            <a:r>
              <a:rPr sz="2400" spc="-10" dirty="0">
                <a:latin typeface="Calibri"/>
                <a:cs typeface="Calibri"/>
              </a:rPr>
              <a:t>desarrollan  </a:t>
            </a:r>
            <a:r>
              <a:rPr sz="2400" dirty="0">
                <a:latin typeface="Calibri"/>
                <a:cs typeface="Calibri"/>
              </a:rPr>
              <a:t>la línea </a:t>
            </a:r>
            <a:r>
              <a:rPr sz="2400" spc="-5" dirty="0">
                <a:latin typeface="Calibri"/>
                <a:cs typeface="Calibri"/>
              </a:rPr>
              <a:t>de </a:t>
            </a:r>
            <a:r>
              <a:rPr sz="2400" dirty="0">
                <a:latin typeface="Calibri"/>
                <a:cs typeface="Calibri"/>
              </a:rPr>
              <a:t>acción </a:t>
            </a:r>
            <a:r>
              <a:rPr sz="2400" spc="-5" dirty="0">
                <a:latin typeface="Calibri"/>
                <a:cs typeface="Calibri"/>
              </a:rPr>
              <a:t>requerida </a:t>
            </a:r>
            <a:r>
              <a:rPr sz="2400" spc="-15" dirty="0">
                <a:latin typeface="Calibri"/>
                <a:cs typeface="Calibri"/>
              </a:rPr>
              <a:t>para </a:t>
            </a:r>
            <a:r>
              <a:rPr sz="2400" spc="-10" dirty="0">
                <a:latin typeface="Calibri"/>
                <a:cs typeface="Calibri"/>
              </a:rPr>
              <a:t>alcanzar </a:t>
            </a:r>
            <a:r>
              <a:rPr sz="2400" spc="-5" dirty="0">
                <a:latin typeface="Calibri"/>
                <a:cs typeface="Calibri"/>
              </a:rPr>
              <a:t>dichos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objetivos.</a:t>
            </a:r>
            <a:endParaRPr sz="2400">
              <a:latin typeface="Calibri"/>
              <a:cs typeface="Calibri"/>
            </a:endParaRPr>
          </a:p>
          <a:p>
            <a:pPr marL="355600" marR="5715" indent="-342900" algn="just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355600" algn="l"/>
              </a:tabLst>
            </a:pPr>
            <a:r>
              <a:rPr sz="2400" spc="-15" dirty="0">
                <a:latin typeface="Calibri"/>
                <a:cs typeface="Calibri"/>
              </a:rPr>
              <a:t>Estos </a:t>
            </a:r>
            <a:r>
              <a:rPr sz="2400" spc="-10" dirty="0">
                <a:latin typeface="Calibri"/>
                <a:cs typeface="Calibri"/>
              </a:rPr>
              <a:t>procesos desarrollan </a:t>
            </a:r>
            <a:r>
              <a:rPr sz="2400" dirty="0">
                <a:latin typeface="Calibri"/>
                <a:cs typeface="Calibri"/>
              </a:rPr>
              <a:t>el </a:t>
            </a:r>
            <a:r>
              <a:rPr sz="2400" spc="-5" dirty="0">
                <a:latin typeface="Calibri"/>
                <a:cs typeface="Calibri"/>
              </a:rPr>
              <a:t>Plan </a:t>
            </a:r>
            <a:r>
              <a:rPr sz="2400" spc="-15" dirty="0">
                <a:latin typeface="Calibri"/>
                <a:cs typeface="Calibri"/>
              </a:rPr>
              <a:t>para </a:t>
            </a:r>
            <a:r>
              <a:rPr sz="2400" dirty="0">
                <a:latin typeface="Calibri"/>
                <a:cs typeface="Calibri"/>
              </a:rPr>
              <a:t>la </a:t>
            </a:r>
            <a:r>
              <a:rPr sz="2400" spc="-10" dirty="0">
                <a:latin typeface="Calibri"/>
                <a:cs typeface="Calibri"/>
              </a:rPr>
              <a:t>Dirección </a:t>
            </a:r>
            <a:r>
              <a:rPr sz="2400" spc="-5" dirty="0">
                <a:latin typeface="Calibri"/>
                <a:cs typeface="Calibri"/>
              </a:rPr>
              <a:t>del  </a:t>
            </a:r>
            <a:r>
              <a:rPr sz="2400" spc="-15" dirty="0">
                <a:latin typeface="Calibri"/>
                <a:cs typeface="Calibri"/>
              </a:rPr>
              <a:t>Proyecto </a:t>
            </a:r>
            <a:r>
              <a:rPr sz="2400" dirty="0">
                <a:latin typeface="Calibri"/>
                <a:cs typeface="Calibri"/>
              </a:rPr>
              <a:t>y </a:t>
            </a:r>
            <a:r>
              <a:rPr sz="2400" spc="-10" dirty="0">
                <a:latin typeface="Calibri"/>
                <a:cs typeface="Calibri"/>
              </a:rPr>
              <a:t>los documentos </a:t>
            </a:r>
            <a:r>
              <a:rPr sz="2400" spc="-5" dirty="0">
                <a:latin typeface="Calibri"/>
                <a:cs typeface="Calibri"/>
              </a:rPr>
              <a:t>del </a:t>
            </a:r>
            <a:r>
              <a:rPr sz="2400" spc="-20" dirty="0">
                <a:latin typeface="Calibri"/>
                <a:cs typeface="Calibri"/>
              </a:rPr>
              <a:t>Proyecto </a:t>
            </a:r>
            <a:r>
              <a:rPr sz="2400" spc="-5" dirty="0">
                <a:latin typeface="Calibri"/>
                <a:cs typeface="Calibri"/>
              </a:rPr>
              <a:t>que se </a:t>
            </a:r>
            <a:r>
              <a:rPr sz="2400" spc="-15" dirty="0">
                <a:latin typeface="Calibri"/>
                <a:cs typeface="Calibri"/>
              </a:rPr>
              <a:t>utilizarán para  </a:t>
            </a:r>
            <a:r>
              <a:rPr sz="2400" spc="-10" dirty="0">
                <a:latin typeface="Calibri"/>
                <a:cs typeface="Calibri"/>
              </a:rPr>
              <a:t>llevarlo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cabo.</a:t>
            </a:r>
            <a:endParaRPr sz="2400">
              <a:latin typeface="Calibri"/>
              <a:cs typeface="Calibri"/>
            </a:endParaRPr>
          </a:p>
          <a:p>
            <a:pPr marL="355600" marR="5080" indent="-342900" algn="just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355600" algn="l"/>
              </a:tabLst>
            </a:pPr>
            <a:r>
              <a:rPr sz="2400" spc="-60" dirty="0">
                <a:latin typeface="Calibri"/>
                <a:cs typeface="Calibri"/>
              </a:rPr>
              <a:t>Todo </a:t>
            </a:r>
            <a:r>
              <a:rPr sz="2400" dirty="0">
                <a:latin typeface="Calibri"/>
                <a:cs typeface="Calibri"/>
              </a:rPr>
              <a:t>lo </a:t>
            </a:r>
            <a:r>
              <a:rPr sz="2400" spc="-5" dirty="0">
                <a:latin typeface="Calibri"/>
                <a:cs typeface="Calibri"/>
              </a:rPr>
              <a:t>que se </a:t>
            </a:r>
            <a:r>
              <a:rPr sz="2400" spc="-20" dirty="0">
                <a:latin typeface="Calibri"/>
                <a:cs typeface="Calibri"/>
              </a:rPr>
              <a:t>haga </a:t>
            </a:r>
            <a:r>
              <a:rPr sz="2400" dirty="0">
                <a:latin typeface="Calibri"/>
                <a:cs typeface="Calibri"/>
              </a:rPr>
              <a:t>en el grupo </a:t>
            </a:r>
            <a:r>
              <a:rPr sz="2400" spc="-10" dirty="0">
                <a:latin typeface="Calibri"/>
                <a:cs typeface="Calibri"/>
              </a:rPr>
              <a:t>de procesos </a:t>
            </a:r>
            <a:r>
              <a:rPr sz="2400" spc="-5" dirty="0">
                <a:latin typeface="Calibri"/>
                <a:cs typeface="Calibri"/>
              </a:rPr>
              <a:t>de Planificación  sirve </a:t>
            </a:r>
            <a:r>
              <a:rPr sz="2400" spc="-15" dirty="0">
                <a:latin typeface="Calibri"/>
                <a:cs typeface="Calibri"/>
              </a:rPr>
              <a:t>para </a:t>
            </a:r>
            <a:r>
              <a:rPr sz="2400" spc="-10" dirty="0">
                <a:latin typeface="Calibri"/>
                <a:cs typeface="Calibri"/>
              </a:rPr>
              <a:t>establecer </a:t>
            </a:r>
            <a:r>
              <a:rPr sz="2400" spc="-5" dirty="0">
                <a:latin typeface="Calibri"/>
                <a:cs typeface="Calibri"/>
              </a:rPr>
              <a:t>las </a:t>
            </a:r>
            <a:r>
              <a:rPr sz="2400" dirty="0">
                <a:latin typeface="Calibri"/>
                <a:cs typeface="Calibri"/>
              </a:rPr>
              <a:t>líneas </a:t>
            </a:r>
            <a:r>
              <a:rPr sz="2400" spc="-10" dirty="0">
                <a:latin typeface="Calibri"/>
                <a:cs typeface="Calibri"/>
              </a:rPr>
              <a:t>base </a:t>
            </a:r>
            <a:r>
              <a:rPr sz="2400" spc="-20" dirty="0">
                <a:latin typeface="Calibri"/>
                <a:cs typeface="Calibri"/>
              </a:rPr>
              <a:t>contra </a:t>
            </a:r>
            <a:r>
              <a:rPr sz="2400" dirty="0">
                <a:latin typeface="Calibri"/>
                <a:cs typeface="Calibri"/>
              </a:rPr>
              <a:t>las cuales </a:t>
            </a:r>
            <a:r>
              <a:rPr sz="2400" spc="-5" dirty="0">
                <a:latin typeface="Calibri"/>
                <a:cs typeface="Calibri"/>
              </a:rPr>
              <a:t>se hace  </a:t>
            </a:r>
            <a:r>
              <a:rPr sz="2400" spc="-10" dirty="0">
                <a:latin typeface="Calibri"/>
                <a:cs typeface="Calibri"/>
              </a:rPr>
              <a:t>monitoreo </a:t>
            </a:r>
            <a:r>
              <a:rPr sz="2400" dirty="0">
                <a:latin typeface="Calibri"/>
                <a:cs typeface="Calibri"/>
              </a:rPr>
              <a:t>y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control.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500371" y="4462271"/>
            <a:ext cx="4072128" cy="239572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01034" y="461899"/>
            <a:ext cx="174307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A</a:t>
            </a:r>
            <a:r>
              <a:rPr spc="-40" dirty="0"/>
              <a:t>g</a:t>
            </a:r>
            <a:r>
              <a:rPr dirty="0"/>
              <a:t>enda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408938"/>
            <a:ext cx="3552825" cy="4141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1500" dirty="0">
                <a:latin typeface="Calibri"/>
                <a:cs typeface="Calibri"/>
              </a:rPr>
              <a:t>GRUPO </a:t>
            </a:r>
            <a:r>
              <a:rPr sz="1500" spc="-5" dirty="0">
                <a:latin typeface="Calibri"/>
                <a:cs typeface="Calibri"/>
              </a:rPr>
              <a:t>DE PROCESOS DE</a:t>
            </a:r>
            <a:r>
              <a:rPr sz="1500" spc="-105" dirty="0">
                <a:latin typeface="Calibri"/>
                <a:cs typeface="Calibri"/>
              </a:rPr>
              <a:t> </a:t>
            </a:r>
            <a:r>
              <a:rPr sz="1500" spc="-5" dirty="0">
                <a:latin typeface="Calibri"/>
                <a:cs typeface="Calibri"/>
              </a:rPr>
              <a:t>PLANIFICACION</a:t>
            </a:r>
            <a:endParaRPr sz="15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Font typeface="Arial"/>
              <a:buChar char="•"/>
            </a:pPr>
            <a:endParaRPr sz="1550">
              <a:latin typeface="Times New Roman"/>
              <a:cs typeface="Times New Roman"/>
            </a:endParaRPr>
          </a:p>
          <a:p>
            <a:pPr marL="756285" lvl="1" indent="-287020">
              <a:lnSpc>
                <a:spcPct val="100000"/>
              </a:lnSpc>
              <a:buFont typeface="Arial"/>
              <a:buChar char="–"/>
              <a:tabLst>
                <a:tab pos="756285" algn="l"/>
                <a:tab pos="756920" algn="l"/>
              </a:tabLst>
            </a:pPr>
            <a:r>
              <a:rPr sz="1500" b="1" spc="-5" dirty="0">
                <a:latin typeface="Calibri"/>
                <a:cs typeface="Calibri"/>
              </a:rPr>
              <a:t>Planificar </a:t>
            </a:r>
            <a:r>
              <a:rPr sz="1500" b="1" dirty="0">
                <a:latin typeface="Calibri"/>
                <a:cs typeface="Calibri"/>
              </a:rPr>
              <a:t>la </a:t>
            </a:r>
            <a:r>
              <a:rPr sz="1500" b="1" spc="-5" dirty="0">
                <a:latin typeface="Calibri"/>
                <a:cs typeface="Calibri"/>
              </a:rPr>
              <a:t>Gestión </a:t>
            </a:r>
            <a:r>
              <a:rPr sz="1500" b="1" dirty="0">
                <a:latin typeface="Calibri"/>
                <a:cs typeface="Calibri"/>
              </a:rPr>
              <a:t>del</a:t>
            </a:r>
            <a:r>
              <a:rPr sz="1500" b="1" spc="-95" dirty="0">
                <a:latin typeface="Calibri"/>
                <a:cs typeface="Calibri"/>
              </a:rPr>
              <a:t> </a:t>
            </a:r>
            <a:r>
              <a:rPr sz="1500" b="1" spc="-5" dirty="0">
                <a:latin typeface="Calibri"/>
                <a:cs typeface="Calibri"/>
              </a:rPr>
              <a:t>Alcance</a:t>
            </a:r>
            <a:endParaRPr sz="150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1500" spc="-10" dirty="0">
                <a:latin typeface="Calibri"/>
                <a:cs typeface="Calibri"/>
              </a:rPr>
              <a:t>Entradas</a:t>
            </a:r>
            <a:endParaRPr sz="150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1500" spc="-10" dirty="0">
                <a:latin typeface="Calibri"/>
                <a:cs typeface="Calibri"/>
              </a:rPr>
              <a:t>Herramientas </a:t>
            </a:r>
            <a:r>
              <a:rPr sz="1500" dirty="0">
                <a:latin typeface="Calibri"/>
                <a:cs typeface="Calibri"/>
              </a:rPr>
              <a:t>y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spc="-20" dirty="0">
                <a:latin typeface="Calibri"/>
                <a:cs typeface="Calibri"/>
              </a:rPr>
              <a:t>Técnicas</a:t>
            </a:r>
            <a:endParaRPr sz="150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1500" spc="-5" dirty="0">
                <a:latin typeface="Calibri"/>
                <a:cs typeface="Calibri"/>
              </a:rPr>
              <a:t>Salidas</a:t>
            </a:r>
            <a:endParaRPr sz="15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buFont typeface="Arial"/>
              <a:buChar char="–"/>
              <a:tabLst>
                <a:tab pos="756285" algn="l"/>
                <a:tab pos="756920" algn="l"/>
              </a:tabLst>
            </a:pPr>
            <a:r>
              <a:rPr sz="1500" spc="-10" dirty="0">
                <a:latin typeface="Calibri"/>
                <a:cs typeface="Calibri"/>
              </a:rPr>
              <a:t>Recolectar</a:t>
            </a:r>
            <a:r>
              <a:rPr sz="1500" spc="-5" dirty="0">
                <a:latin typeface="Calibri"/>
                <a:cs typeface="Calibri"/>
              </a:rPr>
              <a:t> Requerimientos</a:t>
            </a:r>
            <a:endParaRPr sz="150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1500" spc="-10" dirty="0">
                <a:latin typeface="Calibri"/>
                <a:cs typeface="Calibri"/>
              </a:rPr>
              <a:t>Entradas</a:t>
            </a:r>
            <a:endParaRPr sz="150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1500" spc="-10" dirty="0">
                <a:latin typeface="Calibri"/>
                <a:cs typeface="Calibri"/>
              </a:rPr>
              <a:t>Herramientas </a:t>
            </a:r>
            <a:r>
              <a:rPr sz="1500" dirty="0">
                <a:latin typeface="Calibri"/>
                <a:cs typeface="Calibri"/>
              </a:rPr>
              <a:t>y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spc="-20" dirty="0">
                <a:latin typeface="Calibri"/>
                <a:cs typeface="Calibri"/>
              </a:rPr>
              <a:t>Técnicas</a:t>
            </a:r>
            <a:endParaRPr sz="150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1500" spc="-5" dirty="0">
                <a:latin typeface="Calibri"/>
                <a:cs typeface="Calibri"/>
              </a:rPr>
              <a:t>Salidas</a:t>
            </a:r>
            <a:endParaRPr sz="15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buFont typeface="Arial"/>
              <a:buChar char="–"/>
              <a:tabLst>
                <a:tab pos="756285" algn="l"/>
                <a:tab pos="756920" algn="l"/>
              </a:tabLst>
            </a:pPr>
            <a:r>
              <a:rPr sz="1500" spc="-5" dirty="0">
                <a:latin typeface="Calibri"/>
                <a:cs typeface="Calibri"/>
              </a:rPr>
              <a:t>Definir </a:t>
            </a:r>
            <a:r>
              <a:rPr sz="1500" dirty="0">
                <a:latin typeface="Calibri"/>
                <a:cs typeface="Calibri"/>
              </a:rPr>
              <a:t>el</a:t>
            </a:r>
            <a:r>
              <a:rPr sz="1500" spc="-55" dirty="0">
                <a:latin typeface="Calibri"/>
                <a:cs typeface="Calibri"/>
              </a:rPr>
              <a:t> </a:t>
            </a:r>
            <a:r>
              <a:rPr sz="1500" spc="-5" dirty="0">
                <a:latin typeface="Calibri"/>
                <a:cs typeface="Calibri"/>
              </a:rPr>
              <a:t>Alcance</a:t>
            </a:r>
            <a:endParaRPr sz="150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1500" spc="-10" dirty="0">
                <a:latin typeface="Calibri"/>
                <a:cs typeface="Calibri"/>
              </a:rPr>
              <a:t>Entradas</a:t>
            </a:r>
            <a:endParaRPr sz="150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1500" spc="-10" dirty="0">
                <a:latin typeface="Calibri"/>
                <a:cs typeface="Calibri"/>
              </a:rPr>
              <a:t>Herramientas </a:t>
            </a:r>
            <a:r>
              <a:rPr sz="1500" dirty="0">
                <a:latin typeface="Calibri"/>
                <a:cs typeface="Calibri"/>
              </a:rPr>
              <a:t>y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spc="-20" dirty="0">
                <a:latin typeface="Calibri"/>
                <a:cs typeface="Calibri"/>
              </a:rPr>
              <a:t>Técnicas</a:t>
            </a:r>
            <a:endParaRPr sz="150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1500" spc="-5" dirty="0">
                <a:latin typeface="Calibri"/>
                <a:cs typeface="Calibri"/>
              </a:rPr>
              <a:t>Salidas</a:t>
            </a:r>
            <a:endParaRPr sz="15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buFont typeface="Arial"/>
              <a:buChar char="–"/>
              <a:tabLst>
                <a:tab pos="756285" algn="l"/>
                <a:tab pos="756920" algn="l"/>
              </a:tabLst>
            </a:pPr>
            <a:r>
              <a:rPr sz="1500" spc="-5" dirty="0">
                <a:latin typeface="Calibri"/>
                <a:cs typeface="Calibri"/>
              </a:rPr>
              <a:t>Crear </a:t>
            </a:r>
            <a:r>
              <a:rPr sz="1500" dirty="0">
                <a:latin typeface="Calibri"/>
                <a:cs typeface="Calibri"/>
              </a:rPr>
              <a:t>la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EDT</a:t>
            </a:r>
            <a:endParaRPr sz="150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1500" spc="-10" dirty="0">
                <a:latin typeface="Calibri"/>
                <a:cs typeface="Calibri"/>
              </a:rPr>
              <a:t>Entradas</a:t>
            </a:r>
            <a:endParaRPr sz="150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1500" spc="-10" dirty="0">
                <a:latin typeface="Calibri"/>
                <a:cs typeface="Calibri"/>
              </a:rPr>
              <a:t>Herramientas </a:t>
            </a:r>
            <a:r>
              <a:rPr sz="1500" dirty="0">
                <a:latin typeface="Calibri"/>
                <a:cs typeface="Calibri"/>
              </a:rPr>
              <a:t>y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spc="-20" dirty="0">
                <a:latin typeface="Calibri"/>
                <a:cs typeface="Calibri"/>
              </a:rPr>
              <a:t>Técnicas</a:t>
            </a:r>
            <a:endParaRPr sz="150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1500" spc="-5" dirty="0">
                <a:latin typeface="Calibri"/>
                <a:cs typeface="Calibri"/>
              </a:rPr>
              <a:t>Salidas</a:t>
            </a:r>
            <a:endParaRPr sz="1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1382" y="461899"/>
            <a:ext cx="723900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Planificar </a:t>
            </a:r>
            <a:r>
              <a:rPr dirty="0"/>
              <a:t>la </a:t>
            </a:r>
            <a:r>
              <a:rPr spc="-5" dirty="0"/>
              <a:t>Gestión del</a:t>
            </a:r>
            <a:r>
              <a:rPr spc="-25" dirty="0"/>
              <a:t> </a:t>
            </a:r>
            <a:r>
              <a:rPr spc="-10" dirty="0"/>
              <a:t>Alcance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93014" y="1915414"/>
            <a:ext cx="47701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dirty="0">
                <a:latin typeface="Calibri"/>
                <a:cs typeface="Calibri"/>
              </a:rPr>
              <a:t>Es</a:t>
            </a:r>
            <a:r>
              <a:rPr sz="2400" spc="24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un</a:t>
            </a:r>
            <a:r>
              <a:rPr sz="2400" spc="2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proceso</a:t>
            </a:r>
            <a:r>
              <a:rPr sz="2400" spc="25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de</a:t>
            </a:r>
            <a:r>
              <a:rPr sz="2400" spc="254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crear</a:t>
            </a:r>
            <a:r>
              <a:rPr sz="2400" spc="24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un</a:t>
            </a:r>
            <a:r>
              <a:rPr sz="2400" spc="25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plan</a:t>
            </a:r>
            <a:r>
              <a:rPr sz="2400" spc="254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de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36219" y="2281173"/>
            <a:ext cx="143383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Calibri"/>
                <a:cs typeface="Calibri"/>
              </a:rPr>
              <a:t>Gestión  d</a:t>
            </a:r>
            <a:r>
              <a:rPr sz="2400" spc="-10" dirty="0">
                <a:latin typeface="Calibri"/>
                <a:cs typeface="Calibri"/>
              </a:rPr>
              <a:t>o</a:t>
            </a:r>
            <a:r>
              <a:rPr sz="2400" dirty="0">
                <a:latin typeface="Calibri"/>
                <a:cs typeface="Calibri"/>
              </a:rPr>
              <a:t>cume</a:t>
            </a:r>
            <a:r>
              <a:rPr sz="2400" spc="-20" dirty="0">
                <a:latin typeface="Calibri"/>
                <a:cs typeface="Calibri"/>
              </a:rPr>
              <a:t>n</a:t>
            </a:r>
            <a:r>
              <a:rPr sz="2400" spc="-25" dirty="0">
                <a:latin typeface="Calibri"/>
                <a:cs typeface="Calibri"/>
              </a:rPr>
              <a:t>t</a:t>
            </a:r>
            <a:r>
              <a:rPr sz="2400" dirty="0">
                <a:latin typeface="Calibri"/>
                <a:cs typeface="Calibri"/>
              </a:rPr>
              <a:t>a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143505" y="2281173"/>
            <a:ext cx="292100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5410" marR="5080" indent="-93345">
              <a:lnSpc>
                <a:spcPct val="100000"/>
              </a:lnSpc>
              <a:spcBef>
                <a:spcPts val="100"/>
              </a:spcBef>
              <a:tabLst>
                <a:tab pos="949960" algn="l"/>
                <a:tab pos="989330" algn="l"/>
                <a:tab pos="1402715" algn="l"/>
                <a:tab pos="2434590" algn="l"/>
                <a:tab pos="2526030" algn="l"/>
              </a:tabLst>
            </a:pPr>
            <a:r>
              <a:rPr sz="2400" spc="-5" dirty="0">
                <a:latin typeface="Calibri"/>
                <a:cs typeface="Calibri"/>
              </a:rPr>
              <a:t>de</a:t>
            </a:r>
            <a:r>
              <a:rPr sz="2400" dirty="0">
                <a:latin typeface="Calibri"/>
                <a:cs typeface="Calibri"/>
              </a:rPr>
              <a:t>l	al</a:t>
            </a:r>
            <a:r>
              <a:rPr sz="2400" spc="-20" dirty="0">
                <a:latin typeface="Calibri"/>
                <a:cs typeface="Calibri"/>
              </a:rPr>
              <a:t>c</a:t>
            </a:r>
            <a:r>
              <a:rPr sz="2400" spc="-10" dirty="0">
                <a:latin typeface="Calibri"/>
                <a:cs typeface="Calibri"/>
              </a:rPr>
              <a:t>a</a:t>
            </a:r>
            <a:r>
              <a:rPr sz="2400" spc="-5" dirty="0">
                <a:latin typeface="Calibri"/>
                <a:cs typeface="Calibri"/>
              </a:rPr>
              <a:t>nc</a:t>
            </a:r>
            <a:r>
              <a:rPr sz="2400" dirty="0">
                <a:latin typeface="Calibri"/>
                <a:cs typeface="Calibri"/>
              </a:rPr>
              <a:t>e	</a:t>
            </a:r>
            <a:r>
              <a:rPr sz="2400" spc="-5" dirty="0">
                <a:latin typeface="Calibri"/>
                <a:cs typeface="Calibri"/>
              </a:rPr>
              <a:t>que  </a:t>
            </a:r>
            <a:r>
              <a:rPr sz="2400" spc="-20" dirty="0">
                <a:latin typeface="Calibri"/>
                <a:cs typeface="Calibri"/>
              </a:rPr>
              <a:t>c</a:t>
            </a:r>
            <a:r>
              <a:rPr sz="2400" spc="-5" dirty="0">
                <a:latin typeface="Calibri"/>
                <a:cs typeface="Calibri"/>
              </a:rPr>
              <a:t>óm</a:t>
            </a:r>
            <a:r>
              <a:rPr sz="2400" dirty="0">
                <a:latin typeface="Calibri"/>
                <a:cs typeface="Calibri"/>
              </a:rPr>
              <a:t>o		el	al</a:t>
            </a:r>
            <a:r>
              <a:rPr sz="2400" spc="-20" dirty="0">
                <a:latin typeface="Calibri"/>
                <a:cs typeface="Calibri"/>
              </a:rPr>
              <a:t>c</a:t>
            </a:r>
            <a:r>
              <a:rPr sz="2400" dirty="0">
                <a:latin typeface="Calibri"/>
                <a:cs typeface="Calibri"/>
              </a:rPr>
              <a:t>ance		</a:t>
            </a:r>
            <a:r>
              <a:rPr sz="2400" spc="-5" dirty="0">
                <a:latin typeface="Calibri"/>
                <a:cs typeface="Calibri"/>
              </a:rPr>
              <a:t>del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36219" y="3013075"/>
            <a:ext cx="4429760" cy="2220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400" spc="-15" dirty="0">
                <a:latin typeface="Calibri"/>
                <a:cs typeface="Calibri"/>
              </a:rPr>
              <a:t>proyecto será definido, </a:t>
            </a:r>
            <a:r>
              <a:rPr sz="2400" spc="-5" dirty="0">
                <a:latin typeface="Calibri"/>
                <a:cs typeface="Calibri"/>
              </a:rPr>
              <a:t>validado </a:t>
            </a:r>
            <a:r>
              <a:rPr sz="2400" dirty="0">
                <a:latin typeface="Calibri"/>
                <a:cs typeface="Calibri"/>
              </a:rPr>
              <a:t>y  </a:t>
            </a:r>
            <a:r>
              <a:rPr sz="2400" spc="-15" dirty="0">
                <a:latin typeface="Calibri"/>
                <a:cs typeface="Calibri"/>
              </a:rPr>
              <a:t>controlado. </a:t>
            </a:r>
            <a:r>
              <a:rPr sz="2400" dirty="0">
                <a:latin typeface="Calibri"/>
                <a:cs typeface="Calibri"/>
              </a:rPr>
              <a:t>El </a:t>
            </a:r>
            <a:r>
              <a:rPr sz="2400" spc="-10" dirty="0">
                <a:latin typeface="Calibri"/>
                <a:cs typeface="Calibri"/>
              </a:rPr>
              <a:t>beneficio </a:t>
            </a:r>
            <a:r>
              <a:rPr sz="2400" spc="-5" dirty="0">
                <a:latin typeface="Calibri"/>
                <a:cs typeface="Calibri"/>
              </a:rPr>
              <a:t>principal  de </a:t>
            </a:r>
            <a:r>
              <a:rPr sz="2400" spc="-15" dirty="0">
                <a:latin typeface="Calibri"/>
                <a:cs typeface="Calibri"/>
              </a:rPr>
              <a:t>este </a:t>
            </a:r>
            <a:r>
              <a:rPr sz="2400" spc="-10" dirty="0">
                <a:latin typeface="Calibri"/>
                <a:cs typeface="Calibri"/>
              </a:rPr>
              <a:t>proceso </a:t>
            </a:r>
            <a:r>
              <a:rPr sz="2400" dirty="0">
                <a:latin typeface="Calibri"/>
                <a:cs typeface="Calibri"/>
              </a:rPr>
              <a:t>es </a:t>
            </a:r>
            <a:r>
              <a:rPr sz="2400" spc="-5" dirty="0">
                <a:latin typeface="Calibri"/>
                <a:cs typeface="Calibri"/>
              </a:rPr>
              <a:t>que </a:t>
            </a:r>
            <a:r>
              <a:rPr sz="2400" spc="-15" dirty="0">
                <a:latin typeface="Calibri"/>
                <a:cs typeface="Calibri"/>
              </a:rPr>
              <a:t>provee </a:t>
            </a:r>
            <a:r>
              <a:rPr sz="2400" spc="-5" dirty="0">
                <a:latin typeface="Calibri"/>
                <a:cs typeface="Calibri"/>
              </a:rPr>
              <a:t>de  </a:t>
            </a:r>
            <a:r>
              <a:rPr sz="2400" dirty="0">
                <a:latin typeface="Calibri"/>
                <a:cs typeface="Calibri"/>
              </a:rPr>
              <a:t>guía y </a:t>
            </a:r>
            <a:r>
              <a:rPr sz="2400" spc="-10" dirty="0">
                <a:latin typeface="Calibri"/>
                <a:cs typeface="Calibri"/>
              </a:rPr>
              <a:t>dirección </a:t>
            </a:r>
            <a:r>
              <a:rPr sz="2400" spc="-5" dirty="0">
                <a:latin typeface="Calibri"/>
                <a:cs typeface="Calibri"/>
              </a:rPr>
              <a:t>de </a:t>
            </a:r>
            <a:r>
              <a:rPr sz="2400" spc="-10" dirty="0">
                <a:latin typeface="Calibri"/>
                <a:cs typeface="Calibri"/>
              </a:rPr>
              <a:t>cómo </a:t>
            </a:r>
            <a:r>
              <a:rPr sz="2400" dirty="0">
                <a:latin typeface="Calibri"/>
                <a:cs typeface="Calibri"/>
              </a:rPr>
              <a:t>el </a:t>
            </a:r>
            <a:r>
              <a:rPr sz="2400" spc="-5" dirty="0">
                <a:latin typeface="Calibri"/>
                <a:cs typeface="Calibri"/>
              </a:rPr>
              <a:t>alcance  </a:t>
            </a:r>
            <a:r>
              <a:rPr sz="2400" spc="-15" dirty="0">
                <a:latin typeface="Calibri"/>
                <a:cs typeface="Calibri"/>
              </a:rPr>
              <a:t>será gestionado </a:t>
            </a:r>
            <a:r>
              <a:rPr sz="2400" dirty="0">
                <a:latin typeface="Calibri"/>
                <a:cs typeface="Calibri"/>
              </a:rPr>
              <a:t>a </a:t>
            </a:r>
            <a:r>
              <a:rPr sz="2400" spc="-20" dirty="0">
                <a:latin typeface="Calibri"/>
                <a:cs typeface="Calibri"/>
              </a:rPr>
              <a:t>través </a:t>
            </a:r>
            <a:r>
              <a:rPr sz="2400" spc="-5" dirty="0">
                <a:latin typeface="Calibri"/>
                <a:cs typeface="Calibri"/>
              </a:rPr>
              <a:t>del  </a:t>
            </a:r>
            <a:r>
              <a:rPr sz="2400" spc="-15" dirty="0">
                <a:latin typeface="Calibri"/>
                <a:cs typeface="Calibri"/>
              </a:rPr>
              <a:t>proyecto.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219700" y="2799152"/>
            <a:ext cx="3729403" cy="196260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13054" y="530478"/>
            <a:ext cx="791972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/>
              <a:t>Planificar </a:t>
            </a:r>
            <a:r>
              <a:rPr sz="3600" dirty="0"/>
              <a:t>la </a:t>
            </a:r>
            <a:r>
              <a:rPr sz="3600" spc="-10" dirty="0"/>
              <a:t>Gestión </a:t>
            </a:r>
            <a:r>
              <a:rPr sz="3600" spc="-5" dirty="0"/>
              <a:t>del Alcance </a:t>
            </a:r>
            <a:r>
              <a:rPr sz="3600" dirty="0"/>
              <a:t>-</a:t>
            </a:r>
            <a:r>
              <a:rPr sz="3600" spc="-40" dirty="0"/>
              <a:t> </a:t>
            </a:r>
            <a:r>
              <a:rPr sz="3600" b="1" spc="-20" dirty="0">
                <a:latin typeface="Calibri"/>
                <a:cs typeface="Calibri"/>
              </a:rPr>
              <a:t>Entradas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07568" y="1325117"/>
            <a:ext cx="4171950" cy="124841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355600" marR="5080" indent="-342900" algn="just">
              <a:lnSpc>
                <a:spcPct val="100400"/>
              </a:lnSpc>
              <a:spcBef>
                <a:spcPts val="80"/>
              </a:spcBef>
              <a:buFont typeface="Arial"/>
              <a:buChar char="•"/>
              <a:tabLst>
                <a:tab pos="355600" algn="l"/>
              </a:tabLst>
            </a:pPr>
            <a:r>
              <a:rPr sz="2800" b="1" i="1" spc="-5" dirty="0">
                <a:latin typeface="Calibri"/>
                <a:cs typeface="Calibri"/>
              </a:rPr>
              <a:t>1. </a:t>
            </a:r>
            <a:r>
              <a:rPr sz="2800" b="1" i="1" spc="-10" dirty="0">
                <a:latin typeface="Calibri"/>
                <a:cs typeface="Calibri"/>
              </a:rPr>
              <a:t>Plan </a:t>
            </a:r>
            <a:r>
              <a:rPr sz="2800" b="1" i="1" spc="-5" dirty="0">
                <a:latin typeface="Calibri"/>
                <a:cs typeface="Calibri"/>
              </a:rPr>
              <a:t>para la </a:t>
            </a:r>
            <a:r>
              <a:rPr sz="2800" b="1" i="1" spc="-10" dirty="0">
                <a:latin typeface="Calibri"/>
                <a:cs typeface="Calibri"/>
              </a:rPr>
              <a:t>Dirección  </a:t>
            </a:r>
            <a:r>
              <a:rPr sz="2800" b="1" i="1" spc="-5" dirty="0">
                <a:latin typeface="Calibri"/>
                <a:cs typeface="Calibri"/>
              </a:rPr>
              <a:t>del </a:t>
            </a:r>
            <a:r>
              <a:rPr sz="2800" b="1" i="1" spc="-10" dirty="0">
                <a:latin typeface="Calibri"/>
                <a:cs typeface="Calibri"/>
              </a:rPr>
              <a:t>Proyecto: </a:t>
            </a:r>
            <a:r>
              <a:rPr sz="2400" spc="-5" dirty="0">
                <a:latin typeface="Calibri"/>
                <a:cs typeface="Calibri"/>
              </a:rPr>
              <a:t>Describe </a:t>
            </a:r>
            <a:r>
              <a:rPr sz="2400" spc="5" dirty="0">
                <a:latin typeface="Calibri"/>
                <a:cs typeface="Calibri"/>
              </a:rPr>
              <a:t>el  </a:t>
            </a:r>
            <a:r>
              <a:rPr sz="2400" dirty="0">
                <a:latin typeface="Calibri"/>
                <a:cs typeface="Calibri"/>
              </a:rPr>
              <a:t>modo en que el </a:t>
            </a:r>
            <a:r>
              <a:rPr sz="2400" spc="-15" dirty="0">
                <a:latin typeface="Calibri"/>
                <a:cs typeface="Calibri"/>
              </a:rPr>
              <a:t>proyecto</a:t>
            </a:r>
            <a:r>
              <a:rPr sz="2400" spc="24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será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627122" y="2547620"/>
            <a:ext cx="21513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000250" algn="l"/>
              </a:tabLst>
            </a:pPr>
            <a:r>
              <a:rPr sz="2400" dirty="0">
                <a:latin typeface="Calibri"/>
                <a:cs typeface="Calibri"/>
              </a:rPr>
              <a:t>moni</a:t>
            </a:r>
            <a:r>
              <a:rPr sz="2400" spc="-30" dirty="0">
                <a:latin typeface="Calibri"/>
                <a:cs typeface="Calibri"/>
              </a:rPr>
              <a:t>t</a:t>
            </a:r>
            <a:r>
              <a:rPr sz="2400" spc="-5" dirty="0">
                <a:latin typeface="Calibri"/>
                <a:cs typeface="Calibri"/>
              </a:rPr>
              <a:t>o</a:t>
            </a:r>
            <a:r>
              <a:rPr sz="2400" spc="-40" dirty="0">
                <a:latin typeface="Calibri"/>
                <a:cs typeface="Calibri"/>
              </a:rPr>
              <a:t>r</a:t>
            </a:r>
            <a:r>
              <a:rPr sz="2400" dirty="0">
                <a:latin typeface="Calibri"/>
                <a:cs typeface="Calibri"/>
              </a:rPr>
              <a:t>eado	y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0467" y="2547620"/>
            <a:ext cx="144716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Calibri"/>
                <a:cs typeface="Calibri"/>
              </a:rPr>
              <a:t>ejecutado,  </a:t>
            </a:r>
            <a:r>
              <a:rPr sz="2400" spc="-20" dirty="0">
                <a:latin typeface="Calibri"/>
                <a:cs typeface="Calibri"/>
              </a:rPr>
              <a:t>c</a:t>
            </a:r>
            <a:r>
              <a:rPr sz="2400" spc="-5" dirty="0">
                <a:latin typeface="Calibri"/>
                <a:cs typeface="Calibri"/>
              </a:rPr>
              <a:t>o</a:t>
            </a:r>
            <a:r>
              <a:rPr sz="2400" spc="-30" dirty="0">
                <a:latin typeface="Calibri"/>
                <a:cs typeface="Calibri"/>
              </a:rPr>
              <a:t>n</a:t>
            </a:r>
            <a:r>
              <a:rPr sz="2400" dirty="0">
                <a:latin typeface="Calibri"/>
                <a:cs typeface="Calibri"/>
              </a:rPr>
              <a:t>t</a:t>
            </a:r>
            <a:r>
              <a:rPr sz="2400" spc="-35" dirty="0">
                <a:latin typeface="Calibri"/>
                <a:cs typeface="Calibri"/>
              </a:rPr>
              <a:t>r</a:t>
            </a:r>
            <a:r>
              <a:rPr sz="2400" spc="-5" dirty="0">
                <a:latin typeface="Calibri"/>
                <a:cs typeface="Calibri"/>
              </a:rPr>
              <a:t>olado</a:t>
            </a:r>
            <a:r>
              <a:rPr sz="2400" dirty="0"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78916" y="3533088"/>
            <a:ext cx="7247255" cy="1305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900" marR="5080" indent="-457200" algn="just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469900" algn="l"/>
              </a:tabLst>
            </a:pPr>
            <a:r>
              <a:rPr sz="2800" b="1" i="1" spc="-5" dirty="0">
                <a:latin typeface="Calibri"/>
                <a:cs typeface="Calibri"/>
              </a:rPr>
              <a:t>2. </a:t>
            </a:r>
            <a:r>
              <a:rPr sz="2800" b="1" i="1" spc="-15" dirty="0">
                <a:latin typeface="Calibri"/>
                <a:cs typeface="Calibri"/>
              </a:rPr>
              <a:t>Acta </a:t>
            </a:r>
            <a:r>
              <a:rPr sz="2800" b="1" i="1" spc="-5" dirty="0">
                <a:latin typeface="Calibri"/>
                <a:cs typeface="Calibri"/>
              </a:rPr>
              <a:t>de Constitución del </a:t>
            </a:r>
            <a:r>
              <a:rPr sz="2800" b="1" i="1" spc="-15" dirty="0">
                <a:latin typeface="Calibri"/>
                <a:cs typeface="Calibri"/>
              </a:rPr>
              <a:t>Proyecto: </a:t>
            </a:r>
            <a:r>
              <a:rPr sz="2800" spc="-5" dirty="0">
                <a:latin typeface="Arial"/>
                <a:cs typeface="Arial"/>
              </a:rPr>
              <a:t>Autoriza  formalmente el comienzo de un </a:t>
            </a:r>
            <a:r>
              <a:rPr sz="2800" dirty="0">
                <a:latin typeface="Arial"/>
                <a:cs typeface="Arial"/>
              </a:rPr>
              <a:t>proyecto </a:t>
            </a:r>
            <a:r>
              <a:rPr sz="2800" spc="-5" dirty="0">
                <a:latin typeface="Arial"/>
                <a:cs typeface="Arial"/>
              </a:rPr>
              <a:t>o  </a:t>
            </a:r>
            <a:r>
              <a:rPr sz="2800" dirty="0">
                <a:latin typeface="Arial"/>
                <a:cs typeface="Arial"/>
              </a:rPr>
              <a:t>fase.</a:t>
            </a:r>
            <a:endParaRPr sz="28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012179" y="1196339"/>
            <a:ext cx="2087879" cy="165506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349752" y="4581144"/>
            <a:ext cx="2750820" cy="182575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13054" y="530478"/>
            <a:ext cx="791972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/>
              <a:t>Planificar </a:t>
            </a:r>
            <a:r>
              <a:rPr sz="3600" dirty="0"/>
              <a:t>la </a:t>
            </a:r>
            <a:r>
              <a:rPr sz="3600" spc="-10" dirty="0"/>
              <a:t>Gestión </a:t>
            </a:r>
            <a:r>
              <a:rPr sz="3600" spc="-5" dirty="0"/>
              <a:t>del Alcance </a:t>
            </a:r>
            <a:r>
              <a:rPr sz="3600" dirty="0"/>
              <a:t>-</a:t>
            </a:r>
            <a:r>
              <a:rPr sz="3600" spc="-40" dirty="0"/>
              <a:t> </a:t>
            </a:r>
            <a:r>
              <a:rPr sz="3600" b="1" spc="-20" dirty="0">
                <a:latin typeface="Calibri"/>
                <a:cs typeface="Calibri"/>
              </a:rPr>
              <a:t>Entradas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07568" y="1325117"/>
            <a:ext cx="4171950" cy="149542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355600" marR="5080" indent="-342900" algn="just">
              <a:lnSpc>
                <a:spcPct val="100600"/>
              </a:lnSpc>
              <a:spcBef>
                <a:spcPts val="75"/>
              </a:spcBef>
              <a:buFont typeface="Arial"/>
              <a:buChar char="•"/>
              <a:tabLst>
                <a:tab pos="355600" algn="l"/>
              </a:tabLst>
            </a:pPr>
            <a:r>
              <a:rPr sz="2800" b="1" i="1" spc="-5" dirty="0">
                <a:latin typeface="Calibri"/>
                <a:cs typeface="Calibri"/>
              </a:rPr>
              <a:t>3. </a:t>
            </a:r>
            <a:r>
              <a:rPr sz="2800" b="1" i="1" spc="-10" dirty="0">
                <a:latin typeface="Calibri"/>
                <a:cs typeface="Calibri"/>
              </a:rPr>
              <a:t>Factores Ambientales  </a:t>
            </a:r>
            <a:r>
              <a:rPr sz="2800" b="1" i="1" spc="-5" dirty="0">
                <a:latin typeface="Calibri"/>
                <a:cs typeface="Calibri"/>
              </a:rPr>
              <a:t>de la </a:t>
            </a:r>
            <a:r>
              <a:rPr sz="2800" b="1" i="1" spc="-10" dirty="0">
                <a:latin typeface="Calibri"/>
                <a:cs typeface="Calibri"/>
              </a:rPr>
              <a:t>Empresa:</a:t>
            </a:r>
            <a:r>
              <a:rPr sz="2800" b="1" i="1" spc="509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Elementos  tangibles </a:t>
            </a:r>
            <a:r>
              <a:rPr sz="2000" dirty="0">
                <a:latin typeface="Calibri"/>
                <a:cs typeface="Calibri"/>
              </a:rPr>
              <a:t>e </a:t>
            </a:r>
            <a:r>
              <a:rPr sz="2000" spc="-5" dirty="0">
                <a:latin typeface="Calibri"/>
                <a:cs typeface="Calibri"/>
              </a:rPr>
              <a:t>intangibles, </a:t>
            </a:r>
            <a:r>
              <a:rPr sz="2000" spc="-15" dirty="0">
                <a:latin typeface="Calibri"/>
                <a:cs typeface="Calibri"/>
              </a:rPr>
              <a:t>tanto  </a:t>
            </a:r>
            <a:r>
              <a:rPr sz="2000" spc="-5" dirty="0">
                <a:latin typeface="Calibri"/>
                <a:cs typeface="Calibri"/>
              </a:rPr>
              <a:t>internos </a:t>
            </a:r>
            <a:r>
              <a:rPr sz="2000" dirty="0">
                <a:latin typeface="Calibri"/>
                <a:cs typeface="Calibri"/>
              </a:rPr>
              <a:t>como </a:t>
            </a:r>
            <a:r>
              <a:rPr sz="2000" spc="-10" dirty="0">
                <a:latin typeface="Calibri"/>
                <a:cs typeface="Calibri"/>
              </a:rPr>
              <a:t>externos, </a:t>
            </a:r>
            <a:r>
              <a:rPr sz="2000" dirty="0">
                <a:latin typeface="Calibri"/>
                <a:cs typeface="Calibri"/>
              </a:rPr>
              <a:t>que</a:t>
            </a:r>
            <a:r>
              <a:rPr sz="2000" spc="3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rodean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50467" y="3099307"/>
            <a:ext cx="3497579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414780" algn="l"/>
                <a:tab pos="1868805" algn="l"/>
                <a:tab pos="2684145" algn="l"/>
              </a:tabLst>
            </a:pPr>
            <a:r>
              <a:rPr sz="2000" spc="-5" dirty="0">
                <a:latin typeface="Calibri"/>
                <a:cs typeface="Calibri"/>
              </a:rPr>
              <a:t>influencian,	de	</a:t>
            </a:r>
            <a:r>
              <a:rPr sz="2000" spc="-10" dirty="0">
                <a:latin typeface="Calibri"/>
                <a:cs typeface="Calibri"/>
              </a:rPr>
              <a:t>forma	positiva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0467" y="2794507"/>
            <a:ext cx="3830320" cy="635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05"/>
              </a:spcBef>
              <a:tabLst>
                <a:tab pos="492125" algn="l"/>
                <a:tab pos="1307465" algn="l"/>
                <a:tab pos="1875789" algn="l"/>
                <a:tab pos="2450465" algn="l"/>
                <a:tab pos="3670300" algn="l"/>
              </a:tabLst>
            </a:pPr>
            <a:r>
              <a:rPr sz="2000" spc="-5" dirty="0">
                <a:latin typeface="Calibri"/>
                <a:cs typeface="Calibri"/>
              </a:rPr>
              <a:t>e</a:t>
            </a:r>
            <a:r>
              <a:rPr sz="2000" dirty="0">
                <a:latin typeface="Calibri"/>
                <a:cs typeface="Calibri"/>
              </a:rPr>
              <a:t>l	</a:t>
            </a:r>
            <a:r>
              <a:rPr sz="2000" spc="-40" dirty="0">
                <a:latin typeface="Calibri"/>
                <a:cs typeface="Calibri"/>
              </a:rPr>
              <a:t>é</a:t>
            </a:r>
            <a:r>
              <a:rPr sz="2000" spc="5" dirty="0">
                <a:latin typeface="Calibri"/>
                <a:cs typeface="Calibri"/>
              </a:rPr>
              <a:t>x</a:t>
            </a:r>
            <a:r>
              <a:rPr sz="2000" dirty="0">
                <a:latin typeface="Calibri"/>
                <a:cs typeface="Calibri"/>
              </a:rPr>
              <a:t>i</a:t>
            </a:r>
            <a:r>
              <a:rPr sz="2000" spc="-30" dirty="0">
                <a:latin typeface="Calibri"/>
                <a:cs typeface="Calibri"/>
              </a:rPr>
              <a:t>t</a:t>
            </a:r>
            <a:r>
              <a:rPr sz="2000" dirty="0">
                <a:latin typeface="Calibri"/>
                <a:cs typeface="Calibri"/>
              </a:rPr>
              <a:t>o	de	un	</a:t>
            </a:r>
            <a:r>
              <a:rPr sz="2000" spc="-5" dirty="0">
                <a:latin typeface="Calibri"/>
                <a:cs typeface="Calibri"/>
              </a:rPr>
              <a:t>p</a:t>
            </a:r>
            <a:r>
              <a:rPr sz="2000" spc="-40" dirty="0">
                <a:latin typeface="Calibri"/>
                <a:cs typeface="Calibri"/>
              </a:rPr>
              <a:t>r</a:t>
            </a:r>
            <a:r>
              <a:rPr sz="2000" spc="-25" dirty="0">
                <a:latin typeface="Calibri"/>
                <a:cs typeface="Calibri"/>
              </a:rPr>
              <a:t>o</a:t>
            </a:r>
            <a:r>
              <a:rPr sz="2000" spc="-35" dirty="0">
                <a:latin typeface="Calibri"/>
                <a:cs typeface="Calibri"/>
              </a:rPr>
              <a:t>y</a:t>
            </a:r>
            <a:r>
              <a:rPr sz="2000" dirty="0">
                <a:latin typeface="Calibri"/>
                <a:cs typeface="Calibri"/>
              </a:rPr>
              <a:t>ec</a:t>
            </a:r>
            <a:r>
              <a:rPr sz="2000" spc="-20" dirty="0">
                <a:latin typeface="Calibri"/>
                <a:cs typeface="Calibri"/>
              </a:rPr>
              <a:t>t</a:t>
            </a:r>
            <a:r>
              <a:rPr sz="2000" dirty="0">
                <a:latin typeface="Calibri"/>
                <a:cs typeface="Calibri"/>
              </a:rPr>
              <a:t>o	o</a:t>
            </a:r>
            <a:endParaRPr sz="2000">
              <a:latin typeface="Calibri"/>
              <a:cs typeface="Calibri"/>
            </a:endParaRPr>
          </a:p>
          <a:p>
            <a:pPr marR="7620" algn="r">
              <a:lnSpc>
                <a:spcPct val="100000"/>
              </a:lnSpc>
            </a:pPr>
            <a:r>
              <a:rPr sz="2000" dirty="0">
                <a:latin typeface="Calibri"/>
                <a:cs typeface="Calibri"/>
              </a:rPr>
              <a:t>o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78916" y="3326011"/>
            <a:ext cx="7325359" cy="1797685"/>
          </a:xfrm>
          <a:prstGeom prst="rect">
            <a:avLst/>
          </a:prstGeom>
        </p:spPr>
        <p:txBody>
          <a:bodyPr vert="horz" wrap="square" lIns="0" tIns="90805" rIns="0" bIns="0" rtlCol="0">
            <a:spAutoFit/>
          </a:bodyPr>
          <a:lstStyle/>
          <a:p>
            <a:pPr marL="384175">
              <a:lnSpc>
                <a:spcPct val="100000"/>
              </a:lnSpc>
              <a:spcBef>
                <a:spcPts val="715"/>
              </a:spcBef>
            </a:pPr>
            <a:r>
              <a:rPr sz="2000" spc="-10" dirty="0">
                <a:latin typeface="Calibri"/>
                <a:cs typeface="Calibri"/>
              </a:rPr>
              <a:t>negativa, sobre </a:t>
            </a:r>
            <a:r>
              <a:rPr sz="2000" spc="-5" dirty="0">
                <a:latin typeface="Calibri"/>
                <a:cs typeface="Calibri"/>
              </a:rPr>
              <a:t>el </a:t>
            </a:r>
            <a:r>
              <a:rPr sz="2000" spc="-10" dirty="0">
                <a:latin typeface="Calibri"/>
                <a:cs typeface="Calibri"/>
              </a:rPr>
              <a:t>resultado.</a:t>
            </a:r>
            <a:endParaRPr sz="2000">
              <a:latin typeface="Calibri"/>
              <a:cs typeface="Calibri"/>
            </a:endParaRPr>
          </a:p>
          <a:p>
            <a:pPr marL="469900" marR="5080" indent="-457200">
              <a:lnSpc>
                <a:spcPct val="100000"/>
              </a:lnSpc>
              <a:spcBef>
                <a:spcPts val="855"/>
              </a:spcBef>
              <a:buFont typeface="Arial"/>
              <a:buChar char="•"/>
              <a:tabLst>
                <a:tab pos="469265" algn="l"/>
                <a:tab pos="469900" algn="l"/>
              </a:tabLst>
            </a:pPr>
            <a:r>
              <a:rPr sz="2800" b="1" i="1" spc="-5" dirty="0">
                <a:latin typeface="Calibri"/>
                <a:cs typeface="Calibri"/>
              </a:rPr>
              <a:t>4. </a:t>
            </a:r>
            <a:r>
              <a:rPr sz="2800" b="1" i="1" spc="-10" dirty="0">
                <a:latin typeface="Calibri"/>
                <a:cs typeface="Calibri"/>
              </a:rPr>
              <a:t>Activos </a:t>
            </a:r>
            <a:r>
              <a:rPr sz="2800" b="1" i="1" spc="-5" dirty="0">
                <a:latin typeface="Calibri"/>
                <a:cs typeface="Calibri"/>
              </a:rPr>
              <a:t>de </a:t>
            </a:r>
            <a:r>
              <a:rPr sz="2800" b="1" i="1" spc="-10" dirty="0">
                <a:latin typeface="Calibri"/>
                <a:cs typeface="Calibri"/>
              </a:rPr>
              <a:t>los Procesos </a:t>
            </a:r>
            <a:r>
              <a:rPr sz="2800" b="1" i="1" spc="-5" dirty="0">
                <a:latin typeface="Calibri"/>
                <a:cs typeface="Calibri"/>
              </a:rPr>
              <a:t>Organizacionales:  </a:t>
            </a:r>
            <a:r>
              <a:rPr sz="2800" spc="-5" dirty="0">
                <a:latin typeface="Calibri"/>
                <a:cs typeface="Calibri"/>
              </a:rPr>
              <a:t>Planes, </a:t>
            </a:r>
            <a:r>
              <a:rPr sz="2800" spc="-10" dirty="0">
                <a:latin typeface="Calibri"/>
                <a:cs typeface="Calibri"/>
              </a:rPr>
              <a:t>políticas, </a:t>
            </a:r>
            <a:r>
              <a:rPr sz="2800" spc="-15" dirty="0">
                <a:latin typeface="Calibri"/>
                <a:cs typeface="Calibri"/>
              </a:rPr>
              <a:t>procedimientos, lineamientos,  </a:t>
            </a:r>
            <a:r>
              <a:rPr sz="2800" spc="-5" dirty="0">
                <a:latin typeface="Calibri"/>
                <a:cs typeface="Calibri"/>
              </a:rPr>
              <a:t>lecciones </a:t>
            </a:r>
            <a:r>
              <a:rPr sz="2800" spc="-10" dirty="0">
                <a:latin typeface="Calibri"/>
                <a:cs typeface="Calibri"/>
              </a:rPr>
              <a:t>aprendidas, </a:t>
            </a:r>
            <a:r>
              <a:rPr sz="2800" spc="-15" dirty="0">
                <a:latin typeface="Calibri"/>
                <a:cs typeface="Calibri"/>
              </a:rPr>
              <a:t>información</a:t>
            </a:r>
            <a:r>
              <a:rPr sz="2800" spc="6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histórica.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708937" y="5300471"/>
            <a:ext cx="2764758" cy="155752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931664" y="1700783"/>
            <a:ext cx="4052316" cy="136855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5662" y="320166"/>
            <a:ext cx="7332980" cy="10013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19680" marR="5080" indent="-2507615">
              <a:lnSpc>
                <a:spcPct val="100000"/>
              </a:lnSpc>
              <a:spcBef>
                <a:spcPts val="100"/>
              </a:spcBef>
            </a:pPr>
            <a:r>
              <a:rPr sz="3200" spc="-5" dirty="0"/>
              <a:t>Planificar </a:t>
            </a:r>
            <a:r>
              <a:rPr sz="3200" dirty="0"/>
              <a:t>la </a:t>
            </a:r>
            <a:r>
              <a:rPr sz="3200" spc="-10" dirty="0"/>
              <a:t>Gestión </a:t>
            </a:r>
            <a:r>
              <a:rPr sz="3200" spc="-5" dirty="0"/>
              <a:t>del Alcance </a:t>
            </a:r>
            <a:r>
              <a:rPr sz="3200" dirty="0"/>
              <a:t>– </a:t>
            </a:r>
            <a:r>
              <a:rPr sz="3200" b="1" spc="-40" dirty="0">
                <a:latin typeface="Calibri"/>
                <a:cs typeface="Calibri"/>
              </a:rPr>
              <a:t>Técnicas </a:t>
            </a:r>
            <a:r>
              <a:rPr sz="3200" b="1" dirty="0">
                <a:latin typeface="Calibri"/>
                <a:cs typeface="Calibri"/>
              </a:rPr>
              <a:t>y  </a:t>
            </a:r>
            <a:r>
              <a:rPr sz="3200" b="1" spc="-15" dirty="0">
                <a:latin typeface="Calibri"/>
                <a:cs typeface="Calibri"/>
              </a:rPr>
              <a:t>Herramientas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78916" y="1325117"/>
            <a:ext cx="7436484" cy="37985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4175" marR="2948940" indent="-342900" algn="just">
              <a:lnSpc>
                <a:spcPct val="100200"/>
              </a:lnSpc>
              <a:spcBef>
                <a:spcPts val="90"/>
              </a:spcBef>
              <a:buFont typeface="Arial"/>
              <a:buChar char="•"/>
              <a:tabLst>
                <a:tab pos="384810" algn="l"/>
              </a:tabLst>
            </a:pPr>
            <a:r>
              <a:rPr sz="2800" b="1" i="1" spc="-5" dirty="0">
                <a:latin typeface="Calibri"/>
                <a:cs typeface="Calibri"/>
              </a:rPr>
              <a:t>1. </a:t>
            </a:r>
            <a:r>
              <a:rPr sz="2800" b="1" i="1" spc="-10" dirty="0">
                <a:latin typeface="Calibri"/>
                <a:cs typeface="Calibri"/>
              </a:rPr>
              <a:t>Juicio </a:t>
            </a:r>
            <a:r>
              <a:rPr sz="2800" b="1" i="1" spc="-5" dirty="0">
                <a:latin typeface="Calibri"/>
                <a:cs typeface="Calibri"/>
              </a:rPr>
              <a:t>de Expertos:  </a:t>
            </a:r>
            <a:r>
              <a:rPr sz="2400" spc="-5" dirty="0">
                <a:latin typeface="Calibri"/>
                <a:cs typeface="Calibri"/>
              </a:rPr>
              <a:t>Aportes de </a:t>
            </a:r>
            <a:r>
              <a:rPr sz="2400" spc="-10" dirty="0">
                <a:latin typeface="Calibri"/>
                <a:cs typeface="Calibri"/>
              </a:rPr>
              <a:t>partes </a:t>
            </a:r>
            <a:r>
              <a:rPr sz="2400" spc="-15" dirty="0">
                <a:latin typeface="Calibri"/>
                <a:cs typeface="Calibri"/>
              </a:rPr>
              <a:t>conocedoras </a:t>
            </a:r>
            <a:r>
              <a:rPr sz="2400" dirty="0">
                <a:latin typeface="Calibri"/>
                <a:cs typeface="Calibri"/>
              </a:rPr>
              <a:t>o  </a:t>
            </a:r>
            <a:r>
              <a:rPr sz="2400" spc="-10" dirty="0">
                <a:latin typeface="Calibri"/>
                <a:cs typeface="Calibri"/>
              </a:rPr>
              <a:t>experimentadas </a:t>
            </a:r>
            <a:r>
              <a:rPr sz="2400" dirty="0">
                <a:latin typeface="Calibri"/>
                <a:cs typeface="Calibri"/>
              </a:rPr>
              <a:t>en el </a:t>
            </a:r>
            <a:r>
              <a:rPr sz="2400" spc="-10" dirty="0">
                <a:latin typeface="Calibri"/>
                <a:cs typeface="Calibri"/>
              </a:rPr>
              <a:t>desarrollo  </a:t>
            </a:r>
            <a:r>
              <a:rPr sz="2400" spc="-5" dirty="0">
                <a:latin typeface="Calibri"/>
                <a:cs typeface="Calibri"/>
              </a:rPr>
              <a:t>de planes </a:t>
            </a:r>
            <a:r>
              <a:rPr sz="2400" spc="-15" dirty="0">
                <a:latin typeface="Calibri"/>
                <a:cs typeface="Calibri"/>
              </a:rPr>
              <a:t>para </a:t>
            </a:r>
            <a:r>
              <a:rPr sz="2400" dirty="0">
                <a:latin typeface="Calibri"/>
                <a:cs typeface="Calibri"/>
              </a:rPr>
              <a:t>la </a:t>
            </a:r>
            <a:r>
              <a:rPr sz="2400" spc="-10" dirty="0">
                <a:latin typeface="Calibri"/>
                <a:cs typeface="Calibri"/>
              </a:rPr>
              <a:t>gestión </a:t>
            </a:r>
            <a:r>
              <a:rPr sz="2400" spc="-5" dirty="0">
                <a:latin typeface="Calibri"/>
                <a:cs typeface="Calibri"/>
              </a:rPr>
              <a:t>del  alcance.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buFont typeface="Arial"/>
              <a:buChar char="•"/>
            </a:pPr>
            <a:endParaRPr sz="2400">
              <a:latin typeface="Times New Roman"/>
              <a:cs typeface="Times New Roman"/>
            </a:endParaRPr>
          </a:p>
          <a:p>
            <a:pPr marL="469900" marR="5080" indent="-457200" algn="just">
              <a:lnSpc>
                <a:spcPct val="100000"/>
              </a:lnSpc>
              <a:spcBef>
                <a:spcPts val="1960"/>
              </a:spcBef>
              <a:buFont typeface="Arial"/>
              <a:buChar char="•"/>
              <a:tabLst>
                <a:tab pos="469900" algn="l"/>
              </a:tabLst>
            </a:pPr>
            <a:r>
              <a:rPr sz="2800" b="1" i="1" spc="-5" dirty="0">
                <a:latin typeface="Calibri"/>
                <a:cs typeface="Calibri"/>
              </a:rPr>
              <a:t>2. </a:t>
            </a:r>
            <a:r>
              <a:rPr sz="2800" b="1" i="1" spc="-10" dirty="0">
                <a:latin typeface="Calibri"/>
                <a:cs typeface="Calibri"/>
              </a:rPr>
              <a:t>Reuniones: </a:t>
            </a:r>
            <a:r>
              <a:rPr sz="2800" spc="-5" dirty="0">
                <a:latin typeface="Calibri"/>
                <a:cs typeface="Calibri"/>
              </a:rPr>
              <a:t>Planes, </a:t>
            </a:r>
            <a:r>
              <a:rPr sz="2800" spc="-10" dirty="0">
                <a:latin typeface="Calibri"/>
                <a:cs typeface="Calibri"/>
              </a:rPr>
              <a:t>políticas, </a:t>
            </a:r>
            <a:r>
              <a:rPr sz="2800" spc="-15" dirty="0">
                <a:latin typeface="Calibri"/>
                <a:cs typeface="Calibri"/>
              </a:rPr>
              <a:t>procedimientos,  lineamientos, </a:t>
            </a:r>
            <a:r>
              <a:rPr sz="2800" spc="-5" dirty="0">
                <a:latin typeface="Calibri"/>
                <a:cs typeface="Calibri"/>
              </a:rPr>
              <a:t>lecciones </a:t>
            </a:r>
            <a:r>
              <a:rPr sz="2800" spc="-10" dirty="0">
                <a:latin typeface="Calibri"/>
                <a:cs typeface="Calibri"/>
              </a:rPr>
              <a:t>aprendidas, </a:t>
            </a:r>
            <a:r>
              <a:rPr sz="2800" spc="-15" dirty="0">
                <a:latin typeface="Calibri"/>
                <a:cs typeface="Calibri"/>
              </a:rPr>
              <a:t>información  histórica.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579364" y="1700783"/>
            <a:ext cx="2382012" cy="15819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140708" y="4823459"/>
            <a:ext cx="2735580" cy="177393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4974" y="530478"/>
            <a:ext cx="767334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/>
              <a:t>Planificar </a:t>
            </a:r>
            <a:r>
              <a:rPr sz="3600" dirty="0"/>
              <a:t>la </a:t>
            </a:r>
            <a:r>
              <a:rPr sz="3600" spc="-10" dirty="0"/>
              <a:t>Gestión </a:t>
            </a:r>
            <a:r>
              <a:rPr sz="3600" spc="-5" dirty="0"/>
              <a:t>del Alcance </a:t>
            </a:r>
            <a:r>
              <a:rPr sz="3600" dirty="0"/>
              <a:t>–</a:t>
            </a:r>
            <a:r>
              <a:rPr sz="3600" spc="-75" dirty="0"/>
              <a:t> </a:t>
            </a:r>
            <a:r>
              <a:rPr sz="3600" b="1" dirty="0">
                <a:latin typeface="Calibri"/>
                <a:cs typeface="Calibri"/>
              </a:rPr>
              <a:t>Salidas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6892" y="1325117"/>
            <a:ext cx="504380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b="1" i="1" spc="-5" dirty="0">
                <a:latin typeface="Calibri"/>
                <a:cs typeface="Calibri"/>
              </a:rPr>
              <a:t>1. </a:t>
            </a:r>
            <a:r>
              <a:rPr sz="2800" b="1" i="1" spc="-10" dirty="0">
                <a:latin typeface="Calibri"/>
                <a:cs typeface="Calibri"/>
              </a:rPr>
              <a:t>Plan </a:t>
            </a:r>
            <a:r>
              <a:rPr sz="2800" b="1" i="1" dirty="0">
                <a:latin typeface="Calibri"/>
                <a:cs typeface="Calibri"/>
              </a:rPr>
              <a:t>de </a:t>
            </a:r>
            <a:r>
              <a:rPr sz="2800" b="1" i="1" spc="-10" dirty="0">
                <a:latin typeface="Calibri"/>
                <a:cs typeface="Calibri"/>
              </a:rPr>
              <a:t>Gestión </a:t>
            </a:r>
            <a:r>
              <a:rPr sz="2800" b="1" i="1" dirty="0">
                <a:latin typeface="Calibri"/>
                <a:cs typeface="Calibri"/>
              </a:rPr>
              <a:t>del</a:t>
            </a:r>
            <a:r>
              <a:rPr sz="2800" b="1" i="1" spc="85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Alcance: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29792" y="1754885"/>
            <a:ext cx="469773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1520190" algn="l"/>
                <a:tab pos="2641600" algn="l"/>
                <a:tab pos="3591560" algn="l"/>
              </a:tabLst>
            </a:pPr>
            <a:r>
              <a:rPr sz="2400" spc="-5" dirty="0">
                <a:latin typeface="Calibri"/>
                <a:cs typeface="Calibri"/>
              </a:rPr>
              <a:t>Desc</a:t>
            </a:r>
            <a:r>
              <a:rPr sz="2400" spc="5" dirty="0">
                <a:latin typeface="Calibri"/>
                <a:cs typeface="Calibri"/>
              </a:rPr>
              <a:t>r</a:t>
            </a:r>
            <a:r>
              <a:rPr sz="2400" dirty="0">
                <a:latin typeface="Calibri"/>
                <a:cs typeface="Calibri"/>
              </a:rPr>
              <a:t>ibe	</a:t>
            </a:r>
            <a:r>
              <a:rPr sz="2400" spc="-20" dirty="0">
                <a:latin typeface="Calibri"/>
                <a:cs typeface="Calibri"/>
              </a:rPr>
              <a:t>c</a:t>
            </a:r>
            <a:r>
              <a:rPr sz="2400" spc="-5" dirty="0">
                <a:latin typeface="Calibri"/>
                <a:cs typeface="Calibri"/>
              </a:rPr>
              <a:t>óm</a:t>
            </a:r>
            <a:r>
              <a:rPr sz="2400" dirty="0">
                <a:latin typeface="Calibri"/>
                <a:cs typeface="Calibri"/>
              </a:rPr>
              <a:t>o	</a:t>
            </a:r>
            <a:r>
              <a:rPr sz="2400" spc="-5" dirty="0">
                <a:latin typeface="Calibri"/>
                <a:cs typeface="Calibri"/>
              </a:rPr>
              <a:t>se</a:t>
            </a:r>
            <a:r>
              <a:rPr sz="2400" spc="-45" dirty="0">
                <a:latin typeface="Calibri"/>
                <a:cs typeface="Calibri"/>
              </a:rPr>
              <a:t>r</a:t>
            </a:r>
            <a:r>
              <a:rPr sz="2400" dirty="0">
                <a:latin typeface="Calibri"/>
                <a:cs typeface="Calibri"/>
              </a:rPr>
              <a:t>á	</a:t>
            </a:r>
            <a:r>
              <a:rPr sz="2400" spc="-5" dirty="0">
                <a:latin typeface="Calibri"/>
                <a:cs typeface="Calibri"/>
              </a:rPr>
              <a:t>d</a:t>
            </a:r>
            <a:r>
              <a:rPr sz="2400" spc="-25" dirty="0">
                <a:latin typeface="Calibri"/>
                <a:cs typeface="Calibri"/>
              </a:rPr>
              <a:t>e</a:t>
            </a:r>
            <a:r>
              <a:rPr sz="2400" spc="-5" dirty="0">
                <a:latin typeface="Calibri"/>
                <a:cs typeface="Calibri"/>
              </a:rPr>
              <a:t>fini</a:t>
            </a:r>
            <a:r>
              <a:rPr sz="2400" spc="5" dirty="0">
                <a:latin typeface="Calibri"/>
                <a:cs typeface="Calibri"/>
              </a:rPr>
              <a:t>d</a:t>
            </a:r>
            <a:r>
              <a:rPr sz="2400" spc="-55" dirty="0">
                <a:latin typeface="Calibri"/>
                <a:cs typeface="Calibri"/>
              </a:rPr>
              <a:t>o</a:t>
            </a:r>
            <a:r>
              <a:rPr sz="2400" dirty="0">
                <a:latin typeface="Calibri"/>
                <a:cs typeface="Calibri"/>
              </a:rPr>
              <a:t>,  </a:t>
            </a:r>
            <a:r>
              <a:rPr sz="2400" spc="-15" dirty="0">
                <a:latin typeface="Calibri"/>
                <a:cs typeface="Calibri"/>
              </a:rPr>
              <a:t>desarrollado,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718940" y="2120341"/>
            <a:ext cx="1710689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5" dirty="0">
                <a:latin typeface="Calibri"/>
                <a:cs typeface="Calibri"/>
              </a:rPr>
              <a:t>monitoreado,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78916" y="2486659"/>
            <a:ext cx="8023225" cy="2637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3195" marR="3176270" algn="just">
              <a:lnSpc>
                <a:spcPct val="100000"/>
              </a:lnSpc>
              <a:spcBef>
                <a:spcPts val="100"/>
              </a:spcBef>
            </a:pPr>
            <a:r>
              <a:rPr sz="2400" spc="-15" dirty="0">
                <a:latin typeface="Calibri"/>
                <a:cs typeface="Calibri"/>
              </a:rPr>
              <a:t>controlado </a:t>
            </a:r>
            <a:r>
              <a:rPr sz="2400" dirty="0">
                <a:latin typeface="Calibri"/>
                <a:cs typeface="Calibri"/>
              </a:rPr>
              <a:t>y </a:t>
            </a:r>
            <a:r>
              <a:rPr sz="2400" spc="-5" dirty="0">
                <a:latin typeface="Calibri"/>
                <a:cs typeface="Calibri"/>
              </a:rPr>
              <a:t>verificado </a:t>
            </a:r>
            <a:r>
              <a:rPr sz="2400" dirty="0">
                <a:latin typeface="Calibri"/>
                <a:cs typeface="Calibri"/>
              </a:rPr>
              <a:t>el </a:t>
            </a:r>
            <a:r>
              <a:rPr sz="2400" spc="-5" dirty="0">
                <a:latin typeface="Calibri"/>
                <a:cs typeface="Calibri"/>
              </a:rPr>
              <a:t>alcance.  Describe </a:t>
            </a:r>
            <a:r>
              <a:rPr sz="2400" dirty="0">
                <a:latin typeface="Calibri"/>
                <a:cs typeface="Calibri"/>
              </a:rPr>
              <a:t>el </a:t>
            </a:r>
            <a:r>
              <a:rPr sz="2400" spc="-10" dirty="0">
                <a:latin typeface="Calibri"/>
                <a:cs typeface="Calibri"/>
              </a:rPr>
              <a:t>proceso </a:t>
            </a:r>
            <a:r>
              <a:rPr sz="2400" spc="-20" dirty="0">
                <a:latin typeface="Calibri"/>
                <a:cs typeface="Calibri"/>
              </a:rPr>
              <a:t>para </a:t>
            </a:r>
            <a:r>
              <a:rPr sz="2400" spc="-10" dirty="0">
                <a:latin typeface="Calibri"/>
                <a:cs typeface="Calibri"/>
              </a:rPr>
              <a:t>elaborar </a:t>
            </a:r>
            <a:r>
              <a:rPr sz="2400" spc="5" dirty="0">
                <a:latin typeface="Calibri"/>
                <a:cs typeface="Calibri"/>
              </a:rPr>
              <a:t>el  </a:t>
            </a:r>
            <a:r>
              <a:rPr sz="2400" spc="-75" dirty="0">
                <a:latin typeface="Calibri"/>
                <a:cs typeface="Calibri"/>
              </a:rPr>
              <a:t>SOW, </a:t>
            </a:r>
            <a:r>
              <a:rPr sz="2400" dirty="0">
                <a:latin typeface="Calibri"/>
                <a:cs typeface="Calibri"/>
              </a:rPr>
              <a:t>la</a:t>
            </a:r>
            <a:r>
              <a:rPr sz="2400" spc="5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EDT/WBS,</a:t>
            </a:r>
            <a:endParaRPr sz="2400">
              <a:latin typeface="Calibri"/>
              <a:cs typeface="Calibri"/>
            </a:endParaRPr>
          </a:p>
          <a:p>
            <a:pPr marL="469900" marR="5080" indent="-457200">
              <a:lnSpc>
                <a:spcPct val="100000"/>
              </a:lnSpc>
              <a:spcBef>
                <a:spcPts val="1839"/>
              </a:spcBef>
              <a:buFont typeface="Arial"/>
              <a:buChar char="•"/>
              <a:tabLst>
                <a:tab pos="469265" algn="l"/>
                <a:tab pos="469900" algn="l"/>
              </a:tabLst>
            </a:pPr>
            <a:r>
              <a:rPr sz="2800" b="1" i="1" spc="-5" dirty="0">
                <a:latin typeface="Calibri"/>
                <a:cs typeface="Calibri"/>
              </a:rPr>
              <a:t>2. Plan de </a:t>
            </a:r>
            <a:r>
              <a:rPr sz="2800" b="1" i="1" spc="-10" dirty="0">
                <a:latin typeface="Calibri"/>
                <a:cs typeface="Calibri"/>
              </a:rPr>
              <a:t>Gestión </a:t>
            </a:r>
            <a:r>
              <a:rPr sz="2800" b="1" i="1" spc="-5" dirty="0">
                <a:latin typeface="Calibri"/>
                <a:cs typeface="Calibri"/>
              </a:rPr>
              <a:t>de </a:t>
            </a:r>
            <a:r>
              <a:rPr sz="2800" b="1" i="1" spc="-15" dirty="0">
                <a:latin typeface="Calibri"/>
                <a:cs typeface="Calibri"/>
              </a:rPr>
              <a:t>Requerimientos: </a:t>
            </a:r>
            <a:r>
              <a:rPr sz="2800" spc="-10" dirty="0">
                <a:latin typeface="Calibri"/>
                <a:cs typeface="Calibri"/>
              </a:rPr>
              <a:t>Describe  cómo </a:t>
            </a:r>
            <a:r>
              <a:rPr sz="2800" spc="-5" dirty="0">
                <a:latin typeface="Calibri"/>
                <a:cs typeface="Calibri"/>
              </a:rPr>
              <a:t>se </a:t>
            </a:r>
            <a:r>
              <a:rPr sz="2800" spc="-15" dirty="0">
                <a:latin typeface="Calibri"/>
                <a:cs typeface="Calibri"/>
              </a:rPr>
              <a:t>analizarán, </a:t>
            </a:r>
            <a:r>
              <a:rPr sz="2800" spc="-20" dirty="0">
                <a:latin typeface="Calibri"/>
                <a:cs typeface="Calibri"/>
              </a:rPr>
              <a:t>documentarán </a:t>
            </a:r>
            <a:r>
              <a:rPr sz="2800" spc="-5" dirty="0">
                <a:latin typeface="Calibri"/>
                <a:cs typeface="Calibri"/>
              </a:rPr>
              <a:t>y </a:t>
            </a:r>
            <a:r>
              <a:rPr sz="2800" spc="-15" dirty="0">
                <a:latin typeface="Calibri"/>
                <a:cs typeface="Calibri"/>
              </a:rPr>
              <a:t>gestionarán </a:t>
            </a:r>
            <a:r>
              <a:rPr sz="2800" spc="-5" dirty="0">
                <a:latin typeface="Calibri"/>
                <a:cs typeface="Calibri"/>
              </a:rPr>
              <a:t>los  </a:t>
            </a:r>
            <a:r>
              <a:rPr sz="2800" spc="-15" dirty="0">
                <a:latin typeface="Calibri"/>
                <a:cs typeface="Calibri"/>
              </a:rPr>
              <a:t>requisitos </a:t>
            </a:r>
            <a:r>
              <a:rPr sz="2800" spc="-5" dirty="0">
                <a:latin typeface="Calibri"/>
                <a:cs typeface="Calibri"/>
              </a:rPr>
              <a:t>y</a:t>
            </a:r>
            <a:r>
              <a:rPr sz="2800" spc="4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requerimientos.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724144" y="1797745"/>
            <a:ext cx="2951988" cy="163125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207508" y="4949950"/>
            <a:ext cx="2964180" cy="17907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01034" y="461899"/>
            <a:ext cx="174307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A</a:t>
            </a:r>
            <a:r>
              <a:rPr spc="-40" dirty="0"/>
              <a:t>g</a:t>
            </a:r>
            <a:r>
              <a:rPr dirty="0"/>
              <a:t>enda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408938"/>
            <a:ext cx="3552825" cy="4141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1500" dirty="0">
                <a:latin typeface="Calibri"/>
                <a:cs typeface="Calibri"/>
              </a:rPr>
              <a:t>GRUPO </a:t>
            </a:r>
            <a:r>
              <a:rPr sz="1500" spc="-5" dirty="0">
                <a:latin typeface="Calibri"/>
                <a:cs typeface="Calibri"/>
              </a:rPr>
              <a:t>DE PROCESOS DE</a:t>
            </a:r>
            <a:r>
              <a:rPr sz="1500" spc="-105" dirty="0">
                <a:latin typeface="Calibri"/>
                <a:cs typeface="Calibri"/>
              </a:rPr>
              <a:t> </a:t>
            </a:r>
            <a:r>
              <a:rPr sz="1500" spc="-5" dirty="0">
                <a:latin typeface="Calibri"/>
                <a:cs typeface="Calibri"/>
              </a:rPr>
              <a:t>PLANIFICACION</a:t>
            </a:r>
            <a:endParaRPr sz="15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Font typeface="Arial"/>
              <a:buChar char="•"/>
            </a:pPr>
            <a:endParaRPr sz="1550">
              <a:latin typeface="Times New Roman"/>
              <a:cs typeface="Times New Roman"/>
            </a:endParaRPr>
          </a:p>
          <a:p>
            <a:pPr marL="756285" lvl="1" indent="-287020">
              <a:lnSpc>
                <a:spcPct val="100000"/>
              </a:lnSpc>
              <a:buFont typeface="Arial"/>
              <a:buChar char="–"/>
              <a:tabLst>
                <a:tab pos="756285" algn="l"/>
                <a:tab pos="756920" algn="l"/>
              </a:tabLst>
            </a:pPr>
            <a:r>
              <a:rPr sz="1500" spc="-5" dirty="0">
                <a:latin typeface="Calibri"/>
                <a:cs typeface="Calibri"/>
              </a:rPr>
              <a:t>Planificar </a:t>
            </a:r>
            <a:r>
              <a:rPr sz="1500" dirty="0">
                <a:latin typeface="Calibri"/>
                <a:cs typeface="Calibri"/>
              </a:rPr>
              <a:t>la </a:t>
            </a:r>
            <a:r>
              <a:rPr sz="1500" spc="-5" dirty="0">
                <a:latin typeface="Calibri"/>
                <a:cs typeface="Calibri"/>
              </a:rPr>
              <a:t>Gestión </a:t>
            </a:r>
            <a:r>
              <a:rPr sz="1500" dirty="0">
                <a:latin typeface="Calibri"/>
                <a:cs typeface="Calibri"/>
              </a:rPr>
              <a:t>del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spc="-5" dirty="0">
                <a:latin typeface="Calibri"/>
                <a:cs typeface="Calibri"/>
              </a:rPr>
              <a:t>Alcance</a:t>
            </a:r>
            <a:endParaRPr sz="150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1500" spc="-10" dirty="0">
                <a:latin typeface="Calibri"/>
                <a:cs typeface="Calibri"/>
              </a:rPr>
              <a:t>Entradas</a:t>
            </a:r>
            <a:endParaRPr sz="150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1500" spc="-10" dirty="0">
                <a:latin typeface="Calibri"/>
                <a:cs typeface="Calibri"/>
              </a:rPr>
              <a:t>Herramientas </a:t>
            </a:r>
            <a:r>
              <a:rPr sz="1500" dirty="0">
                <a:latin typeface="Calibri"/>
                <a:cs typeface="Calibri"/>
              </a:rPr>
              <a:t>y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spc="-20" dirty="0">
                <a:latin typeface="Calibri"/>
                <a:cs typeface="Calibri"/>
              </a:rPr>
              <a:t>Técnicas</a:t>
            </a:r>
            <a:endParaRPr sz="150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1500" spc="-5" dirty="0">
                <a:latin typeface="Calibri"/>
                <a:cs typeface="Calibri"/>
              </a:rPr>
              <a:t>Salidas</a:t>
            </a:r>
            <a:endParaRPr sz="15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buFont typeface="Arial"/>
              <a:buChar char="–"/>
              <a:tabLst>
                <a:tab pos="756285" algn="l"/>
                <a:tab pos="756920" algn="l"/>
              </a:tabLst>
            </a:pPr>
            <a:r>
              <a:rPr sz="1500" b="1" spc="-10" dirty="0">
                <a:latin typeface="Calibri"/>
                <a:cs typeface="Calibri"/>
              </a:rPr>
              <a:t>Recolectar</a:t>
            </a:r>
            <a:r>
              <a:rPr sz="1500" b="1" dirty="0">
                <a:latin typeface="Calibri"/>
                <a:cs typeface="Calibri"/>
              </a:rPr>
              <a:t> </a:t>
            </a:r>
            <a:r>
              <a:rPr sz="1500" b="1" spc="-10" dirty="0">
                <a:latin typeface="Calibri"/>
                <a:cs typeface="Calibri"/>
              </a:rPr>
              <a:t>Requerimientos</a:t>
            </a:r>
            <a:endParaRPr sz="150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1500" spc="-10" dirty="0">
                <a:latin typeface="Calibri"/>
                <a:cs typeface="Calibri"/>
              </a:rPr>
              <a:t>Entradas</a:t>
            </a:r>
            <a:endParaRPr sz="150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1500" spc="-10" dirty="0">
                <a:latin typeface="Calibri"/>
                <a:cs typeface="Calibri"/>
              </a:rPr>
              <a:t>Herramientas </a:t>
            </a:r>
            <a:r>
              <a:rPr sz="1500" dirty="0">
                <a:latin typeface="Calibri"/>
                <a:cs typeface="Calibri"/>
              </a:rPr>
              <a:t>y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spc="-20" dirty="0">
                <a:latin typeface="Calibri"/>
                <a:cs typeface="Calibri"/>
              </a:rPr>
              <a:t>Técnicas</a:t>
            </a:r>
            <a:endParaRPr sz="150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1500" spc="-5" dirty="0">
                <a:latin typeface="Calibri"/>
                <a:cs typeface="Calibri"/>
              </a:rPr>
              <a:t>Salidas</a:t>
            </a:r>
            <a:endParaRPr sz="15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buFont typeface="Arial"/>
              <a:buChar char="–"/>
              <a:tabLst>
                <a:tab pos="756285" algn="l"/>
                <a:tab pos="756920" algn="l"/>
              </a:tabLst>
            </a:pPr>
            <a:r>
              <a:rPr sz="1500" spc="-5" dirty="0">
                <a:latin typeface="Calibri"/>
                <a:cs typeface="Calibri"/>
              </a:rPr>
              <a:t>Definir </a:t>
            </a:r>
            <a:r>
              <a:rPr sz="1500" dirty="0">
                <a:latin typeface="Calibri"/>
                <a:cs typeface="Calibri"/>
              </a:rPr>
              <a:t>el</a:t>
            </a:r>
            <a:r>
              <a:rPr sz="1500" spc="-55" dirty="0">
                <a:latin typeface="Calibri"/>
                <a:cs typeface="Calibri"/>
              </a:rPr>
              <a:t> </a:t>
            </a:r>
            <a:r>
              <a:rPr sz="1500" spc="-5" dirty="0">
                <a:latin typeface="Calibri"/>
                <a:cs typeface="Calibri"/>
              </a:rPr>
              <a:t>Alcance</a:t>
            </a:r>
            <a:endParaRPr sz="150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1500" spc="-10" dirty="0">
                <a:latin typeface="Calibri"/>
                <a:cs typeface="Calibri"/>
              </a:rPr>
              <a:t>Entradas</a:t>
            </a:r>
            <a:endParaRPr sz="150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1500" spc="-10" dirty="0">
                <a:latin typeface="Calibri"/>
                <a:cs typeface="Calibri"/>
              </a:rPr>
              <a:t>Herramientas </a:t>
            </a:r>
            <a:r>
              <a:rPr sz="1500" dirty="0">
                <a:latin typeface="Calibri"/>
                <a:cs typeface="Calibri"/>
              </a:rPr>
              <a:t>y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spc="-20" dirty="0">
                <a:latin typeface="Calibri"/>
                <a:cs typeface="Calibri"/>
              </a:rPr>
              <a:t>Técnicas</a:t>
            </a:r>
            <a:endParaRPr sz="150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1500" spc="-5" dirty="0">
                <a:latin typeface="Calibri"/>
                <a:cs typeface="Calibri"/>
              </a:rPr>
              <a:t>Salidas</a:t>
            </a:r>
            <a:endParaRPr sz="15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buFont typeface="Arial"/>
              <a:buChar char="–"/>
              <a:tabLst>
                <a:tab pos="756285" algn="l"/>
                <a:tab pos="756920" algn="l"/>
              </a:tabLst>
            </a:pPr>
            <a:r>
              <a:rPr sz="1500" spc="-5" dirty="0">
                <a:latin typeface="Calibri"/>
                <a:cs typeface="Calibri"/>
              </a:rPr>
              <a:t>Crear </a:t>
            </a:r>
            <a:r>
              <a:rPr sz="1500" dirty="0">
                <a:latin typeface="Calibri"/>
                <a:cs typeface="Calibri"/>
              </a:rPr>
              <a:t>la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EDT</a:t>
            </a:r>
            <a:endParaRPr sz="150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1500" spc="-10" dirty="0">
                <a:latin typeface="Calibri"/>
                <a:cs typeface="Calibri"/>
              </a:rPr>
              <a:t>Entradas</a:t>
            </a:r>
            <a:endParaRPr sz="150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1500" spc="-10" dirty="0">
                <a:latin typeface="Calibri"/>
                <a:cs typeface="Calibri"/>
              </a:rPr>
              <a:t>Herramientas </a:t>
            </a:r>
            <a:r>
              <a:rPr sz="1500" dirty="0">
                <a:latin typeface="Calibri"/>
                <a:cs typeface="Calibri"/>
              </a:rPr>
              <a:t>y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spc="-20" dirty="0">
                <a:latin typeface="Calibri"/>
                <a:cs typeface="Calibri"/>
              </a:rPr>
              <a:t>Técnicas</a:t>
            </a:r>
            <a:endParaRPr sz="150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1500" spc="-5" dirty="0">
                <a:latin typeface="Calibri"/>
                <a:cs typeface="Calibri"/>
              </a:rPr>
              <a:t>Salidas</a:t>
            </a:r>
            <a:endParaRPr sz="1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01521" y="461899"/>
            <a:ext cx="613791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0" dirty="0"/>
              <a:t>Recolectar</a:t>
            </a:r>
            <a:r>
              <a:rPr spc="-15" dirty="0"/>
              <a:t> Requerimientos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93014" y="1893265"/>
            <a:ext cx="4693920" cy="19780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3535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3200" dirty="0">
                <a:latin typeface="Calibri"/>
                <a:cs typeface="Calibri"/>
              </a:rPr>
              <a:t>Es </a:t>
            </a:r>
            <a:r>
              <a:rPr sz="3200" spc="-10" dirty="0">
                <a:latin typeface="Calibri"/>
                <a:cs typeface="Calibri"/>
              </a:rPr>
              <a:t>definir </a:t>
            </a:r>
            <a:r>
              <a:rPr sz="3200" dirty="0">
                <a:latin typeface="Calibri"/>
                <a:cs typeface="Calibri"/>
              </a:rPr>
              <a:t>y </a:t>
            </a:r>
            <a:r>
              <a:rPr sz="3200" spc="-10" dirty="0">
                <a:latin typeface="Calibri"/>
                <a:cs typeface="Calibri"/>
              </a:rPr>
              <a:t>documentar  </a:t>
            </a:r>
            <a:r>
              <a:rPr sz="3200" dirty="0">
                <a:latin typeface="Calibri"/>
                <a:cs typeface="Calibri"/>
              </a:rPr>
              <a:t>las </a:t>
            </a:r>
            <a:r>
              <a:rPr sz="3200" spc="-5" dirty="0">
                <a:latin typeface="Calibri"/>
                <a:cs typeface="Calibri"/>
              </a:rPr>
              <a:t>necesidades de </a:t>
            </a:r>
            <a:r>
              <a:rPr sz="3200" spc="-10" dirty="0">
                <a:latin typeface="Calibri"/>
                <a:cs typeface="Calibri"/>
              </a:rPr>
              <a:t>los  Interesados </a:t>
            </a:r>
            <a:r>
              <a:rPr sz="3200" spc="-20" dirty="0">
                <a:latin typeface="Calibri"/>
                <a:cs typeface="Calibri"/>
              </a:rPr>
              <a:t>para </a:t>
            </a:r>
            <a:r>
              <a:rPr sz="3200" spc="-5" dirty="0">
                <a:latin typeface="Calibri"/>
                <a:cs typeface="Calibri"/>
              </a:rPr>
              <a:t>cumplir  </a:t>
            </a:r>
            <a:r>
              <a:rPr sz="3200" dirty="0">
                <a:latin typeface="Calibri"/>
                <a:cs typeface="Calibri"/>
              </a:rPr>
              <a:t>los </a:t>
            </a:r>
            <a:r>
              <a:rPr sz="3200" spc="-10" dirty="0">
                <a:latin typeface="Calibri"/>
                <a:cs typeface="Calibri"/>
              </a:rPr>
              <a:t>objetivos </a:t>
            </a:r>
            <a:r>
              <a:rPr sz="3200" spc="-5" dirty="0">
                <a:latin typeface="Calibri"/>
                <a:cs typeface="Calibri"/>
              </a:rPr>
              <a:t>del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proyecto.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181600" y="1824227"/>
            <a:ext cx="3677411" cy="32095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75538" y="496950"/>
            <a:ext cx="779462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20" dirty="0"/>
              <a:t>Recolectar </a:t>
            </a:r>
            <a:r>
              <a:rPr sz="4000" spc="-15" dirty="0"/>
              <a:t>Requerimientos </a:t>
            </a:r>
            <a:r>
              <a:rPr sz="4000" spc="-5" dirty="0"/>
              <a:t>-</a:t>
            </a:r>
            <a:r>
              <a:rPr sz="4000" spc="-25" dirty="0"/>
              <a:t> </a:t>
            </a:r>
            <a:r>
              <a:rPr sz="4000" b="1" spc="-20" dirty="0">
                <a:latin typeface="Calibri"/>
                <a:cs typeface="Calibri"/>
              </a:rPr>
              <a:t>Entradas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78916" y="1325117"/>
            <a:ext cx="8023225" cy="48793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4175" marR="3827779" indent="-342900" algn="just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384810" algn="l"/>
                <a:tab pos="2511425" algn="l"/>
              </a:tabLst>
            </a:pPr>
            <a:r>
              <a:rPr sz="2800" b="1" i="1" spc="-5" dirty="0">
                <a:latin typeface="Calibri"/>
                <a:cs typeface="Calibri"/>
              </a:rPr>
              <a:t>1. </a:t>
            </a:r>
            <a:r>
              <a:rPr sz="2800" b="1" i="1" spc="-10" dirty="0">
                <a:latin typeface="Calibri"/>
                <a:cs typeface="Calibri"/>
              </a:rPr>
              <a:t>Plan </a:t>
            </a:r>
            <a:r>
              <a:rPr sz="2800" b="1" i="1" spc="-5" dirty="0">
                <a:latin typeface="Calibri"/>
                <a:cs typeface="Calibri"/>
              </a:rPr>
              <a:t>de </a:t>
            </a:r>
            <a:r>
              <a:rPr sz="2800" b="1" i="1" spc="-10" dirty="0">
                <a:latin typeface="Calibri"/>
                <a:cs typeface="Calibri"/>
              </a:rPr>
              <a:t>Gestión</a:t>
            </a:r>
            <a:r>
              <a:rPr sz="2800" b="1" i="1" spc="480" dirty="0">
                <a:latin typeface="Calibri"/>
                <a:cs typeface="Calibri"/>
              </a:rPr>
              <a:t> </a:t>
            </a:r>
            <a:r>
              <a:rPr sz="2800" b="1" i="1" spc="-5" dirty="0">
                <a:latin typeface="Calibri"/>
                <a:cs typeface="Calibri"/>
              </a:rPr>
              <a:t>del  Al</a:t>
            </a:r>
            <a:r>
              <a:rPr sz="2800" b="1" i="1" spc="-40" dirty="0">
                <a:latin typeface="Calibri"/>
                <a:cs typeface="Calibri"/>
              </a:rPr>
              <a:t>c</a:t>
            </a:r>
            <a:r>
              <a:rPr sz="2800" b="1" i="1" spc="-5" dirty="0">
                <a:latin typeface="Calibri"/>
                <a:cs typeface="Calibri"/>
              </a:rPr>
              <a:t>an</a:t>
            </a:r>
            <a:r>
              <a:rPr sz="2800" b="1" i="1" spc="-30" dirty="0">
                <a:latin typeface="Calibri"/>
                <a:cs typeface="Calibri"/>
              </a:rPr>
              <a:t>c</a:t>
            </a:r>
            <a:r>
              <a:rPr sz="2800" b="1" i="1" dirty="0">
                <a:latin typeface="Calibri"/>
                <a:cs typeface="Calibri"/>
              </a:rPr>
              <a:t>e</a:t>
            </a:r>
            <a:r>
              <a:rPr sz="2800" b="1" i="1" spc="-5" dirty="0">
                <a:latin typeface="Calibri"/>
                <a:cs typeface="Calibri"/>
              </a:rPr>
              <a:t>:</a:t>
            </a:r>
            <a:r>
              <a:rPr sz="2800" b="1" i="1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Do</a:t>
            </a:r>
            <a:r>
              <a:rPr sz="2800" dirty="0">
                <a:latin typeface="Calibri"/>
                <a:cs typeface="Calibri"/>
              </a:rPr>
              <a:t>c</a:t>
            </a:r>
            <a:r>
              <a:rPr sz="2800" spc="-10" dirty="0">
                <a:latin typeface="Calibri"/>
                <a:cs typeface="Calibri"/>
              </a:rPr>
              <a:t>u</a:t>
            </a:r>
            <a:r>
              <a:rPr sz="2800" spc="-15" dirty="0">
                <a:latin typeface="Calibri"/>
                <a:cs typeface="Calibri"/>
              </a:rPr>
              <a:t>m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35" dirty="0">
                <a:latin typeface="Calibri"/>
                <a:cs typeface="Calibri"/>
              </a:rPr>
              <a:t>n</a:t>
            </a:r>
            <a:r>
              <a:rPr sz="2800" spc="-45" dirty="0">
                <a:latin typeface="Calibri"/>
                <a:cs typeface="Calibri"/>
              </a:rPr>
              <a:t>t</a:t>
            </a:r>
            <a:r>
              <a:rPr sz="2800" spc="-5" dirty="0">
                <a:latin typeface="Calibri"/>
                <a:cs typeface="Calibri"/>
              </a:rPr>
              <a:t>a  </a:t>
            </a:r>
            <a:r>
              <a:rPr sz="2800" spc="-10" dirty="0">
                <a:latin typeface="Calibri"/>
                <a:cs typeface="Calibri"/>
              </a:rPr>
              <a:t>cómo </a:t>
            </a:r>
            <a:r>
              <a:rPr sz="2800" spc="-5" dirty="0">
                <a:latin typeface="Calibri"/>
                <a:cs typeface="Calibri"/>
              </a:rPr>
              <a:t>se </a:t>
            </a:r>
            <a:r>
              <a:rPr sz="2800" spc="-15" dirty="0">
                <a:latin typeface="Calibri"/>
                <a:cs typeface="Calibri"/>
              </a:rPr>
              <a:t>define, </a:t>
            </a:r>
            <a:r>
              <a:rPr sz="2800" spc="-10" dirty="0">
                <a:latin typeface="Calibri"/>
                <a:cs typeface="Calibri"/>
              </a:rPr>
              <a:t>valida </a:t>
            </a:r>
            <a:r>
              <a:rPr sz="2800" spc="-5" dirty="0">
                <a:latin typeface="Calibri"/>
                <a:cs typeface="Calibri"/>
              </a:rPr>
              <a:t>y  </a:t>
            </a:r>
            <a:r>
              <a:rPr sz="2800" spc="-20" dirty="0">
                <a:latin typeface="Calibri"/>
                <a:cs typeface="Calibri"/>
              </a:rPr>
              <a:t>controla </a:t>
            </a:r>
            <a:r>
              <a:rPr sz="2800" spc="-5" dirty="0">
                <a:latin typeface="Calibri"/>
                <a:cs typeface="Calibri"/>
              </a:rPr>
              <a:t>el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alcance.</a:t>
            </a:r>
            <a:endParaRPr sz="2800">
              <a:latin typeface="Calibri"/>
              <a:cs typeface="Calibri"/>
            </a:endParaRPr>
          </a:p>
          <a:p>
            <a:pPr marL="469900" marR="5080" indent="-457200">
              <a:lnSpc>
                <a:spcPct val="100000"/>
              </a:lnSpc>
              <a:spcBef>
                <a:spcPts val="1090"/>
              </a:spcBef>
              <a:buFont typeface="Arial"/>
              <a:buChar char="•"/>
              <a:tabLst>
                <a:tab pos="469265" algn="l"/>
                <a:tab pos="469900" algn="l"/>
              </a:tabLst>
            </a:pPr>
            <a:r>
              <a:rPr sz="2800" b="1" i="1" spc="-5" dirty="0">
                <a:latin typeface="Calibri"/>
                <a:cs typeface="Calibri"/>
              </a:rPr>
              <a:t>2. </a:t>
            </a:r>
            <a:r>
              <a:rPr sz="2800" b="1" i="1" spc="-10" dirty="0">
                <a:latin typeface="Calibri"/>
                <a:cs typeface="Calibri"/>
              </a:rPr>
              <a:t>Plan </a:t>
            </a:r>
            <a:r>
              <a:rPr sz="2800" b="1" i="1" spc="-5" dirty="0">
                <a:latin typeface="Calibri"/>
                <a:cs typeface="Calibri"/>
              </a:rPr>
              <a:t>de </a:t>
            </a:r>
            <a:r>
              <a:rPr sz="2800" b="1" i="1" spc="-10" dirty="0">
                <a:latin typeface="Calibri"/>
                <a:cs typeface="Calibri"/>
              </a:rPr>
              <a:t>Gestión </a:t>
            </a:r>
            <a:r>
              <a:rPr sz="2800" b="1" i="1" spc="-5" dirty="0">
                <a:latin typeface="Calibri"/>
                <a:cs typeface="Calibri"/>
              </a:rPr>
              <a:t>de </a:t>
            </a:r>
            <a:r>
              <a:rPr sz="2800" b="1" i="1" spc="-15" dirty="0">
                <a:latin typeface="Calibri"/>
                <a:cs typeface="Calibri"/>
              </a:rPr>
              <a:t>Requerimientos: </a:t>
            </a:r>
            <a:r>
              <a:rPr sz="2800" spc="-10" dirty="0">
                <a:latin typeface="Calibri"/>
                <a:cs typeface="Calibri"/>
              </a:rPr>
              <a:t>Describe  cómo </a:t>
            </a:r>
            <a:r>
              <a:rPr sz="2800" spc="-5" dirty="0">
                <a:latin typeface="Calibri"/>
                <a:cs typeface="Calibri"/>
              </a:rPr>
              <a:t>se </a:t>
            </a:r>
            <a:r>
              <a:rPr sz="2800" spc="-15" dirty="0">
                <a:latin typeface="Calibri"/>
                <a:cs typeface="Calibri"/>
              </a:rPr>
              <a:t>analizarán, </a:t>
            </a:r>
            <a:r>
              <a:rPr sz="2800" spc="-20" dirty="0">
                <a:latin typeface="Calibri"/>
                <a:cs typeface="Calibri"/>
              </a:rPr>
              <a:t>documentarán </a:t>
            </a:r>
            <a:r>
              <a:rPr sz="2800" spc="-5" dirty="0">
                <a:latin typeface="Calibri"/>
                <a:cs typeface="Calibri"/>
              </a:rPr>
              <a:t>y </a:t>
            </a:r>
            <a:r>
              <a:rPr sz="2800" spc="-15" dirty="0">
                <a:latin typeface="Calibri"/>
                <a:cs typeface="Calibri"/>
              </a:rPr>
              <a:t>gestionarán </a:t>
            </a:r>
            <a:r>
              <a:rPr sz="2800" spc="-5" dirty="0">
                <a:latin typeface="Calibri"/>
                <a:cs typeface="Calibri"/>
              </a:rPr>
              <a:t>los  </a:t>
            </a:r>
            <a:r>
              <a:rPr sz="2800" spc="-15" dirty="0">
                <a:latin typeface="Calibri"/>
                <a:cs typeface="Calibri"/>
              </a:rPr>
              <a:t>requisitos, requerimientos </a:t>
            </a:r>
            <a:r>
              <a:rPr sz="2800" spc="-5" dirty="0">
                <a:latin typeface="Calibri"/>
                <a:cs typeface="Calibri"/>
              </a:rPr>
              <a:t>y necesidades de </a:t>
            </a:r>
            <a:r>
              <a:rPr sz="2800" spc="-10" dirty="0">
                <a:latin typeface="Calibri"/>
                <a:cs typeface="Calibri"/>
              </a:rPr>
              <a:t>los  </a:t>
            </a:r>
            <a:r>
              <a:rPr sz="2800" spc="-15" dirty="0">
                <a:latin typeface="Calibri"/>
                <a:cs typeface="Calibri"/>
              </a:rPr>
              <a:t>interesados.</a:t>
            </a:r>
            <a:endParaRPr sz="2800">
              <a:latin typeface="Calibri"/>
              <a:cs typeface="Calibri"/>
            </a:endParaRPr>
          </a:p>
          <a:p>
            <a:pPr marL="509270" marR="640080" indent="-457200">
              <a:lnSpc>
                <a:spcPct val="100000"/>
              </a:lnSpc>
              <a:spcBef>
                <a:spcPts val="170"/>
              </a:spcBef>
              <a:buFont typeface="Arial"/>
              <a:buChar char="•"/>
              <a:tabLst>
                <a:tab pos="509270" algn="l"/>
                <a:tab pos="509905" algn="l"/>
              </a:tabLst>
            </a:pPr>
            <a:r>
              <a:rPr sz="2800" b="1" i="1" spc="-5" dirty="0">
                <a:latin typeface="Calibri"/>
                <a:cs typeface="Calibri"/>
              </a:rPr>
              <a:t>3. </a:t>
            </a:r>
            <a:r>
              <a:rPr sz="2800" b="1" i="1" spc="-10" dirty="0">
                <a:latin typeface="Calibri"/>
                <a:cs typeface="Calibri"/>
              </a:rPr>
              <a:t>Plan </a:t>
            </a:r>
            <a:r>
              <a:rPr sz="2800" b="1" i="1" spc="-5" dirty="0">
                <a:latin typeface="Calibri"/>
                <a:cs typeface="Calibri"/>
              </a:rPr>
              <a:t>de </a:t>
            </a:r>
            <a:r>
              <a:rPr sz="2800" b="1" i="1" spc="-10" dirty="0">
                <a:latin typeface="Calibri"/>
                <a:cs typeface="Calibri"/>
              </a:rPr>
              <a:t>Gestión </a:t>
            </a:r>
            <a:r>
              <a:rPr sz="2800" b="1" i="1" spc="-5" dirty="0">
                <a:latin typeface="Calibri"/>
                <a:cs typeface="Calibri"/>
              </a:rPr>
              <a:t>de los </a:t>
            </a:r>
            <a:r>
              <a:rPr sz="2800" b="1" i="1" spc="-10" dirty="0">
                <a:latin typeface="Calibri"/>
                <a:cs typeface="Calibri"/>
              </a:rPr>
              <a:t>Interesados: </a:t>
            </a:r>
            <a:r>
              <a:rPr sz="2800" spc="-20" dirty="0">
                <a:latin typeface="Calibri"/>
                <a:cs typeface="Calibri"/>
              </a:rPr>
              <a:t>Permite  </a:t>
            </a:r>
            <a:r>
              <a:rPr sz="2800" spc="-15" dirty="0">
                <a:latin typeface="Calibri"/>
                <a:cs typeface="Calibri"/>
              </a:rPr>
              <a:t>comprender </a:t>
            </a:r>
            <a:r>
              <a:rPr sz="2800" spc="-5" dirty="0">
                <a:latin typeface="Calibri"/>
                <a:cs typeface="Calibri"/>
              </a:rPr>
              <a:t>los </a:t>
            </a:r>
            <a:r>
              <a:rPr sz="2800" spc="-15" dirty="0">
                <a:latin typeface="Calibri"/>
                <a:cs typeface="Calibri"/>
              </a:rPr>
              <a:t>requisitos </a:t>
            </a:r>
            <a:r>
              <a:rPr sz="2800" spc="-5" dirty="0">
                <a:latin typeface="Calibri"/>
                <a:cs typeface="Calibri"/>
              </a:rPr>
              <a:t>de </a:t>
            </a:r>
            <a:r>
              <a:rPr sz="2800" spc="-10" dirty="0">
                <a:latin typeface="Calibri"/>
                <a:cs typeface="Calibri"/>
              </a:rPr>
              <a:t>comunicación </a:t>
            </a:r>
            <a:r>
              <a:rPr sz="2800" spc="-5" dirty="0">
                <a:latin typeface="Calibri"/>
                <a:cs typeface="Calibri"/>
              </a:rPr>
              <a:t>y el  </a:t>
            </a:r>
            <a:r>
              <a:rPr sz="2800" spc="-15" dirty="0">
                <a:latin typeface="Calibri"/>
                <a:cs typeface="Calibri"/>
              </a:rPr>
              <a:t>nivel </a:t>
            </a:r>
            <a:r>
              <a:rPr sz="2800" spc="-5" dirty="0">
                <a:latin typeface="Calibri"/>
                <a:cs typeface="Calibri"/>
              </a:rPr>
              <a:t>de </a:t>
            </a:r>
            <a:r>
              <a:rPr sz="2800" spc="-15" dirty="0">
                <a:latin typeface="Calibri"/>
                <a:cs typeface="Calibri"/>
              </a:rPr>
              <a:t>compromiso </a:t>
            </a:r>
            <a:r>
              <a:rPr sz="2800" spc="-5" dirty="0">
                <a:latin typeface="Calibri"/>
                <a:cs typeface="Calibri"/>
              </a:rPr>
              <a:t>de los</a:t>
            </a:r>
            <a:r>
              <a:rPr sz="2800" spc="8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interesados.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338231" y="1196339"/>
            <a:ext cx="2251394" cy="176479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75538" y="496950"/>
            <a:ext cx="779462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20" dirty="0"/>
              <a:t>Recolectar </a:t>
            </a:r>
            <a:r>
              <a:rPr sz="4000" spc="-15" dirty="0"/>
              <a:t>Requerimientos </a:t>
            </a:r>
            <a:r>
              <a:rPr sz="4000" spc="-5" dirty="0"/>
              <a:t>-</a:t>
            </a:r>
            <a:r>
              <a:rPr sz="4000" spc="-25" dirty="0"/>
              <a:t> </a:t>
            </a:r>
            <a:r>
              <a:rPr sz="4000" b="1" spc="-20" dirty="0">
                <a:latin typeface="Calibri"/>
                <a:cs typeface="Calibri"/>
              </a:rPr>
              <a:t>Entradas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5643371" y="1214627"/>
            <a:ext cx="2918460" cy="1714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78916" y="1325117"/>
            <a:ext cx="8030845" cy="3667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4175" marR="3835400" indent="-342900" algn="just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384810" algn="l"/>
              </a:tabLst>
            </a:pPr>
            <a:r>
              <a:rPr sz="2800" b="1" i="1" spc="-5" dirty="0">
                <a:latin typeface="Calibri"/>
                <a:cs typeface="Calibri"/>
              </a:rPr>
              <a:t>4. </a:t>
            </a:r>
            <a:r>
              <a:rPr sz="2800" b="1" i="1" spc="-15" dirty="0">
                <a:latin typeface="Calibri"/>
                <a:cs typeface="Calibri"/>
              </a:rPr>
              <a:t>Acta</a:t>
            </a:r>
            <a:r>
              <a:rPr sz="2800" b="1" i="1" spc="600" dirty="0">
                <a:latin typeface="Calibri"/>
                <a:cs typeface="Calibri"/>
              </a:rPr>
              <a:t> </a:t>
            </a:r>
            <a:r>
              <a:rPr sz="2800" b="1" i="1" spc="-5" dirty="0">
                <a:latin typeface="Calibri"/>
                <a:cs typeface="Calibri"/>
              </a:rPr>
              <a:t>de Constitución  del </a:t>
            </a:r>
            <a:r>
              <a:rPr sz="2800" b="1" i="1" spc="-10" dirty="0">
                <a:latin typeface="Calibri"/>
                <a:cs typeface="Calibri"/>
              </a:rPr>
              <a:t>Proyecto: </a:t>
            </a:r>
            <a:r>
              <a:rPr sz="2800" dirty="0">
                <a:latin typeface="Calibri"/>
                <a:cs typeface="Calibri"/>
              </a:rPr>
              <a:t>Qué </a:t>
            </a:r>
            <a:r>
              <a:rPr sz="2800" spc="-25" dirty="0">
                <a:latin typeface="Calibri"/>
                <a:cs typeface="Calibri"/>
              </a:rPr>
              <a:t>va </a:t>
            </a:r>
            <a:r>
              <a:rPr sz="2800" spc="-5" dirty="0">
                <a:latin typeface="Calibri"/>
                <a:cs typeface="Calibri"/>
              </a:rPr>
              <a:t>a  </a:t>
            </a:r>
            <a:r>
              <a:rPr sz="2800" spc="-10" dirty="0">
                <a:latin typeface="Calibri"/>
                <a:cs typeface="Calibri"/>
              </a:rPr>
              <a:t>hacer </a:t>
            </a:r>
            <a:r>
              <a:rPr sz="2800" spc="-5" dirty="0">
                <a:latin typeface="Calibri"/>
                <a:cs typeface="Calibri"/>
              </a:rPr>
              <a:t>el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proyecto.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Arial"/>
              <a:buChar char="•"/>
            </a:pPr>
            <a:endParaRPr sz="2250">
              <a:latin typeface="Times New Roman"/>
              <a:cs typeface="Times New Roman"/>
            </a:endParaRPr>
          </a:p>
          <a:p>
            <a:pPr marL="355600" marR="762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  <a:tab pos="984885" algn="l"/>
                <a:tab pos="2554605" algn="l"/>
                <a:tab pos="3271520" algn="l"/>
                <a:tab pos="5440045" algn="l"/>
                <a:tab pos="6737350" algn="l"/>
                <a:tab pos="7606030" algn="l"/>
              </a:tabLst>
            </a:pPr>
            <a:r>
              <a:rPr sz="2800" b="1" i="1" spc="-10" dirty="0">
                <a:latin typeface="Calibri"/>
                <a:cs typeface="Calibri"/>
              </a:rPr>
              <a:t>5</a:t>
            </a:r>
            <a:r>
              <a:rPr sz="2800" b="1" i="1" spc="-5" dirty="0">
                <a:latin typeface="Calibri"/>
                <a:cs typeface="Calibri"/>
              </a:rPr>
              <a:t>.</a:t>
            </a:r>
            <a:r>
              <a:rPr sz="2800" b="1" i="1" dirty="0">
                <a:latin typeface="Calibri"/>
                <a:cs typeface="Calibri"/>
              </a:rPr>
              <a:t>	</a:t>
            </a:r>
            <a:r>
              <a:rPr sz="2800" b="1" i="1" spc="-45" dirty="0">
                <a:latin typeface="Calibri"/>
                <a:cs typeface="Calibri"/>
              </a:rPr>
              <a:t>R</a:t>
            </a:r>
            <a:r>
              <a:rPr sz="2800" b="1" i="1" spc="-10" dirty="0">
                <a:latin typeface="Calibri"/>
                <a:cs typeface="Calibri"/>
              </a:rPr>
              <a:t>eg</a:t>
            </a:r>
            <a:r>
              <a:rPr sz="2800" b="1" i="1" spc="-15" dirty="0">
                <a:latin typeface="Calibri"/>
                <a:cs typeface="Calibri"/>
              </a:rPr>
              <a:t>i</a:t>
            </a:r>
            <a:r>
              <a:rPr sz="2800" b="1" i="1" spc="-40" dirty="0">
                <a:latin typeface="Calibri"/>
                <a:cs typeface="Calibri"/>
              </a:rPr>
              <a:t>s</a:t>
            </a:r>
            <a:r>
              <a:rPr sz="2800" b="1" i="1" spc="5" dirty="0">
                <a:latin typeface="Calibri"/>
                <a:cs typeface="Calibri"/>
              </a:rPr>
              <a:t>t</a:t>
            </a:r>
            <a:r>
              <a:rPr sz="2800" b="1" i="1" spc="-10" dirty="0">
                <a:latin typeface="Calibri"/>
                <a:cs typeface="Calibri"/>
              </a:rPr>
              <a:t>r</a:t>
            </a:r>
            <a:r>
              <a:rPr sz="2800" b="1" i="1" spc="-5" dirty="0">
                <a:latin typeface="Calibri"/>
                <a:cs typeface="Calibri"/>
              </a:rPr>
              <a:t>o</a:t>
            </a:r>
            <a:r>
              <a:rPr sz="2800" b="1" i="1" dirty="0">
                <a:latin typeface="Calibri"/>
                <a:cs typeface="Calibri"/>
              </a:rPr>
              <a:t>	</a:t>
            </a:r>
            <a:r>
              <a:rPr sz="2800" b="1" i="1" spc="-5" dirty="0">
                <a:latin typeface="Calibri"/>
                <a:cs typeface="Calibri"/>
              </a:rPr>
              <a:t>de</a:t>
            </a:r>
            <a:r>
              <a:rPr sz="2800" b="1" i="1" dirty="0">
                <a:latin typeface="Calibri"/>
                <a:cs typeface="Calibri"/>
              </a:rPr>
              <a:t>	I</a:t>
            </a:r>
            <a:r>
              <a:rPr sz="2800" b="1" i="1" spc="-30" dirty="0">
                <a:latin typeface="Calibri"/>
                <a:cs typeface="Calibri"/>
              </a:rPr>
              <a:t>nt</a:t>
            </a:r>
            <a:r>
              <a:rPr sz="2800" b="1" i="1" spc="-10" dirty="0">
                <a:latin typeface="Calibri"/>
                <a:cs typeface="Calibri"/>
              </a:rPr>
              <a:t>er</a:t>
            </a:r>
            <a:r>
              <a:rPr sz="2800" b="1" i="1" spc="-20" dirty="0">
                <a:latin typeface="Calibri"/>
                <a:cs typeface="Calibri"/>
              </a:rPr>
              <a:t>e</a:t>
            </a:r>
            <a:r>
              <a:rPr sz="2800" b="1" i="1" spc="-10" dirty="0">
                <a:latin typeface="Calibri"/>
                <a:cs typeface="Calibri"/>
              </a:rPr>
              <a:t>sad</a:t>
            </a:r>
            <a:r>
              <a:rPr sz="2800" b="1" i="1" spc="5" dirty="0">
                <a:latin typeface="Calibri"/>
                <a:cs typeface="Calibri"/>
              </a:rPr>
              <a:t>os</a:t>
            </a:r>
            <a:r>
              <a:rPr sz="2800" b="1" i="1" spc="-5" dirty="0">
                <a:latin typeface="Calibri"/>
                <a:cs typeface="Calibri"/>
              </a:rPr>
              <a:t>:</a:t>
            </a:r>
            <a:r>
              <a:rPr sz="2800" b="1" i="1" dirty="0">
                <a:latin typeface="Calibri"/>
                <a:cs typeface="Calibri"/>
              </a:rPr>
              <a:t>	</a:t>
            </a:r>
            <a:r>
              <a:rPr sz="2800" dirty="0">
                <a:latin typeface="Calibri"/>
                <a:cs typeface="Calibri"/>
              </a:rPr>
              <a:t>C</a:t>
            </a:r>
            <a:r>
              <a:rPr sz="2800" spc="-10" dirty="0">
                <a:latin typeface="Calibri"/>
                <a:cs typeface="Calibri"/>
              </a:rPr>
              <a:t>uále</a:t>
            </a:r>
            <a:r>
              <a:rPr sz="2800" spc="-5" dirty="0">
                <a:latin typeface="Calibri"/>
                <a:cs typeface="Calibri"/>
              </a:rPr>
              <a:t>s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s</a:t>
            </a:r>
            <a:r>
              <a:rPr sz="2800" spc="5" dirty="0">
                <a:latin typeface="Calibri"/>
                <a:cs typeface="Calibri"/>
              </a:rPr>
              <a:t>o</a:t>
            </a:r>
            <a:r>
              <a:rPr sz="2800" spc="-5" dirty="0">
                <a:latin typeface="Calibri"/>
                <a:cs typeface="Calibri"/>
              </a:rPr>
              <a:t>n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5" dirty="0">
                <a:latin typeface="Calibri"/>
                <a:cs typeface="Calibri"/>
              </a:rPr>
              <a:t>los  </a:t>
            </a:r>
            <a:r>
              <a:rPr sz="2800" spc="-15" dirty="0">
                <a:latin typeface="Calibri"/>
                <a:cs typeface="Calibri"/>
              </a:rPr>
              <a:t>Interesados</a:t>
            </a:r>
            <a:r>
              <a:rPr sz="2800" spc="-5" dirty="0">
                <a:latin typeface="Calibri"/>
                <a:cs typeface="Calibri"/>
              </a:rPr>
              <a:t> principales.</a:t>
            </a:r>
            <a:endParaRPr sz="2800">
              <a:latin typeface="Calibri"/>
              <a:cs typeface="Calibri"/>
            </a:endParaRPr>
          </a:p>
          <a:p>
            <a:pPr marL="299085" marR="5080" algn="just">
              <a:lnSpc>
                <a:spcPct val="100000"/>
              </a:lnSpc>
              <a:spcBef>
                <a:spcPts val="610"/>
              </a:spcBef>
            </a:pPr>
            <a:r>
              <a:rPr sz="2400" spc="-5" dirty="0">
                <a:latin typeface="Calibri"/>
                <a:cs typeface="Calibri"/>
              </a:rPr>
              <a:t>Las </a:t>
            </a:r>
            <a:r>
              <a:rPr sz="2400" dirty="0">
                <a:latin typeface="Calibri"/>
                <a:cs typeface="Calibri"/>
              </a:rPr>
              <a:t>necesidades y </a:t>
            </a:r>
            <a:r>
              <a:rPr sz="2400" spc="-15" dirty="0">
                <a:latin typeface="Calibri"/>
                <a:cs typeface="Calibri"/>
              </a:rPr>
              <a:t>expectativas </a:t>
            </a:r>
            <a:r>
              <a:rPr sz="2400" spc="-5" dirty="0">
                <a:latin typeface="Calibri"/>
                <a:cs typeface="Calibri"/>
              </a:rPr>
              <a:t>de </a:t>
            </a:r>
            <a:r>
              <a:rPr sz="2400" spc="-10" dirty="0">
                <a:latin typeface="Calibri"/>
                <a:cs typeface="Calibri"/>
              </a:rPr>
              <a:t>los Interesados </a:t>
            </a:r>
            <a:r>
              <a:rPr sz="2400" spc="-5" dirty="0">
                <a:latin typeface="Calibri"/>
                <a:cs typeface="Calibri"/>
              </a:rPr>
              <a:t>se </a:t>
            </a:r>
            <a:r>
              <a:rPr sz="2400" spc="-10" dirty="0">
                <a:latin typeface="Calibri"/>
                <a:cs typeface="Calibri"/>
              </a:rPr>
              <a:t>analizan  </a:t>
            </a:r>
            <a:r>
              <a:rPr sz="2400" dirty="0">
                <a:latin typeface="Calibri"/>
                <a:cs typeface="Calibri"/>
              </a:rPr>
              <a:t>y </a:t>
            </a:r>
            <a:r>
              <a:rPr sz="2400" spc="-5" dirty="0">
                <a:latin typeface="Calibri"/>
                <a:cs typeface="Calibri"/>
              </a:rPr>
              <a:t>se </a:t>
            </a:r>
            <a:r>
              <a:rPr sz="2400" spc="-10" dirty="0">
                <a:latin typeface="Calibri"/>
                <a:cs typeface="Calibri"/>
              </a:rPr>
              <a:t>convierten </a:t>
            </a:r>
            <a:r>
              <a:rPr sz="2400" dirty="0">
                <a:latin typeface="Calibri"/>
                <a:cs typeface="Calibri"/>
              </a:rPr>
              <a:t>en </a:t>
            </a:r>
            <a:r>
              <a:rPr sz="2400" spc="-5" dirty="0">
                <a:latin typeface="Calibri"/>
                <a:cs typeface="Calibri"/>
              </a:rPr>
              <a:t>requerimientos (qué </a:t>
            </a:r>
            <a:r>
              <a:rPr sz="2400" spc="-15" dirty="0">
                <a:latin typeface="Calibri"/>
                <a:cs typeface="Calibri"/>
              </a:rPr>
              <a:t>está </a:t>
            </a:r>
            <a:r>
              <a:rPr sz="2400" spc="-5" dirty="0">
                <a:latin typeface="Calibri"/>
                <a:cs typeface="Calibri"/>
              </a:rPr>
              <a:t>esperando </a:t>
            </a:r>
            <a:r>
              <a:rPr sz="2400" dirty="0">
                <a:latin typeface="Calibri"/>
                <a:cs typeface="Calibri"/>
              </a:rPr>
              <a:t>la </a:t>
            </a:r>
            <a:r>
              <a:rPr sz="2400" spc="-10" dirty="0">
                <a:latin typeface="Calibri"/>
                <a:cs typeface="Calibri"/>
              </a:rPr>
              <a:t>Alta  </a:t>
            </a:r>
            <a:r>
              <a:rPr sz="2400" spc="-5" dirty="0">
                <a:latin typeface="Calibri"/>
                <a:cs typeface="Calibri"/>
              </a:rPr>
              <a:t>Gerencia, </a:t>
            </a:r>
            <a:r>
              <a:rPr sz="2400" dirty="0">
                <a:latin typeface="Calibri"/>
                <a:cs typeface="Calibri"/>
              </a:rPr>
              <a:t>el </a:t>
            </a:r>
            <a:r>
              <a:rPr sz="2400" spc="-30" dirty="0">
                <a:latin typeface="Calibri"/>
                <a:cs typeface="Calibri"/>
              </a:rPr>
              <a:t>Sponsor, </a:t>
            </a:r>
            <a:r>
              <a:rPr sz="2400" dirty="0">
                <a:latin typeface="Calibri"/>
                <a:cs typeface="Calibri"/>
              </a:rPr>
              <a:t>el </a:t>
            </a:r>
            <a:r>
              <a:rPr sz="2400" spc="-10" dirty="0">
                <a:latin typeface="Calibri"/>
                <a:cs typeface="Calibri"/>
              </a:rPr>
              <a:t>Equipo </a:t>
            </a:r>
            <a:r>
              <a:rPr sz="2400" spc="-5" dirty="0">
                <a:latin typeface="Calibri"/>
                <a:cs typeface="Calibri"/>
              </a:rPr>
              <a:t>del </a:t>
            </a:r>
            <a:r>
              <a:rPr sz="2400" spc="-20" dirty="0">
                <a:latin typeface="Calibri"/>
                <a:cs typeface="Calibri"/>
              </a:rPr>
              <a:t>Proyecto, </a:t>
            </a:r>
            <a:r>
              <a:rPr sz="2400" dirty="0">
                <a:latin typeface="Calibri"/>
                <a:cs typeface="Calibri"/>
              </a:rPr>
              <a:t>el </a:t>
            </a:r>
            <a:r>
              <a:rPr sz="2400" spc="-5" dirty="0">
                <a:latin typeface="Calibri"/>
                <a:cs typeface="Calibri"/>
              </a:rPr>
              <a:t>GP).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572511" y="5071871"/>
            <a:ext cx="4142232" cy="162610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78586" y="192150"/>
            <a:ext cx="7788275" cy="1244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284730" marR="5080" indent="-2272665">
              <a:lnSpc>
                <a:spcPct val="100000"/>
              </a:lnSpc>
              <a:spcBef>
                <a:spcPts val="95"/>
              </a:spcBef>
            </a:pPr>
            <a:r>
              <a:rPr sz="4000" spc="-20" dirty="0"/>
              <a:t>Recolectar </a:t>
            </a:r>
            <a:r>
              <a:rPr sz="4000" spc="-15" dirty="0"/>
              <a:t>Requerimientos </a:t>
            </a:r>
            <a:r>
              <a:rPr sz="4000" spc="-5" dirty="0"/>
              <a:t>– </a:t>
            </a:r>
            <a:r>
              <a:rPr sz="4000" b="1" spc="-55" dirty="0">
                <a:latin typeface="Calibri"/>
                <a:cs typeface="Calibri"/>
              </a:rPr>
              <a:t>Técnicas  </a:t>
            </a:r>
            <a:r>
              <a:rPr sz="4000" b="1" spc="-5" dirty="0">
                <a:latin typeface="Calibri"/>
                <a:cs typeface="Calibri"/>
              </a:rPr>
              <a:t>y </a:t>
            </a:r>
            <a:r>
              <a:rPr sz="4000" b="1" spc="-20" dirty="0">
                <a:latin typeface="Calibri"/>
                <a:cs typeface="Calibri"/>
              </a:rPr>
              <a:t>Herramientas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617090"/>
            <a:ext cx="5100955" cy="197738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000" b="1" i="1" dirty="0">
                <a:latin typeface="Calibri"/>
                <a:cs typeface="Calibri"/>
              </a:rPr>
              <a:t>1. </a:t>
            </a:r>
            <a:r>
              <a:rPr sz="2000" b="1" i="1" spc="-10" dirty="0">
                <a:latin typeface="Calibri"/>
                <a:cs typeface="Calibri"/>
              </a:rPr>
              <a:t>Entrevistas </a:t>
            </a:r>
            <a:r>
              <a:rPr sz="2000" spc="-5" dirty="0">
                <a:latin typeface="Calibri"/>
                <a:cs typeface="Calibri"/>
              </a:rPr>
              <a:t>Un </a:t>
            </a:r>
            <a:r>
              <a:rPr sz="2000" spc="-10" dirty="0">
                <a:latin typeface="Calibri"/>
                <a:cs typeface="Calibri"/>
              </a:rPr>
              <a:t>enfoque formal </a:t>
            </a:r>
            <a:r>
              <a:rPr sz="2000" dirty="0">
                <a:latin typeface="Calibri"/>
                <a:cs typeface="Calibri"/>
              </a:rPr>
              <a:t>o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informal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Arial"/>
              <a:buChar char="•"/>
            </a:pPr>
            <a:endParaRPr sz="2900">
              <a:latin typeface="Times New Roman"/>
              <a:cs typeface="Times New Roman"/>
            </a:endParaRPr>
          </a:p>
          <a:p>
            <a:pPr marL="355600" marR="5080" indent="-343535" algn="just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356235" algn="l"/>
              </a:tabLst>
            </a:pPr>
            <a:r>
              <a:rPr sz="2000" b="1" i="1" dirty="0">
                <a:latin typeface="Calibri"/>
                <a:cs typeface="Calibri"/>
              </a:rPr>
              <a:t>2. </a:t>
            </a:r>
            <a:r>
              <a:rPr sz="2000" b="1" i="1" spc="-5" dirty="0">
                <a:latin typeface="Calibri"/>
                <a:cs typeface="Calibri"/>
              </a:rPr>
              <a:t>Grupos </a:t>
            </a:r>
            <a:r>
              <a:rPr sz="2000" b="1" i="1" spc="-15" dirty="0">
                <a:latin typeface="Calibri"/>
                <a:cs typeface="Calibri"/>
              </a:rPr>
              <a:t>Focales </a:t>
            </a:r>
            <a:r>
              <a:rPr sz="2000" dirty="0">
                <a:latin typeface="Calibri"/>
                <a:cs typeface="Calibri"/>
              </a:rPr>
              <a:t>Es </a:t>
            </a:r>
            <a:r>
              <a:rPr sz="2000" spc="-10" dirty="0">
                <a:latin typeface="Calibri"/>
                <a:cs typeface="Calibri"/>
              </a:rPr>
              <a:t>traer Interesados </a:t>
            </a:r>
            <a:r>
              <a:rPr sz="2000" dirty="0">
                <a:latin typeface="Calibri"/>
                <a:cs typeface="Calibri"/>
              </a:rPr>
              <a:t>y  </a:t>
            </a:r>
            <a:r>
              <a:rPr sz="2000" spc="-10" dirty="0">
                <a:latin typeface="Calibri"/>
                <a:cs typeface="Calibri"/>
              </a:rPr>
              <a:t>expertos </a:t>
            </a:r>
            <a:r>
              <a:rPr sz="2000" dirty="0">
                <a:latin typeface="Calibri"/>
                <a:cs typeface="Calibri"/>
              </a:rPr>
              <a:t>en </a:t>
            </a:r>
            <a:r>
              <a:rPr sz="2000" spc="-5" dirty="0">
                <a:latin typeface="Calibri"/>
                <a:cs typeface="Calibri"/>
              </a:rPr>
              <a:t>la materia </a:t>
            </a:r>
            <a:r>
              <a:rPr sz="2000" spc="-10" dirty="0">
                <a:latin typeface="Calibri"/>
                <a:cs typeface="Calibri"/>
              </a:rPr>
              <a:t>para </a:t>
            </a:r>
            <a:r>
              <a:rPr sz="2000" spc="-5" dirty="0">
                <a:latin typeface="Calibri"/>
                <a:cs typeface="Calibri"/>
              </a:rPr>
              <a:t>identificar </a:t>
            </a:r>
            <a:r>
              <a:rPr sz="2000" dirty="0">
                <a:latin typeface="Calibri"/>
                <a:cs typeface="Calibri"/>
              </a:rPr>
              <a:t>cuales  </a:t>
            </a:r>
            <a:r>
              <a:rPr sz="2000" spc="-5" dirty="0">
                <a:latin typeface="Calibri"/>
                <a:cs typeface="Calibri"/>
              </a:rPr>
              <a:t>son </a:t>
            </a:r>
            <a:r>
              <a:rPr sz="2000" dirty="0">
                <a:latin typeface="Calibri"/>
                <a:cs typeface="Calibri"/>
              </a:rPr>
              <a:t>las </a:t>
            </a:r>
            <a:r>
              <a:rPr sz="2000" spc="-10" dirty="0">
                <a:latin typeface="Calibri"/>
                <a:cs typeface="Calibri"/>
              </a:rPr>
              <a:t>expectativas </a:t>
            </a:r>
            <a:r>
              <a:rPr sz="2000" dirty="0">
                <a:latin typeface="Calibri"/>
                <a:cs typeface="Calibri"/>
              </a:rPr>
              <a:t>y las actitudes </a:t>
            </a:r>
            <a:r>
              <a:rPr sz="2000" spc="-10" dirty="0">
                <a:latin typeface="Calibri"/>
                <a:cs typeface="Calibri"/>
              </a:rPr>
              <a:t>con  respecto </a:t>
            </a:r>
            <a:r>
              <a:rPr sz="2000" dirty="0">
                <a:latin typeface="Calibri"/>
                <a:cs typeface="Calibri"/>
              </a:rPr>
              <a:t>al </a:t>
            </a:r>
            <a:r>
              <a:rPr sz="2000" spc="-15" dirty="0">
                <a:latin typeface="Calibri"/>
                <a:cs typeface="Calibri"/>
              </a:rPr>
              <a:t>producto, </a:t>
            </a:r>
            <a:r>
              <a:rPr sz="2000" dirty="0">
                <a:latin typeface="Calibri"/>
                <a:cs typeface="Calibri"/>
              </a:rPr>
              <a:t>servicio o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resultado.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20798" y="4299965"/>
            <a:ext cx="179514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37210" algn="l"/>
              </a:tabLst>
            </a:pPr>
            <a:r>
              <a:rPr sz="2000" dirty="0">
                <a:latin typeface="Calibri"/>
                <a:cs typeface="Calibri"/>
              </a:rPr>
              <a:t>de	i</a:t>
            </a:r>
            <a:r>
              <a:rPr sz="2000" spc="-15" dirty="0">
                <a:latin typeface="Calibri"/>
                <a:cs typeface="Calibri"/>
              </a:rPr>
              <a:t>n</a:t>
            </a:r>
            <a:r>
              <a:rPr sz="2000" spc="-40" dirty="0">
                <a:latin typeface="Calibri"/>
                <a:cs typeface="Calibri"/>
              </a:rPr>
              <a:t>f</a:t>
            </a:r>
            <a:r>
              <a:rPr sz="2000" spc="-5" dirty="0">
                <a:latin typeface="Calibri"/>
                <a:cs typeface="Calibri"/>
              </a:rPr>
              <a:t>or</a:t>
            </a:r>
            <a:r>
              <a:rPr sz="2000" spc="-10" dirty="0">
                <a:latin typeface="Calibri"/>
                <a:cs typeface="Calibri"/>
              </a:rPr>
              <a:t>m</a:t>
            </a:r>
            <a:r>
              <a:rPr sz="2000" dirty="0">
                <a:latin typeface="Calibri"/>
                <a:cs typeface="Calibri"/>
              </a:rPr>
              <a:t>ación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352671" y="4299965"/>
            <a:ext cx="76009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Calibri"/>
                <a:cs typeface="Calibri"/>
              </a:rPr>
              <a:t>basa</a:t>
            </a:r>
            <a:r>
              <a:rPr sz="2000" spc="5" dirty="0">
                <a:latin typeface="Calibri"/>
                <a:cs typeface="Calibri"/>
              </a:rPr>
              <a:t>d</a:t>
            </a:r>
            <a:r>
              <a:rPr sz="2000" dirty="0">
                <a:latin typeface="Calibri"/>
                <a:cs typeface="Calibri"/>
              </a:rPr>
              <a:t>a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75661" y="3994480"/>
            <a:ext cx="3262629" cy="6369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05"/>
              </a:spcBef>
              <a:tabLst>
                <a:tab pos="652145" algn="l"/>
                <a:tab pos="1653539" algn="l"/>
                <a:tab pos="2974975" algn="l"/>
              </a:tabLst>
            </a:pPr>
            <a:r>
              <a:rPr sz="2000" dirty="0">
                <a:latin typeface="Calibri"/>
                <a:cs typeface="Calibri"/>
              </a:rPr>
              <a:t>una	</a:t>
            </a:r>
            <a:r>
              <a:rPr sz="2000" spc="-25" dirty="0">
                <a:latin typeface="Calibri"/>
                <a:cs typeface="Calibri"/>
              </a:rPr>
              <a:t>t</a:t>
            </a:r>
            <a:r>
              <a:rPr sz="2000" dirty="0">
                <a:latin typeface="Calibri"/>
                <a:cs typeface="Calibri"/>
              </a:rPr>
              <a:t>écni</a:t>
            </a:r>
            <a:r>
              <a:rPr sz="2000" spc="-15" dirty="0">
                <a:latin typeface="Calibri"/>
                <a:cs typeface="Calibri"/>
              </a:rPr>
              <a:t>c</a:t>
            </a:r>
            <a:r>
              <a:rPr sz="2000" dirty="0">
                <a:latin typeface="Calibri"/>
                <a:cs typeface="Calibri"/>
              </a:rPr>
              <a:t>a	</a:t>
            </a:r>
            <a:r>
              <a:rPr sz="2000" spc="-10" dirty="0">
                <a:latin typeface="Calibri"/>
                <a:cs typeface="Calibri"/>
              </a:rPr>
              <a:t>c</a:t>
            </a:r>
            <a:r>
              <a:rPr sz="2000" spc="-5" dirty="0">
                <a:latin typeface="Calibri"/>
                <a:cs typeface="Calibri"/>
              </a:rPr>
              <a:t>ual</a:t>
            </a:r>
            <a:r>
              <a:rPr sz="2000" spc="-15" dirty="0">
                <a:latin typeface="Calibri"/>
                <a:cs typeface="Calibri"/>
              </a:rPr>
              <a:t>it</a:t>
            </a:r>
            <a:r>
              <a:rPr sz="2000" spc="-25" dirty="0">
                <a:latin typeface="Calibri"/>
                <a:cs typeface="Calibri"/>
              </a:rPr>
              <a:t>a</a:t>
            </a:r>
            <a:r>
              <a:rPr sz="2000" dirty="0">
                <a:latin typeface="Calibri"/>
                <a:cs typeface="Calibri"/>
              </a:rPr>
              <a:t>ti</a:t>
            </a:r>
            <a:r>
              <a:rPr sz="2000" spc="-40" dirty="0">
                <a:latin typeface="Calibri"/>
                <a:cs typeface="Calibri"/>
              </a:rPr>
              <a:t>v</a:t>
            </a:r>
            <a:r>
              <a:rPr sz="2000" dirty="0">
                <a:latin typeface="Calibri"/>
                <a:cs typeface="Calibri"/>
              </a:rPr>
              <a:t>a	de</a:t>
            </a:r>
            <a:endParaRPr sz="2000">
              <a:latin typeface="Calibri"/>
              <a:cs typeface="Calibri"/>
            </a:endParaRPr>
          </a:p>
          <a:p>
            <a:pPr marR="7620" algn="r">
              <a:lnSpc>
                <a:spcPct val="100000"/>
              </a:lnSpc>
              <a:spcBef>
                <a:spcPts val="5"/>
              </a:spcBef>
            </a:pPr>
            <a:r>
              <a:rPr sz="2000" spc="-5" dirty="0">
                <a:latin typeface="Calibri"/>
                <a:cs typeface="Calibri"/>
              </a:rPr>
              <a:t>en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79144" y="3994480"/>
            <a:ext cx="1261745" cy="9417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5"/>
              </a:spcBef>
            </a:pPr>
            <a:r>
              <a:rPr sz="2000" spc="-5" dirty="0">
                <a:latin typeface="Calibri"/>
                <a:cs typeface="Calibri"/>
              </a:rPr>
              <a:t>Con</a:t>
            </a:r>
            <a:r>
              <a:rPr sz="2000" spc="-30" dirty="0">
                <a:latin typeface="Calibri"/>
                <a:cs typeface="Calibri"/>
              </a:rPr>
              <a:t>s</a:t>
            </a:r>
            <a:r>
              <a:rPr sz="2000" dirty="0">
                <a:latin typeface="Calibri"/>
                <a:cs typeface="Calibri"/>
              </a:rPr>
              <a:t>titu</a:t>
            </a:r>
            <a:r>
              <a:rPr sz="2000" spc="-25" dirty="0">
                <a:latin typeface="Calibri"/>
                <a:cs typeface="Calibri"/>
              </a:rPr>
              <a:t>y</a:t>
            </a:r>
            <a:r>
              <a:rPr sz="2000" dirty="0">
                <a:latin typeface="Calibri"/>
                <a:cs typeface="Calibri"/>
              </a:rPr>
              <a:t>en  </a:t>
            </a:r>
            <a:r>
              <a:rPr sz="2000" spc="-5" dirty="0">
                <a:latin typeface="Calibri"/>
                <a:cs typeface="Calibri"/>
              </a:rPr>
              <a:t>recolección  </a:t>
            </a:r>
            <a:r>
              <a:rPr sz="2000" spc="-10" dirty="0">
                <a:latin typeface="Calibri"/>
                <a:cs typeface="Calibri"/>
              </a:rPr>
              <a:t>entrevistas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195829" y="4604765"/>
            <a:ext cx="343789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212215" algn="l"/>
                <a:tab pos="1517015" algn="l"/>
              </a:tabLst>
            </a:pPr>
            <a:r>
              <a:rPr sz="2000" spc="-5" dirty="0">
                <a:latin typeface="Calibri"/>
                <a:cs typeface="Calibri"/>
              </a:rPr>
              <a:t>colectivas	</a:t>
            </a:r>
            <a:r>
              <a:rPr sz="2000" dirty="0">
                <a:latin typeface="Calibri"/>
                <a:cs typeface="Calibri"/>
              </a:rPr>
              <a:t>y	</a:t>
            </a:r>
            <a:r>
              <a:rPr sz="2000" spc="-5" dirty="0">
                <a:latin typeface="Calibri"/>
                <a:cs typeface="Calibri"/>
              </a:rPr>
              <a:t>semiestructuradas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79144" y="4909565"/>
            <a:ext cx="4759960" cy="13677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latin typeface="Calibri"/>
                <a:cs typeface="Calibri"/>
              </a:rPr>
              <a:t>realizadas </a:t>
            </a:r>
            <a:r>
              <a:rPr sz="2000" dirty="0">
                <a:latin typeface="Calibri"/>
                <a:cs typeface="Calibri"/>
              </a:rPr>
              <a:t>a grupos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homogéneos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90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</a:pPr>
            <a:r>
              <a:rPr sz="2000" spc="-5" dirty="0">
                <a:latin typeface="Calibri"/>
                <a:cs typeface="Calibri"/>
              </a:rPr>
              <a:t>Normalmente se </a:t>
            </a:r>
            <a:r>
              <a:rPr sz="2000" spc="-10" dirty="0">
                <a:latin typeface="Calibri"/>
                <a:cs typeface="Calibri"/>
              </a:rPr>
              <a:t>requiere </a:t>
            </a:r>
            <a:r>
              <a:rPr sz="2000" dirty="0">
                <a:latin typeface="Calibri"/>
                <a:cs typeface="Calibri"/>
              </a:rPr>
              <a:t>de un </a:t>
            </a:r>
            <a:r>
              <a:rPr sz="2000" spc="-5" dirty="0">
                <a:latin typeface="Calibri"/>
                <a:cs typeface="Calibri"/>
              </a:rPr>
              <a:t>moderador  </a:t>
            </a:r>
            <a:r>
              <a:rPr sz="2000" spc="-15" dirty="0">
                <a:latin typeface="Calibri"/>
                <a:cs typeface="Calibri"/>
              </a:rPr>
              <a:t>para </a:t>
            </a:r>
            <a:r>
              <a:rPr sz="2000" dirty="0">
                <a:latin typeface="Calibri"/>
                <a:cs typeface="Calibri"/>
              </a:rPr>
              <a:t>que guíe </a:t>
            </a:r>
            <a:r>
              <a:rPr sz="2000" spc="-5" dirty="0">
                <a:latin typeface="Calibri"/>
                <a:cs typeface="Calibri"/>
              </a:rPr>
              <a:t>el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proyecto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952744" y="2959607"/>
            <a:ext cx="2834640" cy="18272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78586" y="192150"/>
            <a:ext cx="7788275" cy="1244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284730" marR="5080" indent="-2272665">
              <a:lnSpc>
                <a:spcPct val="100000"/>
              </a:lnSpc>
              <a:spcBef>
                <a:spcPts val="95"/>
              </a:spcBef>
            </a:pPr>
            <a:r>
              <a:rPr sz="4000" spc="-20" dirty="0"/>
              <a:t>Recolectar </a:t>
            </a:r>
            <a:r>
              <a:rPr sz="4000" spc="-15" dirty="0"/>
              <a:t>Requerimientos </a:t>
            </a:r>
            <a:r>
              <a:rPr sz="4000" spc="-5" dirty="0"/>
              <a:t>– </a:t>
            </a:r>
            <a:r>
              <a:rPr sz="4000" b="1" spc="-55" dirty="0">
                <a:latin typeface="Calibri"/>
                <a:cs typeface="Calibri"/>
              </a:rPr>
              <a:t>Técnicas  </a:t>
            </a:r>
            <a:r>
              <a:rPr sz="4000" b="1" spc="-5" dirty="0">
                <a:latin typeface="Calibri"/>
                <a:cs typeface="Calibri"/>
              </a:rPr>
              <a:t>y </a:t>
            </a:r>
            <a:r>
              <a:rPr sz="4000" b="1" spc="-20" dirty="0">
                <a:latin typeface="Calibri"/>
                <a:cs typeface="Calibri"/>
              </a:rPr>
              <a:t>Herramientas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64642" y="1462722"/>
            <a:ext cx="6059170" cy="4471670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355600" indent="-342900" algn="just">
              <a:lnSpc>
                <a:spcPct val="100000"/>
              </a:lnSpc>
              <a:spcBef>
                <a:spcPts val="535"/>
              </a:spcBef>
              <a:buFont typeface="Arial"/>
              <a:buChar char="•"/>
              <a:tabLst>
                <a:tab pos="355600" algn="l"/>
              </a:tabLst>
            </a:pPr>
            <a:r>
              <a:rPr sz="1800" b="1" i="1" spc="-5" dirty="0">
                <a:latin typeface="Calibri"/>
                <a:cs typeface="Calibri"/>
              </a:rPr>
              <a:t>3. </a:t>
            </a:r>
            <a:r>
              <a:rPr sz="1800" b="1" i="1" spc="-25" dirty="0">
                <a:latin typeface="Calibri"/>
                <a:cs typeface="Calibri"/>
              </a:rPr>
              <a:t>Técnicas </a:t>
            </a:r>
            <a:r>
              <a:rPr sz="1800" b="1" i="1" spc="-5" dirty="0">
                <a:latin typeface="Calibri"/>
                <a:cs typeface="Calibri"/>
              </a:rPr>
              <a:t>de </a:t>
            </a:r>
            <a:r>
              <a:rPr sz="1800" b="1" i="1" dirty="0">
                <a:latin typeface="Calibri"/>
                <a:cs typeface="Calibri"/>
              </a:rPr>
              <a:t>Creatividad en</a:t>
            </a:r>
            <a:r>
              <a:rPr sz="1800" b="1" i="1" spc="15" dirty="0">
                <a:latin typeface="Calibri"/>
                <a:cs typeface="Calibri"/>
              </a:rPr>
              <a:t> </a:t>
            </a:r>
            <a:r>
              <a:rPr sz="1800" b="1" i="1" spc="-5" dirty="0">
                <a:latin typeface="Calibri"/>
                <a:cs typeface="Calibri"/>
              </a:rPr>
              <a:t>Grupo</a:t>
            </a:r>
            <a:endParaRPr sz="1800">
              <a:latin typeface="Calibri"/>
              <a:cs typeface="Calibri"/>
            </a:endParaRPr>
          </a:p>
          <a:p>
            <a:pPr marL="355600" marR="8255" indent="-342900" algn="just">
              <a:lnSpc>
                <a:spcPct val="100000"/>
              </a:lnSpc>
              <a:spcBef>
                <a:spcPts val="434"/>
              </a:spcBef>
              <a:buFont typeface="Calibri"/>
              <a:buChar char="-"/>
              <a:tabLst>
                <a:tab pos="355600" algn="l"/>
              </a:tabLst>
            </a:pPr>
            <a:r>
              <a:rPr sz="1800" i="1" spc="-30" dirty="0">
                <a:latin typeface="Calibri"/>
                <a:cs typeface="Calibri"/>
              </a:rPr>
              <a:t>Tormenta </a:t>
            </a:r>
            <a:r>
              <a:rPr sz="1800" i="1" dirty="0">
                <a:latin typeface="Calibri"/>
                <a:cs typeface="Calibri"/>
              </a:rPr>
              <a:t>de </a:t>
            </a:r>
            <a:r>
              <a:rPr sz="1800" i="1" spc="-5" dirty="0">
                <a:latin typeface="Calibri"/>
                <a:cs typeface="Calibri"/>
              </a:rPr>
              <a:t>Ideas</a:t>
            </a:r>
            <a:r>
              <a:rPr sz="1800" spc="-5" dirty="0">
                <a:latin typeface="Calibri"/>
                <a:cs typeface="Calibri"/>
              </a:rPr>
              <a:t>: </a:t>
            </a:r>
            <a:r>
              <a:rPr sz="1800" dirty="0">
                <a:latin typeface="Calibri"/>
                <a:cs typeface="Calibri"/>
              </a:rPr>
              <a:t>es una </a:t>
            </a:r>
            <a:r>
              <a:rPr sz="1800" spc="-10" dirty="0">
                <a:latin typeface="Calibri"/>
                <a:cs typeface="Calibri"/>
              </a:rPr>
              <a:t>herramienta </a:t>
            </a:r>
            <a:r>
              <a:rPr sz="1800" dirty="0">
                <a:latin typeface="Calibri"/>
                <a:cs typeface="Calibri"/>
              </a:rPr>
              <a:t>de </a:t>
            </a:r>
            <a:r>
              <a:rPr sz="1800" spc="-10" dirty="0">
                <a:latin typeface="Calibri"/>
                <a:cs typeface="Calibri"/>
              </a:rPr>
              <a:t>trabajo </a:t>
            </a:r>
            <a:r>
              <a:rPr sz="1800" dirty="0">
                <a:latin typeface="Calibri"/>
                <a:cs typeface="Calibri"/>
              </a:rPr>
              <a:t>grupal que  </a:t>
            </a:r>
            <a:r>
              <a:rPr sz="1800" spc="-10" dirty="0">
                <a:latin typeface="Calibri"/>
                <a:cs typeface="Calibri"/>
              </a:rPr>
              <a:t>facilita </a:t>
            </a:r>
            <a:r>
              <a:rPr sz="1800" dirty="0">
                <a:latin typeface="Calibri"/>
                <a:cs typeface="Calibri"/>
              </a:rPr>
              <a:t>el </a:t>
            </a:r>
            <a:r>
              <a:rPr sz="1800" spc="-5" dirty="0">
                <a:latin typeface="Calibri"/>
                <a:cs typeface="Calibri"/>
              </a:rPr>
              <a:t>surgimiento </a:t>
            </a:r>
            <a:r>
              <a:rPr sz="1800" dirty="0">
                <a:latin typeface="Calibri"/>
                <a:cs typeface="Calibri"/>
              </a:rPr>
              <a:t>de </a:t>
            </a:r>
            <a:r>
              <a:rPr sz="1800" spc="-5" dirty="0">
                <a:latin typeface="Calibri"/>
                <a:cs typeface="Calibri"/>
              </a:rPr>
              <a:t>nuevas ideas </a:t>
            </a:r>
            <a:r>
              <a:rPr sz="1800" spc="-10" dirty="0">
                <a:latin typeface="Calibri"/>
                <a:cs typeface="Calibri"/>
              </a:rPr>
              <a:t>sobre </a:t>
            </a:r>
            <a:r>
              <a:rPr sz="1800" dirty="0">
                <a:latin typeface="Calibri"/>
                <a:cs typeface="Calibri"/>
              </a:rPr>
              <a:t>un </a:t>
            </a:r>
            <a:r>
              <a:rPr sz="1800" spc="-10" dirty="0">
                <a:latin typeface="Calibri"/>
                <a:cs typeface="Calibri"/>
              </a:rPr>
              <a:t>tema </a:t>
            </a:r>
            <a:r>
              <a:rPr sz="1800" dirty="0">
                <a:latin typeface="Calibri"/>
                <a:cs typeface="Calibri"/>
              </a:rPr>
              <a:t>o  </a:t>
            </a:r>
            <a:r>
              <a:rPr sz="1800" spc="-10" dirty="0">
                <a:latin typeface="Calibri"/>
                <a:cs typeface="Calibri"/>
              </a:rPr>
              <a:t>problema </a:t>
            </a:r>
            <a:r>
              <a:rPr sz="1800" spc="-5" dirty="0">
                <a:latin typeface="Calibri"/>
                <a:cs typeface="Calibri"/>
              </a:rPr>
              <a:t>determinado. La lluvia </a:t>
            </a:r>
            <a:r>
              <a:rPr sz="1800" dirty="0">
                <a:latin typeface="Calibri"/>
                <a:cs typeface="Calibri"/>
              </a:rPr>
              <a:t>de </a:t>
            </a:r>
            <a:r>
              <a:rPr sz="1800" spc="-5" dirty="0">
                <a:latin typeface="Calibri"/>
                <a:cs typeface="Calibri"/>
              </a:rPr>
              <a:t>ideas </a:t>
            </a:r>
            <a:r>
              <a:rPr sz="1800" dirty="0">
                <a:latin typeface="Calibri"/>
                <a:cs typeface="Calibri"/>
              </a:rPr>
              <a:t>es </a:t>
            </a:r>
            <a:r>
              <a:rPr sz="1800" spc="-5" dirty="0">
                <a:latin typeface="Calibri"/>
                <a:cs typeface="Calibri"/>
              </a:rPr>
              <a:t>una </a:t>
            </a:r>
            <a:r>
              <a:rPr sz="1800" spc="-10" dirty="0">
                <a:latin typeface="Calibri"/>
                <a:cs typeface="Calibri"/>
              </a:rPr>
              <a:t>técnica </a:t>
            </a:r>
            <a:r>
              <a:rPr sz="1800" dirty="0">
                <a:latin typeface="Calibri"/>
                <a:cs typeface="Calibri"/>
              </a:rPr>
              <a:t>de  grupo </a:t>
            </a:r>
            <a:r>
              <a:rPr sz="1800" spc="-15" dirty="0">
                <a:latin typeface="Calibri"/>
                <a:cs typeface="Calibri"/>
              </a:rPr>
              <a:t>para </a:t>
            </a:r>
            <a:r>
              <a:rPr sz="1800" spc="-10" dirty="0">
                <a:latin typeface="Calibri"/>
                <a:cs typeface="Calibri"/>
              </a:rPr>
              <a:t>generar </a:t>
            </a:r>
            <a:r>
              <a:rPr sz="1800" spc="-5" dirty="0">
                <a:latin typeface="Calibri"/>
                <a:cs typeface="Calibri"/>
              </a:rPr>
              <a:t>ideas originales </a:t>
            </a:r>
            <a:r>
              <a:rPr sz="1800" dirty="0">
                <a:latin typeface="Calibri"/>
                <a:cs typeface="Calibri"/>
              </a:rPr>
              <a:t>en un </a:t>
            </a:r>
            <a:r>
              <a:rPr sz="1800" spc="-5" dirty="0">
                <a:latin typeface="Calibri"/>
                <a:cs typeface="Calibri"/>
              </a:rPr>
              <a:t>ambiente</a:t>
            </a:r>
            <a:r>
              <a:rPr sz="1800" spc="9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relajado.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Calibri"/>
              <a:buChar char="-"/>
            </a:pPr>
            <a:endParaRPr sz="2600">
              <a:latin typeface="Times New Roman"/>
              <a:cs typeface="Times New Roman"/>
            </a:endParaRPr>
          </a:p>
          <a:p>
            <a:pPr marL="355600" marR="5080" indent="-342900" algn="just">
              <a:lnSpc>
                <a:spcPct val="100000"/>
              </a:lnSpc>
              <a:buFont typeface="Calibri"/>
              <a:buChar char="-"/>
              <a:tabLst>
                <a:tab pos="355600" algn="l"/>
              </a:tabLst>
            </a:pPr>
            <a:r>
              <a:rPr sz="1800" i="1" spc="-25" dirty="0">
                <a:latin typeface="Calibri"/>
                <a:cs typeface="Calibri"/>
              </a:rPr>
              <a:t>Técnica </a:t>
            </a:r>
            <a:r>
              <a:rPr sz="1800" i="1" spc="-5" dirty="0">
                <a:latin typeface="Calibri"/>
                <a:cs typeface="Calibri"/>
              </a:rPr>
              <a:t>de </a:t>
            </a:r>
            <a:r>
              <a:rPr sz="1800" i="1" dirty="0">
                <a:latin typeface="Calibri"/>
                <a:cs typeface="Calibri"/>
              </a:rPr>
              <a:t>Grupos Nominales</a:t>
            </a:r>
            <a:r>
              <a:rPr sz="1800" dirty="0">
                <a:latin typeface="Calibri"/>
                <a:cs typeface="Calibri"/>
              </a:rPr>
              <a:t>: </a:t>
            </a:r>
            <a:r>
              <a:rPr sz="1800" spc="-10" dirty="0">
                <a:latin typeface="Calibri"/>
                <a:cs typeface="Calibri"/>
              </a:rPr>
              <a:t>Obtener </a:t>
            </a:r>
            <a:r>
              <a:rPr sz="1800" spc="-5" dirty="0">
                <a:latin typeface="Calibri"/>
                <a:cs typeface="Calibri"/>
              </a:rPr>
              <a:t>opiniones múltiples  </a:t>
            </a:r>
            <a:r>
              <a:rPr sz="1800" dirty="0">
                <a:latin typeface="Calibri"/>
                <a:cs typeface="Calibri"/>
              </a:rPr>
              <a:t>de </a:t>
            </a:r>
            <a:r>
              <a:rPr sz="1800" spc="-10" dirty="0">
                <a:latin typeface="Calibri"/>
                <a:cs typeface="Calibri"/>
              </a:rPr>
              <a:t>diversas personas acerca </a:t>
            </a:r>
            <a:r>
              <a:rPr sz="1800" dirty="0">
                <a:latin typeface="Calibri"/>
                <a:cs typeface="Calibri"/>
              </a:rPr>
              <a:t>de un </a:t>
            </a:r>
            <a:r>
              <a:rPr sz="1800" spc="-5" dirty="0">
                <a:latin typeface="Calibri"/>
                <a:cs typeface="Calibri"/>
              </a:rPr>
              <a:t>problema </a:t>
            </a:r>
            <a:r>
              <a:rPr sz="1800" dirty="0">
                <a:latin typeface="Calibri"/>
                <a:cs typeface="Calibri"/>
              </a:rPr>
              <a:t>o </a:t>
            </a:r>
            <a:r>
              <a:rPr sz="1800" spc="-10" dirty="0">
                <a:latin typeface="Calibri"/>
                <a:cs typeface="Calibri"/>
              </a:rPr>
              <a:t>asunto, </a:t>
            </a:r>
            <a:r>
              <a:rPr sz="1800" dirty="0">
                <a:latin typeface="Calibri"/>
                <a:cs typeface="Calibri"/>
              </a:rPr>
              <a:t>en un  </a:t>
            </a:r>
            <a:r>
              <a:rPr sz="1800" spc="-15" dirty="0">
                <a:latin typeface="Calibri"/>
                <a:cs typeface="Calibri"/>
              </a:rPr>
              <a:t>formato </a:t>
            </a:r>
            <a:r>
              <a:rPr sz="1800" spc="-10" dirty="0">
                <a:latin typeface="Calibri"/>
                <a:cs typeface="Calibri"/>
              </a:rPr>
              <a:t>estructurado </a:t>
            </a:r>
            <a:r>
              <a:rPr sz="1800" spc="-5" dirty="0">
                <a:latin typeface="Calibri"/>
                <a:cs typeface="Calibri"/>
              </a:rPr>
              <a:t>trabajando </a:t>
            </a:r>
            <a:r>
              <a:rPr sz="1800" dirty="0">
                <a:latin typeface="Calibri"/>
                <a:cs typeface="Calibri"/>
              </a:rPr>
              <a:t>en grupos pequeños. </a:t>
            </a:r>
            <a:r>
              <a:rPr sz="1800" spc="-5" dirty="0">
                <a:latin typeface="Calibri"/>
                <a:cs typeface="Calibri"/>
              </a:rPr>
              <a:t>El  </a:t>
            </a:r>
            <a:r>
              <a:rPr sz="1800" dirty="0">
                <a:latin typeface="Calibri"/>
                <a:cs typeface="Calibri"/>
              </a:rPr>
              <a:t>Grupo </a:t>
            </a:r>
            <a:r>
              <a:rPr sz="1800" spc="-5" dirty="0">
                <a:latin typeface="Calibri"/>
                <a:cs typeface="Calibri"/>
              </a:rPr>
              <a:t>nominal </a:t>
            </a:r>
            <a:r>
              <a:rPr sz="1800" dirty="0">
                <a:latin typeface="Calibri"/>
                <a:cs typeface="Calibri"/>
              </a:rPr>
              <a:t>es muy </a:t>
            </a:r>
            <a:r>
              <a:rPr sz="1800" spc="-5" dirty="0">
                <a:latin typeface="Calibri"/>
                <a:cs typeface="Calibri"/>
              </a:rPr>
              <a:t>útil </a:t>
            </a:r>
            <a:r>
              <a:rPr sz="1800" spc="-15" dirty="0">
                <a:latin typeface="Calibri"/>
                <a:cs typeface="Calibri"/>
              </a:rPr>
              <a:t>para </a:t>
            </a:r>
            <a:r>
              <a:rPr sz="1800" spc="-10" dirty="0">
                <a:latin typeface="Calibri"/>
                <a:cs typeface="Calibri"/>
              </a:rPr>
              <a:t>identificar </a:t>
            </a:r>
            <a:r>
              <a:rPr sz="1800" spc="-5" dirty="0">
                <a:latin typeface="Calibri"/>
                <a:cs typeface="Calibri"/>
              </a:rPr>
              <a:t>problemas,  establecer soluciones </a:t>
            </a:r>
            <a:r>
              <a:rPr sz="1800" dirty="0">
                <a:latin typeface="Calibri"/>
                <a:cs typeface="Calibri"/>
              </a:rPr>
              <a:t>y </a:t>
            </a:r>
            <a:r>
              <a:rPr sz="1800" spc="-5" dirty="0">
                <a:latin typeface="Calibri"/>
                <a:cs typeface="Calibri"/>
              </a:rPr>
              <a:t>establecer</a:t>
            </a:r>
            <a:r>
              <a:rPr sz="1800" spc="4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prioridades.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Font typeface="Calibri"/>
              <a:buChar char="-"/>
            </a:pPr>
            <a:endParaRPr sz="2600">
              <a:latin typeface="Times New Roman"/>
              <a:cs typeface="Times New Roman"/>
            </a:endParaRPr>
          </a:p>
          <a:p>
            <a:pPr marL="355600" marR="5715" indent="-342900" algn="just">
              <a:lnSpc>
                <a:spcPct val="100000"/>
              </a:lnSpc>
              <a:buFont typeface="Calibri"/>
              <a:buChar char="-"/>
              <a:tabLst>
                <a:tab pos="355600" algn="l"/>
              </a:tabLst>
            </a:pPr>
            <a:r>
              <a:rPr sz="1800" i="1" spc="-25" dirty="0">
                <a:latin typeface="Calibri"/>
                <a:cs typeface="Calibri"/>
              </a:rPr>
              <a:t>Técnica </a:t>
            </a:r>
            <a:r>
              <a:rPr sz="1800" i="1" spc="-5" dirty="0">
                <a:latin typeface="Calibri"/>
                <a:cs typeface="Calibri"/>
              </a:rPr>
              <a:t>Delphi</a:t>
            </a:r>
            <a:r>
              <a:rPr sz="1800" spc="-5" dirty="0">
                <a:latin typeface="Calibri"/>
                <a:cs typeface="Calibri"/>
              </a:rPr>
              <a:t>: Es </a:t>
            </a:r>
            <a:r>
              <a:rPr sz="1800" dirty="0">
                <a:latin typeface="Calibri"/>
                <a:cs typeface="Calibri"/>
              </a:rPr>
              <a:t>un grupo nominal más </a:t>
            </a:r>
            <a:r>
              <a:rPr sz="1800" spc="-10" dirty="0">
                <a:latin typeface="Calibri"/>
                <a:cs typeface="Calibri"/>
              </a:rPr>
              <a:t>complejo </a:t>
            </a:r>
            <a:r>
              <a:rPr sz="1800" dirty="0">
                <a:latin typeface="Calibri"/>
                <a:cs typeface="Calibri"/>
              </a:rPr>
              <a:t>y </a:t>
            </a:r>
            <a:r>
              <a:rPr sz="1800" spc="-15" dirty="0">
                <a:latin typeface="Calibri"/>
                <a:cs typeface="Calibri"/>
              </a:rPr>
              <a:t>lento,  </a:t>
            </a:r>
            <a:r>
              <a:rPr sz="1800" dirty="0">
                <a:latin typeface="Calibri"/>
                <a:cs typeface="Calibri"/>
              </a:rPr>
              <a:t>no se </a:t>
            </a:r>
            <a:r>
              <a:rPr sz="1800" spc="-10" dirty="0">
                <a:latin typeface="Calibri"/>
                <a:cs typeface="Calibri"/>
              </a:rPr>
              <a:t>requiere </a:t>
            </a:r>
            <a:r>
              <a:rPr sz="1800" dirty="0">
                <a:latin typeface="Calibri"/>
                <a:cs typeface="Calibri"/>
              </a:rPr>
              <a:t>esa </a:t>
            </a:r>
            <a:r>
              <a:rPr sz="1800" spc="-5" dirty="0">
                <a:latin typeface="Calibri"/>
                <a:cs typeface="Calibri"/>
              </a:rPr>
              <a:t>presencia </a:t>
            </a:r>
            <a:r>
              <a:rPr sz="1800" spc="-10" dirty="0">
                <a:latin typeface="Calibri"/>
                <a:cs typeface="Calibri"/>
              </a:rPr>
              <a:t>física </a:t>
            </a:r>
            <a:r>
              <a:rPr sz="1800" dirty="0">
                <a:latin typeface="Calibri"/>
                <a:cs typeface="Calibri"/>
              </a:rPr>
              <a:t>y </a:t>
            </a:r>
            <a:r>
              <a:rPr sz="1800" spc="-5" dirty="0">
                <a:latin typeface="Calibri"/>
                <a:cs typeface="Calibri"/>
              </a:rPr>
              <a:t>los miembros son  </a:t>
            </a:r>
            <a:r>
              <a:rPr sz="1800" dirty="0">
                <a:latin typeface="Calibri"/>
                <a:cs typeface="Calibri"/>
              </a:rPr>
              <a:t>anónimos.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691883" y="1286255"/>
            <a:ext cx="2104644" cy="15803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001256" y="4357115"/>
            <a:ext cx="1647444" cy="22098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78586" y="192150"/>
            <a:ext cx="7788275" cy="1244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284730" marR="5080" indent="-2272665">
              <a:lnSpc>
                <a:spcPct val="100000"/>
              </a:lnSpc>
              <a:spcBef>
                <a:spcPts val="95"/>
              </a:spcBef>
            </a:pPr>
            <a:r>
              <a:rPr sz="4000" spc="-20" dirty="0"/>
              <a:t>Recolectar </a:t>
            </a:r>
            <a:r>
              <a:rPr sz="4000" spc="-15" dirty="0"/>
              <a:t>Requerimientos </a:t>
            </a:r>
            <a:r>
              <a:rPr sz="4000" spc="-5" dirty="0"/>
              <a:t>– </a:t>
            </a:r>
            <a:r>
              <a:rPr sz="4000" b="1" spc="-55" dirty="0">
                <a:latin typeface="Calibri"/>
                <a:cs typeface="Calibri"/>
              </a:rPr>
              <a:t>Técnicas  </a:t>
            </a:r>
            <a:r>
              <a:rPr sz="4000" b="1" spc="-5" dirty="0">
                <a:latin typeface="Calibri"/>
                <a:cs typeface="Calibri"/>
              </a:rPr>
              <a:t>y </a:t>
            </a:r>
            <a:r>
              <a:rPr sz="4000" b="1" spc="-20" dirty="0">
                <a:latin typeface="Calibri"/>
                <a:cs typeface="Calibri"/>
              </a:rPr>
              <a:t>Herramientas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563751"/>
            <a:ext cx="5530850" cy="3263265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355600" indent="-343535" algn="just">
              <a:lnSpc>
                <a:spcPct val="100000"/>
              </a:lnSpc>
              <a:spcBef>
                <a:spcPts val="530"/>
              </a:spcBef>
              <a:buFont typeface="Arial"/>
              <a:buChar char="•"/>
              <a:tabLst>
                <a:tab pos="356235" algn="l"/>
              </a:tabLst>
            </a:pPr>
            <a:r>
              <a:rPr sz="1800" b="1" i="1" spc="-5" dirty="0">
                <a:latin typeface="Calibri"/>
                <a:cs typeface="Calibri"/>
              </a:rPr>
              <a:t>3. </a:t>
            </a:r>
            <a:r>
              <a:rPr sz="1800" b="1" i="1" spc="-20" dirty="0">
                <a:latin typeface="Calibri"/>
                <a:cs typeface="Calibri"/>
              </a:rPr>
              <a:t>Técnicas </a:t>
            </a:r>
            <a:r>
              <a:rPr sz="1800" b="1" i="1" spc="-5" dirty="0">
                <a:latin typeface="Calibri"/>
                <a:cs typeface="Calibri"/>
              </a:rPr>
              <a:t>de Creatividad </a:t>
            </a:r>
            <a:r>
              <a:rPr sz="1800" b="1" i="1" dirty="0">
                <a:latin typeface="Calibri"/>
                <a:cs typeface="Calibri"/>
              </a:rPr>
              <a:t>en </a:t>
            </a:r>
            <a:r>
              <a:rPr sz="1800" b="1" i="1" spc="-5" dirty="0">
                <a:latin typeface="Calibri"/>
                <a:cs typeface="Calibri"/>
              </a:rPr>
              <a:t>Grupo</a:t>
            </a:r>
            <a:r>
              <a:rPr sz="1800" b="1" i="1" spc="35" dirty="0">
                <a:latin typeface="Calibri"/>
                <a:cs typeface="Calibri"/>
              </a:rPr>
              <a:t> </a:t>
            </a:r>
            <a:r>
              <a:rPr sz="1800" b="1" i="1" spc="-5" dirty="0">
                <a:latin typeface="Calibri"/>
                <a:cs typeface="Calibri"/>
              </a:rPr>
              <a:t>(cont)</a:t>
            </a:r>
            <a:endParaRPr sz="1800">
              <a:latin typeface="Calibri"/>
              <a:cs typeface="Calibri"/>
            </a:endParaRPr>
          </a:p>
          <a:p>
            <a:pPr marL="355600" marR="6350" indent="-343535" algn="just">
              <a:lnSpc>
                <a:spcPct val="100000"/>
              </a:lnSpc>
              <a:spcBef>
                <a:spcPts val="430"/>
              </a:spcBef>
              <a:buFont typeface="Calibri"/>
              <a:buChar char="-"/>
              <a:tabLst>
                <a:tab pos="356235" algn="l"/>
              </a:tabLst>
            </a:pPr>
            <a:r>
              <a:rPr sz="1800" i="1" dirty="0">
                <a:latin typeface="Calibri"/>
                <a:cs typeface="Calibri"/>
              </a:rPr>
              <a:t>Mapeo </a:t>
            </a:r>
            <a:r>
              <a:rPr sz="1800" i="1" spc="-5" dirty="0">
                <a:latin typeface="Calibri"/>
                <a:cs typeface="Calibri"/>
              </a:rPr>
              <a:t>de Ideas</a:t>
            </a:r>
            <a:r>
              <a:rPr sz="1800" spc="-5" dirty="0">
                <a:latin typeface="Calibri"/>
                <a:cs typeface="Calibri"/>
              </a:rPr>
              <a:t>: </a:t>
            </a:r>
            <a:r>
              <a:rPr sz="1800" spc="-15" dirty="0">
                <a:latin typeface="Calibri"/>
                <a:cs typeface="Calibri"/>
              </a:rPr>
              <a:t>consiste </a:t>
            </a:r>
            <a:r>
              <a:rPr sz="1800" dirty="0">
                <a:latin typeface="Calibri"/>
                <a:cs typeface="Calibri"/>
              </a:rPr>
              <a:t>en poner en el </a:t>
            </a:r>
            <a:r>
              <a:rPr sz="1800" spc="-10" dirty="0">
                <a:latin typeface="Calibri"/>
                <a:cs typeface="Calibri"/>
              </a:rPr>
              <a:t>centro </a:t>
            </a:r>
            <a:r>
              <a:rPr sz="1800" spc="5" dirty="0">
                <a:latin typeface="Calibri"/>
                <a:cs typeface="Calibri"/>
              </a:rPr>
              <a:t>el </a:t>
            </a:r>
            <a:r>
              <a:rPr sz="1800" spc="-10" dirty="0">
                <a:latin typeface="Calibri"/>
                <a:cs typeface="Calibri"/>
              </a:rPr>
              <a:t>tema  </a:t>
            </a:r>
            <a:r>
              <a:rPr sz="1800" dirty="0">
                <a:latin typeface="Calibri"/>
                <a:cs typeface="Calibri"/>
              </a:rPr>
              <a:t>a </a:t>
            </a:r>
            <a:r>
              <a:rPr sz="1800" spc="-10" dirty="0">
                <a:latin typeface="Calibri"/>
                <a:cs typeface="Calibri"/>
              </a:rPr>
              <a:t>desarrollar </a:t>
            </a:r>
            <a:r>
              <a:rPr sz="1800" dirty="0">
                <a:latin typeface="Calibri"/>
                <a:cs typeface="Calibri"/>
              </a:rPr>
              <a:t>y a su </a:t>
            </a:r>
            <a:r>
              <a:rPr sz="1800" spc="-5" dirty="0">
                <a:latin typeface="Calibri"/>
                <a:cs typeface="Calibri"/>
              </a:rPr>
              <a:t>alrededor </a:t>
            </a:r>
            <a:r>
              <a:rPr sz="1800" dirty="0">
                <a:latin typeface="Calibri"/>
                <a:cs typeface="Calibri"/>
              </a:rPr>
              <a:t>las </a:t>
            </a:r>
            <a:r>
              <a:rPr sz="1800" spc="-5" dirty="0">
                <a:latin typeface="Calibri"/>
                <a:cs typeface="Calibri"/>
              </a:rPr>
              <a:t>ideas </a:t>
            </a:r>
            <a:r>
              <a:rPr sz="1800" spc="-10" dirty="0">
                <a:latin typeface="Calibri"/>
                <a:cs typeface="Calibri"/>
              </a:rPr>
              <a:t>asociativas </a:t>
            </a:r>
            <a:r>
              <a:rPr sz="1800" dirty="0">
                <a:latin typeface="Calibri"/>
                <a:cs typeface="Calibri"/>
              </a:rPr>
              <a:t>que  </a:t>
            </a:r>
            <a:r>
              <a:rPr sz="1800" spc="-5" dirty="0">
                <a:latin typeface="Calibri"/>
                <a:cs typeface="Calibri"/>
              </a:rPr>
              <a:t>estimulan </a:t>
            </a:r>
            <a:r>
              <a:rPr sz="1800" dirty="0">
                <a:latin typeface="Calibri"/>
                <a:cs typeface="Calibri"/>
              </a:rPr>
              <a:t>el </a:t>
            </a:r>
            <a:r>
              <a:rPr sz="1800" spc="-10" dirty="0">
                <a:latin typeface="Calibri"/>
                <a:cs typeface="Calibri"/>
              </a:rPr>
              <a:t>desarrollo </a:t>
            </a:r>
            <a:r>
              <a:rPr sz="1800" dirty="0">
                <a:latin typeface="Calibri"/>
                <a:cs typeface="Calibri"/>
              </a:rPr>
              <a:t>y </a:t>
            </a:r>
            <a:r>
              <a:rPr sz="1800" spc="-5" dirty="0">
                <a:latin typeface="Calibri"/>
                <a:cs typeface="Calibri"/>
              </a:rPr>
              <a:t>la aparición </a:t>
            </a:r>
            <a:r>
              <a:rPr sz="1800" dirty="0">
                <a:latin typeface="Calibri"/>
                <a:cs typeface="Calibri"/>
              </a:rPr>
              <a:t>de más </a:t>
            </a:r>
            <a:r>
              <a:rPr sz="1800" spc="-5" dirty="0">
                <a:latin typeface="Calibri"/>
                <a:cs typeface="Calibri"/>
              </a:rPr>
              <a:t>elementos  </a:t>
            </a:r>
            <a:r>
              <a:rPr sz="1800" spc="-15" dirty="0">
                <a:latin typeface="Calibri"/>
                <a:cs typeface="Calibri"/>
              </a:rPr>
              <a:t>para </a:t>
            </a:r>
            <a:r>
              <a:rPr sz="1800" dirty="0">
                <a:latin typeface="Calibri"/>
                <a:cs typeface="Calibri"/>
              </a:rPr>
              <a:t>su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argumentación.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Font typeface="Calibri"/>
              <a:buChar char="-"/>
            </a:pPr>
            <a:endParaRPr sz="2600">
              <a:latin typeface="Times New Roman"/>
              <a:cs typeface="Times New Roman"/>
            </a:endParaRPr>
          </a:p>
          <a:p>
            <a:pPr marL="355600" marR="5080" indent="-343535" algn="just">
              <a:lnSpc>
                <a:spcPct val="100000"/>
              </a:lnSpc>
              <a:buFont typeface="Calibri"/>
              <a:buChar char="-"/>
              <a:tabLst>
                <a:tab pos="356235" algn="l"/>
              </a:tabLst>
            </a:pPr>
            <a:r>
              <a:rPr sz="1800" i="1" spc="-5" dirty="0">
                <a:latin typeface="Calibri"/>
                <a:cs typeface="Calibri"/>
              </a:rPr>
              <a:t>Diagramas de Afinidad</a:t>
            </a:r>
            <a:r>
              <a:rPr sz="1800" spc="-5" dirty="0">
                <a:latin typeface="Calibri"/>
                <a:cs typeface="Calibri"/>
              </a:rPr>
              <a:t>: </a:t>
            </a:r>
            <a:r>
              <a:rPr sz="1800" spc="-10" dirty="0">
                <a:latin typeface="Calibri"/>
                <a:cs typeface="Calibri"/>
              </a:rPr>
              <a:t>método </a:t>
            </a:r>
            <a:r>
              <a:rPr sz="1800" dirty="0">
                <a:latin typeface="Calibri"/>
                <a:cs typeface="Calibri"/>
              </a:rPr>
              <a:t>de </a:t>
            </a:r>
            <a:r>
              <a:rPr sz="1800" spc="-10" dirty="0">
                <a:latin typeface="Calibri"/>
                <a:cs typeface="Calibri"/>
              </a:rPr>
              <a:t>categorización </a:t>
            </a:r>
            <a:r>
              <a:rPr sz="1800" dirty="0">
                <a:latin typeface="Calibri"/>
                <a:cs typeface="Calibri"/>
              </a:rPr>
              <a:t>en </a:t>
            </a:r>
            <a:r>
              <a:rPr sz="1800" spc="15" dirty="0">
                <a:latin typeface="Calibri"/>
                <a:cs typeface="Calibri"/>
              </a:rPr>
              <a:t>el  </a:t>
            </a:r>
            <a:r>
              <a:rPr sz="1800" dirty="0">
                <a:latin typeface="Calibri"/>
                <a:cs typeface="Calibri"/>
              </a:rPr>
              <a:t>que </a:t>
            </a:r>
            <a:r>
              <a:rPr sz="1800" spc="-5" dirty="0">
                <a:latin typeface="Calibri"/>
                <a:cs typeface="Calibri"/>
              </a:rPr>
              <a:t>los usuarios </a:t>
            </a:r>
            <a:r>
              <a:rPr sz="1800" spc="-10" dirty="0">
                <a:latin typeface="Calibri"/>
                <a:cs typeface="Calibri"/>
              </a:rPr>
              <a:t>clasifican varios conceptos </a:t>
            </a:r>
            <a:r>
              <a:rPr sz="1800" dirty="0">
                <a:latin typeface="Calibri"/>
                <a:cs typeface="Calibri"/>
              </a:rPr>
              <a:t>en </a:t>
            </a:r>
            <a:r>
              <a:rPr sz="1800" spc="-10" dirty="0">
                <a:latin typeface="Calibri"/>
                <a:cs typeface="Calibri"/>
              </a:rPr>
              <a:t>diversas  categorías. </a:t>
            </a:r>
            <a:r>
              <a:rPr sz="1800" spc="-15" dirty="0">
                <a:latin typeface="Calibri"/>
                <a:cs typeface="Calibri"/>
              </a:rPr>
              <a:t>Este </a:t>
            </a:r>
            <a:r>
              <a:rPr sz="1800" spc="-10" dirty="0">
                <a:latin typeface="Calibri"/>
                <a:cs typeface="Calibri"/>
              </a:rPr>
              <a:t>método </a:t>
            </a:r>
            <a:r>
              <a:rPr sz="1800" spc="-5" dirty="0">
                <a:latin typeface="Calibri"/>
                <a:cs typeface="Calibri"/>
              </a:rPr>
              <a:t>suele </a:t>
            </a:r>
            <a:r>
              <a:rPr sz="1800" dirty="0">
                <a:latin typeface="Calibri"/>
                <a:cs typeface="Calibri"/>
              </a:rPr>
              <a:t>ser </a:t>
            </a:r>
            <a:r>
              <a:rPr sz="1800" spc="-10" dirty="0">
                <a:latin typeface="Calibri"/>
                <a:cs typeface="Calibri"/>
              </a:rPr>
              <a:t>utilizado </a:t>
            </a:r>
            <a:r>
              <a:rPr sz="1800" spc="-5" dirty="0">
                <a:latin typeface="Calibri"/>
                <a:cs typeface="Calibri"/>
              </a:rPr>
              <a:t>por </a:t>
            </a:r>
            <a:r>
              <a:rPr sz="1800" dirty="0">
                <a:latin typeface="Calibri"/>
                <a:cs typeface="Calibri"/>
              </a:rPr>
              <a:t>un  </a:t>
            </a:r>
            <a:r>
              <a:rPr sz="1800" spc="-5" dirty="0">
                <a:latin typeface="Calibri"/>
                <a:cs typeface="Calibri"/>
              </a:rPr>
              <a:t>equipo </a:t>
            </a:r>
            <a:r>
              <a:rPr sz="1800" spc="-15" dirty="0">
                <a:latin typeface="Calibri"/>
                <a:cs typeface="Calibri"/>
              </a:rPr>
              <a:t>para </a:t>
            </a:r>
            <a:r>
              <a:rPr sz="1800" spc="-10" dirty="0">
                <a:latin typeface="Calibri"/>
                <a:cs typeface="Calibri"/>
              </a:rPr>
              <a:t>organizar </a:t>
            </a:r>
            <a:r>
              <a:rPr sz="1800" dirty="0">
                <a:latin typeface="Calibri"/>
                <a:cs typeface="Calibri"/>
              </a:rPr>
              <a:t>una </a:t>
            </a:r>
            <a:r>
              <a:rPr sz="1800" spc="-10" dirty="0">
                <a:latin typeface="Calibri"/>
                <a:cs typeface="Calibri"/>
              </a:rPr>
              <a:t>gran cantidad </a:t>
            </a:r>
            <a:r>
              <a:rPr sz="1800" dirty="0">
                <a:latin typeface="Calibri"/>
                <a:cs typeface="Calibri"/>
              </a:rPr>
              <a:t>de </a:t>
            </a:r>
            <a:r>
              <a:rPr sz="1800" spc="-10" dirty="0">
                <a:latin typeface="Calibri"/>
                <a:cs typeface="Calibri"/>
              </a:rPr>
              <a:t>datos </a:t>
            </a:r>
            <a:r>
              <a:rPr sz="1800" dirty="0">
                <a:latin typeface="Calibri"/>
                <a:cs typeface="Calibri"/>
              </a:rPr>
              <a:t>de  </a:t>
            </a:r>
            <a:r>
              <a:rPr sz="1800" spc="-5" dirty="0">
                <a:latin typeface="Calibri"/>
                <a:cs typeface="Calibri"/>
              </a:rPr>
              <a:t>acuerdo </a:t>
            </a:r>
            <a:r>
              <a:rPr sz="1800" spc="-10" dirty="0">
                <a:latin typeface="Calibri"/>
                <a:cs typeface="Calibri"/>
              </a:rPr>
              <a:t>con </a:t>
            </a:r>
            <a:r>
              <a:rPr sz="1800" spc="-5" dirty="0">
                <a:latin typeface="Calibri"/>
                <a:cs typeface="Calibri"/>
              </a:rPr>
              <a:t>las relaciones </a:t>
            </a:r>
            <a:r>
              <a:rPr sz="1800" spc="-10" dirty="0">
                <a:latin typeface="Calibri"/>
                <a:cs typeface="Calibri"/>
              </a:rPr>
              <a:t>naturales entre </a:t>
            </a:r>
            <a:r>
              <a:rPr sz="1800" spc="-5" dirty="0">
                <a:latin typeface="Calibri"/>
                <a:cs typeface="Calibri"/>
              </a:rPr>
              <a:t>los</a:t>
            </a:r>
            <a:r>
              <a:rPr sz="1800" spc="9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mismos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738222" y="963345"/>
            <a:ext cx="1872377" cy="222531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285078" y="4424972"/>
            <a:ext cx="2244685" cy="207270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78586" y="192150"/>
            <a:ext cx="7788275" cy="1244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284730" marR="5080" indent="-2272665">
              <a:lnSpc>
                <a:spcPct val="100000"/>
              </a:lnSpc>
              <a:spcBef>
                <a:spcPts val="95"/>
              </a:spcBef>
            </a:pPr>
            <a:r>
              <a:rPr sz="4000" spc="-20" dirty="0"/>
              <a:t>Recolectar </a:t>
            </a:r>
            <a:r>
              <a:rPr sz="4000" spc="-15" dirty="0"/>
              <a:t>Requerimientos </a:t>
            </a:r>
            <a:r>
              <a:rPr sz="4000" spc="-5" dirty="0"/>
              <a:t>– </a:t>
            </a:r>
            <a:r>
              <a:rPr sz="4000" b="1" spc="-55" dirty="0">
                <a:latin typeface="Calibri"/>
                <a:cs typeface="Calibri"/>
              </a:rPr>
              <a:t>Técnicas  </a:t>
            </a:r>
            <a:r>
              <a:rPr sz="4000" b="1" spc="-5" dirty="0">
                <a:latin typeface="Calibri"/>
                <a:cs typeface="Calibri"/>
              </a:rPr>
              <a:t>y </a:t>
            </a:r>
            <a:r>
              <a:rPr sz="4000" b="1" spc="-20" dirty="0">
                <a:latin typeface="Calibri"/>
                <a:cs typeface="Calibri"/>
              </a:rPr>
              <a:t>Herramientas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07593" y="1874266"/>
            <a:ext cx="8073390" cy="15144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6350" indent="-342900" algn="just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5600" algn="l"/>
              </a:tabLst>
            </a:pPr>
            <a:r>
              <a:rPr sz="2000" b="1" i="1" dirty="0">
                <a:latin typeface="Calibri"/>
                <a:cs typeface="Calibri"/>
              </a:rPr>
              <a:t>4. </a:t>
            </a:r>
            <a:r>
              <a:rPr sz="2000" b="1" i="1" spc="-20" dirty="0">
                <a:latin typeface="Calibri"/>
                <a:cs typeface="Calibri"/>
              </a:rPr>
              <a:t>Talleres </a:t>
            </a:r>
            <a:r>
              <a:rPr sz="2000" b="1" i="1" spc="-5" dirty="0">
                <a:latin typeface="Calibri"/>
                <a:cs typeface="Calibri"/>
              </a:rPr>
              <a:t>de </a:t>
            </a:r>
            <a:r>
              <a:rPr sz="2000" b="1" i="1" spc="-10" dirty="0">
                <a:latin typeface="Calibri"/>
                <a:cs typeface="Calibri"/>
              </a:rPr>
              <a:t>Facilitación </a:t>
            </a:r>
            <a:r>
              <a:rPr sz="2000" spc="-10" dirty="0">
                <a:latin typeface="Calibri"/>
                <a:cs typeface="Calibri"/>
              </a:rPr>
              <a:t>Son </a:t>
            </a:r>
            <a:r>
              <a:rPr sz="2000" spc="-5" dirty="0">
                <a:latin typeface="Calibri"/>
                <a:cs typeface="Calibri"/>
              </a:rPr>
              <a:t>sesiones </a:t>
            </a:r>
            <a:r>
              <a:rPr sz="2000" spc="-10" dirty="0">
                <a:latin typeface="Calibri"/>
                <a:cs typeface="Calibri"/>
              </a:rPr>
              <a:t>enfocadas </a:t>
            </a:r>
            <a:r>
              <a:rPr sz="2000" spc="-5" dirty="0">
                <a:latin typeface="Calibri"/>
                <a:cs typeface="Calibri"/>
              </a:rPr>
              <a:t>en algunos </a:t>
            </a:r>
            <a:r>
              <a:rPr sz="2000" spc="-10" dirty="0">
                <a:latin typeface="Calibri"/>
                <a:cs typeface="Calibri"/>
              </a:rPr>
              <a:t>Interesados  </a:t>
            </a:r>
            <a:r>
              <a:rPr sz="2000" dirty="0">
                <a:latin typeface="Calibri"/>
                <a:cs typeface="Calibri"/>
              </a:rPr>
              <a:t>que </a:t>
            </a:r>
            <a:r>
              <a:rPr sz="2000" spc="-5" dirty="0">
                <a:latin typeface="Calibri"/>
                <a:cs typeface="Calibri"/>
              </a:rPr>
              <a:t>son </a:t>
            </a:r>
            <a:r>
              <a:rPr sz="2000" spc="-25" dirty="0">
                <a:latin typeface="Calibri"/>
                <a:cs typeface="Calibri"/>
              </a:rPr>
              <a:t>“transversales”, </a:t>
            </a:r>
            <a:r>
              <a:rPr sz="2000" spc="-15" dirty="0">
                <a:latin typeface="Calibri"/>
                <a:cs typeface="Calibri"/>
              </a:rPr>
              <a:t>para </a:t>
            </a:r>
            <a:r>
              <a:rPr sz="2000" spc="-5" dirty="0">
                <a:latin typeface="Calibri"/>
                <a:cs typeface="Calibri"/>
              </a:rPr>
              <a:t>definir</a:t>
            </a:r>
            <a:r>
              <a:rPr sz="2000" spc="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requerimientos.</a:t>
            </a:r>
            <a:endParaRPr sz="2000">
              <a:latin typeface="Calibri"/>
              <a:cs typeface="Calibri"/>
            </a:endParaRPr>
          </a:p>
          <a:p>
            <a:pPr marL="756285" marR="5080" indent="-287020" algn="just">
              <a:lnSpc>
                <a:spcPct val="100000"/>
              </a:lnSpc>
              <a:spcBef>
                <a:spcPts val="434"/>
              </a:spcBef>
            </a:pPr>
            <a:r>
              <a:rPr sz="1800" dirty="0">
                <a:latin typeface="Arial"/>
                <a:cs typeface="Arial"/>
              </a:rPr>
              <a:t>– </a:t>
            </a:r>
            <a:r>
              <a:rPr sz="1800" spc="-15" dirty="0">
                <a:latin typeface="Calibri"/>
                <a:cs typeface="Calibri"/>
              </a:rPr>
              <a:t>Hay </a:t>
            </a:r>
            <a:r>
              <a:rPr sz="1800" spc="-5" dirty="0">
                <a:latin typeface="Calibri"/>
                <a:cs typeface="Calibri"/>
              </a:rPr>
              <a:t>relación </a:t>
            </a:r>
            <a:r>
              <a:rPr sz="1800" dirty="0">
                <a:latin typeface="Calibri"/>
                <a:cs typeface="Calibri"/>
              </a:rPr>
              <a:t>de </a:t>
            </a:r>
            <a:r>
              <a:rPr sz="1800" spc="-10" dirty="0">
                <a:latin typeface="Calibri"/>
                <a:cs typeface="Calibri"/>
              </a:rPr>
              <a:t>confianza, mejora </a:t>
            </a:r>
            <a:r>
              <a:rPr sz="1800" dirty="0">
                <a:latin typeface="Calibri"/>
                <a:cs typeface="Calibri"/>
              </a:rPr>
              <a:t>en </a:t>
            </a:r>
            <a:r>
              <a:rPr sz="1800" spc="-5" dirty="0">
                <a:latin typeface="Calibri"/>
                <a:cs typeface="Calibri"/>
              </a:rPr>
              <a:t>las comunicaciones, son </a:t>
            </a:r>
            <a:r>
              <a:rPr sz="1800" dirty="0">
                <a:latin typeface="Calibri"/>
                <a:cs typeface="Calibri"/>
              </a:rPr>
              <a:t>más </a:t>
            </a:r>
            <a:r>
              <a:rPr sz="1800" spc="-10" dirty="0">
                <a:latin typeface="Calibri"/>
                <a:cs typeface="Calibri"/>
              </a:rPr>
              <a:t>rápidas </a:t>
            </a:r>
            <a:r>
              <a:rPr sz="1800" dirty="0">
                <a:latin typeface="Calibri"/>
                <a:cs typeface="Calibri"/>
              </a:rPr>
              <a:t>que  </a:t>
            </a:r>
            <a:r>
              <a:rPr sz="1800" spc="-5" dirty="0">
                <a:latin typeface="Calibri"/>
                <a:cs typeface="Calibri"/>
              </a:rPr>
              <a:t>las sesiones individuales. </a:t>
            </a:r>
            <a:r>
              <a:rPr sz="1800" dirty="0">
                <a:latin typeface="Calibri"/>
                <a:cs typeface="Calibri"/>
              </a:rPr>
              <a:t>No </a:t>
            </a:r>
            <a:r>
              <a:rPr sz="1800" spc="-15" dirty="0">
                <a:latin typeface="Calibri"/>
                <a:cs typeface="Calibri"/>
              </a:rPr>
              <a:t>obstante </a:t>
            </a:r>
            <a:r>
              <a:rPr sz="1800" dirty="0">
                <a:latin typeface="Calibri"/>
                <a:cs typeface="Calibri"/>
              </a:rPr>
              <a:t>se puede </a:t>
            </a:r>
            <a:r>
              <a:rPr sz="1800" spc="-5" dirty="0">
                <a:latin typeface="Calibri"/>
                <a:cs typeface="Calibri"/>
              </a:rPr>
              <a:t>enredar las comunicación </a:t>
            </a:r>
            <a:r>
              <a:rPr sz="1800" dirty="0">
                <a:latin typeface="Calibri"/>
                <a:cs typeface="Calibri"/>
              </a:rPr>
              <a:t>y se  </a:t>
            </a:r>
            <a:r>
              <a:rPr sz="1800" spc="-10" dirty="0">
                <a:latin typeface="Calibri"/>
                <a:cs typeface="Calibri"/>
              </a:rPr>
              <a:t>requiere </a:t>
            </a:r>
            <a:r>
              <a:rPr sz="1800" dirty="0">
                <a:latin typeface="Calibri"/>
                <a:cs typeface="Calibri"/>
              </a:rPr>
              <a:t>de un</a:t>
            </a:r>
            <a:r>
              <a:rPr sz="1800" spc="4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moderador.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557265" y="3423030"/>
            <a:ext cx="302196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836930" algn="l"/>
                <a:tab pos="2187575" algn="l"/>
              </a:tabLst>
            </a:pPr>
            <a:r>
              <a:rPr sz="2000" b="1" i="1" spc="-5" dirty="0">
                <a:latin typeface="Calibri"/>
                <a:cs typeface="Calibri"/>
              </a:rPr>
              <a:t>Gr</a:t>
            </a:r>
            <a:r>
              <a:rPr sz="2000" b="1" i="1" spc="-15" dirty="0">
                <a:latin typeface="Calibri"/>
                <a:cs typeface="Calibri"/>
              </a:rPr>
              <a:t>u</a:t>
            </a:r>
            <a:r>
              <a:rPr sz="2000" b="1" i="1" dirty="0">
                <a:latin typeface="Calibri"/>
                <a:cs typeface="Calibri"/>
              </a:rPr>
              <a:t>po	</a:t>
            </a:r>
            <a:r>
              <a:rPr sz="1800" dirty="0">
                <a:latin typeface="Calibri"/>
                <a:cs typeface="Calibri"/>
              </a:rPr>
              <a:t>Unanim</a:t>
            </a:r>
            <a:r>
              <a:rPr sz="1800" spc="-5" dirty="0">
                <a:latin typeface="Calibri"/>
                <a:cs typeface="Calibri"/>
              </a:rPr>
              <a:t>ida</a:t>
            </a:r>
            <a:r>
              <a:rPr sz="1800" dirty="0">
                <a:latin typeface="Calibri"/>
                <a:cs typeface="Calibri"/>
              </a:rPr>
              <a:t>d,	M</a:t>
            </a:r>
            <a:r>
              <a:rPr sz="1800" spc="-40" dirty="0">
                <a:latin typeface="Calibri"/>
                <a:cs typeface="Calibri"/>
              </a:rPr>
              <a:t>a</a:t>
            </a:r>
            <a:r>
              <a:rPr sz="1800" spc="-15" dirty="0">
                <a:latin typeface="Calibri"/>
                <a:cs typeface="Calibri"/>
              </a:rPr>
              <a:t>y</a:t>
            </a:r>
            <a:r>
              <a:rPr sz="1800" spc="-5" dirty="0">
                <a:latin typeface="Calibri"/>
                <a:cs typeface="Calibri"/>
              </a:rPr>
              <a:t>oría,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07593" y="3423030"/>
            <a:ext cx="4903470" cy="2800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4965" algn="l"/>
                <a:tab pos="355600" algn="l"/>
                <a:tab pos="692150" algn="l"/>
                <a:tab pos="1734820" algn="l"/>
                <a:tab pos="2165985" algn="l"/>
                <a:tab pos="2917190" algn="l"/>
                <a:tab pos="3348354" algn="l"/>
                <a:tab pos="4630420" algn="l"/>
              </a:tabLst>
            </a:pPr>
            <a:r>
              <a:rPr sz="1800" b="1" i="1" spc="-5" dirty="0">
                <a:latin typeface="Calibri"/>
                <a:cs typeface="Calibri"/>
              </a:rPr>
              <a:t>5</a:t>
            </a:r>
            <a:r>
              <a:rPr sz="1800" b="1" i="1" dirty="0">
                <a:latin typeface="Calibri"/>
                <a:cs typeface="Calibri"/>
              </a:rPr>
              <a:t>.	</a:t>
            </a:r>
            <a:r>
              <a:rPr sz="2000" b="1" i="1" spc="-155" dirty="0">
                <a:latin typeface="Calibri"/>
                <a:cs typeface="Calibri"/>
              </a:rPr>
              <a:t>T</a:t>
            </a:r>
            <a:r>
              <a:rPr sz="2000" b="1" i="1" spc="-5" dirty="0">
                <a:latin typeface="Calibri"/>
                <a:cs typeface="Calibri"/>
              </a:rPr>
              <a:t>écn</a:t>
            </a:r>
            <a:r>
              <a:rPr sz="2000" b="1" i="1" spc="-15" dirty="0">
                <a:latin typeface="Calibri"/>
                <a:cs typeface="Calibri"/>
              </a:rPr>
              <a:t>i</a:t>
            </a:r>
            <a:r>
              <a:rPr sz="2000" b="1" i="1" spc="-10" dirty="0">
                <a:latin typeface="Calibri"/>
                <a:cs typeface="Calibri"/>
              </a:rPr>
              <a:t>c</a:t>
            </a:r>
            <a:r>
              <a:rPr sz="2000" b="1" i="1" dirty="0">
                <a:latin typeface="Calibri"/>
                <a:cs typeface="Calibri"/>
              </a:rPr>
              <a:t>as	</a:t>
            </a:r>
            <a:r>
              <a:rPr sz="2000" b="1" i="1" spc="-15" dirty="0">
                <a:latin typeface="Calibri"/>
                <a:cs typeface="Calibri"/>
              </a:rPr>
              <a:t>d</a:t>
            </a:r>
            <a:r>
              <a:rPr sz="2000" b="1" i="1" dirty="0">
                <a:latin typeface="Calibri"/>
                <a:cs typeface="Calibri"/>
              </a:rPr>
              <a:t>e	</a:t>
            </a:r>
            <a:r>
              <a:rPr sz="2000" b="1" i="1" spc="-155" dirty="0">
                <a:latin typeface="Calibri"/>
                <a:cs typeface="Calibri"/>
              </a:rPr>
              <a:t>T</a:t>
            </a:r>
            <a:r>
              <a:rPr sz="2000" b="1" i="1" spc="-5" dirty="0">
                <a:latin typeface="Calibri"/>
                <a:cs typeface="Calibri"/>
              </a:rPr>
              <a:t>om</a:t>
            </a:r>
            <a:r>
              <a:rPr sz="2000" b="1" i="1" dirty="0">
                <a:latin typeface="Calibri"/>
                <a:cs typeface="Calibri"/>
              </a:rPr>
              <a:t>a	</a:t>
            </a:r>
            <a:r>
              <a:rPr sz="2000" b="1" i="1" spc="-5" dirty="0">
                <a:latin typeface="Calibri"/>
                <a:cs typeface="Calibri"/>
              </a:rPr>
              <a:t>d</a:t>
            </a:r>
            <a:r>
              <a:rPr sz="2000" b="1" i="1" dirty="0">
                <a:latin typeface="Calibri"/>
                <a:cs typeface="Calibri"/>
              </a:rPr>
              <a:t>e	</a:t>
            </a:r>
            <a:r>
              <a:rPr sz="2000" b="1" i="1" spc="-5" dirty="0">
                <a:latin typeface="Calibri"/>
                <a:cs typeface="Calibri"/>
              </a:rPr>
              <a:t>Decisi</a:t>
            </a:r>
            <a:r>
              <a:rPr sz="2000" b="1" i="1" spc="-15" dirty="0">
                <a:latin typeface="Calibri"/>
                <a:cs typeface="Calibri"/>
              </a:rPr>
              <a:t>o</a:t>
            </a:r>
            <a:r>
              <a:rPr sz="2000" b="1" i="1" spc="-5" dirty="0">
                <a:latin typeface="Calibri"/>
                <a:cs typeface="Calibri"/>
              </a:rPr>
              <a:t>ne</a:t>
            </a:r>
            <a:r>
              <a:rPr sz="2000" b="1" i="1" dirty="0">
                <a:latin typeface="Calibri"/>
                <a:cs typeface="Calibri"/>
              </a:rPr>
              <a:t>s	</a:t>
            </a:r>
            <a:r>
              <a:rPr sz="2000" b="1" i="1" spc="-5" dirty="0">
                <a:latin typeface="Calibri"/>
                <a:cs typeface="Calibri"/>
              </a:rPr>
              <a:t>en</a:t>
            </a:r>
            <a:endParaRPr sz="20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5"/>
              </a:spcBef>
            </a:pPr>
            <a:r>
              <a:rPr sz="1800" spc="-10" dirty="0">
                <a:latin typeface="Calibri"/>
                <a:cs typeface="Calibri"/>
              </a:rPr>
              <a:t>Pluralidad,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Dictadura</a:t>
            </a:r>
            <a:endParaRPr sz="18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47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1800" b="1" i="1" spc="-5" dirty="0">
                <a:latin typeface="Calibri"/>
                <a:cs typeface="Calibri"/>
              </a:rPr>
              <a:t>6. </a:t>
            </a:r>
            <a:r>
              <a:rPr sz="2000" b="1" i="1" spc="-10" dirty="0">
                <a:latin typeface="Calibri"/>
                <a:cs typeface="Calibri"/>
              </a:rPr>
              <a:t>Encuestas </a:t>
            </a:r>
            <a:r>
              <a:rPr sz="2000" b="1" i="1" dirty="0">
                <a:latin typeface="Calibri"/>
                <a:cs typeface="Calibri"/>
              </a:rPr>
              <a:t>y</a:t>
            </a:r>
            <a:r>
              <a:rPr sz="2000" b="1" i="1" spc="-25" dirty="0">
                <a:latin typeface="Calibri"/>
                <a:cs typeface="Calibri"/>
              </a:rPr>
              <a:t> </a:t>
            </a:r>
            <a:r>
              <a:rPr sz="2000" b="1" i="1" spc="-5" dirty="0">
                <a:latin typeface="Calibri"/>
                <a:cs typeface="Calibri"/>
              </a:rPr>
              <a:t>Cuestionarios</a:t>
            </a:r>
            <a:endParaRPr sz="20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484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i="1" dirty="0">
                <a:latin typeface="Calibri"/>
                <a:cs typeface="Calibri"/>
              </a:rPr>
              <a:t>7.</a:t>
            </a:r>
            <a:r>
              <a:rPr sz="2000" b="1" i="1" spc="-10" dirty="0">
                <a:latin typeface="Calibri"/>
                <a:cs typeface="Calibri"/>
              </a:rPr>
              <a:t> </a:t>
            </a:r>
            <a:r>
              <a:rPr sz="2000" b="1" i="1" spc="-5" dirty="0">
                <a:latin typeface="Calibri"/>
                <a:cs typeface="Calibri"/>
              </a:rPr>
              <a:t>Observaciones</a:t>
            </a:r>
            <a:endParaRPr sz="20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48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i="1" dirty="0">
                <a:latin typeface="Calibri"/>
                <a:cs typeface="Calibri"/>
              </a:rPr>
              <a:t>8.</a:t>
            </a:r>
            <a:r>
              <a:rPr sz="2000" b="1" i="1" spc="-10" dirty="0">
                <a:latin typeface="Calibri"/>
                <a:cs typeface="Calibri"/>
              </a:rPr>
              <a:t> Prototipos</a:t>
            </a:r>
            <a:endParaRPr sz="20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48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i="1" dirty="0">
                <a:latin typeface="Calibri"/>
                <a:cs typeface="Calibri"/>
              </a:rPr>
              <a:t>9. </a:t>
            </a:r>
            <a:r>
              <a:rPr sz="2000" b="1" i="1" spc="-5" dirty="0">
                <a:latin typeface="Calibri"/>
                <a:cs typeface="Calibri"/>
              </a:rPr>
              <a:t>Estudios Comparativos</a:t>
            </a:r>
            <a:r>
              <a:rPr sz="2000" b="1" i="1" spc="-90" dirty="0">
                <a:latin typeface="Calibri"/>
                <a:cs typeface="Calibri"/>
              </a:rPr>
              <a:t> </a:t>
            </a:r>
            <a:r>
              <a:rPr sz="2000" b="1" i="1" spc="-5" dirty="0">
                <a:latin typeface="Calibri"/>
                <a:cs typeface="Calibri"/>
              </a:rPr>
              <a:t>(benchmarking)</a:t>
            </a:r>
            <a:endParaRPr sz="20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48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i="1" dirty="0">
                <a:latin typeface="Calibri"/>
                <a:cs typeface="Calibri"/>
              </a:rPr>
              <a:t>10. </a:t>
            </a:r>
            <a:r>
              <a:rPr sz="2000" b="1" i="1" spc="-5" dirty="0">
                <a:latin typeface="Calibri"/>
                <a:cs typeface="Calibri"/>
              </a:rPr>
              <a:t>Diagramas </a:t>
            </a:r>
            <a:r>
              <a:rPr sz="2000" b="1" i="1" dirty="0">
                <a:latin typeface="Calibri"/>
                <a:cs typeface="Calibri"/>
              </a:rPr>
              <a:t>de</a:t>
            </a:r>
            <a:r>
              <a:rPr sz="2000" b="1" i="1" spc="-65" dirty="0">
                <a:latin typeface="Calibri"/>
                <a:cs typeface="Calibri"/>
              </a:rPr>
              <a:t> </a:t>
            </a:r>
            <a:r>
              <a:rPr sz="2000" b="1" i="1" spc="-15" dirty="0">
                <a:latin typeface="Calibri"/>
                <a:cs typeface="Calibri"/>
              </a:rPr>
              <a:t>Contexto</a:t>
            </a:r>
            <a:endParaRPr sz="20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48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000" b="1" i="1" dirty="0">
                <a:latin typeface="Calibri"/>
                <a:cs typeface="Calibri"/>
              </a:rPr>
              <a:t>11. </a:t>
            </a:r>
            <a:r>
              <a:rPr sz="2000" b="1" i="1" spc="-5" dirty="0">
                <a:latin typeface="Calibri"/>
                <a:cs typeface="Calibri"/>
              </a:rPr>
              <a:t>Análisis </a:t>
            </a:r>
            <a:r>
              <a:rPr sz="2000" b="1" i="1" dirty="0">
                <a:latin typeface="Calibri"/>
                <a:cs typeface="Calibri"/>
              </a:rPr>
              <a:t>de</a:t>
            </a:r>
            <a:r>
              <a:rPr sz="2000" b="1" i="1" spc="-60" dirty="0">
                <a:latin typeface="Calibri"/>
                <a:cs typeface="Calibri"/>
              </a:rPr>
              <a:t> </a:t>
            </a:r>
            <a:r>
              <a:rPr sz="2000" b="1" i="1" spc="-10" dirty="0">
                <a:latin typeface="Calibri"/>
                <a:cs typeface="Calibri"/>
              </a:rPr>
              <a:t>Documentos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083808" y="4365676"/>
            <a:ext cx="1876043" cy="142095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12698" y="496950"/>
            <a:ext cx="7519034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20" dirty="0"/>
              <a:t>Recolectar </a:t>
            </a:r>
            <a:r>
              <a:rPr sz="4000" spc="-15" dirty="0"/>
              <a:t>Requerimientos </a:t>
            </a:r>
            <a:r>
              <a:rPr sz="4000" spc="-5" dirty="0"/>
              <a:t>–</a:t>
            </a:r>
            <a:r>
              <a:rPr sz="4000" spc="-35" dirty="0"/>
              <a:t> </a:t>
            </a:r>
            <a:r>
              <a:rPr sz="4000" b="1" spc="-5" dirty="0">
                <a:latin typeface="Calibri"/>
                <a:cs typeface="Calibri"/>
              </a:rPr>
              <a:t>Salidas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21816" y="2808173"/>
            <a:ext cx="2088514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i="1" spc="-10" dirty="0">
                <a:latin typeface="Calibri"/>
                <a:cs typeface="Calibri"/>
              </a:rPr>
              <a:t>Requerimientos: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21816" y="3177667"/>
            <a:ext cx="1233805" cy="9404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Calibri"/>
                <a:cs typeface="Calibri"/>
              </a:rPr>
              <a:t>esquema  t</a:t>
            </a:r>
            <a:r>
              <a:rPr sz="2000" spc="-40" dirty="0">
                <a:latin typeface="Calibri"/>
                <a:cs typeface="Calibri"/>
              </a:rPr>
              <a:t>r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40" dirty="0">
                <a:latin typeface="Calibri"/>
                <a:cs typeface="Calibri"/>
              </a:rPr>
              <a:t>z</a:t>
            </a:r>
            <a:r>
              <a:rPr sz="2000" dirty="0">
                <a:latin typeface="Calibri"/>
                <a:cs typeface="Calibri"/>
              </a:rPr>
              <a:t>abilidad  </a:t>
            </a:r>
            <a:r>
              <a:rPr sz="2000" spc="-10" dirty="0">
                <a:latin typeface="Calibri"/>
                <a:cs typeface="Calibri"/>
              </a:rPr>
              <a:t>informática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563495" y="3787266"/>
            <a:ext cx="75120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latin typeface="Calibri"/>
                <a:cs typeface="Calibri"/>
              </a:rPr>
              <a:t>(cuáles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194686" y="2858770"/>
            <a:ext cx="2699385" cy="1259840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 marR="5080" indent="1298575" algn="r">
              <a:lnSpc>
                <a:spcPct val="102299"/>
              </a:lnSpc>
              <a:spcBef>
                <a:spcPts val="45"/>
              </a:spcBef>
              <a:tabLst>
                <a:tab pos="501650" algn="l"/>
                <a:tab pos="600710" algn="l"/>
                <a:tab pos="1021080" algn="l"/>
                <a:tab pos="1207135" algn="l"/>
                <a:tab pos="2260600" algn="l"/>
                <a:tab pos="2425065" algn="l"/>
                <a:tab pos="2504440" algn="l"/>
              </a:tabLst>
            </a:pPr>
            <a:r>
              <a:rPr sz="2000" spc="-5" dirty="0">
                <a:latin typeface="Calibri"/>
                <a:cs typeface="Calibri"/>
              </a:rPr>
              <a:t>S</a:t>
            </a:r>
            <a:r>
              <a:rPr sz="2000" spc="5" dirty="0">
                <a:latin typeface="Calibri"/>
                <a:cs typeface="Calibri"/>
              </a:rPr>
              <a:t>i</a:t>
            </a:r>
            <a:r>
              <a:rPr sz="2000" dirty="0">
                <a:latin typeface="Calibri"/>
                <a:cs typeface="Calibri"/>
              </a:rPr>
              <a:t>mi</a:t>
            </a:r>
            <a:r>
              <a:rPr sz="2000" spc="-10" dirty="0">
                <a:latin typeface="Calibri"/>
                <a:cs typeface="Calibri"/>
              </a:rPr>
              <a:t>l</a:t>
            </a:r>
            <a:r>
              <a:rPr sz="2000" spc="10" dirty="0">
                <a:latin typeface="Calibri"/>
                <a:cs typeface="Calibri"/>
              </a:rPr>
              <a:t>a</a:t>
            </a:r>
            <a:r>
              <a:rPr sz="2000" dirty="0">
                <a:latin typeface="Calibri"/>
                <a:cs typeface="Calibri"/>
              </a:rPr>
              <a:t>r			al  de		las		m</a:t>
            </a:r>
            <a:r>
              <a:rPr sz="2000" spc="-25" dirty="0">
                <a:latin typeface="Calibri"/>
                <a:cs typeface="Calibri"/>
              </a:rPr>
              <a:t>a</a:t>
            </a:r>
            <a:r>
              <a:rPr sz="2000" dirty="0">
                <a:latin typeface="Calibri"/>
                <a:cs typeface="Calibri"/>
              </a:rPr>
              <a:t>t</a:t>
            </a:r>
            <a:r>
              <a:rPr sz="2000" spc="10" dirty="0">
                <a:latin typeface="Calibri"/>
                <a:cs typeface="Calibri"/>
              </a:rPr>
              <a:t>r</a:t>
            </a:r>
            <a:r>
              <a:rPr sz="2000" spc="5" dirty="0">
                <a:latin typeface="Calibri"/>
                <a:cs typeface="Calibri"/>
              </a:rPr>
              <a:t>i</a:t>
            </a:r>
            <a:r>
              <a:rPr sz="2000" dirty="0">
                <a:latin typeface="Calibri"/>
                <a:cs typeface="Calibri"/>
              </a:rPr>
              <a:t>ces		de  de	los	</a:t>
            </a:r>
            <a:r>
              <a:rPr sz="2000" spc="-5" dirty="0">
                <a:latin typeface="Calibri"/>
                <a:cs typeface="Calibri"/>
              </a:rPr>
              <a:t>p</a:t>
            </a:r>
            <a:r>
              <a:rPr sz="2000" spc="-40" dirty="0">
                <a:latin typeface="Calibri"/>
                <a:cs typeface="Calibri"/>
              </a:rPr>
              <a:t>r</a:t>
            </a:r>
            <a:r>
              <a:rPr sz="2000" spc="-25" dirty="0">
                <a:latin typeface="Calibri"/>
                <a:cs typeface="Calibri"/>
              </a:rPr>
              <a:t>o</a:t>
            </a:r>
            <a:r>
              <a:rPr sz="2000" spc="-35" dirty="0">
                <a:latin typeface="Calibri"/>
                <a:cs typeface="Calibri"/>
              </a:rPr>
              <a:t>y</a:t>
            </a:r>
            <a:r>
              <a:rPr sz="2000" dirty="0">
                <a:latin typeface="Calibri"/>
                <a:cs typeface="Calibri"/>
              </a:rPr>
              <a:t>ec</a:t>
            </a:r>
            <a:r>
              <a:rPr sz="2000" spc="-20" dirty="0">
                <a:latin typeface="Calibri"/>
                <a:cs typeface="Calibri"/>
              </a:rPr>
              <a:t>t</a:t>
            </a:r>
            <a:r>
              <a:rPr sz="2000" spc="-5" dirty="0">
                <a:latin typeface="Calibri"/>
                <a:cs typeface="Calibri"/>
              </a:rPr>
              <a:t>o</a:t>
            </a:r>
            <a:r>
              <a:rPr sz="2000" dirty="0">
                <a:latin typeface="Calibri"/>
                <a:cs typeface="Calibri"/>
              </a:rPr>
              <a:t>s	de</a:t>
            </a:r>
            <a:endParaRPr sz="2000">
              <a:latin typeface="Calibri"/>
              <a:cs typeface="Calibri"/>
            </a:endParaRPr>
          </a:p>
          <a:p>
            <a:pPr marR="5080" algn="r">
              <a:lnSpc>
                <a:spcPct val="100000"/>
              </a:lnSpc>
              <a:tabLst>
                <a:tab pos="825500" algn="l"/>
              </a:tabLst>
            </a:pPr>
            <a:r>
              <a:rPr sz="2000" spc="-5" dirty="0">
                <a:latin typeface="Calibri"/>
                <a:cs typeface="Calibri"/>
              </a:rPr>
              <a:t>so</a:t>
            </a:r>
            <a:r>
              <a:rPr sz="2000" dirty="0">
                <a:latin typeface="Calibri"/>
                <a:cs typeface="Calibri"/>
              </a:rPr>
              <a:t>n	los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21816" y="4092066"/>
            <a:ext cx="3971290" cy="9410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latin typeface="Calibri"/>
                <a:cs typeface="Calibri"/>
              </a:rPr>
              <a:t>requerimientos </a:t>
            </a:r>
            <a:r>
              <a:rPr sz="2000" dirty="0">
                <a:latin typeface="Calibri"/>
                <a:cs typeface="Calibri"/>
              </a:rPr>
              <a:t>y </a:t>
            </a:r>
            <a:r>
              <a:rPr sz="2000" spc="-5" dirty="0">
                <a:latin typeface="Calibri"/>
                <a:cs typeface="Calibri"/>
              </a:rPr>
              <a:t>cómo se </a:t>
            </a:r>
            <a:r>
              <a:rPr sz="2000" dirty="0">
                <a:latin typeface="Calibri"/>
                <a:cs typeface="Calibri"/>
              </a:rPr>
              <a:t>hace </a:t>
            </a:r>
            <a:r>
              <a:rPr sz="2000" spc="-15" dirty="0">
                <a:latin typeface="Calibri"/>
                <a:cs typeface="Calibri"/>
              </a:rPr>
              <a:t>para  </a:t>
            </a:r>
            <a:r>
              <a:rPr sz="2000" spc="-5" dirty="0">
                <a:latin typeface="Calibri"/>
                <a:cs typeface="Calibri"/>
              </a:rPr>
              <a:t>verificar </a:t>
            </a:r>
            <a:r>
              <a:rPr sz="2000" dirty="0">
                <a:latin typeface="Calibri"/>
                <a:cs typeface="Calibri"/>
              </a:rPr>
              <a:t>los </a:t>
            </a:r>
            <a:r>
              <a:rPr sz="2000" spc="-15" dirty="0">
                <a:latin typeface="Calibri"/>
                <a:cs typeface="Calibri"/>
              </a:rPr>
              <a:t>diferentes </a:t>
            </a:r>
            <a:r>
              <a:rPr sz="2000" spc="-5" dirty="0">
                <a:latin typeface="Calibri"/>
                <a:cs typeface="Calibri"/>
              </a:rPr>
              <a:t>elementos </a:t>
            </a:r>
            <a:r>
              <a:rPr sz="2000" dirty="0">
                <a:latin typeface="Calibri"/>
                <a:cs typeface="Calibri"/>
              </a:rPr>
              <a:t>de  </a:t>
            </a:r>
            <a:r>
              <a:rPr sz="2000" spc="-10" dirty="0">
                <a:latin typeface="Calibri"/>
                <a:cs typeface="Calibri"/>
              </a:rPr>
              <a:t>requerimientos)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062728" y="2500883"/>
            <a:ext cx="3866387" cy="294284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78916" y="1536953"/>
            <a:ext cx="5069840" cy="12973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b="1" i="1" spc="-5" dirty="0">
                <a:latin typeface="Calibri"/>
                <a:cs typeface="Calibri"/>
              </a:rPr>
              <a:t>1. </a:t>
            </a:r>
            <a:r>
              <a:rPr sz="2400" b="1" i="1" spc="-10" dirty="0">
                <a:latin typeface="Calibri"/>
                <a:cs typeface="Calibri"/>
              </a:rPr>
              <a:t>Documentación </a:t>
            </a:r>
            <a:r>
              <a:rPr sz="2400" b="1" i="1" dirty="0">
                <a:latin typeface="Calibri"/>
                <a:cs typeface="Calibri"/>
              </a:rPr>
              <a:t>de</a:t>
            </a:r>
            <a:r>
              <a:rPr sz="2400" b="1" i="1" spc="-30" dirty="0">
                <a:latin typeface="Calibri"/>
                <a:cs typeface="Calibri"/>
              </a:rPr>
              <a:t> </a:t>
            </a:r>
            <a:r>
              <a:rPr sz="2400" b="1" i="1" spc="-15" dirty="0">
                <a:latin typeface="Calibri"/>
                <a:cs typeface="Calibri"/>
              </a:rPr>
              <a:t>Requerimientos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Arial"/>
              <a:buChar char="•"/>
            </a:pPr>
            <a:endParaRPr sz="365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354965" algn="l"/>
                <a:tab pos="355600" algn="l"/>
                <a:tab pos="766445" algn="l"/>
                <a:tab pos="1779270" algn="l"/>
                <a:tab pos="2266950" algn="l"/>
                <a:tab pos="3990340" algn="l"/>
              </a:tabLst>
            </a:pPr>
            <a:r>
              <a:rPr sz="2400" b="1" i="1" spc="-5" dirty="0">
                <a:latin typeface="Calibri"/>
                <a:cs typeface="Calibri"/>
              </a:rPr>
              <a:t>2.	Matriz	</a:t>
            </a:r>
            <a:r>
              <a:rPr sz="2400" b="1" i="1" dirty="0">
                <a:latin typeface="Calibri"/>
                <a:cs typeface="Calibri"/>
              </a:rPr>
              <a:t>de	</a:t>
            </a:r>
            <a:r>
              <a:rPr sz="2400" b="1" i="1" spc="-20" dirty="0">
                <a:latin typeface="Calibri"/>
                <a:cs typeface="Calibri"/>
              </a:rPr>
              <a:t>Trazabilidad	</a:t>
            </a:r>
            <a:r>
              <a:rPr sz="2400" b="1" i="1" spc="5" dirty="0">
                <a:latin typeface="Calibri"/>
                <a:cs typeface="Calibri"/>
              </a:rPr>
              <a:t>de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01034" y="461899"/>
            <a:ext cx="174307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A</a:t>
            </a:r>
            <a:r>
              <a:rPr spc="-40" dirty="0"/>
              <a:t>g</a:t>
            </a:r>
            <a:r>
              <a:rPr dirty="0"/>
              <a:t>enda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408938"/>
            <a:ext cx="3552825" cy="4141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1500" dirty="0">
                <a:latin typeface="Calibri"/>
                <a:cs typeface="Calibri"/>
              </a:rPr>
              <a:t>GRUPO </a:t>
            </a:r>
            <a:r>
              <a:rPr sz="1500" spc="-5" dirty="0">
                <a:latin typeface="Calibri"/>
                <a:cs typeface="Calibri"/>
              </a:rPr>
              <a:t>DE PROCESOS DE</a:t>
            </a:r>
            <a:r>
              <a:rPr sz="1500" spc="-105" dirty="0">
                <a:latin typeface="Calibri"/>
                <a:cs typeface="Calibri"/>
              </a:rPr>
              <a:t> </a:t>
            </a:r>
            <a:r>
              <a:rPr sz="1500" spc="-5" dirty="0">
                <a:latin typeface="Calibri"/>
                <a:cs typeface="Calibri"/>
              </a:rPr>
              <a:t>PLANIFICACION</a:t>
            </a:r>
            <a:endParaRPr sz="15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Font typeface="Arial"/>
              <a:buChar char="•"/>
            </a:pPr>
            <a:endParaRPr sz="1550">
              <a:latin typeface="Times New Roman"/>
              <a:cs typeface="Times New Roman"/>
            </a:endParaRPr>
          </a:p>
          <a:p>
            <a:pPr marL="756285" lvl="1" indent="-287020">
              <a:lnSpc>
                <a:spcPct val="100000"/>
              </a:lnSpc>
              <a:buFont typeface="Arial"/>
              <a:buChar char="–"/>
              <a:tabLst>
                <a:tab pos="756285" algn="l"/>
                <a:tab pos="756920" algn="l"/>
              </a:tabLst>
            </a:pPr>
            <a:r>
              <a:rPr sz="1500" spc="-5" dirty="0">
                <a:latin typeface="Calibri"/>
                <a:cs typeface="Calibri"/>
              </a:rPr>
              <a:t>Planificar </a:t>
            </a:r>
            <a:r>
              <a:rPr sz="1500" dirty="0">
                <a:latin typeface="Calibri"/>
                <a:cs typeface="Calibri"/>
              </a:rPr>
              <a:t>la </a:t>
            </a:r>
            <a:r>
              <a:rPr sz="1500" spc="-5" dirty="0">
                <a:latin typeface="Calibri"/>
                <a:cs typeface="Calibri"/>
              </a:rPr>
              <a:t>Gestión </a:t>
            </a:r>
            <a:r>
              <a:rPr sz="1500" dirty="0">
                <a:latin typeface="Calibri"/>
                <a:cs typeface="Calibri"/>
              </a:rPr>
              <a:t>del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spc="-5" dirty="0">
                <a:latin typeface="Calibri"/>
                <a:cs typeface="Calibri"/>
              </a:rPr>
              <a:t>Alcance</a:t>
            </a:r>
            <a:endParaRPr sz="150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1500" spc="-10" dirty="0">
                <a:latin typeface="Calibri"/>
                <a:cs typeface="Calibri"/>
              </a:rPr>
              <a:t>Entradas</a:t>
            </a:r>
            <a:endParaRPr sz="150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1500" spc="-10" dirty="0">
                <a:latin typeface="Calibri"/>
                <a:cs typeface="Calibri"/>
              </a:rPr>
              <a:t>Herramientas </a:t>
            </a:r>
            <a:r>
              <a:rPr sz="1500" dirty="0">
                <a:latin typeface="Calibri"/>
                <a:cs typeface="Calibri"/>
              </a:rPr>
              <a:t>y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spc="-20" dirty="0">
                <a:latin typeface="Calibri"/>
                <a:cs typeface="Calibri"/>
              </a:rPr>
              <a:t>Técnicas</a:t>
            </a:r>
            <a:endParaRPr sz="150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1500" spc="-5" dirty="0">
                <a:latin typeface="Calibri"/>
                <a:cs typeface="Calibri"/>
              </a:rPr>
              <a:t>Salidas</a:t>
            </a:r>
            <a:endParaRPr sz="15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buFont typeface="Arial"/>
              <a:buChar char="–"/>
              <a:tabLst>
                <a:tab pos="756285" algn="l"/>
                <a:tab pos="756920" algn="l"/>
              </a:tabLst>
            </a:pPr>
            <a:r>
              <a:rPr sz="1500" spc="-10" dirty="0">
                <a:latin typeface="Calibri"/>
                <a:cs typeface="Calibri"/>
              </a:rPr>
              <a:t>Recolectar</a:t>
            </a:r>
            <a:r>
              <a:rPr sz="1500" spc="-5" dirty="0">
                <a:latin typeface="Calibri"/>
                <a:cs typeface="Calibri"/>
              </a:rPr>
              <a:t> Requerimientos</a:t>
            </a:r>
            <a:endParaRPr sz="150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1500" spc="-10" dirty="0">
                <a:latin typeface="Calibri"/>
                <a:cs typeface="Calibri"/>
              </a:rPr>
              <a:t>Entradas</a:t>
            </a:r>
            <a:endParaRPr sz="150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1500" spc="-10" dirty="0">
                <a:latin typeface="Calibri"/>
                <a:cs typeface="Calibri"/>
              </a:rPr>
              <a:t>Herramientas </a:t>
            </a:r>
            <a:r>
              <a:rPr sz="1500" dirty="0">
                <a:latin typeface="Calibri"/>
                <a:cs typeface="Calibri"/>
              </a:rPr>
              <a:t>y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spc="-20" dirty="0">
                <a:latin typeface="Calibri"/>
                <a:cs typeface="Calibri"/>
              </a:rPr>
              <a:t>Técnicas</a:t>
            </a:r>
            <a:endParaRPr sz="150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1500" spc="-5" dirty="0">
                <a:latin typeface="Calibri"/>
                <a:cs typeface="Calibri"/>
              </a:rPr>
              <a:t>Salidas</a:t>
            </a:r>
            <a:endParaRPr sz="15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buFont typeface="Arial"/>
              <a:buChar char="–"/>
              <a:tabLst>
                <a:tab pos="756285" algn="l"/>
                <a:tab pos="756920" algn="l"/>
              </a:tabLst>
            </a:pPr>
            <a:r>
              <a:rPr sz="1500" b="1" spc="-5" dirty="0">
                <a:latin typeface="Calibri"/>
                <a:cs typeface="Calibri"/>
              </a:rPr>
              <a:t>Definir el</a:t>
            </a:r>
            <a:r>
              <a:rPr sz="1500" b="1" spc="-50" dirty="0">
                <a:latin typeface="Calibri"/>
                <a:cs typeface="Calibri"/>
              </a:rPr>
              <a:t> </a:t>
            </a:r>
            <a:r>
              <a:rPr sz="1500" b="1" spc="-5" dirty="0">
                <a:latin typeface="Calibri"/>
                <a:cs typeface="Calibri"/>
              </a:rPr>
              <a:t>Alcance</a:t>
            </a:r>
            <a:endParaRPr sz="150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1500" spc="-10" dirty="0">
                <a:latin typeface="Calibri"/>
                <a:cs typeface="Calibri"/>
              </a:rPr>
              <a:t>Entradas</a:t>
            </a:r>
            <a:endParaRPr sz="150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1500" spc="-10" dirty="0">
                <a:latin typeface="Calibri"/>
                <a:cs typeface="Calibri"/>
              </a:rPr>
              <a:t>Herramientas </a:t>
            </a:r>
            <a:r>
              <a:rPr sz="1500" dirty="0">
                <a:latin typeface="Calibri"/>
                <a:cs typeface="Calibri"/>
              </a:rPr>
              <a:t>y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spc="-20" dirty="0">
                <a:latin typeface="Calibri"/>
                <a:cs typeface="Calibri"/>
              </a:rPr>
              <a:t>Técnicas</a:t>
            </a:r>
            <a:endParaRPr sz="150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1500" spc="-5" dirty="0">
                <a:latin typeface="Calibri"/>
                <a:cs typeface="Calibri"/>
              </a:rPr>
              <a:t>Salidas</a:t>
            </a:r>
            <a:endParaRPr sz="15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buFont typeface="Arial"/>
              <a:buChar char="–"/>
              <a:tabLst>
                <a:tab pos="756285" algn="l"/>
                <a:tab pos="756920" algn="l"/>
              </a:tabLst>
            </a:pPr>
            <a:r>
              <a:rPr sz="1500" spc="-5" dirty="0">
                <a:latin typeface="Calibri"/>
                <a:cs typeface="Calibri"/>
              </a:rPr>
              <a:t>Crear </a:t>
            </a:r>
            <a:r>
              <a:rPr sz="1500" dirty="0">
                <a:latin typeface="Calibri"/>
                <a:cs typeface="Calibri"/>
              </a:rPr>
              <a:t>la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EDT</a:t>
            </a:r>
            <a:endParaRPr sz="150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1500" spc="-10" dirty="0">
                <a:latin typeface="Calibri"/>
                <a:cs typeface="Calibri"/>
              </a:rPr>
              <a:t>Entradas</a:t>
            </a:r>
            <a:endParaRPr sz="150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1500" spc="-10" dirty="0">
                <a:latin typeface="Calibri"/>
                <a:cs typeface="Calibri"/>
              </a:rPr>
              <a:t>Herramientas </a:t>
            </a:r>
            <a:r>
              <a:rPr sz="1500" dirty="0">
                <a:latin typeface="Calibri"/>
                <a:cs typeface="Calibri"/>
              </a:rPr>
              <a:t>y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spc="-20" dirty="0">
                <a:latin typeface="Calibri"/>
                <a:cs typeface="Calibri"/>
              </a:rPr>
              <a:t>Técnicas</a:t>
            </a:r>
            <a:endParaRPr sz="150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1500" spc="-5" dirty="0">
                <a:latin typeface="Calibri"/>
                <a:cs typeface="Calibri"/>
              </a:rPr>
              <a:t>Salidas</a:t>
            </a:r>
            <a:endParaRPr sz="1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82417" y="461899"/>
            <a:ext cx="397764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Definir </a:t>
            </a:r>
            <a:r>
              <a:rPr dirty="0"/>
              <a:t>el</a:t>
            </a:r>
            <a:r>
              <a:rPr spc="-45" dirty="0"/>
              <a:t> </a:t>
            </a:r>
            <a:r>
              <a:rPr spc="-10" dirty="0"/>
              <a:t>Alcance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918586" y="1610994"/>
            <a:ext cx="2501900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9705" marR="5080" indent="-167640">
              <a:lnSpc>
                <a:spcPct val="100000"/>
              </a:lnSpc>
              <a:spcBef>
                <a:spcPts val="95"/>
              </a:spcBef>
              <a:tabLst>
                <a:tab pos="1065530" algn="l"/>
                <a:tab pos="1670685" algn="l"/>
                <a:tab pos="2044064" algn="l"/>
              </a:tabLst>
            </a:pPr>
            <a:r>
              <a:rPr sz="2800" spc="-10" dirty="0">
                <a:latin typeface="Calibri"/>
                <a:cs typeface="Calibri"/>
              </a:rPr>
              <a:t>un</a:t>
            </a:r>
            <a:r>
              <a:rPr sz="2800" spc="-5" dirty="0">
                <a:latin typeface="Calibri"/>
                <a:cs typeface="Calibri"/>
              </a:rPr>
              <a:t>a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d</a:t>
            </a:r>
            <a:r>
              <a:rPr sz="2800" spc="-35" dirty="0">
                <a:latin typeface="Calibri"/>
                <a:cs typeface="Calibri"/>
              </a:rPr>
              <a:t>e</a:t>
            </a:r>
            <a:r>
              <a:rPr sz="2800" spc="-10" dirty="0">
                <a:latin typeface="Calibri"/>
                <a:cs typeface="Calibri"/>
              </a:rPr>
              <a:t>finición  p</a:t>
            </a:r>
            <a:r>
              <a:rPr sz="2800" spc="-65" dirty="0">
                <a:latin typeface="Calibri"/>
                <a:cs typeface="Calibri"/>
              </a:rPr>
              <a:t>r</a:t>
            </a:r>
            <a:r>
              <a:rPr sz="2800" spc="-15" dirty="0">
                <a:latin typeface="Calibri"/>
                <a:cs typeface="Calibri"/>
              </a:rPr>
              <a:t>o</a:t>
            </a:r>
            <a:r>
              <a:rPr sz="2800" spc="-50" dirty="0">
                <a:latin typeface="Calibri"/>
                <a:cs typeface="Calibri"/>
              </a:rPr>
              <a:t>y</a:t>
            </a:r>
            <a:r>
              <a:rPr sz="2800" dirty="0">
                <a:latin typeface="Calibri"/>
                <a:cs typeface="Calibri"/>
              </a:rPr>
              <a:t>e</a:t>
            </a:r>
            <a:r>
              <a:rPr sz="2800" spc="-5" dirty="0">
                <a:latin typeface="Calibri"/>
                <a:cs typeface="Calibri"/>
              </a:rPr>
              <a:t>c</a:t>
            </a:r>
            <a:r>
              <a:rPr sz="2800" spc="-25" dirty="0">
                <a:latin typeface="Calibri"/>
                <a:cs typeface="Calibri"/>
              </a:rPr>
              <a:t>t</a:t>
            </a:r>
            <a:r>
              <a:rPr sz="2800" spc="-5" dirty="0">
                <a:latin typeface="Calibri"/>
                <a:cs typeface="Calibri"/>
              </a:rPr>
              <a:t>o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5" dirty="0">
                <a:latin typeface="Calibri"/>
                <a:cs typeface="Calibri"/>
              </a:rPr>
              <a:t>y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del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1610994"/>
            <a:ext cx="2361565" cy="1305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3535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355600" algn="l"/>
                <a:tab pos="356235" algn="l"/>
                <a:tab pos="1202690" algn="l"/>
                <a:tab pos="1903730" algn="l"/>
              </a:tabLst>
            </a:pPr>
            <a:r>
              <a:rPr sz="2800" spc="-5" dirty="0">
                <a:latin typeface="Calibri"/>
                <a:cs typeface="Calibri"/>
              </a:rPr>
              <a:t>Se	</a:t>
            </a:r>
            <a:r>
              <a:rPr sz="2800" spc="-10" dirty="0">
                <a:latin typeface="Calibri"/>
                <a:cs typeface="Calibri"/>
              </a:rPr>
              <a:t>hace  d</a:t>
            </a:r>
            <a:r>
              <a:rPr sz="2800" spc="-25" dirty="0">
                <a:latin typeface="Calibri"/>
                <a:cs typeface="Calibri"/>
              </a:rPr>
              <a:t>e</a:t>
            </a:r>
            <a:r>
              <a:rPr sz="2800" spc="-45" dirty="0">
                <a:latin typeface="Calibri"/>
                <a:cs typeface="Calibri"/>
              </a:rPr>
              <a:t>t</a:t>
            </a:r>
            <a:r>
              <a:rPr sz="2800" spc="-5" dirty="0">
                <a:latin typeface="Calibri"/>
                <a:cs typeface="Calibri"/>
              </a:rPr>
              <a:t>al</a:t>
            </a:r>
            <a:r>
              <a:rPr sz="2800" spc="-15" dirty="0">
                <a:latin typeface="Calibri"/>
                <a:cs typeface="Calibri"/>
              </a:rPr>
              <a:t>l</a:t>
            </a:r>
            <a:r>
              <a:rPr sz="2800" spc="-5" dirty="0">
                <a:latin typeface="Calibri"/>
                <a:cs typeface="Calibri"/>
              </a:rPr>
              <a:t>ada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del  </a:t>
            </a:r>
            <a:r>
              <a:rPr sz="2800" spc="-15" dirty="0">
                <a:latin typeface="Calibri"/>
                <a:cs typeface="Calibri"/>
              </a:rPr>
              <a:t>producto.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940" y="2976752"/>
            <a:ext cx="4885690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3535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355600" algn="l"/>
                <a:tab pos="356235" algn="l"/>
                <a:tab pos="1338580" algn="l"/>
                <a:tab pos="1900555" algn="l"/>
                <a:tab pos="3004820" algn="l"/>
                <a:tab pos="3876040" algn="l"/>
                <a:tab pos="4613910" algn="l"/>
              </a:tabLst>
            </a:pPr>
            <a:r>
              <a:rPr sz="2800" spc="-10" dirty="0">
                <a:latin typeface="Calibri"/>
                <a:cs typeface="Calibri"/>
              </a:rPr>
              <a:t>Tien</a:t>
            </a:r>
            <a:r>
              <a:rPr sz="2800" spc="-5" dirty="0">
                <a:latin typeface="Calibri"/>
                <a:cs typeface="Calibri"/>
              </a:rPr>
              <a:t>e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u</a:t>
            </a:r>
            <a:r>
              <a:rPr sz="2800" spc="-5" dirty="0">
                <a:latin typeface="Calibri"/>
                <a:cs typeface="Calibri"/>
              </a:rPr>
              <a:t>n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5" dirty="0">
                <a:latin typeface="Calibri"/>
                <a:cs typeface="Calibri"/>
              </a:rPr>
              <a:t>m</a:t>
            </a:r>
            <a:r>
              <a:rPr sz="2800" spc="-50" dirty="0">
                <a:latin typeface="Calibri"/>
                <a:cs typeface="Calibri"/>
              </a:rPr>
              <a:t>ay</a:t>
            </a:r>
            <a:r>
              <a:rPr sz="2800" spc="-10" dirty="0">
                <a:latin typeface="Calibri"/>
                <a:cs typeface="Calibri"/>
              </a:rPr>
              <a:t>o</a:t>
            </a:r>
            <a:r>
              <a:rPr sz="2800" spc="-5" dirty="0">
                <a:latin typeface="Calibri"/>
                <a:cs typeface="Calibri"/>
              </a:rPr>
              <a:t>r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n</a:t>
            </a:r>
            <a:r>
              <a:rPr sz="2800" spc="-20" dirty="0">
                <a:latin typeface="Calibri"/>
                <a:cs typeface="Calibri"/>
              </a:rPr>
              <a:t>i</a:t>
            </a:r>
            <a:r>
              <a:rPr sz="2800" spc="-25" dirty="0">
                <a:latin typeface="Calibri"/>
                <a:cs typeface="Calibri"/>
              </a:rPr>
              <a:t>v</a:t>
            </a:r>
            <a:r>
              <a:rPr sz="2800" spc="-5" dirty="0">
                <a:latin typeface="Calibri"/>
                <a:cs typeface="Calibri"/>
              </a:rPr>
              <a:t>el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qu</a:t>
            </a:r>
            <a:r>
              <a:rPr sz="2800" spc="-5" dirty="0">
                <a:latin typeface="Calibri"/>
                <a:cs typeface="Calibri"/>
              </a:rPr>
              <a:t>e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5" dirty="0">
                <a:latin typeface="Calibri"/>
                <a:cs typeface="Calibri"/>
              </a:rPr>
              <a:t>el  </a:t>
            </a:r>
            <a:r>
              <a:rPr sz="2800" spc="-15" dirty="0">
                <a:latin typeface="Calibri"/>
                <a:cs typeface="Calibri"/>
              </a:rPr>
              <a:t>Project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45" dirty="0">
                <a:latin typeface="Calibri"/>
                <a:cs typeface="Calibri"/>
              </a:rPr>
              <a:t>Charter.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5940" y="3915232"/>
            <a:ext cx="3228975" cy="8794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3535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355600" algn="l"/>
                <a:tab pos="356235" algn="l"/>
                <a:tab pos="919480" algn="l"/>
                <a:tab pos="2050414" algn="l"/>
                <a:tab pos="2957195" algn="l"/>
              </a:tabLst>
            </a:pPr>
            <a:r>
              <a:rPr sz="2800" spc="-5" dirty="0">
                <a:latin typeface="Calibri"/>
                <a:cs typeface="Calibri"/>
              </a:rPr>
              <a:t>Es	crí</a:t>
            </a:r>
            <a:r>
              <a:rPr sz="2800" spc="-15" dirty="0">
                <a:latin typeface="Calibri"/>
                <a:cs typeface="Calibri"/>
              </a:rPr>
              <a:t>t</a:t>
            </a:r>
            <a:r>
              <a:rPr sz="2800" spc="-5" dirty="0">
                <a:latin typeface="Calibri"/>
                <a:cs typeface="Calibri"/>
              </a:rPr>
              <a:t>i</a:t>
            </a:r>
            <a:r>
              <a:rPr sz="2800" spc="-35" dirty="0">
                <a:latin typeface="Calibri"/>
                <a:cs typeface="Calibri"/>
              </a:rPr>
              <a:t>c</a:t>
            </a:r>
            <a:r>
              <a:rPr sz="2800" spc="-5" dirty="0">
                <a:latin typeface="Calibri"/>
                <a:cs typeface="Calibri"/>
              </a:rPr>
              <a:t>o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5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pa</a:t>
            </a:r>
            <a:r>
              <a:rPr sz="2800" spc="-65" dirty="0">
                <a:latin typeface="Calibri"/>
                <a:cs typeface="Calibri"/>
              </a:rPr>
              <a:t>r</a:t>
            </a:r>
            <a:r>
              <a:rPr sz="2800" spc="-5" dirty="0">
                <a:latin typeface="Calibri"/>
                <a:cs typeface="Calibri"/>
              </a:rPr>
              <a:t>a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el  </a:t>
            </a:r>
            <a:r>
              <a:rPr sz="2800" spc="-20" dirty="0">
                <a:latin typeface="Calibri"/>
                <a:cs typeface="Calibri"/>
              </a:rPr>
              <a:t>proyecto	</a:t>
            </a:r>
            <a:r>
              <a:rPr sz="2800" spc="-10" dirty="0">
                <a:latin typeface="Calibri"/>
                <a:cs typeface="Calibri"/>
              </a:rPr>
              <a:t>porque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989959" y="3915232"/>
            <a:ext cx="1432560" cy="8794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9690" marR="5080" indent="-47625">
              <a:lnSpc>
                <a:spcPct val="100000"/>
              </a:lnSpc>
              <a:spcBef>
                <a:spcPts val="95"/>
              </a:spcBef>
              <a:tabLst>
                <a:tab pos="972819" algn="l"/>
                <a:tab pos="1103630" algn="l"/>
              </a:tabLst>
            </a:pPr>
            <a:r>
              <a:rPr sz="2800" spc="-55" dirty="0">
                <a:latin typeface="Calibri"/>
                <a:cs typeface="Calibri"/>
              </a:rPr>
              <a:t>é</a:t>
            </a:r>
            <a:r>
              <a:rPr sz="2800" spc="-10" dirty="0">
                <a:latin typeface="Calibri"/>
                <a:cs typeface="Calibri"/>
              </a:rPr>
              <a:t>xi</a:t>
            </a:r>
            <a:r>
              <a:rPr sz="2800" spc="-40" dirty="0">
                <a:latin typeface="Calibri"/>
                <a:cs typeface="Calibri"/>
              </a:rPr>
              <a:t>t</a:t>
            </a:r>
            <a:r>
              <a:rPr sz="2800" spc="-5" dirty="0">
                <a:latin typeface="Calibri"/>
                <a:cs typeface="Calibri"/>
              </a:rPr>
              <a:t>o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del  </a:t>
            </a:r>
            <a:r>
              <a:rPr sz="2800" spc="-5" dirty="0">
                <a:latin typeface="Calibri"/>
                <a:cs typeface="Calibri"/>
              </a:rPr>
              <a:t>a</a:t>
            </a:r>
            <a:r>
              <a:rPr sz="2800" spc="5" dirty="0">
                <a:latin typeface="Calibri"/>
                <a:cs typeface="Calibri"/>
              </a:rPr>
              <a:t>q</a:t>
            </a:r>
            <a:r>
              <a:rPr sz="2800" spc="-10" dirty="0">
                <a:latin typeface="Calibri"/>
                <a:cs typeface="Calibri"/>
              </a:rPr>
              <a:t>u</a:t>
            </a:r>
            <a:r>
              <a:rPr sz="2800" spc="-5" dirty="0">
                <a:latin typeface="Calibri"/>
                <a:cs typeface="Calibri"/>
              </a:rPr>
              <a:t>í</a:t>
            </a:r>
            <a:r>
              <a:rPr sz="2800" dirty="0">
                <a:latin typeface="Calibri"/>
                <a:cs typeface="Calibri"/>
              </a:rPr>
              <a:t>		</a:t>
            </a:r>
            <a:r>
              <a:rPr sz="2800" spc="-10" dirty="0">
                <a:latin typeface="Calibri"/>
                <a:cs typeface="Calibri"/>
              </a:rPr>
              <a:t>se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35940" y="4769358"/>
            <a:ext cx="4882515" cy="13906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>
              <a:lnSpc>
                <a:spcPct val="100000"/>
              </a:lnSpc>
              <a:spcBef>
                <a:spcPts val="95"/>
              </a:spcBef>
            </a:pPr>
            <a:r>
              <a:rPr sz="2800" spc="-20" dirty="0">
                <a:latin typeface="Calibri"/>
                <a:cs typeface="Calibri"/>
              </a:rPr>
              <a:t>ratifica </a:t>
            </a:r>
            <a:r>
              <a:rPr sz="2800" spc="-10" dirty="0">
                <a:latin typeface="Calibri"/>
                <a:cs typeface="Calibri"/>
              </a:rPr>
              <a:t>lo que </a:t>
            </a:r>
            <a:r>
              <a:rPr sz="2800" spc="-15" dirty="0">
                <a:latin typeface="Calibri"/>
                <a:cs typeface="Calibri"/>
              </a:rPr>
              <a:t>realmente </a:t>
            </a:r>
            <a:r>
              <a:rPr sz="2800" spc="-5" dirty="0">
                <a:latin typeface="Calibri"/>
                <a:cs typeface="Calibri"/>
              </a:rPr>
              <a:t>se </a:t>
            </a:r>
            <a:r>
              <a:rPr sz="2800" spc="-45" dirty="0">
                <a:latin typeface="Calibri"/>
                <a:cs typeface="Calibri"/>
              </a:rPr>
              <a:t>va  </a:t>
            </a:r>
            <a:r>
              <a:rPr sz="2800" spc="-5" dirty="0">
                <a:latin typeface="Calibri"/>
                <a:cs typeface="Calibri"/>
              </a:rPr>
              <a:t>a </a:t>
            </a:r>
            <a:r>
              <a:rPr sz="2800" spc="-10" dirty="0">
                <a:latin typeface="Calibri"/>
                <a:cs typeface="Calibri"/>
              </a:rPr>
              <a:t>hacer </a:t>
            </a:r>
            <a:r>
              <a:rPr sz="2800" spc="-5" dirty="0">
                <a:latin typeface="Calibri"/>
                <a:cs typeface="Calibri"/>
              </a:rPr>
              <a:t>en el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proyecto.</a:t>
            </a:r>
            <a:endParaRPr sz="2800">
              <a:latin typeface="Calibri"/>
              <a:cs typeface="Calibri"/>
            </a:endParaRPr>
          </a:p>
          <a:p>
            <a:pPr marL="35560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800" spc="-25" dirty="0">
                <a:latin typeface="Calibri"/>
                <a:cs typeface="Calibri"/>
              </a:rPr>
              <a:t>Mayor </a:t>
            </a:r>
            <a:r>
              <a:rPr sz="2800" spc="-15" dirty="0">
                <a:latin typeface="Calibri"/>
                <a:cs typeface="Calibri"/>
              </a:rPr>
              <a:t>detalle</a:t>
            </a:r>
            <a:r>
              <a:rPr sz="2800" spc="35" dirty="0">
                <a:latin typeface="Calibri"/>
                <a:cs typeface="Calibri"/>
              </a:rPr>
              <a:t> </a:t>
            </a:r>
            <a:r>
              <a:rPr sz="2800" spc="-40" dirty="0">
                <a:latin typeface="Calibri"/>
                <a:cs typeface="Calibri"/>
              </a:rPr>
              <a:t>Top-Down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929884" y="2339339"/>
            <a:ext cx="2438400" cy="318666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20749" y="461899"/>
            <a:ext cx="630428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Definir </a:t>
            </a:r>
            <a:r>
              <a:rPr dirty="0"/>
              <a:t>el </a:t>
            </a:r>
            <a:r>
              <a:rPr spc="-5" dirty="0"/>
              <a:t>Alcance-</a:t>
            </a:r>
            <a:r>
              <a:rPr spc="-15" dirty="0"/>
              <a:t> </a:t>
            </a:r>
            <a:r>
              <a:rPr b="1" spc="-20" dirty="0">
                <a:latin typeface="Calibri"/>
                <a:cs typeface="Calibri"/>
              </a:rPr>
              <a:t>Entradas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11020"/>
            <a:ext cx="7776209" cy="2880995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86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3200" b="1" i="1" spc="-5" dirty="0">
                <a:latin typeface="Calibri"/>
                <a:cs typeface="Calibri"/>
              </a:rPr>
              <a:t>1. Plan </a:t>
            </a:r>
            <a:r>
              <a:rPr sz="3200" b="1" i="1" dirty="0">
                <a:latin typeface="Calibri"/>
                <a:cs typeface="Calibri"/>
              </a:rPr>
              <a:t>de </a:t>
            </a:r>
            <a:r>
              <a:rPr sz="3200" b="1" i="1" spc="-5" dirty="0">
                <a:latin typeface="Calibri"/>
                <a:cs typeface="Calibri"/>
              </a:rPr>
              <a:t>Gestión </a:t>
            </a:r>
            <a:r>
              <a:rPr sz="3200" b="1" i="1" dirty="0">
                <a:latin typeface="Calibri"/>
                <a:cs typeface="Calibri"/>
              </a:rPr>
              <a:t>del</a:t>
            </a:r>
            <a:r>
              <a:rPr sz="3200" b="1" i="1" spc="-35" dirty="0">
                <a:latin typeface="Calibri"/>
                <a:cs typeface="Calibri"/>
              </a:rPr>
              <a:t> </a:t>
            </a:r>
            <a:r>
              <a:rPr sz="3200" b="1" i="1" spc="-5" dirty="0">
                <a:latin typeface="Calibri"/>
                <a:cs typeface="Calibri"/>
              </a:rPr>
              <a:t>Alcance</a:t>
            </a:r>
            <a:endParaRPr sz="3200">
              <a:latin typeface="Calibri"/>
              <a:cs typeface="Calibri"/>
            </a:endParaRPr>
          </a:p>
          <a:p>
            <a:pPr marL="355600" indent="-343535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3200" b="1" i="1" spc="-5" dirty="0">
                <a:latin typeface="Calibri"/>
                <a:cs typeface="Calibri"/>
              </a:rPr>
              <a:t>2. </a:t>
            </a:r>
            <a:r>
              <a:rPr sz="3200" b="1" i="1" spc="-10" dirty="0">
                <a:latin typeface="Calibri"/>
                <a:cs typeface="Calibri"/>
              </a:rPr>
              <a:t>Acta </a:t>
            </a:r>
            <a:r>
              <a:rPr sz="3200" b="1" i="1" dirty="0">
                <a:latin typeface="Calibri"/>
                <a:cs typeface="Calibri"/>
              </a:rPr>
              <a:t>de </a:t>
            </a:r>
            <a:r>
              <a:rPr sz="3200" b="1" i="1" spc="-5" dirty="0">
                <a:latin typeface="Calibri"/>
                <a:cs typeface="Calibri"/>
              </a:rPr>
              <a:t>Constitución </a:t>
            </a:r>
            <a:r>
              <a:rPr sz="3200" b="1" i="1" dirty="0">
                <a:latin typeface="Calibri"/>
                <a:cs typeface="Calibri"/>
              </a:rPr>
              <a:t>del</a:t>
            </a:r>
            <a:r>
              <a:rPr sz="3200" b="1" i="1" spc="-45" dirty="0">
                <a:latin typeface="Calibri"/>
                <a:cs typeface="Calibri"/>
              </a:rPr>
              <a:t> </a:t>
            </a:r>
            <a:r>
              <a:rPr sz="3200" b="1" i="1" spc="-10" dirty="0">
                <a:latin typeface="Calibri"/>
                <a:cs typeface="Calibri"/>
              </a:rPr>
              <a:t>Proyecto</a:t>
            </a:r>
            <a:endParaRPr sz="3200">
              <a:latin typeface="Calibri"/>
              <a:cs typeface="Calibri"/>
            </a:endParaRPr>
          </a:p>
          <a:p>
            <a:pPr marL="355600" indent="-343535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3200" b="1" i="1" spc="-5" dirty="0">
                <a:latin typeface="Calibri"/>
                <a:cs typeface="Calibri"/>
              </a:rPr>
              <a:t>3. </a:t>
            </a:r>
            <a:r>
              <a:rPr sz="3200" b="1" i="1" spc="-10" dirty="0">
                <a:latin typeface="Calibri"/>
                <a:cs typeface="Calibri"/>
              </a:rPr>
              <a:t>Documentación </a:t>
            </a:r>
            <a:r>
              <a:rPr sz="3200" b="1" i="1" dirty="0">
                <a:latin typeface="Calibri"/>
                <a:cs typeface="Calibri"/>
              </a:rPr>
              <a:t>de</a:t>
            </a:r>
            <a:r>
              <a:rPr sz="3200" b="1" i="1" spc="-35" dirty="0">
                <a:latin typeface="Calibri"/>
                <a:cs typeface="Calibri"/>
              </a:rPr>
              <a:t> </a:t>
            </a:r>
            <a:r>
              <a:rPr sz="3200" b="1" i="1" spc="-10" dirty="0">
                <a:latin typeface="Calibri"/>
                <a:cs typeface="Calibri"/>
              </a:rPr>
              <a:t>Requerimientos</a:t>
            </a:r>
            <a:endParaRPr sz="3200">
              <a:latin typeface="Calibri"/>
              <a:cs typeface="Calibri"/>
            </a:endParaRPr>
          </a:p>
          <a:p>
            <a:pPr marL="355600" indent="-343535">
              <a:lnSpc>
                <a:spcPct val="100000"/>
              </a:lnSpc>
              <a:spcBef>
                <a:spcPts val="76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3200" b="1" i="1" spc="-5" dirty="0">
                <a:latin typeface="Calibri"/>
                <a:cs typeface="Calibri"/>
              </a:rPr>
              <a:t>4. Activos </a:t>
            </a:r>
            <a:r>
              <a:rPr sz="3200" b="1" i="1" dirty="0">
                <a:latin typeface="Calibri"/>
                <a:cs typeface="Calibri"/>
              </a:rPr>
              <a:t>de los </a:t>
            </a:r>
            <a:r>
              <a:rPr sz="3200" b="1" i="1" spc="-10" dirty="0">
                <a:latin typeface="Calibri"/>
                <a:cs typeface="Calibri"/>
              </a:rPr>
              <a:t>Procesos</a:t>
            </a:r>
            <a:r>
              <a:rPr sz="3200" b="1" i="1" spc="-35" dirty="0">
                <a:latin typeface="Calibri"/>
                <a:cs typeface="Calibri"/>
              </a:rPr>
              <a:t> </a:t>
            </a:r>
            <a:r>
              <a:rPr sz="3200" b="1" i="1" spc="-5" dirty="0">
                <a:latin typeface="Calibri"/>
                <a:cs typeface="Calibri"/>
              </a:rPr>
              <a:t>Organizacionales</a:t>
            </a:r>
            <a:endParaRPr sz="320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695"/>
              </a:spcBef>
            </a:pPr>
            <a:r>
              <a:rPr sz="2800" spc="-5" dirty="0">
                <a:latin typeface="Arial"/>
                <a:cs typeface="Arial"/>
              </a:rPr>
              <a:t>– </a:t>
            </a:r>
            <a:r>
              <a:rPr sz="2800" spc="-15" dirty="0">
                <a:latin typeface="Calibri"/>
                <a:cs typeface="Calibri"/>
              </a:rPr>
              <a:t>Información </a:t>
            </a:r>
            <a:r>
              <a:rPr sz="2800" spc="-20" dirty="0">
                <a:latin typeface="Calibri"/>
                <a:cs typeface="Calibri"/>
              </a:rPr>
              <a:t>histórica </a:t>
            </a:r>
            <a:r>
              <a:rPr sz="2800" spc="-10" dirty="0">
                <a:latin typeface="Calibri"/>
                <a:cs typeface="Calibri"/>
              </a:rPr>
              <a:t>que nos aporta </a:t>
            </a:r>
            <a:r>
              <a:rPr sz="2800" spc="-5" dirty="0">
                <a:latin typeface="Calibri"/>
                <a:cs typeface="Calibri"/>
              </a:rPr>
              <a:t>al</a:t>
            </a:r>
            <a:r>
              <a:rPr sz="2800" spc="9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proyecto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85341" y="192150"/>
            <a:ext cx="5972810" cy="1244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556385" marR="5080" indent="-1544320">
              <a:lnSpc>
                <a:spcPct val="100000"/>
              </a:lnSpc>
              <a:spcBef>
                <a:spcPts val="95"/>
              </a:spcBef>
            </a:pPr>
            <a:r>
              <a:rPr sz="4000" spc="-15" dirty="0"/>
              <a:t>Definir </a:t>
            </a:r>
            <a:r>
              <a:rPr sz="4000" spc="-5" dirty="0"/>
              <a:t>el Alcance- </a:t>
            </a:r>
            <a:r>
              <a:rPr sz="4000" b="1" spc="-55" dirty="0">
                <a:latin typeface="Calibri"/>
                <a:cs typeface="Calibri"/>
              </a:rPr>
              <a:t>Técnicas </a:t>
            </a:r>
            <a:r>
              <a:rPr sz="4000" b="1" spc="-5" dirty="0">
                <a:latin typeface="Calibri"/>
                <a:cs typeface="Calibri"/>
              </a:rPr>
              <a:t>y  </a:t>
            </a:r>
            <a:r>
              <a:rPr sz="4000" b="1" spc="-15" dirty="0">
                <a:latin typeface="Calibri"/>
                <a:cs typeface="Calibri"/>
              </a:rPr>
              <a:t>Herramientas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556130"/>
            <a:ext cx="2237105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200" b="1" i="1" spc="-5" dirty="0">
                <a:latin typeface="Calibri"/>
                <a:cs typeface="Calibri"/>
              </a:rPr>
              <a:t>1. Juicio</a:t>
            </a:r>
            <a:r>
              <a:rPr sz="2200" b="1" i="1" spc="-55" dirty="0">
                <a:latin typeface="Calibri"/>
                <a:cs typeface="Calibri"/>
              </a:rPr>
              <a:t> </a:t>
            </a:r>
            <a:r>
              <a:rPr sz="2200" b="1" i="1" spc="-10" dirty="0">
                <a:latin typeface="Calibri"/>
                <a:cs typeface="Calibri"/>
              </a:rPr>
              <a:t>Experto</a:t>
            </a:r>
            <a:endParaRPr sz="2200">
              <a:latin typeface="Calibri"/>
              <a:cs typeface="Calibri"/>
            </a:endParaRPr>
          </a:p>
          <a:p>
            <a:pPr marL="355600" indent="-343535">
              <a:lnSpc>
                <a:spcPct val="100000"/>
              </a:lnSpc>
              <a:buFont typeface="Arial"/>
              <a:buChar char="•"/>
              <a:tabLst>
                <a:tab pos="355600" algn="l"/>
                <a:tab pos="356235" algn="l"/>
                <a:tab pos="737870" algn="l"/>
              </a:tabLst>
            </a:pPr>
            <a:r>
              <a:rPr sz="2200" b="1" i="1" spc="-5" dirty="0">
                <a:latin typeface="Calibri"/>
                <a:cs typeface="Calibri"/>
              </a:rPr>
              <a:t>2.	Análisis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16226" y="1891411"/>
            <a:ext cx="629285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63550" algn="l"/>
                <a:tab pos="1751330" algn="l"/>
                <a:tab pos="2834005" algn="l"/>
                <a:tab pos="3286760" algn="l"/>
                <a:tab pos="4782185" algn="l"/>
                <a:tab pos="5972175" algn="l"/>
              </a:tabLst>
            </a:pPr>
            <a:r>
              <a:rPr sz="2200" b="1" i="1" spc="-5" dirty="0">
                <a:latin typeface="Calibri"/>
                <a:cs typeface="Calibri"/>
              </a:rPr>
              <a:t>de	</a:t>
            </a:r>
            <a:r>
              <a:rPr sz="2200" b="1" i="1" spc="-10" dirty="0">
                <a:latin typeface="Calibri"/>
                <a:cs typeface="Calibri"/>
              </a:rPr>
              <a:t>P</a:t>
            </a:r>
            <a:r>
              <a:rPr sz="2200" b="1" i="1" spc="-15" dirty="0">
                <a:latin typeface="Calibri"/>
                <a:cs typeface="Calibri"/>
              </a:rPr>
              <a:t>r</a:t>
            </a:r>
            <a:r>
              <a:rPr sz="2200" b="1" i="1" spc="-5" dirty="0">
                <a:latin typeface="Calibri"/>
                <a:cs typeface="Calibri"/>
              </a:rPr>
              <a:t>od</a:t>
            </a:r>
            <a:r>
              <a:rPr sz="2200" b="1" i="1" dirty="0">
                <a:latin typeface="Calibri"/>
                <a:cs typeface="Calibri"/>
              </a:rPr>
              <a:t>u</a:t>
            </a:r>
            <a:r>
              <a:rPr sz="2200" b="1" i="1" spc="-5" dirty="0">
                <a:latin typeface="Calibri"/>
                <a:cs typeface="Calibri"/>
              </a:rPr>
              <a:t>c</a:t>
            </a:r>
            <a:r>
              <a:rPr sz="2200" b="1" i="1" spc="-40" dirty="0">
                <a:latin typeface="Calibri"/>
                <a:cs typeface="Calibri"/>
              </a:rPr>
              <a:t>t</a:t>
            </a:r>
            <a:r>
              <a:rPr sz="2200" b="1" i="1" spc="15" dirty="0">
                <a:latin typeface="Calibri"/>
                <a:cs typeface="Calibri"/>
              </a:rPr>
              <a:t>o</a:t>
            </a:r>
            <a:r>
              <a:rPr sz="2200" b="1" i="1" spc="-5" dirty="0">
                <a:latin typeface="Calibri"/>
                <a:cs typeface="Calibri"/>
              </a:rPr>
              <a:t>:</a:t>
            </a:r>
            <a:r>
              <a:rPr sz="2200" b="1" i="1" dirty="0">
                <a:latin typeface="Calibri"/>
                <a:cs typeface="Calibri"/>
              </a:rPr>
              <a:t>	</a:t>
            </a:r>
            <a:r>
              <a:rPr sz="2200" spc="-140" dirty="0">
                <a:latin typeface="Calibri"/>
                <a:cs typeface="Calibri"/>
              </a:rPr>
              <a:t>T</a:t>
            </a:r>
            <a:r>
              <a:rPr sz="2200" spc="-55" dirty="0">
                <a:latin typeface="Calibri"/>
                <a:cs typeface="Calibri"/>
              </a:rPr>
              <a:t>r</a:t>
            </a:r>
            <a:r>
              <a:rPr sz="2200" spc="-5" dirty="0">
                <a:latin typeface="Calibri"/>
                <a:cs typeface="Calibri"/>
              </a:rPr>
              <a:t>aducir</a:t>
            </a:r>
            <a:r>
              <a:rPr sz="2200" dirty="0">
                <a:latin typeface="Calibri"/>
                <a:cs typeface="Calibri"/>
              </a:rPr>
              <a:t>	</a:t>
            </a:r>
            <a:r>
              <a:rPr sz="2200" spc="5" dirty="0">
                <a:latin typeface="Calibri"/>
                <a:cs typeface="Calibri"/>
              </a:rPr>
              <a:t>e</a:t>
            </a:r>
            <a:r>
              <a:rPr sz="2200" spc="-5" dirty="0">
                <a:latin typeface="Calibri"/>
                <a:cs typeface="Calibri"/>
              </a:rPr>
              <a:t>n</a:t>
            </a:r>
            <a:r>
              <a:rPr sz="2200" dirty="0">
                <a:latin typeface="Calibri"/>
                <a:cs typeface="Calibri"/>
              </a:rPr>
              <a:t>	</a:t>
            </a:r>
            <a:r>
              <a:rPr sz="2200" spc="-5" dirty="0">
                <a:latin typeface="Calibri"/>
                <a:cs typeface="Calibri"/>
              </a:rPr>
              <a:t>e</a:t>
            </a:r>
            <a:r>
              <a:rPr sz="2200" spc="-35" dirty="0">
                <a:latin typeface="Calibri"/>
                <a:cs typeface="Calibri"/>
              </a:rPr>
              <a:t>n</a:t>
            </a:r>
            <a:r>
              <a:rPr sz="2200" spc="-5" dirty="0">
                <a:latin typeface="Calibri"/>
                <a:cs typeface="Calibri"/>
              </a:rPr>
              <a:t>t</a:t>
            </a:r>
            <a:r>
              <a:rPr sz="2200" spc="-35" dirty="0">
                <a:latin typeface="Calibri"/>
                <a:cs typeface="Calibri"/>
              </a:rPr>
              <a:t>r</a:t>
            </a:r>
            <a:r>
              <a:rPr sz="2200" spc="-5" dirty="0">
                <a:latin typeface="Calibri"/>
                <a:cs typeface="Calibri"/>
              </a:rPr>
              <a:t>e</a:t>
            </a:r>
            <a:r>
              <a:rPr sz="2200" spc="-45" dirty="0">
                <a:latin typeface="Calibri"/>
                <a:cs typeface="Calibri"/>
              </a:rPr>
              <a:t>g</a:t>
            </a:r>
            <a:r>
              <a:rPr sz="2200" spc="-5" dirty="0">
                <a:latin typeface="Calibri"/>
                <a:cs typeface="Calibri"/>
              </a:rPr>
              <a:t>abl</a:t>
            </a:r>
            <a:r>
              <a:rPr sz="2200" spc="5" dirty="0">
                <a:latin typeface="Calibri"/>
                <a:cs typeface="Calibri"/>
              </a:rPr>
              <a:t>e</a:t>
            </a:r>
            <a:r>
              <a:rPr sz="2200" spc="-5" dirty="0">
                <a:latin typeface="Calibri"/>
                <a:cs typeface="Calibri"/>
              </a:rPr>
              <a:t>s</a:t>
            </a:r>
            <a:r>
              <a:rPr sz="2200" dirty="0">
                <a:latin typeface="Calibri"/>
                <a:cs typeface="Calibri"/>
              </a:rPr>
              <a:t>	</a:t>
            </a:r>
            <a:r>
              <a:rPr sz="2200" spc="-35" dirty="0">
                <a:latin typeface="Calibri"/>
                <a:cs typeface="Calibri"/>
              </a:rPr>
              <a:t>t</a:t>
            </a:r>
            <a:r>
              <a:rPr sz="2200" spc="-5" dirty="0">
                <a:latin typeface="Calibri"/>
                <a:cs typeface="Calibri"/>
              </a:rPr>
              <a:t>angibles</a:t>
            </a:r>
            <a:r>
              <a:rPr sz="2200" dirty="0">
                <a:latin typeface="Calibri"/>
                <a:cs typeface="Calibri"/>
              </a:rPr>
              <a:t>	</a:t>
            </a:r>
            <a:r>
              <a:rPr sz="2200" spc="-5" dirty="0">
                <a:latin typeface="Calibri"/>
                <a:cs typeface="Calibri"/>
              </a:rPr>
              <a:t>las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940" y="2159635"/>
            <a:ext cx="8071484" cy="33966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>
              <a:lnSpc>
                <a:spcPct val="100000"/>
              </a:lnSpc>
              <a:spcBef>
                <a:spcPts val="95"/>
              </a:spcBef>
            </a:pPr>
            <a:r>
              <a:rPr sz="2200" spc="-10" dirty="0">
                <a:latin typeface="Calibri"/>
                <a:cs typeface="Calibri"/>
              </a:rPr>
              <a:t>descripciones </a:t>
            </a:r>
            <a:r>
              <a:rPr sz="2200" spc="-5" dirty="0">
                <a:latin typeface="Calibri"/>
                <a:cs typeface="Calibri"/>
              </a:rPr>
              <a:t>de </a:t>
            </a:r>
            <a:r>
              <a:rPr sz="2200" spc="-10" dirty="0">
                <a:latin typeface="Calibri"/>
                <a:cs typeface="Calibri"/>
              </a:rPr>
              <a:t>alto nivel </a:t>
            </a:r>
            <a:r>
              <a:rPr sz="2200" spc="-5" dirty="0">
                <a:latin typeface="Calibri"/>
                <a:cs typeface="Calibri"/>
              </a:rPr>
              <a:t>del</a:t>
            </a:r>
            <a:r>
              <a:rPr sz="2200" spc="55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producto.</a:t>
            </a:r>
            <a:endParaRPr sz="2200">
              <a:latin typeface="Calibri"/>
              <a:cs typeface="Calibri"/>
            </a:endParaRPr>
          </a:p>
          <a:p>
            <a:pPr marL="756285" indent="-287020">
              <a:lnSpc>
                <a:spcPct val="100000"/>
              </a:lnSpc>
              <a:spcBef>
                <a:spcPts val="5"/>
              </a:spcBef>
              <a:buFont typeface="Arial"/>
              <a:buChar char="–"/>
              <a:tabLst>
                <a:tab pos="756285" algn="l"/>
                <a:tab pos="756920" algn="l"/>
              </a:tabLst>
            </a:pPr>
            <a:r>
              <a:rPr sz="2000" spc="-10" dirty="0">
                <a:latin typeface="Calibri"/>
                <a:cs typeface="Calibri"/>
              </a:rPr>
              <a:t>Desagregación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Producto</a:t>
            </a:r>
            <a:endParaRPr sz="2000">
              <a:latin typeface="Calibri"/>
              <a:cs typeface="Calibri"/>
            </a:endParaRPr>
          </a:p>
          <a:p>
            <a:pPr marL="756285" indent="-287020">
              <a:lnSpc>
                <a:spcPct val="100000"/>
              </a:lnSpc>
              <a:spcBef>
                <a:spcPts val="5"/>
              </a:spcBef>
              <a:buFont typeface="Arial"/>
              <a:buChar char="–"/>
              <a:tabLst>
                <a:tab pos="756285" algn="l"/>
                <a:tab pos="756920" algn="l"/>
              </a:tabLst>
            </a:pPr>
            <a:r>
              <a:rPr sz="2000" spc="-5" dirty="0">
                <a:latin typeface="Calibri"/>
                <a:cs typeface="Calibri"/>
              </a:rPr>
              <a:t>Análisis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Sistemas</a:t>
            </a:r>
            <a:endParaRPr sz="2000">
              <a:latin typeface="Calibri"/>
              <a:cs typeface="Calibri"/>
            </a:endParaRPr>
          </a:p>
          <a:p>
            <a:pPr marL="756285" indent="-287020">
              <a:lnSpc>
                <a:spcPct val="100000"/>
              </a:lnSpc>
              <a:buFont typeface="Arial"/>
              <a:buChar char="–"/>
              <a:tabLst>
                <a:tab pos="756285" algn="l"/>
                <a:tab pos="756920" algn="l"/>
              </a:tabLst>
            </a:pPr>
            <a:r>
              <a:rPr sz="2000" spc="-5" dirty="0">
                <a:latin typeface="Calibri"/>
                <a:cs typeface="Calibri"/>
              </a:rPr>
              <a:t>Análisis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Requerimientos</a:t>
            </a:r>
            <a:endParaRPr sz="2000">
              <a:latin typeface="Calibri"/>
              <a:cs typeface="Calibri"/>
            </a:endParaRPr>
          </a:p>
          <a:p>
            <a:pPr marL="756285" indent="-287020">
              <a:lnSpc>
                <a:spcPct val="100000"/>
              </a:lnSpc>
              <a:buFont typeface="Arial"/>
              <a:buChar char="–"/>
              <a:tabLst>
                <a:tab pos="756285" algn="l"/>
                <a:tab pos="756920" algn="l"/>
              </a:tabLst>
            </a:pPr>
            <a:r>
              <a:rPr sz="2000" spc="-5" dirty="0">
                <a:latin typeface="Calibri"/>
                <a:cs typeface="Calibri"/>
              </a:rPr>
              <a:t>Ingeniería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Sistemas</a:t>
            </a:r>
            <a:endParaRPr sz="2000">
              <a:latin typeface="Calibri"/>
              <a:cs typeface="Calibri"/>
            </a:endParaRPr>
          </a:p>
          <a:p>
            <a:pPr marL="756285" indent="-287020">
              <a:lnSpc>
                <a:spcPct val="100000"/>
              </a:lnSpc>
              <a:buFont typeface="Arial"/>
              <a:buChar char="–"/>
              <a:tabLst>
                <a:tab pos="756285" algn="l"/>
                <a:tab pos="756920" algn="l"/>
              </a:tabLst>
            </a:pPr>
            <a:r>
              <a:rPr sz="2000" spc="-5" dirty="0">
                <a:latin typeface="Calibri"/>
                <a:cs typeface="Calibri"/>
              </a:rPr>
              <a:t>Ingeniería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Valor</a:t>
            </a:r>
            <a:endParaRPr sz="2000">
              <a:latin typeface="Calibri"/>
              <a:cs typeface="Calibri"/>
            </a:endParaRPr>
          </a:p>
          <a:p>
            <a:pPr marL="756285" indent="-287020">
              <a:lnSpc>
                <a:spcPts val="2400"/>
              </a:lnSpc>
              <a:buFont typeface="Arial"/>
              <a:buChar char="–"/>
              <a:tabLst>
                <a:tab pos="756285" algn="l"/>
                <a:tab pos="756920" algn="l"/>
              </a:tabLst>
            </a:pPr>
            <a:r>
              <a:rPr sz="2000" spc="-5" dirty="0">
                <a:latin typeface="Calibri"/>
                <a:cs typeface="Calibri"/>
              </a:rPr>
              <a:t>Análisis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Valor</a:t>
            </a:r>
            <a:endParaRPr sz="2000">
              <a:latin typeface="Calibri"/>
              <a:cs typeface="Calibri"/>
            </a:endParaRPr>
          </a:p>
          <a:p>
            <a:pPr marL="355600" marR="5080" indent="-343535" algn="just">
              <a:lnSpc>
                <a:spcPct val="80000"/>
              </a:lnSpc>
              <a:spcBef>
                <a:spcPts val="525"/>
              </a:spcBef>
              <a:buFont typeface="Arial"/>
              <a:buChar char="•"/>
              <a:tabLst>
                <a:tab pos="356235" algn="l"/>
              </a:tabLst>
            </a:pPr>
            <a:r>
              <a:rPr sz="2200" b="1" i="1" spc="-5" dirty="0">
                <a:latin typeface="Calibri"/>
                <a:cs typeface="Calibri"/>
              </a:rPr>
              <a:t>3. Identificación de Alternativas: </a:t>
            </a:r>
            <a:r>
              <a:rPr sz="2200" spc="-35" dirty="0">
                <a:latin typeface="Calibri"/>
                <a:cs typeface="Calibri"/>
              </a:rPr>
              <a:t>Técnica </a:t>
            </a:r>
            <a:r>
              <a:rPr sz="2200" spc="-5" dirty="0">
                <a:latin typeface="Calibri"/>
                <a:cs typeface="Calibri"/>
              </a:rPr>
              <a:t>usada </a:t>
            </a:r>
            <a:r>
              <a:rPr sz="2200" spc="-20" dirty="0">
                <a:latin typeface="Calibri"/>
                <a:cs typeface="Calibri"/>
              </a:rPr>
              <a:t>para </a:t>
            </a:r>
            <a:r>
              <a:rPr sz="2200" spc="-10" dirty="0">
                <a:latin typeface="Calibri"/>
                <a:cs typeface="Calibri"/>
              </a:rPr>
              <a:t>identificar  </a:t>
            </a:r>
            <a:r>
              <a:rPr sz="2200" spc="-5" dirty="0">
                <a:latin typeface="Calibri"/>
                <a:cs typeface="Calibri"/>
              </a:rPr>
              <a:t>cuáles son las </a:t>
            </a:r>
            <a:r>
              <a:rPr sz="2200" spc="-15" dirty="0">
                <a:latin typeface="Calibri"/>
                <a:cs typeface="Calibri"/>
              </a:rPr>
              <a:t>diferentes </a:t>
            </a:r>
            <a:r>
              <a:rPr sz="2200" spc="-10" dirty="0">
                <a:latin typeface="Calibri"/>
                <a:cs typeface="Calibri"/>
              </a:rPr>
              <a:t>alternativas </a:t>
            </a:r>
            <a:r>
              <a:rPr sz="2200" spc="-20" dirty="0">
                <a:latin typeface="Calibri"/>
                <a:cs typeface="Calibri"/>
              </a:rPr>
              <a:t>para </a:t>
            </a:r>
            <a:r>
              <a:rPr sz="2200" spc="-10" dirty="0">
                <a:latin typeface="Calibri"/>
                <a:cs typeface="Calibri"/>
              </a:rPr>
              <a:t>ejecutar </a:t>
            </a:r>
            <a:r>
              <a:rPr sz="2200" spc="-5" dirty="0">
                <a:latin typeface="Calibri"/>
                <a:cs typeface="Calibri"/>
              </a:rPr>
              <a:t>y </a:t>
            </a:r>
            <a:r>
              <a:rPr sz="2200" spc="-10" dirty="0">
                <a:latin typeface="Calibri"/>
                <a:cs typeface="Calibri"/>
              </a:rPr>
              <a:t>desarrollar el  </a:t>
            </a:r>
            <a:r>
              <a:rPr sz="2200" spc="-15" dirty="0">
                <a:latin typeface="Calibri"/>
                <a:cs typeface="Calibri"/>
              </a:rPr>
              <a:t>trabajo </a:t>
            </a:r>
            <a:r>
              <a:rPr sz="2200" spc="-5" dirty="0">
                <a:latin typeface="Calibri"/>
                <a:cs typeface="Calibri"/>
              </a:rPr>
              <a:t>del </a:t>
            </a:r>
            <a:r>
              <a:rPr sz="2200" spc="-15" dirty="0">
                <a:latin typeface="Calibri"/>
                <a:cs typeface="Calibri"/>
              </a:rPr>
              <a:t>proyecto. </a:t>
            </a:r>
            <a:r>
              <a:rPr sz="2200" spc="-5" dirty="0">
                <a:latin typeface="Calibri"/>
                <a:cs typeface="Calibri"/>
              </a:rPr>
              <a:t>Se </a:t>
            </a:r>
            <a:r>
              <a:rPr sz="2200" spc="-10" dirty="0">
                <a:latin typeface="Calibri"/>
                <a:cs typeface="Calibri"/>
              </a:rPr>
              <a:t>hace </a:t>
            </a:r>
            <a:r>
              <a:rPr sz="2200" spc="-15" dirty="0">
                <a:latin typeface="Calibri"/>
                <a:cs typeface="Calibri"/>
              </a:rPr>
              <a:t>con </a:t>
            </a:r>
            <a:r>
              <a:rPr sz="2200" spc="-5" dirty="0">
                <a:latin typeface="Calibri"/>
                <a:cs typeface="Calibri"/>
              </a:rPr>
              <a:t>el </a:t>
            </a:r>
            <a:r>
              <a:rPr sz="2200" spc="-15" dirty="0">
                <a:latin typeface="Calibri"/>
                <a:cs typeface="Calibri"/>
              </a:rPr>
              <a:t>Equipo </a:t>
            </a:r>
            <a:r>
              <a:rPr sz="2200" spc="-5" dirty="0">
                <a:latin typeface="Calibri"/>
                <a:cs typeface="Calibri"/>
              </a:rPr>
              <a:t>del</a:t>
            </a:r>
            <a:r>
              <a:rPr sz="2200" spc="11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Proyecto.</a:t>
            </a:r>
            <a:endParaRPr sz="2200">
              <a:latin typeface="Calibri"/>
              <a:cs typeface="Calibri"/>
            </a:endParaRPr>
          </a:p>
          <a:p>
            <a:pPr marL="355600" indent="-343535" algn="just">
              <a:lnSpc>
                <a:spcPct val="100000"/>
              </a:lnSpc>
              <a:buFont typeface="Arial"/>
              <a:buChar char="•"/>
              <a:tabLst>
                <a:tab pos="356235" algn="l"/>
              </a:tabLst>
            </a:pPr>
            <a:r>
              <a:rPr sz="2200" b="1" i="1" spc="-5" dirty="0">
                <a:latin typeface="Calibri"/>
                <a:cs typeface="Calibri"/>
              </a:rPr>
              <a:t>4. </a:t>
            </a:r>
            <a:r>
              <a:rPr sz="2200" b="1" i="1" spc="-25" dirty="0">
                <a:latin typeface="Calibri"/>
                <a:cs typeface="Calibri"/>
              </a:rPr>
              <a:t>Talleres </a:t>
            </a:r>
            <a:r>
              <a:rPr sz="2200" b="1" i="1" spc="-5" dirty="0">
                <a:latin typeface="Calibri"/>
                <a:cs typeface="Calibri"/>
              </a:rPr>
              <a:t>de </a:t>
            </a:r>
            <a:r>
              <a:rPr sz="2200" b="1" i="1" spc="-10" dirty="0">
                <a:latin typeface="Calibri"/>
                <a:cs typeface="Calibri"/>
              </a:rPr>
              <a:t>Facilitación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26489" y="461899"/>
            <a:ext cx="589407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Definir </a:t>
            </a:r>
            <a:r>
              <a:rPr dirty="0"/>
              <a:t>el </a:t>
            </a:r>
            <a:r>
              <a:rPr spc="-5" dirty="0"/>
              <a:t>Alcance-</a:t>
            </a:r>
            <a:r>
              <a:rPr spc="-15" dirty="0"/>
              <a:t> </a:t>
            </a:r>
            <a:r>
              <a:rPr b="1" spc="-5" dirty="0">
                <a:latin typeface="Calibri"/>
                <a:cs typeface="Calibri"/>
              </a:rPr>
              <a:t>Salidas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45462"/>
            <a:ext cx="8072120" cy="235839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marR="5080" indent="-343535" algn="just">
              <a:lnSpc>
                <a:spcPts val="2400"/>
              </a:lnSpc>
              <a:spcBef>
                <a:spcPts val="675"/>
              </a:spcBef>
              <a:buFont typeface="Arial"/>
              <a:buChar char="•"/>
              <a:tabLst>
                <a:tab pos="356235" algn="l"/>
              </a:tabLst>
            </a:pPr>
            <a:r>
              <a:rPr sz="2500" b="1" i="1" spc="-10" dirty="0">
                <a:latin typeface="Calibri"/>
                <a:cs typeface="Calibri"/>
              </a:rPr>
              <a:t>1. Enunciado </a:t>
            </a:r>
            <a:r>
              <a:rPr sz="2500" b="1" i="1" spc="-5" dirty="0">
                <a:latin typeface="Calibri"/>
                <a:cs typeface="Calibri"/>
              </a:rPr>
              <a:t>del </a:t>
            </a:r>
            <a:r>
              <a:rPr sz="2500" b="1" i="1" spc="-10" dirty="0">
                <a:latin typeface="Calibri"/>
                <a:cs typeface="Calibri"/>
              </a:rPr>
              <a:t>Alcance </a:t>
            </a:r>
            <a:r>
              <a:rPr sz="2500" b="1" i="1" spc="-5" dirty="0">
                <a:latin typeface="Calibri"/>
                <a:cs typeface="Calibri"/>
              </a:rPr>
              <a:t>del </a:t>
            </a:r>
            <a:r>
              <a:rPr sz="2500" b="1" i="1" spc="-15" dirty="0">
                <a:latin typeface="Calibri"/>
                <a:cs typeface="Calibri"/>
              </a:rPr>
              <a:t>Proyecto: </a:t>
            </a:r>
            <a:r>
              <a:rPr sz="2500" spc="-5" dirty="0">
                <a:latin typeface="Calibri"/>
                <a:cs typeface="Calibri"/>
              </a:rPr>
              <a:t>Descripción </a:t>
            </a:r>
            <a:r>
              <a:rPr sz="2500" dirty="0">
                <a:latin typeface="Calibri"/>
                <a:cs typeface="Calibri"/>
              </a:rPr>
              <a:t>en  </a:t>
            </a:r>
            <a:r>
              <a:rPr sz="2500" spc="-10" dirty="0">
                <a:latin typeface="Calibri"/>
                <a:cs typeface="Calibri"/>
              </a:rPr>
              <a:t>detalle </a:t>
            </a:r>
            <a:r>
              <a:rPr sz="2500" spc="-5" dirty="0">
                <a:latin typeface="Calibri"/>
                <a:cs typeface="Calibri"/>
              </a:rPr>
              <a:t>de los </a:t>
            </a:r>
            <a:r>
              <a:rPr sz="2500" spc="-15" dirty="0">
                <a:latin typeface="Calibri"/>
                <a:cs typeface="Calibri"/>
              </a:rPr>
              <a:t>entregables </a:t>
            </a:r>
            <a:r>
              <a:rPr sz="2500" spc="-5" dirty="0">
                <a:latin typeface="Calibri"/>
                <a:cs typeface="Calibri"/>
              </a:rPr>
              <a:t>y del </a:t>
            </a:r>
            <a:r>
              <a:rPr sz="2500" spc="-10" dirty="0">
                <a:latin typeface="Calibri"/>
                <a:cs typeface="Calibri"/>
              </a:rPr>
              <a:t>trabajo requerido </a:t>
            </a:r>
            <a:r>
              <a:rPr sz="2500" spc="-15" dirty="0">
                <a:latin typeface="Calibri"/>
                <a:cs typeface="Calibri"/>
              </a:rPr>
              <a:t>para </a:t>
            </a:r>
            <a:r>
              <a:rPr sz="2500" spc="535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hacer </a:t>
            </a:r>
            <a:r>
              <a:rPr sz="2500" spc="-5" dirty="0">
                <a:latin typeface="Calibri"/>
                <a:cs typeface="Calibri"/>
              </a:rPr>
              <a:t>esos</a:t>
            </a:r>
            <a:r>
              <a:rPr sz="2500" spc="25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entregables.</a:t>
            </a:r>
            <a:endParaRPr sz="25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30"/>
              </a:spcBef>
              <a:buFont typeface="Arial"/>
              <a:buChar char="–"/>
              <a:tabLst>
                <a:tab pos="756285" algn="l"/>
                <a:tab pos="756920" algn="l"/>
              </a:tabLst>
            </a:pPr>
            <a:r>
              <a:rPr sz="2200" spc="-5" dirty="0">
                <a:latin typeface="Calibri"/>
                <a:cs typeface="Calibri"/>
              </a:rPr>
              <a:t>Se </a:t>
            </a:r>
            <a:r>
              <a:rPr sz="2200" spc="-10" dirty="0">
                <a:latin typeface="Calibri"/>
                <a:cs typeface="Calibri"/>
              </a:rPr>
              <a:t>define </a:t>
            </a:r>
            <a:r>
              <a:rPr sz="2200" spc="-5" dirty="0">
                <a:latin typeface="Calibri"/>
                <a:cs typeface="Calibri"/>
              </a:rPr>
              <a:t>lo que se tiene que </a:t>
            </a:r>
            <a:r>
              <a:rPr sz="2200" spc="-10" dirty="0">
                <a:latin typeface="Calibri"/>
                <a:cs typeface="Calibri"/>
              </a:rPr>
              <a:t>hacer </a:t>
            </a:r>
            <a:r>
              <a:rPr sz="2200" spc="-15" dirty="0">
                <a:latin typeface="Calibri"/>
                <a:cs typeface="Calibri"/>
              </a:rPr>
              <a:t>(enfoque </a:t>
            </a:r>
            <a:r>
              <a:rPr sz="2200" spc="-5" dirty="0">
                <a:latin typeface="Calibri"/>
                <a:cs typeface="Calibri"/>
              </a:rPr>
              <a:t>y</a:t>
            </a:r>
            <a:r>
              <a:rPr sz="2200" spc="155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características)</a:t>
            </a:r>
            <a:endParaRPr sz="22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5"/>
              </a:spcBef>
              <a:buFont typeface="Arial"/>
              <a:buChar char="–"/>
              <a:tabLst>
                <a:tab pos="756285" algn="l"/>
                <a:tab pos="756920" algn="l"/>
              </a:tabLst>
            </a:pPr>
            <a:r>
              <a:rPr sz="2200" spc="-10" dirty="0">
                <a:latin typeface="Calibri"/>
                <a:cs typeface="Calibri"/>
              </a:rPr>
              <a:t>Proporciona </a:t>
            </a:r>
            <a:r>
              <a:rPr sz="2200" spc="-5" dirty="0">
                <a:latin typeface="Calibri"/>
                <a:cs typeface="Calibri"/>
              </a:rPr>
              <a:t>un </a:t>
            </a:r>
            <a:r>
              <a:rPr sz="2200" spc="-15" dirty="0">
                <a:latin typeface="Calibri"/>
                <a:cs typeface="Calibri"/>
              </a:rPr>
              <a:t>entendimiento </a:t>
            </a:r>
            <a:r>
              <a:rPr sz="2200" spc="-10" dirty="0">
                <a:latin typeface="Calibri"/>
                <a:cs typeface="Calibri"/>
              </a:rPr>
              <a:t>común </a:t>
            </a:r>
            <a:r>
              <a:rPr sz="2200" spc="-5" dirty="0">
                <a:latin typeface="Calibri"/>
                <a:cs typeface="Calibri"/>
              </a:rPr>
              <a:t>a los</a:t>
            </a:r>
            <a:r>
              <a:rPr sz="2200" spc="7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Interesados</a:t>
            </a:r>
            <a:endParaRPr sz="22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buFont typeface="Arial"/>
              <a:buChar char="–"/>
              <a:tabLst>
                <a:tab pos="756285" algn="l"/>
                <a:tab pos="756920" algn="l"/>
              </a:tabLst>
            </a:pPr>
            <a:r>
              <a:rPr sz="2200" spc="-15" dirty="0">
                <a:latin typeface="Calibri"/>
                <a:cs typeface="Calibri"/>
              </a:rPr>
              <a:t>Muestra </a:t>
            </a:r>
            <a:r>
              <a:rPr sz="2200" spc="-5" dirty="0">
                <a:latin typeface="Calibri"/>
                <a:cs typeface="Calibri"/>
              </a:rPr>
              <a:t>la Línea Base del </a:t>
            </a:r>
            <a:r>
              <a:rPr sz="2200" spc="-10" dirty="0">
                <a:latin typeface="Calibri"/>
                <a:cs typeface="Calibri"/>
              </a:rPr>
              <a:t>Alcance (los límites </a:t>
            </a:r>
            <a:r>
              <a:rPr sz="2200" spc="-5" dirty="0">
                <a:latin typeface="Calibri"/>
                <a:cs typeface="Calibri"/>
              </a:rPr>
              <a:t>del</a:t>
            </a:r>
            <a:r>
              <a:rPr sz="2200" spc="114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Proyecto)</a:t>
            </a:r>
            <a:endParaRPr sz="22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buFont typeface="Arial"/>
              <a:buChar char="–"/>
              <a:tabLst>
                <a:tab pos="756285" algn="l"/>
                <a:tab pos="756920" algn="l"/>
              </a:tabLst>
            </a:pPr>
            <a:r>
              <a:rPr sz="2200" spc="-10" dirty="0">
                <a:latin typeface="Calibri"/>
                <a:cs typeface="Calibri"/>
              </a:rPr>
              <a:t>Incluye: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50594" y="3880180"/>
            <a:ext cx="3903979" cy="17633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4640" indent="-28194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94005" algn="l"/>
                <a:tab pos="294640" algn="l"/>
              </a:tabLst>
            </a:pPr>
            <a:r>
              <a:rPr sz="1900" spc="-10" dirty="0">
                <a:latin typeface="Calibri"/>
                <a:cs typeface="Calibri"/>
              </a:rPr>
              <a:t>Descripción </a:t>
            </a:r>
            <a:r>
              <a:rPr sz="1900" spc="-5" dirty="0">
                <a:latin typeface="Calibri"/>
                <a:cs typeface="Calibri"/>
              </a:rPr>
              <a:t>del alcance del</a:t>
            </a:r>
            <a:r>
              <a:rPr sz="1900" spc="65" dirty="0">
                <a:latin typeface="Calibri"/>
                <a:cs typeface="Calibri"/>
              </a:rPr>
              <a:t> </a:t>
            </a:r>
            <a:r>
              <a:rPr sz="1900" spc="-15" dirty="0">
                <a:latin typeface="Calibri"/>
                <a:cs typeface="Calibri"/>
              </a:rPr>
              <a:t>producto</a:t>
            </a:r>
            <a:endParaRPr sz="1900">
              <a:latin typeface="Calibri"/>
              <a:cs typeface="Calibri"/>
            </a:endParaRPr>
          </a:p>
          <a:p>
            <a:pPr marL="294640" indent="-281940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294005" algn="l"/>
                <a:tab pos="294640" algn="l"/>
              </a:tabLst>
            </a:pPr>
            <a:r>
              <a:rPr sz="1900" spc="-10" dirty="0">
                <a:latin typeface="Calibri"/>
                <a:cs typeface="Calibri"/>
              </a:rPr>
              <a:t>Criterios </a:t>
            </a:r>
            <a:r>
              <a:rPr sz="1900" spc="-5" dirty="0">
                <a:latin typeface="Calibri"/>
                <a:cs typeface="Calibri"/>
              </a:rPr>
              <a:t>de</a:t>
            </a:r>
            <a:r>
              <a:rPr sz="1900" spc="3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aceptación</a:t>
            </a:r>
            <a:endParaRPr sz="19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1900" spc="-10" dirty="0">
                <a:latin typeface="Calibri"/>
                <a:cs typeface="Calibri"/>
              </a:rPr>
              <a:t>Los</a:t>
            </a:r>
            <a:r>
              <a:rPr sz="190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entregables</a:t>
            </a:r>
            <a:endParaRPr sz="19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1900" spc="-10" dirty="0">
                <a:latin typeface="Calibri"/>
                <a:cs typeface="Calibri"/>
              </a:rPr>
              <a:t>Las</a:t>
            </a:r>
            <a:r>
              <a:rPr sz="1900" dirty="0">
                <a:latin typeface="Calibri"/>
                <a:cs typeface="Calibri"/>
              </a:rPr>
              <a:t> </a:t>
            </a:r>
            <a:r>
              <a:rPr sz="1900" spc="-15" dirty="0">
                <a:latin typeface="Calibri"/>
                <a:cs typeface="Calibri"/>
              </a:rPr>
              <a:t>exclusiones</a:t>
            </a:r>
            <a:endParaRPr sz="19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1900" spc="-10" dirty="0">
                <a:latin typeface="Calibri"/>
                <a:cs typeface="Calibri"/>
              </a:rPr>
              <a:t>Las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restricciones</a:t>
            </a:r>
            <a:endParaRPr sz="19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1900" spc="-10" dirty="0">
                <a:latin typeface="Calibri"/>
                <a:cs typeface="Calibri"/>
              </a:rPr>
              <a:t>Las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suposiciones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365372" y="4926533"/>
            <a:ext cx="138430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441959" algn="l"/>
              </a:tabLst>
            </a:pPr>
            <a:r>
              <a:rPr sz="4400" dirty="0">
                <a:latin typeface="Calibri"/>
                <a:cs typeface="Calibri"/>
              </a:rPr>
              <a:t>}	</a:t>
            </a:r>
            <a:r>
              <a:rPr sz="2400" dirty="0">
                <a:latin typeface="Calibri"/>
                <a:cs typeface="Calibri"/>
              </a:rPr>
              <a:t>Ries</a:t>
            </a:r>
            <a:r>
              <a:rPr sz="2400" spc="-15" dirty="0">
                <a:latin typeface="Calibri"/>
                <a:cs typeface="Calibri"/>
              </a:rPr>
              <a:t>g</a:t>
            </a:r>
            <a:r>
              <a:rPr sz="2400" spc="-5" dirty="0">
                <a:latin typeface="Calibri"/>
                <a:cs typeface="Calibri"/>
              </a:rPr>
              <a:t>os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715000" y="3928871"/>
            <a:ext cx="2071319" cy="214274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26489" y="461899"/>
            <a:ext cx="589407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Definir </a:t>
            </a:r>
            <a:r>
              <a:rPr dirty="0"/>
              <a:t>el </a:t>
            </a:r>
            <a:r>
              <a:rPr spc="-5" dirty="0"/>
              <a:t>Alcance-</a:t>
            </a:r>
            <a:r>
              <a:rPr spc="-15" dirty="0"/>
              <a:t> </a:t>
            </a:r>
            <a:r>
              <a:rPr b="1" spc="-5" dirty="0">
                <a:latin typeface="Calibri"/>
                <a:cs typeface="Calibri"/>
              </a:rPr>
              <a:t>Salidas</a:t>
            </a:r>
          </a:p>
        </p:txBody>
      </p:sp>
      <p:sp>
        <p:nvSpPr>
          <p:cNvPr id="3" name="object 3"/>
          <p:cNvSpPr/>
          <p:nvPr/>
        </p:nvSpPr>
        <p:spPr>
          <a:xfrm>
            <a:off x="786383" y="1499616"/>
            <a:ext cx="7819644" cy="440588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26489" y="461899"/>
            <a:ext cx="589407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Definir </a:t>
            </a:r>
            <a:r>
              <a:rPr dirty="0"/>
              <a:t>el </a:t>
            </a:r>
            <a:r>
              <a:rPr spc="-5" dirty="0"/>
              <a:t>Alcance-</a:t>
            </a:r>
            <a:r>
              <a:rPr spc="-15" dirty="0"/>
              <a:t> </a:t>
            </a:r>
            <a:r>
              <a:rPr b="1" spc="-5" dirty="0">
                <a:latin typeface="Calibri"/>
                <a:cs typeface="Calibri"/>
              </a:rPr>
              <a:t>Salidas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07946"/>
            <a:ext cx="4648200" cy="33940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3535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3200" b="1" i="1" dirty="0">
                <a:latin typeface="Calibri"/>
                <a:cs typeface="Calibri"/>
              </a:rPr>
              <a:t>2. </a:t>
            </a:r>
            <a:r>
              <a:rPr sz="3200" b="1" i="1" spc="-5" dirty="0">
                <a:latin typeface="Calibri"/>
                <a:cs typeface="Calibri"/>
              </a:rPr>
              <a:t>Actualización </a:t>
            </a:r>
            <a:r>
              <a:rPr sz="3200" b="1" i="1" dirty="0">
                <a:latin typeface="Calibri"/>
                <a:cs typeface="Calibri"/>
              </a:rPr>
              <a:t>a los  </a:t>
            </a:r>
            <a:r>
              <a:rPr sz="3200" b="1" i="1" spc="-10" dirty="0">
                <a:latin typeface="Calibri"/>
                <a:cs typeface="Calibri"/>
              </a:rPr>
              <a:t>Documentos </a:t>
            </a:r>
            <a:r>
              <a:rPr sz="3200" b="1" i="1" dirty="0">
                <a:latin typeface="Calibri"/>
                <a:cs typeface="Calibri"/>
              </a:rPr>
              <a:t>del</a:t>
            </a:r>
            <a:r>
              <a:rPr sz="3200" b="1" i="1" spc="-75" dirty="0">
                <a:latin typeface="Calibri"/>
                <a:cs typeface="Calibri"/>
              </a:rPr>
              <a:t> </a:t>
            </a:r>
            <a:r>
              <a:rPr sz="3200" b="1" i="1" spc="-10" dirty="0">
                <a:latin typeface="Calibri"/>
                <a:cs typeface="Calibri"/>
              </a:rPr>
              <a:t>Proyecto</a:t>
            </a:r>
            <a:endParaRPr sz="32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685"/>
              </a:spcBef>
              <a:buFont typeface="Arial"/>
              <a:buChar char="–"/>
              <a:tabLst>
                <a:tab pos="756920" algn="l"/>
              </a:tabLst>
            </a:pPr>
            <a:r>
              <a:rPr sz="2800" spc="-20" dirty="0">
                <a:latin typeface="Calibri"/>
                <a:cs typeface="Calibri"/>
              </a:rPr>
              <a:t>Registro </a:t>
            </a:r>
            <a:r>
              <a:rPr sz="2800" spc="-5" dirty="0">
                <a:latin typeface="Calibri"/>
                <a:cs typeface="Calibri"/>
              </a:rPr>
              <a:t>de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Interesados</a:t>
            </a:r>
            <a:endParaRPr sz="2800">
              <a:latin typeface="Calibri"/>
              <a:cs typeface="Calibri"/>
            </a:endParaRPr>
          </a:p>
          <a:p>
            <a:pPr marL="756285" marR="1160780" lvl="1" indent="-287020">
              <a:lnSpc>
                <a:spcPct val="100000"/>
              </a:lnSpc>
              <a:spcBef>
                <a:spcPts val="675"/>
              </a:spcBef>
              <a:buFont typeface="Arial"/>
              <a:buChar char="–"/>
              <a:tabLst>
                <a:tab pos="756920" algn="l"/>
              </a:tabLst>
            </a:pPr>
            <a:r>
              <a:rPr sz="2800" spc="-10" dirty="0">
                <a:latin typeface="Calibri"/>
                <a:cs typeface="Calibri"/>
              </a:rPr>
              <a:t>Documentación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de  </a:t>
            </a:r>
            <a:r>
              <a:rPr sz="2800" spc="-15" dirty="0">
                <a:latin typeface="Calibri"/>
                <a:cs typeface="Calibri"/>
              </a:rPr>
              <a:t>Requerimientos</a:t>
            </a:r>
            <a:endParaRPr sz="2800">
              <a:latin typeface="Calibri"/>
              <a:cs typeface="Calibri"/>
            </a:endParaRPr>
          </a:p>
          <a:p>
            <a:pPr marL="756285" marR="265430" lvl="1" indent="-287020">
              <a:lnSpc>
                <a:spcPct val="100000"/>
              </a:lnSpc>
              <a:spcBef>
                <a:spcPts val="675"/>
              </a:spcBef>
              <a:buFont typeface="Arial"/>
              <a:buChar char="–"/>
              <a:tabLst>
                <a:tab pos="756920" algn="l"/>
              </a:tabLst>
            </a:pPr>
            <a:r>
              <a:rPr sz="2800" spc="-10" dirty="0">
                <a:latin typeface="Calibri"/>
                <a:cs typeface="Calibri"/>
              </a:rPr>
              <a:t>Matriz </a:t>
            </a:r>
            <a:r>
              <a:rPr sz="2800" spc="-5" dirty="0">
                <a:latin typeface="Calibri"/>
                <a:cs typeface="Calibri"/>
              </a:rPr>
              <a:t>de </a:t>
            </a:r>
            <a:r>
              <a:rPr sz="2800" spc="-30" dirty="0">
                <a:latin typeface="Calibri"/>
                <a:cs typeface="Calibri"/>
              </a:rPr>
              <a:t>Trazabilidad </a:t>
            </a:r>
            <a:r>
              <a:rPr sz="2800" spc="-10" dirty="0">
                <a:latin typeface="Calibri"/>
                <a:cs typeface="Calibri"/>
              </a:rPr>
              <a:t>de  </a:t>
            </a:r>
            <a:r>
              <a:rPr sz="2800" spc="-15" dirty="0">
                <a:latin typeface="Calibri"/>
                <a:cs typeface="Calibri"/>
              </a:rPr>
              <a:t>Requerimientos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500115" y="2314955"/>
            <a:ext cx="3334512" cy="22280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01034" y="461899"/>
            <a:ext cx="174307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A</a:t>
            </a:r>
            <a:r>
              <a:rPr spc="-40" dirty="0"/>
              <a:t>g</a:t>
            </a:r>
            <a:r>
              <a:rPr dirty="0"/>
              <a:t>enda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408938"/>
            <a:ext cx="3552825" cy="4141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1500" dirty="0">
                <a:latin typeface="Calibri"/>
                <a:cs typeface="Calibri"/>
              </a:rPr>
              <a:t>GRUPO </a:t>
            </a:r>
            <a:r>
              <a:rPr sz="1500" spc="-5" dirty="0">
                <a:latin typeface="Calibri"/>
                <a:cs typeface="Calibri"/>
              </a:rPr>
              <a:t>DE PROCESOS DE</a:t>
            </a:r>
            <a:r>
              <a:rPr sz="1500" spc="-105" dirty="0">
                <a:latin typeface="Calibri"/>
                <a:cs typeface="Calibri"/>
              </a:rPr>
              <a:t> </a:t>
            </a:r>
            <a:r>
              <a:rPr sz="1500" spc="-5" dirty="0">
                <a:latin typeface="Calibri"/>
                <a:cs typeface="Calibri"/>
              </a:rPr>
              <a:t>PLANIFICACION</a:t>
            </a:r>
            <a:endParaRPr sz="15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Font typeface="Arial"/>
              <a:buChar char="•"/>
            </a:pPr>
            <a:endParaRPr sz="1550">
              <a:latin typeface="Times New Roman"/>
              <a:cs typeface="Times New Roman"/>
            </a:endParaRPr>
          </a:p>
          <a:p>
            <a:pPr marL="756285" lvl="1" indent="-287020">
              <a:lnSpc>
                <a:spcPct val="100000"/>
              </a:lnSpc>
              <a:buFont typeface="Arial"/>
              <a:buChar char="–"/>
              <a:tabLst>
                <a:tab pos="756285" algn="l"/>
                <a:tab pos="756920" algn="l"/>
              </a:tabLst>
            </a:pPr>
            <a:r>
              <a:rPr sz="1500" spc="-5" dirty="0">
                <a:latin typeface="Calibri"/>
                <a:cs typeface="Calibri"/>
              </a:rPr>
              <a:t>Planificar </a:t>
            </a:r>
            <a:r>
              <a:rPr sz="1500" dirty="0">
                <a:latin typeface="Calibri"/>
                <a:cs typeface="Calibri"/>
              </a:rPr>
              <a:t>la </a:t>
            </a:r>
            <a:r>
              <a:rPr sz="1500" spc="-5" dirty="0">
                <a:latin typeface="Calibri"/>
                <a:cs typeface="Calibri"/>
              </a:rPr>
              <a:t>Gestión </a:t>
            </a:r>
            <a:r>
              <a:rPr sz="1500" dirty="0">
                <a:latin typeface="Calibri"/>
                <a:cs typeface="Calibri"/>
              </a:rPr>
              <a:t>del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spc="-5" dirty="0">
                <a:latin typeface="Calibri"/>
                <a:cs typeface="Calibri"/>
              </a:rPr>
              <a:t>Alcance</a:t>
            </a:r>
            <a:endParaRPr sz="150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1500" spc="-10" dirty="0">
                <a:latin typeface="Calibri"/>
                <a:cs typeface="Calibri"/>
              </a:rPr>
              <a:t>Entradas</a:t>
            </a:r>
            <a:endParaRPr sz="150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1500" spc="-10" dirty="0">
                <a:latin typeface="Calibri"/>
                <a:cs typeface="Calibri"/>
              </a:rPr>
              <a:t>Herramientas </a:t>
            </a:r>
            <a:r>
              <a:rPr sz="1500" dirty="0">
                <a:latin typeface="Calibri"/>
                <a:cs typeface="Calibri"/>
              </a:rPr>
              <a:t>y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spc="-20" dirty="0">
                <a:latin typeface="Calibri"/>
                <a:cs typeface="Calibri"/>
              </a:rPr>
              <a:t>Técnicas</a:t>
            </a:r>
            <a:endParaRPr sz="150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1500" spc="-5" dirty="0">
                <a:latin typeface="Calibri"/>
                <a:cs typeface="Calibri"/>
              </a:rPr>
              <a:t>Salidas</a:t>
            </a:r>
            <a:endParaRPr sz="15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buFont typeface="Arial"/>
              <a:buChar char="–"/>
              <a:tabLst>
                <a:tab pos="756285" algn="l"/>
                <a:tab pos="756920" algn="l"/>
              </a:tabLst>
            </a:pPr>
            <a:r>
              <a:rPr sz="1500" spc="-10" dirty="0">
                <a:latin typeface="Calibri"/>
                <a:cs typeface="Calibri"/>
              </a:rPr>
              <a:t>Recolectar</a:t>
            </a:r>
            <a:r>
              <a:rPr sz="1500" spc="-5" dirty="0">
                <a:latin typeface="Calibri"/>
                <a:cs typeface="Calibri"/>
              </a:rPr>
              <a:t> Requerimientos</a:t>
            </a:r>
            <a:endParaRPr sz="150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1500" spc="-10" dirty="0">
                <a:latin typeface="Calibri"/>
                <a:cs typeface="Calibri"/>
              </a:rPr>
              <a:t>Entradas</a:t>
            </a:r>
            <a:endParaRPr sz="150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1500" spc="-10" dirty="0">
                <a:latin typeface="Calibri"/>
                <a:cs typeface="Calibri"/>
              </a:rPr>
              <a:t>Herramientas </a:t>
            </a:r>
            <a:r>
              <a:rPr sz="1500" dirty="0">
                <a:latin typeface="Calibri"/>
                <a:cs typeface="Calibri"/>
              </a:rPr>
              <a:t>y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spc="-20" dirty="0">
                <a:latin typeface="Calibri"/>
                <a:cs typeface="Calibri"/>
              </a:rPr>
              <a:t>Técnicas</a:t>
            </a:r>
            <a:endParaRPr sz="150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1500" spc="-5" dirty="0">
                <a:latin typeface="Calibri"/>
                <a:cs typeface="Calibri"/>
              </a:rPr>
              <a:t>Salidas</a:t>
            </a:r>
            <a:endParaRPr sz="15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buFont typeface="Arial"/>
              <a:buChar char="–"/>
              <a:tabLst>
                <a:tab pos="756285" algn="l"/>
                <a:tab pos="756920" algn="l"/>
              </a:tabLst>
            </a:pPr>
            <a:r>
              <a:rPr sz="1500" spc="-5" dirty="0">
                <a:latin typeface="Calibri"/>
                <a:cs typeface="Calibri"/>
              </a:rPr>
              <a:t>Definir </a:t>
            </a:r>
            <a:r>
              <a:rPr sz="1500" dirty="0">
                <a:latin typeface="Calibri"/>
                <a:cs typeface="Calibri"/>
              </a:rPr>
              <a:t>el</a:t>
            </a:r>
            <a:r>
              <a:rPr sz="1500" spc="-55" dirty="0">
                <a:latin typeface="Calibri"/>
                <a:cs typeface="Calibri"/>
              </a:rPr>
              <a:t> </a:t>
            </a:r>
            <a:r>
              <a:rPr sz="1500" spc="-5" dirty="0">
                <a:latin typeface="Calibri"/>
                <a:cs typeface="Calibri"/>
              </a:rPr>
              <a:t>Alcance</a:t>
            </a:r>
            <a:endParaRPr sz="150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1500" spc="-10" dirty="0">
                <a:latin typeface="Calibri"/>
                <a:cs typeface="Calibri"/>
              </a:rPr>
              <a:t>Entradas</a:t>
            </a:r>
            <a:endParaRPr sz="150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1500" spc="-10" dirty="0">
                <a:latin typeface="Calibri"/>
                <a:cs typeface="Calibri"/>
              </a:rPr>
              <a:t>Herramientas </a:t>
            </a:r>
            <a:r>
              <a:rPr sz="1500" dirty="0">
                <a:latin typeface="Calibri"/>
                <a:cs typeface="Calibri"/>
              </a:rPr>
              <a:t>y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spc="-20" dirty="0">
                <a:latin typeface="Calibri"/>
                <a:cs typeface="Calibri"/>
              </a:rPr>
              <a:t>Técnicas</a:t>
            </a:r>
            <a:endParaRPr sz="150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1500" spc="-5" dirty="0">
                <a:latin typeface="Calibri"/>
                <a:cs typeface="Calibri"/>
              </a:rPr>
              <a:t>Salidas</a:t>
            </a:r>
            <a:endParaRPr sz="15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buFont typeface="Arial"/>
              <a:buChar char="–"/>
              <a:tabLst>
                <a:tab pos="756285" algn="l"/>
                <a:tab pos="756920" algn="l"/>
              </a:tabLst>
            </a:pPr>
            <a:r>
              <a:rPr sz="1500" b="1" spc="-10" dirty="0">
                <a:latin typeface="Calibri"/>
                <a:cs typeface="Calibri"/>
              </a:rPr>
              <a:t>Crear </a:t>
            </a:r>
            <a:r>
              <a:rPr sz="1500" b="1" dirty="0">
                <a:latin typeface="Calibri"/>
                <a:cs typeface="Calibri"/>
              </a:rPr>
              <a:t>la</a:t>
            </a:r>
            <a:r>
              <a:rPr sz="1500" b="1" spc="-10" dirty="0">
                <a:latin typeface="Calibri"/>
                <a:cs typeface="Calibri"/>
              </a:rPr>
              <a:t> EDT</a:t>
            </a:r>
            <a:endParaRPr sz="150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1500" spc="-10" dirty="0">
                <a:latin typeface="Calibri"/>
                <a:cs typeface="Calibri"/>
              </a:rPr>
              <a:t>Entradas</a:t>
            </a:r>
            <a:endParaRPr sz="150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1500" spc="-10" dirty="0">
                <a:latin typeface="Calibri"/>
                <a:cs typeface="Calibri"/>
              </a:rPr>
              <a:t>Herramientas </a:t>
            </a:r>
            <a:r>
              <a:rPr sz="1500" dirty="0">
                <a:latin typeface="Calibri"/>
                <a:cs typeface="Calibri"/>
              </a:rPr>
              <a:t>y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spc="-20" dirty="0">
                <a:latin typeface="Calibri"/>
                <a:cs typeface="Calibri"/>
              </a:rPr>
              <a:t>Técnicas</a:t>
            </a:r>
            <a:endParaRPr sz="1500">
              <a:latin typeface="Calibri"/>
              <a:cs typeface="Calibri"/>
            </a:endParaRPr>
          </a:p>
          <a:p>
            <a:pPr marL="1155700" lvl="2" indent="-229235">
              <a:lnSpc>
                <a:spcPct val="100000"/>
              </a:lnSpc>
              <a:buFont typeface="Arial"/>
              <a:buChar char="•"/>
              <a:tabLst>
                <a:tab pos="1155700" algn="l"/>
                <a:tab pos="1156335" algn="l"/>
              </a:tabLst>
            </a:pPr>
            <a:r>
              <a:rPr sz="1500" spc="-5" dirty="0">
                <a:latin typeface="Calibri"/>
                <a:cs typeface="Calibri"/>
              </a:rPr>
              <a:t>Salidas</a:t>
            </a:r>
            <a:endParaRPr sz="1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071615" y="2273903"/>
            <a:ext cx="2572512" cy="159543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4604">
              <a:lnSpc>
                <a:spcPct val="100000"/>
              </a:lnSpc>
              <a:spcBef>
                <a:spcPts val="105"/>
              </a:spcBef>
            </a:pPr>
            <a:r>
              <a:rPr spc="-15" dirty="0"/>
              <a:t>Crear </a:t>
            </a:r>
            <a:r>
              <a:rPr dirty="0"/>
              <a:t>la</a:t>
            </a:r>
            <a:r>
              <a:rPr spc="-40" dirty="0"/>
              <a:t> </a:t>
            </a:r>
            <a:r>
              <a:rPr spc="-20" dirty="0"/>
              <a:t>EDT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35940" y="2159888"/>
            <a:ext cx="8101330" cy="34080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2322830" indent="-343535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200" spc="-15" dirty="0">
                <a:latin typeface="Calibri"/>
                <a:cs typeface="Calibri"/>
              </a:rPr>
              <a:t>EDT (Estructura </a:t>
            </a:r>
            <a:r>
              <a:rPr sz="2200" spc="-5" dirty="0">
                <a:latin typeface="Calibri"/>
                <a:cs typeface="Calibri"/>
              </a:rPr>
              <a:t>de </a:t>
            </a:r>
            <a:r>
              <a:rPr sz="2200" spc="-10" dirty="0">
                <a:latin typeface="Calibri"/>
                <a:cs typeface="Calibri"/>
              </a:rPr>
              <a:t>Desagregación </a:t>
            </a:r>
            <a:r>
              <a:rPr sz="2200" spc="-5" dirty="0">
                <a:latin typeface="Calibri"/>
                <a:cs typeface="Calibri"/>
              </a:rPr>
              <a:t>del </a:t>
            </a:r>
            <a:r>
              <a:rPr sz="2200" spc="-25" dirty="0">
                <a:latin typeface="Calibri"/>
                <a:cs typeface="Calibri"/>
              </a:rPr>
              <a:t>Trabajo) </a:t>
            </a:r>
            <a:r>
              <a:rPr sz="2200" spc="-5" dirty="0">
                <a:latin typeface="Calibri"/>
                <a:cs typeface="Calibri"/>
              </a:rPr>
              <a:t>=  WBS </a:t>
            </a:r>
            <a:r>
              <a:rPr sz="2200" spc="-25" dirty="0">
                <a:latin typeface="Calibri"/>
                <a:cs typeface="Calibri"/>
              </a:rPr>
              <a:t>(Work </a:t>
            </a:r>
            <a:r>
              <a:rPr sz="2200" spc="-15" dirty="0">
                <a:latin typeface="Calibri"/>
                <a:cs typeface="Calibri"/>
              </a:rPr>
              <a:t>Breakdown</a:t>
            </a:r>
            <a:r>
              <a:rPr sz="2200" spc="2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Structures)</a:t>
            </a:r>
            <a:endParaRPr sz="2200">
              <a:latin typeface="Calibri"/>
              <a:cs typeface="Calibri"/>
            </a:endParaRPr>
          </a:p>
          <a:p>
            <a:pPr marL="355600" indent="-343535">
              <a:lnSpc>
                <a:spcPct val="100000"/>
              </a:lnSpc>
              <a:spcBef>
                <a:spcPts val="53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200" spc="-5" dirty="0">
                <a:latin typeface="Calibri"/>
                <a:cs typeface="Calibri"/>
              </a:rPr>
              <a:t>La </a:t>
            </a:r>
            <a:r>
              <a:rPr sz="2200" spc="-15" dirty="0">
                <a:latin typeface="Calibri"/>
                <a:cs typeface="Calibri"/>
              </a:rPr>
              <a:t>EDT </a:t>
            </a:r>
            <a:r>
              <a:rPr sz="2200" spc="-5" dirty="0">
                <a:latin typeface="Calibri"/>
                <a:cs typeface="Calibri"/>
              </a:rPr>
              <a:t>no se </a:t>
            </a:r>
            <a:r>
              <a:rPr sz="2200" spc="-10" dirty="0">
                <a:latin typeface="Calibri"/>
                <a:cs typeface="Calibri"/>
              </a:rPr>
              <a:t>crea </a:t>
            </a:r>
            <a:r>
              <a:rPr sz="2200" spc="-5" dirty="0">
                <a:latin typeface="Calibri"/>
                <a:cs typeface="Calibri"/>
              </a:rPr>
              <a:t>en un</a:t>
            </a:r>
            <a:r>
              <a:rPr sz="2200" spc="4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cronograma.</a:t>
            </a:r>
            <a:endParaRPr sz="2200">
              <a:latin typeface="Calibri"/>
              <a:cs typeface="Calibri"/>
            </a:endParaRPr>
          </a:p>
          <a:p>
            <a:pPr marL="355600" indent="-343535">
              <a:lnSpc>
                <a:spcPct val="100000"/>
              </a:lnSpc>
              <a:spcBef>
                <a:spcPts val="53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200" spc="-5" dirty="0">
                <a:latin typeface="Calibri"/>
                <a:cs typeface="Calibri"/>
              </a:rPr>
              <a:t>Es </a:t>
            </a:r>
            <a:r>
              <a:rPr sz="2200" spc="-10" dirty="0">
                <a:latin typeface="Calibri"/>
                <a:cs typeface="Calibri"/>
              </a:rPr>
              <a:t>donde </a:t>
            </a:r>
            <a:r>
              <a:rPr sz="2200" spc="-5" dirty="0">
                <a:latin typeface="Calibri"/>
                <a:cs typeface="Calibri"/>
              </a:rPr>
              <a:t>se tiene el </a:t>
            </a:r>
            <a:r>
              <a:rPr sz="2200" spc="-10" dirty="0">
                <a:latin typeface="Calibri"/>
                <a:cs typeface="Calibri"/>
              </a:rPr>
              <a:t>trabajo</a:t>
            </a:r>
            <a:r>
              <a:rPr sz="2200" spc="3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real.</a:t>
            </a:r>
            <a:endParaRPr sz="2200">
              <a:latin typeface="Calibri"/>
              <a:cs typeface="Calibri"/>
            </a:endParaRPr>
          </a:p>
          <a:p>
            <a:pPr marL="355600" marR="5080" indent="-343535">
              <a:lnSpc>
                <a:spcPct val="100000"/>
              </a:lnSpc>
              <a:spcBef>
                <a:spcPts val="76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200" spc="-5" dirty="0">
                <a:latin typeface="Calibri"/>
                <a:cs typeface="Calibri"/>
              </a:rPr>
              <a:t>No es </a:t>
            </a:r>
            <a:r>
              <a:rPr sz="2200" spc="-10" dirty="0">
                <a:latin typeface="Calibri"/>
                <a:cs typeface="Calibri"/>
              </a:rPr>
              <a:t>simplemente una lista; </a:t>
            </a:r>
            <a:r>
              <a:rPr sz="2200" spc="-5" dirty="0">
                <a:latin typeface="Calibri"/>
                <a:cs typeface="Calibri"/>
              </a:rPr>
              <a:t>es </a:t>
            </a:r>
            <a:r>
              <a:rPr sz="2200" spc="-10" dirty="0">
                <a:latin typeface="Calibri"/>
                <a:cs typeface="Calibri"/>
              </a:rPr>
              <a:t>una </a:t>
            </a:r>
            <a:r>
              <a:rPr sz="2200" spc="-15" dirty="0">
                <a:latin typeface="Calibri"/>
                <a:cs typeface="Calibri"/>
              </a:rPr>
              <a:t>lista numerada </a:t>
            </a:r>
            <a:r>
              <a:rPr sz="2200" spc="-10" dirty="0">
                <a:latin typeface="Calibri"/>
                <a:cs typeface="Calibri"/>
              </a:rPr>
              <a:t>que </a:t>
            </a:r>
            <a:r>
              <a:rPr sz="2200" spc="-5" dirty="0">
                <a:latin typeface="Calibri"/>
                <a:cs typeface="Calibri"/>
              </a:rPr>
              <a:t>me </a:t>
            </a:r>
            <a:r>
              <a:rPr sz="2200" spc="-10" dirty="0">
                <a:latin typeface="Calibri"/>
                <a:cs typeface="Calibri"/>
              </a:rPr>
              <a:t>indica  </a:t>
            </a:r>
            <a:r>
              <a:rPr sz="2200" spc="-5" dirty="0">
                <a:latin typeface="Calibri"/>
                <a:cs typeface="Calibri"/>
              </a:rPr>
              <a:t>el </a:t>
            </a:r>
            <a:r>
              <a:rPr sz="2200" spc="-10" dirty="0">
                <a:latin typeface="Calibri"/>
                <a:cs typeface="Calibri"/>
              </a:rPr>
              <a:t>nivel </a:t>
            </a:r>
            <a:r>
              <a:rPr sz="2200" spc="-5" dirty="0">
                <a:latin typeface="Calibri"/>
                <a:cs typeface="Calibri"/>
              </a:rPr>
              <a:t>de </a:t>
            </a:r>
            <a:r>
              <a:rPr sz="2200" spc="-10" dirty="0">
                <a:latin typeface="Calibri"/>
                <a:cs typeface="Calibri"/>
              </a:rPr>
              <a:t>ubicación </a:t>
            </a:r>
            <a:r>
              <a:rPr sz="2200" spc="-20" dirty="0">
                <a:latin typeface="Calibri"/>
                <a:cs typeface="Calibri"/>
              </a:rPr>
              <a:t>dentro </a:t>
            </a:r>
            <a:r>
              <a:rPr sz="2200" spc="-5" dirty="0">
                <a:latin typeface="Calibri"/>
                <a:cs typeface="Calibri"/>
              </a:rPr>
              <a:t>de la</a:t>
            </a:r>
            <a:r>
              <a:rPr sz="2200" spc="65" dirty="0">
                <a:latin typeface="Calibri"/>
                <a:cs typeface="Calibri"/>
              </a:rPr>
              <a:t> </a:t>
            </a:r>
            <a:r>
              <a:rPr sz="2200" spc="-65" dirty="0">
                <a:latin typeface="Calibri"/>
                <a:cs typeface="Calibri"/>
              </a:rPr>
              <a:t>EDT.</a:t>
            </a:r>
            <a:endParaRPr sz="2200">
              <a:latin typeface="Calibri"/>
              <a:cs typeface="Calibri"/>
            </a:endParaRPr>
          </a:p>
          <a:p>
            <a:pPr marL="355600" indent="-343535">
              <a:lnSpc>
                <a:spcPct val="100000"/>
              </a:lnSpc>
              <a:spcBef>
                <a:spcPts val="52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200" spc="-5" dirty="0">
                <a:latin typeface="Calibri"/>
                <a:cs typeface="Calibri"/>
              </a:rPr>
              <a:t>LA </a:t>
            </a:r>
            <a:r>
              <a:rPr sz="2200" spc="-15" dirty="0">
                <a:latin typeface="Calibri"/>
                <a:cs typeface="Calibri"/>
              </a:rPr>
              <a:t>EDT </a:t>
            </a:r>
            <a:r>
              <a:rPr sz="2200" spc="-10" dirty="0">
                <a:latin typeface="Calibri"/>
                <a:cs typeface="Calibri"/>
              </a:rPr>
              <a:t>permite (a </a:t>
            </a:r>
            <a:r>
              <a:rPr sz="2200" spc="-20" dirty="0">
                <a:latin typeface="Calibri"/>
                <a:cs typeface="Calibri"/>
              </a:rPr>
              <a:t>través </a:t>
            </a:r>
            <a:r>
              <a:rPr sz="2200" dirty="0">
                <a:latin typeface="Calibri"/>
                <a:cs typeface="Calibri"/>
              </a:rPr>
              <a:t>de </a:t>
            </a:r>
            <a:r>
              <a:rPr sz="2200" spc="-10" dirty="0">
                <a:latin typeface="Calibri"/>
                <a:cs typeface="Calibri"/>
              </a:rPr>
              <a:t>desagregar) identificar </a:t>
            </a:r>
            <a:r>
              <a:rPr sz="2200" spc="-5" dirty="0">
                <a:latin typeface="Calibri"/>
                <a:cs typeface="Calibri"/>
              </a:rPr>
              <a:t>los </a:t>
            </a:r>
            <a:r>
              <a:rPr sz="2200" spc="-10" dirty="0">
                <a:latin typeface="Calibri"/>
                <a:cs typeface="Calibri"/>
              </a:rPr>
              <a:t>“paquetes</a:t>
            </a:r>
            <a:r>
              <a:rPr sz="2200" spc="38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</a:t>
            </a:r>
            <a:endParaRPr sz="22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5"/>
              </a:spcBef>
            </a:pPr>
            <a:r>
              <a:rPr sz="2200" spc="-10" dirty="0">
                <a:latin typeface="Calibri"/>
                <a:cs typeface="Calibri"/>
              </a:rPr>
              <a:t>trabajo” </a:t>
            </a:r>
            <a:r>
              <a:rPr sz="2200" spc="-25" dirty="0">
                <a:latin typeface="Calibri"/>
                <a:cs typeface="Calibri"/>
              </a:rPr>
              <a:t>(Work </a:t>
            </a:r>
            <a:r>
              <a:rPr sz="2200" spc="-15" dirty="0">
                <a:latin typeface="Calibri"/>
                <a:cs typeface="Calibri"/>
              </a:rPr>
              <a:t>Packages) </a:t>
            </a:r>
            <a:r>
              <a:rPr sz="2200" spc="-10" dirty="0">
                <a:latin typeface="Calibri"/>
                <a:cs typeface="Calibri"/>
              </a:rPr>
              <a:t>que </a:t>
            </a:r>
            <a:r>
              <a:rPr sz="2200" dirty="0">
                <a:latin typeface="Calibri"/>
                <a:cs typeface="Calibri"/>
              </a:rPr>
              <a:t>se </a:t>
            </a:r>
            <a:r>
              <a:rPr sz="2200" spc="-15" dirty="0">
                <a:latin typeface="Calibri"/>
                <a:cs typeface="Calibri"/>
              </a:rPr>
              <a:t>van </a:t>
            </a:r>
            <a:r>
              <a:rPr sz="2200" spc="-5" dirty="0">
                <a:latin typeface="Calibri"/>
                <a:cs typeface="Calibri"/>
              </a:rPr>
              <a:t>a</a:t>
            </a:r>
            <a:r>
              <a:rPr sz="2200" spc="85" dirty="0">
                <a:latin typeface="Calibri"/>
                <a:cs typeface="Calibri"/>
              </a:rPr>
              <a:t> </a:t>
            </a:r>
            <a:r>
              <a:rPr sz="2200" spc="-35" dirty="0">
                <a:latin typeface="Calibri"/>
                <a:cs typeface="Calibri"/>
              </a:rPr>
              <a:t>realizar.</a:t>
            </a:r>
            <a:endParaRPr sz="2200">
              <a:latin typeface="Calibri"/>
              <a:cs typeface="Calibri"/>
            </a:endParaRPr>
          </a:p>
          <a:p>
            <a:pPr marL="355600" indent="-343535">
              <a:lnSpc>
                <a:spcPct val="100000"/>
              </a:lnSpc>
              <a:spcBef>
                <a:spcPts val="53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200" spc="-5" dirty="0">
                <a:latin typeface="Calibri"/>
                <a:cs typeface="Calibri"/>
              </a:rPr>
              <a:t>El </a:t>
            </a:r>
            <a:r>
              <a:rPr sz="2200" spc="-15" dirty="0">
                <a:latin typeface="Calibri"/>
                <a:cs typeface="Calibri"/>
              </a:rPr>
              <a:t>Paquete </a:t>
            </a:r>
            <a:r>
              <a:rPr sz="2200" spc="-5" dirty="0">
                <a:latin typeface="Calibri"/>
                <a:cs typeface="Calibri"/>
              </a:rPr>
              <a:t>de </a:t>
            </a:r>
            <a:r>
              <a:rPr sz="2200" spc="-30" dirty="0">
                <a:latin typeface="Calibri"/>
                <a:cs typeface="Calibri"/>
              </a:rPr>
              <a:t>Trabajo </a:t>
            </a:r>
            <a:r>
              <a:rPr sz="2200" spc="-5" dirty="0">
                <a:latin typeface="Calibri"/>
                <a:cs typeface="Calibri"/>
              </a:rPr>
              <a:t>es el </a:t>
            </a:r>
            <a:r>
              <a:rPr sz="2200" spc="-10" dirty="0">
                <a:latin typeface="Calibri"/>
                <a:cs typeface="Calibri"/>
              </a:rPr>
              <a:t>nivel </a:t>
            </a:r>
            <a:r>
              <a:rPr sz="2200" spc="-5" dirty="0">
                <a:latin typeface="Calibri"/>
                <a:cs typeface="Calibri"/>
              </a:rPr>
              <a:t>más </a:t>
            </a:r>
            <a:r>
              <a:rPr sz="2200" spc="-10" dirty="0">
                <a:latin typeface="Calibri"/>
                <a:cs typeface="Calibri"/>
              </a:rPr>
              <a:t>bajo </a:t>
            </a:r>
            <a:r>
              <a:rPr sz="2200" spc="-5" dirty="0">
                <a:latin typeface="Calibri"/>
                <a:cs typeface="Calibri"/>
              </a:rPr>
              <a:t>de la</a:t>
            </a:r>
            <a:r>
              <a:rPr sz="2200" spc="114" dirty="0">
                <a:latin typeface="Calibri"/>
                <a:cs typeface="Calibri"/>
              </a:rPr>
              <a:t> </a:t>
            </a:r>
            <a:r>
              <a:rPr sz="2200" spc="-65" dirty="0">
                <a:latin typeface="Calibri"/>
                <a:cs typeface="Calibri"/>
              </a:rPr>
              <a:t>EDT.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4604">
              <a:lnSpc>
                <a:spcPct val="100000"/>
              </a:lnSpc>
              <a:spcBef>
                <a:spcPts val="105"/>
              </a:spcBef>
            </a:pPr>
            <a:r>
              <a:rPr spc="-15" dirty="0"/>
              <a:t>Crear </a:t>
            </a:r>
            <a:r>
              <a:rPr dirty="0"/>
              <a:t>la</a:t>
            </a:r>
            <a:r>
              <a:rPr spc="-40" dirty="0"/>
              <a:t> </a:t>
            </a:r>
            <a:r>
              <a:rPr spc="-20" dirty="0"/>
              <a:t>EDT</a:t>
            </a:r>
          </a:p>
        </p:txBody>
      </p:sp>
      <p:sp>
        <p:nvSpPr>
          <p:cNvPr id="3" name="object 3"/>
          <p:cNvSpPr/>
          <p:nvPr/>
        </p:nvSpPr>
        <p:spPr>
          <a:xfrm>
            <a:off x="399288" y="1417653"/>
            <a:ext cx="8236796" cy="501863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208540" y="2071116"/>
            <a:ext cx="4467587" cy="43281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4604">
              <a:lnSpc>
                <a:spcPct val="100000"/>
              </a:lnSpc>
              <a:spcBef>
                <a:spcPts val="105"/>
              </a:spcBef>
            </a:pPr>
            <a:r>
              <a:rPr spc="-15" dirty="0"/>
              <a:t>Crear </a:t>
            </a:r>
            <a:r>
              <a:rPr dirty="0"/>
              <a:t>la</a:t>
            </a:r>
            <a:r>
              <a:rPr spc="-40" dirty="0"/>
              <a:t> </a:t>
            </a:r>
            <a:r>
              <a:rPr spc="-20" dirty="0"/>
              <a:t>EDT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35940" y="1614042"/>
            <a:ext cx="37312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5" dirty="0">
                <a:latin typeface="Calibri"/>
                <a:cs typeface="Calibri"/>
              </a:rPr>
              <a:t>Es </a:t>
            </a:r>
            <a:r>
              <a:rPr sz="2400" dirty="0">
                <a:latin typeface="Calibri"/>
                <a:cs typeface="Calibri"/>
              </a:rPr>
              <a:t>la </a:t>
            </a:r>
            <a:r>
              <a:rPr sz="2400" spc="-5" dirty="0">
                <a:latin typeface="Calibri"/>
                <a:cs typeface="Calibri"/>
              </a:rPr>
              <a:t>base de </a:t>
            </a:r>
            <a:r>
              <a:rPr sz="2400" dirty="0">
                <a:latin typeface="Calibri"/>
                <a:cs typeface="Calibri"/>
              </a:rPr>
              <a:t>la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planeación.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4604">
              <a:lnSpc>
                <a:spcPct val="100000"/>
              </a:lnSpc>
              <a:spcBef>
                <a:spcPts val="105"/>
              </a:spcBef>
            </a:pPr>
            <a:r>
              <a:rPr spc="-15" dirty="0"/>
              <a:t>Crear </a:t>
            </a:r>
            <a:r>
              <a:rPr dirty="0"/>
              <a:t>la</a:t>
            </a:r>
            <a:r>
              <a:rPr spc="-40" dirty="0"/>
              <a:t> </a:t>
            </a:r>
            <a:r>
              <a:rPr spc="-20" dirty="0"/>
              <a:t>EDT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27175"/>
            <a:ext cx="807212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5600" algn="l"/>
                <a:tab pos="356235" algn="l"/>
                <a:tab pos="1437640" algn="l"/>
                <a:tab pos="1953895" algn="l"/>
                <a:tab pos="2803525" algn="l"/>
                <a:tab pos="3387090" algn="l"/>
                <a:tab pos="3909695" algn="l"/>
                <a:tab pos="5385435" algn="l"/>
                <a:tab pos="6019800" algn="l"/>
                <a:tab pos="7783195" algn="l"/>
              </a:tabLst>
            </a:pPr>
            <a:r>
              <a:rPr sz="3000" spc="-5" dirty="0">
                <a:latin typeface="Calibri"/>
                <a:cs typeface="Calibri"/>
              </a:rPr>
              <a:t>C</a:t>
            </a:r>
            <a:r>
              <a:rPr sz="3000" spc="-45" dirty="0">
                <a:latin typeface="Calibri"/>
                <a:cs typeface="Calibri"/>
              </a:rPr>
              <a:t>r</a:t>
            </a:r>
            <a:r>
              <a:rPr sz="3000" dirty="0">
                <a:latin typeface="Calibri"/>
                <a:cs typeface="Calibri"/>
              </a:rPr>
              <a:t>ear	</a:t>
            </a:r>
            <a:r>
              <a:rPr sz="3000" spc="-5" dirty="0">
                <a:latin typeface="Calibri"/>
                <a:cs typeface="Calibri"/>
              </a:rPr>
              <a:t>l</a:t>
            </a:r>
            <a:r>
              <a:rPr sz="3000" dirty="0">
                <a:latin typeface="Calibri"/>
                <a:cs typeface="Calibri"/>
              </a:rPr>
              <a:t>a	</a:t>
            </a:r>
            <a:r>
              <a:rPr sz="3000" spc="-5" dirty="0">
                <a:latin typeface="Calibri"/>
                <a:cs typeface="Calibri"/>
              </a:rPr>
              <a:t>E</a:t>
            </a:r>
            <a:r>
              <a:rPr sz="3000" spc="-30" dirty="0">
                <a:latin typeface="Calibri"/>
                <a:cs typeface="Calibri"/>
              </a:rPr>
              <a:t>D</a:t>
            </a:r>
            <a:r>
              <a:rPr sz="3000" dirty="0">
                <a:latin typeface="Calibri"/>
                <a:cs typeface="Calibri"/>
              </a:rPr>
              <a:t>T	</a:t>
            </a:r>
            <a:r>
              <a:rPr sz="3000" spc="-5" dirty="0">
                <a:latin typeface="Calibri"/>
                <a:cs typeface="Calibri"/>
              </a:rPr>
              <a:t>e</a:t>
            </a:r>
            <a:r>
              <a:rPr sz="3000" dirty="0">
                <a:latin typeface="Calibri"/>
                <a:cs typeface="Calibri"/>
              </a:rPr>
              <a:t>s	</a:t>
            </a:r>
            <a:r>
              <a:rPr sz="3000" spc="-5" dirty="0">
                <a:latin typeface="Calibri"/>
                <a:cs typeface="Calibri"/>
              </a:rPr>
              <a:t>e</a:t>
            </a:r>
            <a:r>
              <a:rPr sz="3000" dirty="0">
                <a:latin typeface="Calibri"/>
                <a:cs typeface="Calibri"/>
              </a:rPr>
              <a:t>l	</a:t>
            </a:r>
            <a:r>
              <a:rPr sz="3000" spc="-5" dirty="0">
                <a:latin typeface="Calibri"/>
                <a:cs typeface="Calibri"/>
              </a:rPr>
              <a:t>p</a:t>
            </a:r>
            <a:r>
              <a:rPr sz="3000" spc="-50" dirty="0">
                <a:latin typeface="Calibri"/>
                <a:cs typeface="Calibri"/>
              </a:rPr>
              <a:t>r</a:t>
            </a:r>
            <a:r>
              <a:rPr sz="3000" spc="-5" dirty="0">
                <a:latin typeface="Calibri"/>
                <a:cs typeface="Calibri"/>
              </a:rPr>
              <a:t>o</a:t>
            </a:r>
            <a:r>
              <a:rPr sz="3000" spc="5" dirty="0">
                <a:latin typeface="Calibri"/>
                <a:cs typeface="Calibri"/>
              </a:rPr>
              <a:t>c</a:t>
            </a:r>
            <a:r>
              <a:rPr sz="3000" dirty="0">
                <a:latin typeface="Calibri"/>
                <a:cs typeface="Calibri"/>
              </a:rPr>
              <a:t>eso	</a:t>
            </a:r>
            <a:r>
              <a:rPr sz="3000" spc="-5" dirty="0">
                <a:latin typeface="Calibri"/>
                <a:cs typeface="Calibri"/>
              </a:rPr>
              <a:t>d</a:t>
            </a:r>
            <a:r>
              <a:rPr sz="3000" dirty="0">
                <a:latin typeface="Calibri"/>
                <a:cs typeface="Calibri"/>
              </a:rPr>
              <a:t>e	</a:t>
            </a:r>
            <a:r>
              <a:rPr sz="3000" spc="-5" dirty="0">
                <a:latin typeface="Calibri"/>
                <a:cs typeface="Calibri"/>
              </a:rPr>
              <a:t>subd</a:t>
            </a:r>
            <a:r>
              <a:rPr sz="3000" spc="-15" dirty="0">
                <a:latin typeface="Calibri"/>
                <a:cs typeface="Calibri"/>
              </a:rPr>
              <a:t>i</a:t>
            </a:r>
            <a:r>
              <a:rPr sz="3000" dirty="0">
                <a:latin typeface="Calibri"/>
                <a:cs typeface="Calibri"/>
              </a:rPr>
              <a:t>vi</a:t>
            </a:r>
            <a:r>
              <a:rPr sz="3000" spc="-10" dirty="0">
                <a:latin typeface="Calibri"/>
                <a:cs typeface="Calibri"/>
              </a:rPr>
              <a:t>d</a:t>
            </a:r>
            <a:r>
              <a:rPr sz="3000" dirty="0">
                <a:latin typeface="Calibri"/>
                <a:cs typeface="Calibri"/>
              </a:rPr>
              <a:t>ir	</a:t>
            </a:r>
            <a:r>
              <a:rPr sz="3000" spc="-5" dirty="0">
                <a:latin typeface="Calibri"/>
                <a:cs typeface="Calibri"/>
              </a:rPr>
              <a:t>el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9144" y="1892934"/>
            <a:ext cx="773049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ts val="3240"/>
              </a:lnSpc>
              <a:spcBef>
                <a:spcPts val="100"/>
              </a:spcBef>
              <a:tabLst>
                <a:tab pos="1862455" algn="l"/>
                <a:tab pos="2743200" algn="l"/>
                <a:tab pos="5047615" algn="l"/>
                <a:tab pos="5712460" algn="l"/>
                <a:tab pos="7315834" algn="l"/>
              </a:tabLst>
            </a:pPr>
            <a:r>
              <a:rPr sz="3000" spc="-5" dirty="0">
                <a:latin typeface="Calibri"/>
                <a:cs typeface="Calibri"/>
              </a:rPr>
              <a:t>p</a:t>
            </a:r>
            <a:r>
              <a:rPr sz="3000" spc="-60" dirty="0">
                <a:latin typeface="Calibri"/>
                <a:cs typeface="Calibri"/>
              </a:rPr>
              <a:t>r</a:t>
            </a:r>
            <a:r>
              <a:rPr sz="3000" spc="-10" dirty="0">
                <a:latin typeface="Calibri"/>
                <a:cs typeface="Calibri"/>
              </a:rPr>
              <a:t>o</a:t>
            </a:r>
            <a:r>
              <a:rPr sz="3000" spc="-40" dirty="0">
                <a:latin typeface="Calibri"/>
                <a:cs typeface="Calibri"/>
              </a:rPr>
              <a:t>y</a:t>
            </a:r>
            <a:r>
              <a:rPr sz="3000" dirty="0">
                <a:latin typeface="Calibri"/>
                <a:cs typeface="Calibri"/>
              </a:rPr>
              <a:t>ec</a:t>
            </a:r>
            <a:r>
              <a:rPr sz="3000" spc="-25" dirty="0">
                <a:latin typeface="Calibri"/>
                <a:cs typeface="Calibri"/>
              </a:rPr>
              <a:t>t</a:t>
            </a:r>
            <a:r>
              <a:rPr sz="3000" dirty="0">
                <a:latin typeface="Calibri"/>
                <a:cs typeface="Calibri"/>
              </a:rPr>
              <a:t>o	</a:t>
            </a:r>
            <a:r>
              <a:rPr sz="3000" spc="-5" dirty="0">
                <a:latin typeface="Calibri"/>
                <a:cs typeface="Calibri"/>
              </a:rPr>
              <a:t>e</a:t>
            </a:r>
            <a:r>
              <a:rPr sz="3000" dirty="0">
                <a:latin typeface="Calibri"/>
                <a:cs typeface="Calibri"/>
              </a:rPr>
              <a:t>n	e</a:t>
            </a:r>
            <a:r>
              <a:rPr sz="3000" spc="-35" dirty="0">
                <a:latin typeface="Calibri"/>
                <a:cs typeface="Calibri"/>
              </a:rPr>
              <a:t>n</a:t>
            </a:r>
            <a:r>
              <a:rPr sz="3000" dirty="0">
                <a:latin typeface="Calibri"/>
                <a:cs typeface="Calibri"/>
              </a:rPr>
              <a:t>t</a:t>
            </a:r>
            <a:r>
              <a:rPr sz="3000" spc="-40" dirty="0">
                <a:latin typeface="Calibri"/>
                <a:cs typeface="Calibri"/>
              </a:rPr>
              <a:t>r</a:t>
            </a:r>
            <a:r>
              <a:rPr sz="3000" dirty="0">
                <a:latin typeface="Calibri"/>
                <a:cs typeface="Calibri"/>
              </a:rPr>
              <a:t>e</a:t>
            </a:r>
            <a:r>
              <a:rPr sz="3000" spc="-65" dirty="0">
                <a:latin typeface="Calibri"/>
                <a:cs typeface="Calibri"/>
              </a:rPr>
              <a:t>g</a:t>
            </a:r>
            <a:r>
              <a:rPr sz="3000" dirty="0">
                <a:latin typeface="Calibri"/>
                <a:cs typeface="Calibri"/>
              </a:rPr>
              <a:t>abl</a:t>
            </a:r>
            <a:r>
              <a:rPr sz="3000" spc="-15" dirty="0">
                <a:latin typeface="Calibri"/>
                <a:cs typeface="Calibri"/>
              </a:rPr>
              <a:t>e</a:t>
            </a:r>
            <a:r>
              <a:rPr sz="3000" dirty="0">
                <a:latin typeface="Calibri"/>
                <a:cs typeface="Calibri"/>
              </a:rPr>
              <a:t>s	y	t</a:t>
            </a:r>
            <a:r>
              <a:rPr sz="3000" spc="-60" dirty="0">
                <a:latin typeface="Calibri"/>
                <a:cs typeface="Calibri"/>
              </a:rPr>
              <a:t>r</a:t>
            </a:r>
            <a:r>
              <a:rPr sz="3000" dirty="0">
                <a:latin typeface="Calibri"/>
                <a:cs typeface="Calibri"/>
              </a:rPr>
              <a:t>abajo	</a:t>
            </a:r>
            <a:r>
              <a:rPr sz="3000" spc="-5" dirty="0">
                <a:latin typeface="Calibri"/>
                <a:cs typeface="Calibri"/>
              </a:rPr>
              <a:t>en</a:t>
            </a:r>
            <a:endParaRPr sz="3000">
              <a:latin typeface="Calibri"/>
              <a:cs typeface="Calibri"/>
            </a:endParaRPr>
          </a:p>
          <a:p>
            <a:pPr marR="6350" algn="r">
              <a:lnSpc>
                <a:spcPts val="3240"/>
              </a:lnSpc>
            </a:pPr>
            <a:r>
              <a:rPr sz="3000" spc="-5" dirty="0">
                <a:latin typeface="Calibri"/>
                <a:cs typeface="Calibri"/>
              </a:rPr>
              <a:t>pe</a:t>
            </a:r>
            <a:r>
              <a:rPr sz="3000" spc="-45" dirty="0">
                <a:latin typeface="Calibri"/>
                <a:cs typeface="Calibri"/>
              </a:rPr>
              <a:t>r</a:t>
            </a:r>
            <a:r>
              <a:rPr sz="3000" dirty="0">
                <a:latin typeface="Calibri"/>
                <a:cs typeface="Calibri"/>
              </a:rPr>
              <a:t>o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79144" y="2258695"/>
            <a:ext cx="6702425" cy="848994"/>
          </a:xfrm>
          <a:prstGeom prst="rect">
            <a:avLst/>
          </a:prstGeom>
        </p:spPr>
        <p:txBody>
          <a:bodyPr vert="horz" wrap="square" lIns="0" tIns="104140" rIns="0" bIns="0" rtlCol="0">
            <a:spAutoFit/>
          </a:bodyPr>
          <a:lstStyle/>
          <a:p>
            <a:pPr marL="12700" marR="5080">
              <a:lnSpc>
                <a:spcPct val="80000"/>
              </a:lnSpc>
              <a:spcBef>
                <a:spcPts val="820"/>
              </a:spcBef>
              <a:tabLst>
                <a:tab pos="2282190" algn="l"/>
                <a:tab pos="3312160" algn="l"/>
                <a:tab pos="4124960" algn="l"/>
                <a:tab pos="5067935" algn="l"/>
              </a:tabLst>
            </a:pPr>
            <a:r>
              <a:rPr sz="3000" spc="-25" dirty="0">
                <a:latin typeface="Calibri"/>
                <a:cs typeface="Calibri"/>
              </a:rPr>
              <a:t>c</a:t>
            </a:r>
            <a:r>
              <a:rPr sz="3000" spc="-5" dirty="0">
                <a:latin typeface="Calibri"/>
                <a:cs typeface="Calibri"/>
              </a:rPr>
              <a:t>ompone</a:t>
            </a:r>
            <a:r>
              <a:rPr sz="3000" spc="-35" dirty="0">
                <a:latin typeface="Calibri"/>
                <a:cs typeface="Calibri"/>
              </a:rPr>
              <a:t>nt</a:t>
            </a:r>
            <a:r>
              <a:rPr sz="3000" dirty="0">
                <a:latin typeface="Calibri"/>
                <a:cs typeface="Calibri"/>
              </a:rPr>
              <a:t>e	</a:t>
            </a:r>
            <a:r>
              <a:rPr sz="3000" spc="-25" dirty="0">
                <a:latin typeface="Calibri"/>
                <a:cs typeface="Calibri"/>
              </a:rPr>
              <a:t>c</a:t>
            </a:r>
            <a:r>
              <a:rPr sz="3000" dirty="0">
                <a:latin typeface="Calibri"/>
                <a:cs typeface="Calibri"/>
              </a:rPr>
              <a:t>ada	</a:t>
            </a:r>
            <a:r>
              <a:rPr sz="3000" spc="-35" dirty="0">
                <a:latin typeface="Calibri"/>
                <a:cs typeface="Calibri"/>
              </a:rPr>
              <a:t>v</a:t>
            </a:r>
            <a:r>
              <a:rPr sz="3000" spc="-30" dirty="0">
                <a:latin typeface="Calibri"/>
                <a:cs typeface="Calibri"/>
              </a:rPr>
              <a:t>e</a:t>
            </a:r>
            <a:r>
              <a:rPr sz="3000" dirty="0">
                <a:latin typeface="Calibri"/>
                <a:cs typeface="Calibri"/>
              </a:rPr>
              <a:t>z	más	</a:t>
            </a:r>
            <a:r>
              <a:rPr sz="3000" spc="-5" dirty="0">
                <a:latin typeface="Calibri"/>
                <a:cs typeface="Calibri"/>
              </a:rPr>
              <a:t>p</a:t>
            </a:r>
            <a:r>
              <a:rPr sz="3000" spc="-15" dirty="0">
                <a:latin typeface="Calibri"/>
                <a:cs typeface="Calibri"/>
              </a:rPr>
              <a:t>e</a:t>
            </a:r>
            <a:r>
              <a:rPr sz="3000" spc="-5" dirty="0">
                <a:latin typeface="Calibri"/>
                <a:cs typeface="Calibri"/>
              </a:rPr>
              <a:t>qu</a:t>
            </a:r>
            <a:r>
              <a:rPr sz="3000" spc="-15" dirty="0">
                <a:latin typeface="Calibri"/>
                <a:cs typeface="Calibri"/>
              </a:rPr>
              <a:t>e</a:t>
            </a:r>
            <a:r>
              <a:rPr sz="3000" spc="-5" dirty="0">
                <a:latin typeface="Calibri"/>
                <a:cs typeface="Calibri"/>
              </a:rPr>
              <a:t>ños,  manejables.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5940" y="3081909"/>
            <a:ext cx="8072120" cy="2769235"/>
          </a:xfrm>
          <a:prstGeom prst="rect">
            <a:avLst/>
          </a:prstGeom>
        </p:spPr>
        <p:txBody>
          <a:bodyPr vert="horz" wrap="square" lIns="0" tIns="104140" rIns="0" bIns="0" rtlCol="0">
            <a:spAutoFit/>
          </a:bodyPr>
          <a:lstStyle/>
          <a:p>
            <a:pPr marL="355600" marR="5080" indent="-343535" algn="just">
              <a:lnSpc>
                <a:spcPct val="80000"/>
              </a:lnSpc>
              <a:spcBef>
                <a:spcPts val="820"/>
              </a:spcBef>
              <a:buFont typeface="Arial"/>
              <a:buChar char="•"/>
              <a:tabLst>
                <a:tab pos="356235" algn="l"/>
              </a:tabLst>
            </a:pPr>
            <a:r>
              <a:rPr sz="3000" spc="-5" dirty="0">
                <a:latin typeface="Calibri"/>
                <a:cs typeface="Calibri"/>
              </a:rPr>
              <a:t>La </a:t>
            </a:r>
            <a:r>
              <a:rPr sz="3000" spc="-15" dirty="0">
                <a:latin typeface="Calibri"/>
                <a:cs typeface="Calibri"/>
              </a:rPr>
              <a:t>estructura </a:t>
            </a:r>
            <a:r>
              <a:rPr sz="3000" spc="-5" dirty="0">
                <a:latin typeface="Calibri"/>
                <a:cs typeface="Calibri"/>
              </a:rPr>
              <a:t>de </a:t>
            </a:r>
            <a:r>
              <a:rPr sz="3000" spc="-10" dirty="0">
                <a:latin typeface="Calibri"/>
                <a:cs typeface="Calibri"/>
              </a:rPr>
              <a:t>desagregación </a:t>
            </a:r>
            <a:r>
              <a:rPr sz="3000" spc="-5" dirty="0">
                <a:latin typeface="Calibri"/>
                <a:cs typeface="Calibri"/>
              </a:rPr>
              <a:t>del </a:t>
            </a:r>
            <a:r>
              <a:rPr sz="3000" spc="-10" dirty="0">
                <a:latin typeface="Calibri"/>
                <a:cs typeface="Calibri"/>
              </a:rPr>
              <a:t>trabajo del  </a:t>
            </a:r>
            <a:r>
              <a:rPr sz="3000" dirty="0">
                <a:latin typeface="Calibri"/>
                <a:cs typeface="Calibri"/>
              </a:rPr>
              <a:t>PMI </a:t>
            </a:r>
            <a:r>
              <a:rPr sz="3000" spc="-5" dirty="0">
                <a:latin typeface="Calibri"/>
                <a:cs typeface="Calibri"/>
              </a:rPr>
              <a:t>es </a:t>
            </a:r>
            <a:r>
              <a:rPr sz="3000" spc="-10" dirty="0">
                <a:latin typeface="Calibri"/>
                <a:cs typeface="Calibri"/>
              </a:rPr>
              <a:t>una </a:t>
            </a:r>
            <a:r>
              <a:rPr sz="3000" spc="-15" dirty="0">
                <a:latin typeface="Calibri"/>
                <a:cs typeface="Calibri"/>
              </a:rPr>
              <a:t>estructura </a:t>
            </a:r>
            <a:r>
              <a:rPr sz="3000" spc="-10" dirty="0">
                <a:latin typeface="Calibri"/>
                <a:cs typeface="Calibri"/>
              </a:rPr>
              <a:t>orientada </a:t>
            </a:r>
            <a:r>
              <a:rPr sz="3000" dirty="0">
                <a:latin typeface="Calibri"/>
                <a:cs typeface="Calibri"/>
              </a:rPr>
              <a:t>al </a:t>
            </a:r>
            <a:r>
              <a:rPr sz="3000" spc="-15" dirty="0">
                <a:latin typeface="Calibri"/>
                <a:cs typeface="Calibri"/>
              </a:rPr>
              <a:t>entregable, </a:t>
            </a:r>
            <a:r>
              <a:rPr sz="3000" spc="-5" dirty="0">
                <a:latin typeface="Calibri"/>
                <a:cs typeface="Calibri"/>
              </a:rPr>
              <a:t>es  </a:t>
            </a:r>
            <a:r>
              <a:rPr sz="3000" spc="-50" dirty="0">
                <a:latin typeface="Calibri"/>
                <a:cs typeface="Calibri"/>
              </a:rPr>
              <a:t>decir, </a:t>
            </a:r>
            <a:r>
              <a:rPr sz="3000" spc="-5" dirty="0">
                <a:latin typeface="Calibri"/>
                <a:cs typeface="Calibri"/>
              </a:rPr>
              <a:t>cuál es el </a:t>
            </a:r>
            <a:r>
              <a:rPr sz="3000" spc="-15" dirty="0">
                <a:latin typeface="Calibri"/>
                <a:cs typeface="Calibri"/>
              </a:rPr>
              <a:t>trabajo </a:t>
            </a:r>
            <a:r>
              <a:rPr sz="3000" spc="-10" dirty="0">
                <a:latin typeface="Calibri"/>
                <a:cs typeface="Calibri"/>
              </a:rPr>
              <a:t>que </a:t>
            </a:r>
            <a:r>
              <a:rPr sz="3000" dirty="0">
                <a:latin typeface="Calibri"/>
                <a:cs typeface="Calibri"/>
              </a:rPr>
              <a:t>se </a:t>
            </a:r>
            <a:r>
              <a:rPr sz="3000" spc="-5" dirty="0">
                <a:latin typeface="Calibri"/>
                <a:cs typeface="Calibri"/>
              </a:rPr>
              <a:t>debe hacer </a:t>
            </a:r>
            <a:r>
              <a:rPr sz="3000" spc="-20" dirty="0">
                <a:latin typeface="Calibri"/>
                <a:cs typeface="Calibri"/>
              </a:rPr>
              <a:t>para  </a:t>
            </a:r>
            <a:r>
              <a:rPr sz="3000" spc="-5" dirty="0">
                <a:latin typeface="Calibri"/>
                <a:cs typeface="Calibri"/>
              </a:rPr>
              <a:t>cumplir </a:t>
            </a:r>
            <a:r>
              <a:rPr sz="3000" dirty="0">
                <a:latin typeface="Calibri"/>
                <a:cs typeface="Calibri"/>
              </a:rPr>
              <a:t>los </a:t>
            </a:r>
            <a:r>
              <a:rPr sz="3000" spc="-10" dirty="0">
                <a:latin typeface="Calibri"/>
                <a:cs typeface="Calibri"/>
              </a:rPr>
              <a:t>objetivos </a:t>
            </a:r>
            <a:r>
              <a:rPr sz="3000" spc="-5" dirty="0">
                <a:latin typeface="Calibri"/>
                <a:cs typeface="Calibri"/>
              </a:rPr>
              <a:t>que </a:t>
            </a:r>
            <a:r>
              <a:rPr sz="3000" spc="-15" dirty="0">
                <a:latin typeface="Calibri"/>
                <a:cs typeface="Calibri"/>
              </a:rPr>
              <a:t>requiere </a:t>
            </a:r>
            <a:r>
              <a:rPr sz="3000" spc="-5" dirty="0">
                <a:latin typeface="Calibri"/>
                <a:cs typeface="Calibri"/>
              </a:rPr>
              <a:t>el</a:t>
            </a:r>
            <a:r>
              <a:rPr sz="3000" spc="-10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entregable.</a:t>
            </a:r>
            <a:endParaRPr sz="3000">
              <a:latin typeface="Calibri"/>
              <a:cs typeface="Calibri"/>
            </a:endParaRPr>
          </a:p>
          <a:p>
            <a:pPr marL="355600" marR="5080" indent="-343535" algn="just">
              <a:lnSpc>
                <a:spcPct val="80000"/>
              </a:lnSpc>
              <a:spcBef>
                <a:spcPts val="720"/>
              </a:spcBef>
              <a:buFont typeface="Arial"/>
              <a:buChar char="•"/>
              <a:tabLst>
                <a:tab pos="356235" algn="l"/>
              </a:tabLst>
            </a:pPr>
            <a:r>
              <a:rPr sz="3000" spc="-5" dirty="0">
                <a:latin typeface="Calibri"/>
                <a:cs typeface="Calibri"/>
              </a:rPr>
              <a:t>La </a:t>
            </a:r>
            <a:r>
              <a:rPr sz="3000" spc="-15" dirty="0">
                <a:latin typeface="Calibri"/>
                <a:cs typeface="Calibri"/>
              </a:rPr>
              <a:t>EDT  </a:t>
            </a:r>
            <a:r>
              <a:rPr sz="3000" dirty="0">
                <a:latin typeface="Calibri"/>
                <a:cs typeface="Calibri"/>
              </a:rPr>
              <a:t>se </a:t>
            </a:r>
            <a:r>
              <a:rPr sz="3000" spc="-10" dirty="0">
                <a:latin typeface="Calibri"/>
                <a:cs typeface="Calibri"/>
              </a:rPr>
              <a:t>puede </a:t>
            </a:r>
            <a:r>
              <a:rPr sz="3000" spc="-5" dirty="0">
                <a:latin typeface="Calibri"/>
                <a:cs typeface="Calibri"/>
              </a:rPr>
              <a:t>hacer por </a:t>
            </a:r>
            <a:r>
              <a:rPr sz="3000" spc="-15" dirty="0">
                <a:latin typeface="Calibri"/>
                <a:cs typeface="Calibri"/>
              </a:rPr>
              <a:t>proceso  </a:t>
            </a:r>
            <a:r>
              <a:rPr sz="3000" dirty="0">
                <a:latin typeface="Calibri"/>
                <a:cs typeface="Calibri"/>
              </a:rPr>
              <a:t>o </a:t>
            </a:r>
            <a:r>
              <a:rPr sz="3000" spc="-5" dirty="0">
                <a:latin typeface="Calibri"/>
                <a:cs typeface="Calibri"/>
              </a:rPr>
              <a:t>por  </a:t>
            </a:r>
            <a:r>
              <a:rPr sz="3000" spc="-15" dirty="0">
                <a:latin typeface="Calibri"/>
                <a:cs typeface="Calibri"/>
              </a:rPr>
              <a:t>producto </a:t>
            </a:r>
            <a:r>
              <a:rPr sz="3000" spc="-5" dirty="0">
                <a:latin typeface="Calibri"/>
                <a:cs typeface="Calibri"/>
              </a:rPr>
              <a:t>(no importa </a:t>
            </a:r>
            <a:r>
              <a:rPr sz="3000" dirty="0">
                <a:latin typeface="Calibri"/>
                <a:cs typeface="Calibri"/>
              </a:rPr>
              <a:t>cuál </a:t>
            </a:r>
            <a:r>
              <a:rPr sz="3000" spc="-10" dirty="0">
                <a:latin typeface="Calibri"/>
                <a:cs typeface="Calibri"/>
              </a:rPr>
              <a:t>orientación </a:t>
            </a:r>
            <a:r>
              <a:rPr sz="3000" spc="-15" dirty="0">
                <a:latin typeface="Calibri"/>
                <a:cs typeface="Calibri"/>
              </a:rPr>
              <a:t>siga, </a:t>
            </a:r>
            <a:r>
              <a:rPr sz="3000" spc="-10" dirty="0">
                <a:latin typeface="Calibri"/>
                <a:cs typeface="Calibri"/>
              </a:rPr>
              <a:t>los  </a:t>
            </a:r>
            <a:r>
              <a:rPr sz="3000" spc="-15" dirty="0">
                <a:latin typeface="Calibri"/>
                <a:cs typeface="Calibri"/>
              </a:rPr>
              <a:t>entregables </a:t>
            </a:r>
            <a:r>
              <a:rPr sz="3000" dirty="0">
                <a:latin typeface="Calibri"/>
                <a:cs typeface="Calibri"/>
              </a:rPr>
              <a:t>son </a:t>
            </a:r>
            <a:r>
              <a:rPr sz="3000" spc="-10" dirty="0">
                <a:latin typeface="Calibri"/>
                <a:cs typeface="Calibri"/>
              </a:rPr>
              <a:t>siempre </a:t>
            </a:r>
            <a:r>
              <a:rPr sz="3000" dirty="0">
                <a:latin typeface="Calibri"/>
                <a:cs typeface="Calibri"/>
              </a:rPr>
              <a:t>los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mismos)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858000" y="5500115"/>
            <a:ext cx="1607820" cy="105626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4604">
              <a:lnSpc>
                <a:spcPct val="100000"/>
              </a:lnSpc>
              <a:spcBef>
                <a:spcPts val="105"/>
              </a:spcBef>
            </a:pPr>
            <a:r>
              <a:rPr spc="-15" dirty="0"/>
              <a:t>Crear </a:t>
            </a:r>
            <a:r>
              <a:rPr dirty="0"/>
              <a:t>la</a:t>
            </a:r>
            <a:r>
              <a:rPr spc="-40" dirty="0"/>
              <a:t> </a:t>
            </a:r>
            <a:r>
              <a:rPr spc="-20" dirty="0"/>
              <a:t>EDT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07946"/>
            <a:ext cx="8074659" cy="4123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6985" indent="-343535" algn="just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6235" algn="l"/>
              </a:tabLst>
            </a:pPr>
            <a:r>
              <a:rPr sz="3200" spc="-5" dirty="0">
                <a:latin typeface="Calibri"/>
                <a:cs typeface="Calibri"/>
              </a:rPr>
              <a:t>El </a:t>
            </a:r>
            <a:r>
              <a:rPr sz="3200" spc="-15" dirty="0">
                <a:latin typeface="Calibri"/>
                <a:cs typeface="Calibri"/>
              </a:rPr>
              <a:t>“Paquete </a:t>
            </a:r>
            <a:r>
              <a:rPr sz="3200" spc="-5" dirty="0">
                <a:latin typeface="Calibri"/>
                <a:cs typeface="Calibri"/>
              </a:rPr>
              <a:t>de </a:t>
            </a:r>
            <a:r>
              <a:rPr sz="3200" spc="-35" dirty="0">
                <a:latin typeface="Calibri"/>
                <a:cs typeface="Calibri"/>
              </a:rPr>
              <a:t>Trabajo” </a:t>
            </a:r>
            <a:r>
              <a:rPr sz="3200" spc="-5" dirty="0">
                <a:latin typeface="Calibri"/>
                <a:cs typeface="Calibri"/>
              </a:rPr>
              <a:t>se puede </a:t>
            </a:r>
            <a:r>
              <a:rPr sz="3200" spc="-40" dirty="0">
                <a:latin typeface="Calibri"/>
                <a:cs typeface="Calibri"/>
              </a:rPr>
              <a:t>programar,  </a:t>
            </a:r>
            <a:r>
              <a:rPr sz="3200" spc="-45" dirty="0">
                <a:latin typeface="Calibri"/>
                <a:cs typeface="Calibri"/>
              </a:rPr>
              <a:t>estimar, </a:t>
            </a:r>
            <a:r>
              <a:rPr sz="3200" spc="-10" dirty="0">
                <a:latin typeface="Calibri"/>
                <a:cs typeface="Calibri"/>
              </a:rPr>
              <a:t>monitorear </a:t>
            </a:r>
            <a:r>
              <a:rPr sz="3200" dirty="0">
                <a:latin typeface="Calibri"/>
                <a:cs typeface="Calibri"/>
              </a:rPr>
              <a:t>y</a:t>
            </a:r>
            <a:r>
              <a:rPr sz="3200" spc="70" dirty="0">
                <a:latin typeface="Calibri"/>
                <a:cs typeface="Calibri"/>
              </a:rPr>
              <a:t> </a:t>
            </a:r>
            <a:r>
              <a:rPr sz="3200" spc="-45" dirty="0">
                <a:latin typeface="Calibri"/>
                <a:cs typeface="Calibri"/>
              </a:rPr>
              <a:t>controlar.</a:t>
            </a:r>
            <a:endParaRPr sz="3200">
              <a:latin typeface="Calibri"/>
              <a:cs typeface="Calibri"/>
            </a:endParaRPr>
          </a:p>
          <a:p>
            <a:pPr marL="355600" marR="5080" indent="-343535" algn="just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6235" algn="l"/>
              </a:tabLst>
            </a:pPr>
            <a:r>
              <a:rPr sz="3200" spc="-5" dirty="0">
                <a:latin typeface="Calibri"/>
                <a:cs typeface="Calibri"/>
              </a:rPr>
              <a:t>El </a:t>
            </a:r>
            <a:r>
              <a:rPr sz="3200" spc="-10" dirty="0">
                <a:latin typeface="Calibri"/>
                <a:cs typeface="Calibri"/>
              </a:rPr>
              <a:t>paquete </a:t>
            </a:r>
            <a:r>
              <a:rPr sz="3200" spc="-5" dirty="0">
                <a:latin typeface="Calibri"/>
                <a:cs typeface="Calibri"/>
              </a:rPr>
              <a:t>de </a:t>
            </a:r>
            <a:r>
              <a:rPr sz="3200" spc="-10" dirty="0">
                <a:latin typeface="Calibri"/>
                <a:cs typeface="Calibri"/>
              </a:rPr>
              <a:t>trabajo </a:t>
            </a:r>
            <a:r>
              <a:rPr sz="3200" spc="-25" dirty="0">
                <a:latin typeface="Calibri"/>
                <a:cs typeface="Calibri"/>
              </a:rPr>
              <a:t>está </a:t>
            </a:r>
            <a:r>
              <a:rPr sz="3200" dirty="0">
                <a:latin typeface="Calibri"/>
                <a:cs typeface="Calibri"/>
              </a:rPr>
              <a:t>más asociado a que  </a:t>
            </a:r>
            <a:r>
              <a:rPr sz="3200" spc="-25" dirty="0">
                <a:latin typeface="Calibri"/>
                <a:cs typeface="Calibri"/>
              </a:rPr>
              <a:t>exista </a:t>
            </a:r>
            <a:r>
              <a:rPr sz="3200" dirty="0">
                <a:latin typeface="Calibri"/>
                <a:cs typeface="Calibri"/>
              </a:rPr>
              <a:t>un </a:t>
            </a:r>
            <a:r>
              <a:rPr sz="3200" spc="-5" dirty="0">
                <a:latin typeface="Calibri"/>
                <a:cs typeface="Calibri"/>
              </a:rPr>
              <a:t>solo responsable </a:t>
            </a:r>
            <a:r>
              <a:rPr sz="3200" dirty="0">
                <a:latin typeface="Calibri"/>
                <a:cs typeface="Calibri"/>
              </a:rPr>
              <a:t>(aunque </a:t>
            </a:r>
            <a:r>
              <a:rPr sz="3200" spc="-10" dirty="0">
                <a:latin typeface="Calibri"/>
                <a:cs typeface="Calibri"/>
              </a:rPr>
              <a:t>varias  personas trabajen </a:t>
            </a:r>
            <a:r>
              <a:rPr sz="3200" spc="-15" dirty="0">
                <a:latin typeface="Calibri"/>
                <a:cs typeface="Calibri"/>
              </a:rPr>
              <a:t>sobre </a:t>
            </a:r>
            <a:r>
              <a:rPr sz="3200" dirty="0">
                <a:latin typeface="Calibri"/>
                <a:cs typeface="Calibri"/>
              </a:rPr>
              <a:t>el </a:t>
            </a:r>
            <a:r>
              <a:rPr sz="3200" spc="-10" dirty="0">
                <a:latin typeface="Calibri"/>
                <a:cs typeface="Calibri"/>
              </a:rPr>
              <a:t>paquete </a:t>
            </a:r>
            <a:r>
              <a:rPr sz="3200" spc="5" dirty="0">
                <a:latin typeface="Calibri"/>
                <a:cs typeface="Calibri"/>
              </a:rPr>
              <a:t>de  </a:t>
            </a:r>
            <a:r>
              <a:rPr sz="3200" spc="-10" dirty="0">
                <a:latin typeface="Calibri"/>
                <a:cs typeface="Calibri"/>
              </a:rPr>
              <a:t>trabajo).</a:t>
            </a:r>
            <a:endParaRPr sz="3200">
              <a:latin typeface="Calibri"/>
              <a:cs typeface="Calibri"/>
            </a:endParaRPr>
          </a:p>
          <a:p>
            <a:pPr marL="355600" marR="8255" indent="-343535" algn="just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6235" algn="l"/>
              </a:tabLst>
            </a:pPr>
            <a:r>
              <a:rPr sz="3200" dirty="0">
                <a:latin typeface="Calibri"/>
                <a:cs typeface="Calibri"/>
              </a:rPr>
              <a:t>La </a:t>
            </a:r>
            <a:r>
              <a:rPr sz="3200" spc="-5" dirty="0">
                <a:latin typeface="Calibri"/>
                <a:cs typeface="Calibri"/>
              </a:rPr>
              <a:t>suma </a:t>
            </a:r>
            <a:r>
              <a:rPr sz="3200" dirty="0">
                <a:latin typeface="Calibri"/>
                <a:cs typeface="Calibri"/>
              </a:rPr>
              <a:t>de </a:t>
            </a:r>
            <a:r>
              <a:rPr sz="3200" spc="-10" dirty="0">
                <a:latin typeface="Calibri"/>
                <a:cs typeface="Calibri"/>
              </a:rPr>
              <a:t>paquetes </a:t>
            </a:r>
            <a:r>
              <a:rPr sz="3200" dirty="0">
                <a:latin typeface="Calibri"/>
                <a:cs typeface="Calibri"/>
              </a:rPr>
              <a:t>de </a:t>
            </a:r>
            <a:r>
              <a:rPr sz="3200" spc="-10" dirty="0">
                <a:latin typeface="Calibri"/>
                <a:cs typeface="Calibri"/>
              </a:rPr>
              <a:t>trabajo </a:t>
            </a:r>
            <a:r>
              <a:rPr sz="3200" spc="-5" dirty="0">
                <a:latin typeface="Calibri"/>
                <a:cs typeface="Calibri"/>
              </a:rPr>
              <a:t>deben  </a:t>
            </a:r>
            <a:r>
              <a:rPr sz="3200" spc="-15" dirty="0">
                <a:latin typeface="Calibri"/>
                <a:cs typeface="Calibri"/>
              </a:rPr>
              <a:t>completar </a:t>
            </a:r>
            <a:r>
              <a:rPr sz="3200" spc="-5" dirty="0">
                <a:latin typeface="Calibri"/>
                <a:cs typeface="Calibri"/>
              </a:rPr>
              <a:t>un </a:t>
            </a:r>
            <a:r>
              <a:rPr sz="3200" spc="-15" dirty="0">
                <a:latin typeface="Calibri"/>
                <a:cs typeface="Calibri"/>
              </a:rPr>
              <a:t>entregable </a:t>
            </a:r>
            <a:r>
              <a:rPr sz="3200" spc="-5" dirty="0">
                <a:latin typeface="Calibri"/>
                <a:cs typeface="Calibri"/>
              </a:rPr>
              <a:t>de </a:t>
            </a:r>
            <a:r>
              <a:rPr sz="3200" spc="-10" dirty="0">
                <a:latin typeface="Calibri"/>
                <a:cs typeface="Calibri"/>
              </a:rPr>
              <a:t>nivel</a:t>
            </a:r>
            <a:r>
              <a:rPr sz="3200" spc="65" dirty="0">
                <a:latin typeface="Calibri"/>
                <a:cs typeface="Calibri"/>
              </a:rPr>
              <a:t> </a:t>
            </a:r>
            <a:r>
              <a:rPr sz="3200" spc="-40" dirty="0">
                <a:latin typeface="Calibri"/>
                <a:cs typeface="Calibri"/>
              </a:rPr>
              <a:t>superior.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001256" y="5667755"/>
            <a:ext cx="1571244" cy="10469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4604">
              <a:lnSpc>
                <a:spcPct val="100000"/>
              </a:lnSpc>
              <a:spcBef>
                <a:spcPts val="105"/>
              </a:spcBef>
            </a:pPr>
            <a:r>
              <a:rPr spc="-15" dirty="0"/>
              <a:t>Crear </a:t>
            </a:r>
            <a:r>
              <a:rPr dirty="0"/>
              <a:t>la</a:t>
            </a:r>
            <a:r>
              <a:rPr spc="-40" dirty="0"/>
              <a:t> </a:t>
            </a:r>
            <a:r>
              <a:rPr spc="-20" dirty="0"/>
              <a:t>EDT</a:t>
            </a:r>
          </a:p>
        </p:txBody>
      </p:sp>
      <p:sp>
        <p:nvSpPr>
          <p:cNvPr id="3" name="object 3"/>
          <p:cNvSpPr/>
          <p:nvPr/>
        </p:nvSpPr>
        <p:spPr>
          <a:xfrm>
            <a:off x="214884" y="1860528"/>
            <a:ext cx="3214116" cy="199394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326379" y="1786127"/>
            <a:ext cx="3552444" cy="248716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35940" y="1299464"/>
            <a:ext cx="64909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5" dirty="0">
                <a:latin typeface="Calibri"/>
                <a:cs typeface="Calibri"/>
              </a:rPr>
              <a:t>La </a:t>
            </a:r>
            <a:r>
              <a:rPr sz="2400" spc="-10" dirty="0">
                <a:latin typeface="Calibri"/>
                <a:cs typeface="Calibri"/>
              </a:rPr>
              <a:t>EDT </a:t>
            </a:r>
            <a:r>
              <a:rPr sz="2400" spc="-5" dirty="0">
                <a:latin typeface="Calibri"/>
                <a:cs typeface="Calibri"/>
              </a:rPr>
              <a:t>se puede </a:t>
            </a:r>
            <a:r>
              <a:rPr sz="2400" spc="-10" dirty="0">
                <a:latin typeface="Calibri"/>
                <a:cs typeface="Calibri"/>
              </a:rPr>
              <a:t>representar </a:t>
            </a:r>
            <a:r>
              <a:rPr sz="2400" spc="-5" dirty="0">
                <a:latin typeface="Calibri"/>
                <a:cs typeface="Calibri"/>
              </a:rPr>
              <a:t>de </a:t>
            </a:r>
            <a:r>
              <a:rPr sz="2400" spc="-10" dirty="0">
                <a:latin typeface="Calibri"/>
                <a:cs typeface="Calibri"/>
              </a:rPr>
              <a:t>diversas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maneras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214116" y="3683508"/>
            <a:ext cx="3072384" cy="288950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936142" y="3733545"/>
            <a:ext cx="96964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Je</a:t>
            </a:r>
            <a:r>
              <a:rPr sz="1800" spc="-35" dirty="0">
                <a:latin typeface="Calibri"/>
                <a:cs typeface="Calibri"/>
              </a:rPr>
              <a:t>r</a:t>
            </a:r>
            <a:r>
              <a:rPr sz="1800" dirty="0">
                <a:latin typeface="Calibri"/>
                <a:cs typeface="Calibri"/>
              </a:rPr>
              <a:t>á</a:t>
            </a:r>
            <a:r>
              <a:rPr sz="1800" spc="-30" dirty="0">
                <a:latin typeface="Calibri"/>
                <a:cs typeface="Calibri"/>
              </a:rPr>
              <a:t>r</a:t>
            </a:r>
            <a:r>
              <a:rPr sz="1800" spc="-5" dirty="0">
                <a:latin typeface="Calibri"/>
                <a:cs typeface="Calibri"/>
              </a:rPr>
              <a:t>q</a:t>
            </a:r>
            <a:r>
              <a:rPr sz="1800" dirty="0">
                <a:latin typeface="Calibri"/>
                <a:cs typeface="Calibri"/>
              </a:rPr>
              <a:t>u</a:t>
            </a:r>
            <a:r>
              <a:rPr sz="1800" spc="-5" dirty="0">
                <a:latin typeface="Calibri"/>
                <a:cs typeface="Calibri"/>
              </a:rPr>
              <a:t>i</a:t>
            </a:r>
            <a:r>
              <a:rPr sz="1800" spc="-20" dirty="0">
                <a:latin typeface="Calibri"/>
                <a:cs typeface="Calibri"/>
              </a:rPr>
              <a:t>c</a:t>
            </a:r>
            <a:r>
              <a:rPr sz="1800" dirty="0">
                <a:latin typeface="Calibri"/>
                <a:cs typeface="Calibri"/>
              </a:rPr>
              <a:t>a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294378" y="3333369"/>
            <a:ext cx="7099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45" dirty="0">
                <a:latin typeface="Calibri"/>
                <a:cs typeface="Calibri"/>
              </a:rPr>
              <a:t>T</a:t>
            </a:r>
            <a:r>
              <a:rPr sz="1800" dirty="0">
                <a:latin typeface="Calibri"/>
                <a:cs typeface="Calibri"/>
              </a:rPr>
              <a:t>ab</a:t>
            </a:r>
            <a:r>
              <a:rPr sz="1800" spc="5" dirty="0">
                <a:latin typeface="Calibri"/>
                <a:cs typeface="Calibri"/>
              </a:rPr>
              <a:t>u</a:t>
            </a:r>
            <a:r>
              <a:rPr sz="1800" spc="-5" dirty="0">
                <a:latin typeface="Calibri"/>
                <a:cs typeface="Calibri"/>
              </a:rPr>
              <a:t>l</a:t>
            </a:r>
            <a:r>
              <a:rPr sz="1800" dirty="0">
                <a:latin typeface="Calibri"/>
                <a:cs typeface="Calibri"/>
              </a:rPr>
              <a:t>ar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223886" y="4161866"/>
            <a:ext cx="9785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5" dirty="0">
                <a:latin typeface="Calibri"/>
                <a:cs typeface="Calibri"/>
              </a:rPr>
              <a:t>Horizontal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4604">
              <a:lnSpc>
                <a:spcPct val="100000"/>
              </a:lnSpc>
              <a:spcBef>
                <a:spcPts val="105"/>
              </a:spcBef>
            </a:pPr>
            <a:r>
              <a:rPr spc="-15" dirty="0"/>
              <a:t>Crear </a:t>
            </a:r>
            <a:r>
              <a:rPr dirty="0"/>
              <a:t>la</a:t>
            </a:r>
            <a:r>
              <a:rPr spc="-40" dirty="0"/>
              <a:t> </a:t>
            </a:r>
            <a:r>
              <a:rPr spc="-20" dirty="0"/>
              <a:t>EDT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62226"/>
            <a:ext cx="8074659" cy="4050665"/>
          </a:xfrm>
          <a:prstGeom prst="rect">
            <a:avLst/>
          </a:prstGeom>
        </p:spPr>
        <p:txBody>
          <a:bodyPr vert="horz" wrap="square" lIns="0" tIns="71755" rIns="0" bIns="0" rtlCol="0">
            <a:spAutoFit/>
          </a:bodyPr>
          <a:lstStyle/>
          <a:p>
            <a:pPr marL="355600" marR="6985" indent="-343535" algn="just">
              <a:lnSpc>
                <a:spcPts val="1920"/>
              </a:lnSpc>
              <a:spcBef>
                <a:spcPts val="565"/>
              </a:spcBef>
              <a:buFont typeface="Arial"/>
              <a:buChar char="•"/>
              <a:tabLst>
                <a:tab pos="356235" algn="l"/>
              </a:tabLst>
            </a:pPr>
            <a:r>
              <a:rPr sz="2000" spc="-5" dirty="0">
                <a:latin typeface="Calibri"/>
                <a:cs typeface="Calibri"/>
              </a:rPr>
              <a:t>La </a:t>
            </a:r>
            <a:r>
              <a:rPr sz="2000" spc="-10" dirty="0">
                <a:latin typeface="Calibri"/>
                <a:cs typeface="Calibri"/>
              </a:rPr>
              <a:t>EDT </a:t>
            </a:r>
            <a:r>
              <a:rPr sz="2000" spc="-5" dirty="0">
                <a:latin typeface="Calibri"/>
                <a:cs typeface="Calibri"/>
              </a:rPr>
              <a:t>se </a:t>
            </a:r>
            <a:r>
              <a:rPr sz="2000" spc="-10" dirty="0">
                <a:latin typeface="Calibri"/>
                <a:cs typeface="Calibri"/>
              </a:rPr>
              <a:t>finaliza </a:t>
            </a:r>
            <a:r>
              <a:rPr sz="2000" dirty="0">
                <a:latin typeface="Calibri"/>
                <a:cs typeface="Calibri"/>
              </a:rPr>
              <a:t>una </a:t>
            </a:r>
            <a:r>
              <a:rPr sz="2000" spc="-20" dirty="0">
                <a:latin typeface="Calibri"/>
                <a:cs typeface="Calibri"/>
              </a:rPr>
              <a:t>vez </a:t>
            </a:r>
            <a:r>
              <a:rPr sz="2000" spc="-5" dirty="0">
                <a:latin typeface="Calibri"/>
                <a:cs typeface="Calibri"/>
              </a:rPr>
              <a:t>se </a:t>
            </a:r>
            <a:r>
              <a:rPr sz="2000" spc="-15" dirty="0">
                <a:latin typeface="Calibri"/>
                <a:cs typeface="Calibri"/>
              </a:rPr>
              <a:t>establezcan </a:t>
            </a:r>
            <a:r>
              <a:rPr sz="2000" dirty="0">
                <a:latin typeface="Calibri"/>
                <a:cs typeface="Calibri"/>
              </a:rPr>
              <a:t>las </a:t>
            </a:r>
            <a:r>
              <a:rPr sz="2000" spc="-10" dirty="0">
                <a:latin typeface="Calibri"/>
                <a:cs typeface="Calibri"/>
              </a:rPr>
              <a:t>“Cuentas </a:t>
            </a:r>
            <a:r>
              <a:rPr sz="2000" dirty="0">
                <a:latin typeface="Calibri"/>
                <a:cs typeface="Calibri"/>
              </a:rPr>
              <a:t>de </a:t>
            </a:r>
            <a:r>
              <a:rPr sz="2000" spc="-15" dirty="0">
                <a:latin typeface="Calibri"/>
                <a:cs typeface="Calibri"/>
              </a:rPr>
              <a:t>Control” para </a:t>
            </a:r>
            <a:r>
              <a:rPr sz="2000" dirty="0">
                <a:latin typeface="Calibri"/>
                <a:cs typeface="Calibri"/>
              </a:rPr>
              <a:t>los  </a:t>
            </a:r>
            <a:r>
              <a:rPr sz="2000" spc="-5" dirty="0">
                <a:latin typeface="Calibri"/>
                <a:cs typeface="Calibri"/>
              </a:rPr>
              <a:t>paquetes </a:t>
            </a:r>
            <a:r>
              <a:rPr sz="2000" dirty="0">
                <a:latin typeface="Calibri"/>
                <a:cs typeface="Calibri"/>
              </a:rPr>
              <a:t>de </a:t>
            </a:r>
            <a:r>
              <a:rPr sz="2000" spc="-5" dirty="0">
                <a:latin typeface="Calibri"/>
                <a:cs typeface="Calibri"/>
              </a:rPr>
              <a:t>trabajo </a:t>
            </a:r>
            <a:r>
              <a:rPr sz="2000" dirty="0">
                <a:latin typeface="Calibri"/>
                <a:cs typeface="Calibri"/>
              </a:rPr>
              <a:t>y un </a:t>
            </a:r>
            <a:r>
              <a:rPr sz="2000" spc="-5" dirty="0">
                <a:latin typeface="Calibri"/>
                <a:cs typeface="Calibri"/>
              </a:rPr>
              <a:t>identificador único </a:t>
            </a:r>
            <a:r>
              <a:rPr sz="2000" dirty="0">
                <a:latin typeface="Calibri"/>
                <a:cs typeface="Calibri"/>
              </a:rPr>
              <a:t>de un </a:t>
            </a:r>
            <a:r>
              <a:rPr sz="2000" spc="-5" dirty="0">
                <a:latin typeface="Calibri"/>
                <a:cs typeface="Calibri"/>
              </a:rPr>
              <a:t>código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-1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cuentas.</a:t>
            </a:r>
            <a:endParaRPr sz="2000">
              <a:latin typeface="Calibri"/>
              <a:cs typeface="Calibri"/>
            </a:endParaRPr>
          </a:p>
          <a:p>
            <a:pPr marL="355600" marR="6985" indent="-343535" algn="just">
              <a:lnSpc>
                <a:spcPct val="80000"/>
              </a:lnSpc>
              <a:spcBef>
                <a:spcPts val="500"/>
              </a:spcBef>
              <a:buFont typeface="Arial"/>
              <a:buChar char="•"/>
              <a:tabLst>
                <a:tab pos="356235" algn="l"/>
              </a:tabLst>
            </a:pPr>
            <a:r>
              <a:rPr sz="2000" spc="-5" dirty="0">
                <a:latin typeface="Calibri"/>
                <a:cs typeface="Calibri"/>
              </a:rPr>
              <a:t>La </a:t>
            </a:r>
            <a:r>
              <a:rPr sz="2000" spc="-10" dirty="0">
                <a:latin typeface="Calibri"/>
                <a:cs typeface="Calibri"/>
              </a:rPr>
              <a:t>Estructura </a:t>
            </a:r>
            <a:r>
              <a:rPr sz="2000" dirty="0">
                <a:latin typeface="Calibri"/>
                <a:cs typeface="Calibri"/>
              </a:rPr>
              <a:t>de </a:t>
            </a:r>
            <a:r>
              <a:rPr sz="2000" spc="-10" dirty="0">
                <a:latin typeface="Calibri"/>
                <a:cs typeface="Calibri"/>
              </a:rPr>
              <a:t>Desagregación </a:t>
            </a:r>
            <a:r>
              <a:rPr sz="2000" dirty="0">
                <a:latin typeface="Calibri"/>
                <a:cs typeface="Calibri"/>
              </a:rPr>
              <a:t>de </a:t>
            </a:r>
            <a:r>
              <a:rPr sz="2000" spc="-5" dirty="0">
                <a:latin typeface="Calibri"/>
                <a:cs typeface="Calibri"/>
              </a:rPr>
              <a:t>la </a:t>
            </a:r>
            <a:r>
              <a:rPr sz="2000" spc="-10" dirty="0">
                <a:latin typeface="Calibri"/>
                <a:cs typeface="Calibri"/>
              </a:rPr>
              <a:t>Organización </a:t>
            </a:r>
            <a:r>
              <a:rPr sz="2000" dirty="0">
                <a:latin typeface="Calibri"/>
                <a:cs typeface="Calibri"/>
              </a:rPr>
              <a:t>(OBS) no es </a:t>
            </a:r>
            <a:r>
              <a:rPr sz="2000" spc="-5" dirty="0">
                <a:latin typeface="Calibri"/>
                <a:cs typeface="Calibri"/>
              </a:rPr>
              <a:t>el  </a:t>
            </a:r>
            <a:r>
              <a:rPr sz="2000" spc="-10" dirty="0">
                <a:latin typeface="Calibri"/>
                <a:cs typeface="Calibri"/>
              </a:rPr>
              <a:t>organigrama, </a:t>
            </a:r>
            <a:r>
              <a:rPr sz="2000" spc="-5" dirty="0">
                <a:latin typeface="Calibri"/>
                <a:cs typeface="Calibri"/>
              </a:rPr>
              <a:t>sino es la estructura que maneja </a:t>
            </a:r>
            <a:r>
              <a:rPr sz="2000" dirty="0">
                <a:latin typeface="Calibri"/>
                <a:cs typeface="Calibri"/>
              </a:rPr>
              <a:t>los </a:t>
            </a:r>
            <a:r>
              <a:rPr sz="2000" spc="-10" dirty="0">
                <a:latin typeface="Calibri"/>
                <a:cs typeface="Calibri"/>
              </a:rPr>
              <a:t>centros </a:t>
            </a:r>
            <a:r>
              <a:rPr sz="2000" dirty="0">
                <a:latin typeface="Calibri"/>
                <a:cs typeface="Calibri"/>
              </a:rPr>
              <a:t>de </a:t>
            </a:r>
            <a:r>
              <a:rPr sz="2000" spc="-15" dirty="0">
                <a:latin typeface="Calibri"/>
                <a:cs typeface="Calibri"/>
              </a:rPr>
              <a:t>costos </a:t>
            </a:r>
            <a:r>
              <a:rPr sz="2000" dirty="0">
                <a:latin typeface="Calibri"/>
                <a:cs typeface="Calibri"/>
              </a:rPr>
              <a:t>y </a:t>
            </a:r>
            <a:r>
              <a:rPr sz="2000" spc="-5" dirty="0">
                <a:latin typeface="Calibri"/>
                <a:cs typeface="Calibri"/>
              </a:rPr>
              <a:t>es </a:t>
            </a:r>
            <a:r>
              <a:rPr sz="2000" dirty="0">
                <a:latin typeface="Calibri"/>
                <a:cs typeface="Calibri"/>
              </a:rPr>
              <a:t>a  </a:t>
            </a:r>
            <a:r>
              <a:rPr sz="2000" spc="-5" dirty="0">
                <a:latin typeface="Calibri"/>
                <a:cs typeface="Calibri"/>
              </a:rPr>
              <a:t>quien </a:t>
            </a:r>
            <a:r>
              <a:rPr sz="2000" dirty="0">
                <a:latin typeface="Calibri"/>
                <a:cs typeface="Calibri"/>
              </a:rPr>
              <a:t>asigno los </a:t>
            </a:r>
            <a:r>
              <a:rPr sz="2000" spc="-10" dirty="0">
                <a:latin typeface="Calibri"/>
                <a:cs typeface="Calibri"/>
              </a:rPr>
              <a:t>costos </a:t>
            </a:r>
            <a:r>
              <a:rPr sz="2000" dirty="0">
                <a:latin typeface="Calibri"/>
                <a:cs typeface="Calibri"/>
              </a:rPr>
              <a:t>asociados </a:t>
            </a:r>
            <a:r>
              <a:rPr sz="2000" spc="-5" dirty="0">
                <a:latin typeface="Calibri"/>
                <a:cs typeface="Calibri"/>
              </a:rPr>
              <a:t>con el </a:t>
            </a:r>
            <a:r>
              <a:rPr sz="2000" spc="-10" dirty="0">
                <a:latin typeface="Calibri"/>
                <a:cs typeface="Calibri"/>
              </a:rPr>
              <a:t>paquete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trabajo.</a:t>
            </a:r>
            <a:endParaRPr sz="2000">
              <a:latin typeface="Calibri"/>
              <a:cs typeface="Calibri"/>
            </a:endParaRPr>
          </a:p>
          <a:p>
            <a:pPr marL="355600" marR="5080" indent="-343535" algn="just">
              <a:lnSpc>
                <a:spcPct val="80000"/>
              </a:lnSpc>
              <a:spcBef>
                <a:spcPts val="480"/>
              </a:spcBef>
              <a:buFont typeface="Arial"/>
              <a:buChar char="•"/>
              <a:tabLst>
                <a:tab pos="356235" algn="l"/>
              </a:tabLst>
            </a:pPr>
            <a:r>
              <a:rPr sz="2000" dirty="0">
                <a:latin typeface="Calibri"/>
                <a:cs typeface="Calibri"/>
              </a:rPr>
              <a:t>Una </a:t>
            </a:r>
            <a:r>
              <a:rPr sz="2000" spc="-10" dirty="0">
                <a:latin typeface="Calibri"/>
                <a:cs typeface="Calibri"/>
              </a:rPr>
              <a:t>Cuenta </a:t>
            </a:r>
            <a:r>
              <a:rPr sz="2000" spc="-5" dirty="0">
                <a:latin typeface="Calibri"/>
                <a:cs typeface="Calibri"/>
              </a:rPr>
              <a:t>de </a:t>
            </a:r>
            <a:r>
              <a:rPr sz="2000" spc="-10" dirty="0">
                <a:latin typeface="Calibri"/>
                <a:cs typeface="Calibri"/>
              </a:rPr>
              <a:t>Control </a:t>
            </a:r>
            <a:r>
              <a:rPr sz="2000" spc="-5" dirty="0">
                <a:latin typeface="Calibri"/>
                <a:cs typeface="Calibri"/>
              </a:rPr>
              <a:t>es </a:t>
            </a:r>
            <a:r>
              <a:rPr sz="2000" dirty="0">
                <a:latin typeface="Calibri"/>
                <a:cs typeface="Calibri"/>
              </a:rPr>
              <a:t>un </a:t>
            </a:r>
            <a:r>
              <a:rPr sz="2000" spc="-10" dirty="0">
                <a:latin typeface="Calibri"/>
                <a:cs typeface="Calibri"/>
              </a:rPr>
              <a:t>punto </a:t>
            </a:r>
            <a:r>
              <a:rPr sz="2000" dirty="0">
                <a:latin typeface="Calibri"/>
                <a:cs typeface="Calibri"/>
              </a:rPr>
              <a:t>de </a:t>
            </a:r>
            <a:r>
              <a:rPr sz="2000" spc="-15" dirty="0">
                <a:latin typeface="Calibri"/>
                <a:cs typeface="Calibri"/>
              </a:rPr>
              <a:t>control </a:t>
            </a:r>
            <a:r>
              <a:rPr sz="2000" dirty="0">
                <a:latin typeface="Calibri"/>
                <a:cs typeface="Calibri"/>
              </a:rPr>
              <a:t>de </a:t>
            </a:r>
            <a:r>
              <a:rPr sz="2000" spc="-5" dirty="0">
                <a:latin typeface="Calibri"/>
                <a:cs typeface="Calibri"/>
              </a:rPr>
              <a:t>gestión donde el  </a:t>
            </a:r>
            <a:r>
              <a:rPr sz="2000" dirty="0">
                <a:latin typeface="Calibri"/>
                <a:cs typeface="Calibri"/>
              </a:rPr>
              <a:t>alcance, </a:t>
            </a:r>
            <a:r>
              <a:rPr sz="2000" spc="-5" dirty="0">
                <a:latin typeface="Calibri"/>
                <a:cs typeface="Calibri"/>
              </a:rPr>
              <a:t>el </a:t>
            </a:r>
            <a:r>
              <a:rPr sz="2000" spc="-15" dirty="0">
                <a:latin typeface="Calibri"/>
                <a:cs typeface="Calibri"/>
              </a:rPr>
              <a:t>costo </a:t>
            </a:r>
            <a:r>
              <a:rPr sz="2000" dirty="0">
                <a:latin typeface="Calibri"/>
                <a:cs typeface="Calibri"/>
              </a:rPr>
              <a:t>y </a:t>
            </a:r>
            <a:r>
              <a:rPr sz="2000" spc="-5" dirty="0">
                <a:latin typeface="Calibri"/>
                <a:cs typeface="Calibri"/>
              </a:rPr>
              <a:t>el </a:t>
            </a:r>
            <a:r>
              <a:rPr sz="2000" spc="-10" dirty="0">
                <a:latin typeface="Calibri"/>
                <a:cs typeface="Calibri"/>
              </a:rPr>
              <a:t>cronograma </a:t>
            </a:r>
            <a:r>
              <a:rPr sz="2000" spc="-5" dirty="0">
                <a:latin typeface="Calibri"/>
                <a:cs typeface="Calibri"/>
              </a:rPr>
              <a:t>se </a:t>
            </a:r>
            <a:r>
              <a:rPr sz="2000" spc="-10" dirty="0">
                <a:latin typeface="Calibri"/>
                <a:cs typeface="Calibri"/>
              </a:rPr>
              <a:t>integran </a:t>
            </a:r>
            <a:r>
              <a:rPr sz="2000" dirty="0">
                <a:latin typeface="Calibri"/>
                <a:cs typeface="Calibri"/>
              </a:rPr>
              <a:t>y </a:t>
            </a:r>
            <a:r>
              <a:rPr sz="2000" spc="-5" dirty="0">
                <a:latin typeface="Calibri"/>
                <a:cs typeface="Calibri"/>
              </a:rPr>
              <a:t>comparan </a:t>
            </a:r>
            <a:r>
              <a:rPr sz="2000" spc="-10" dirty="0">
                <a:latin typeface="Calibri"/>
                <a:cs typeface="Calibri"/>
              </a:rPr>
              <a:t>con </a:t>
            </a:r>
            <a:r>
              <a:rPr sz="2000" spc="-5" dirty="0">
                <a:latin typeface="Calibri"/>
                <a:cs typeface="Calibri"/>
              </a:rPr>
              <a:t>el valor  ganado </a:t>
            </a:r>
            <a:r>
              <a:rPr sz="2000" spc="-15" dirty="0">
                <a:latin typeface="Calibri"/>
                <a:cs typeface="Calibri"/>
              </a:rPr>
              <a:t>para </a:t>
            </a:r>
            <a:r>
              <a:rPr sz="2000" spc="-5" dirty="0">
                <a:latin typeface="Calibri"/>
                <a:cs typeface="Calibri"/>
              </a:rPr>
              <a:t>la </a:t>
            </a:r>
            <a:r>
              <a:rPr sz="2000" dirty="0">
                <a:latin typeface="Calibri"/>
                <a:cs typeface="Calibri"/>
              </a:rPr>
              <a:t>medición </a:t>
            </a:r>
            <a:r>
              <a:rPr sz="2000" spc="-5" dirty="0">
                <a:latin typeface="Calibri"/>
                <a:cs typeface="Calibri"/>
              </a:rPr>
              <a:t>del desempeño (nivel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contable).</a:t>
            </a:r>
            <a:endParaRPr sz="2000">
              <a:latin typeface="Calibri"/>
              <a:cs typeface="Calibri"/>
            </a:endParaRPr>
          </a:p>
          <a:p>
            <a:pPr marL="355600" indent="-343535" algn="just">
              <a:lnSpc>
                <a:spcPct val="100000"/>
              </a:lnSpc>
              <a:buFont typeface="Arial"/>
              <a:buChar char="•"/>
              <a:tabLst>
                <a:tab pos="356235" algn="l"/>
              </a:tabLst>
            </a:pPr>
            <a:r>
              <a:rPr sz="2000" dirty="0">
                <a:latin typeface="Calibri"/>
                <a:cs typeface="Calibri"/>
              </a:rPr>
              <a:t>El </a:t>
            </a:r>
            <a:r>
              <a:rPr sz="2000" spc="-15" dirty="0">
                <a:latin typeface="Calibri"/>
                <a:cs typeface="Calibri"/>
              </a:rPr>
              <a:t>“cruce” </a:t>
            </a:r>
            <a:r>
              <a:rPr sz="2000" spc="-10" dirty="0">
                <a:latin typeface="Calibri"/>
                <a:cs typeface="Calibri"/>
              </a:rPr>
              <a:t>entre </a:t>
            </a:r>
            <a:r>
              <a:rPr sz="2000" spc="-5" dirty="0">
                <a:latin typeface="Calibri"/>
                <a:cs typeface="Calibri"/>
              </a:rPr>
              <a:t>la </a:t>
            </a:r>
            <a:r>
              <a:rPr sz="2000" dirty="0">
                <a:latin typeface="Calibri"/>
                <a:cs typeface="Calibri"/>
              </a:rPr>
              <a:t>WBS y </a:t>
            </a:r>
            <a:r>
              <a:rPr sz="2000" spc="-5" dirty="0">
                <a:latin typeface="Calibri"/>
                <a:cs typeface="Calibri"/>
              </a:rPr>
              <a:t>la </a:t>
            </a:r>
            <a:r>
              <a:rPr sz="2000" dirty="0">
                <a:latin typeface="Calibri"/>
                <a:cs typeface="Calibri"/>
              </a:rPr>
              <a:t>OBS </a:t>
            </a:r>
            <a:r>
              <a:rPr sz="2000" spc="-5" dirty="0">
                <a:latin typeface="Calibri"/>
                <a:cs typeface="Calibri"/>
              </a:rPr>
              <a:t>se denomina </a:t>
            </a:r>
            <a:r>
              <a:rPr sz="2000" spc="-10" dirty="0">
                <a:latin typeface="Calibri"/>
                <a:cs typeface="Calibri"/>
              </a:rPr>
              <a:t>cuenta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control.</a:t>
            </a:r>
            <a:endParaRPr sz="2000">
              <a:latin typeface="Calibri"/>
              <a:cs typeface="Calibri"/>
            </a:endParaRPr>
          </a:p>
          <a:p>
            <a:pPr marL="355600" marR="7620" indent="-343535" algn="just">
              <a:lnSpc>
                <a:spcPct val="80100"/>
              </a:lnSpc>
              <a:spcBef>
                <a:spcPts val="475"/>
              </a:spcBef>
              <a:buFont typeface="Arial"/>
              <a:buChar char="•"/>
              <a:tabLst>
                <a:tab pos="356235" algn="l"/>
              </a:tabLst>
            </a:pPr>
            <a:r>
              <a:rPr sz="2000" dirty="0">
                <a:latin typeface="Calibri"/>
                <a:cs typeface="Calibri"/>
              </a:rPr>
              <a:t>La </a:t>
            </a:r>
            <a:r>
              <a:rPr sz="2000" spc="-5" dirty="0">
                <a:latin typeface="Calibri"/>
                <a:cs typeface="Calibri"/>
              </a:rPr>
              <a:t>suma </a:t>
            </a:r>
            <a:r>
              <a:rPr sz="2000" dirty="0">
                <a:latin typeface="Calibri"/>
                <a:cs typeface="Calibri"/>
              </a:rPr>
              <a:t>de </a:t>
            </a:r>
            <a:r>
              <a:rPr sz="2000" spc="-10" dirty="0">
                <a:latin typeface="Calibri"/>
                <a:cs typeface="Calibri"/>
              </a:rPr>
              <a:t>todas </a:t>
            </a:r>
            <a:r>
              <a:rPr sz="2000" dirty="0">
                <a:latin typeface="Calibri"/>
                <a:cs typeface="Calibri"/>
              </a:rPr>
              <a:t>las </a:t>
            </a:r>
            <a:r>
              <a:rPr sz="2000" spc="-5" dirty="0">
                <a:latin typeface="Calibri"/>
                <a:cs typeface="Calibri"/>
              </a:rPr>
              <a:t>cuentas </a:t>
            </a:r>
            <a:r>
              <a:rPr sz="2000" dirty="0">
                <a:latin typeface="Calibri"/>
                <a:cs typeface="Calibri"/>
              </a:rPr>
              <a:t>de </a:t>
            </a:r>
            <a:r>
              <a:rPr sz="2000" spc="-10" dirty="0">
                <a:latin typeface="Calibri"/>
                <a:cs typeface="Calibri"/>
              </a:rPr>
              <a:t>control </a:t>
            </a:r>
            <a:r>
              <a:rPr sz="2000" dirty="0">
                <a:latin typeface="Calibri"/>
                <a:cs typeface="Calibri"/>
              </a:rPr>
              <a:t>se </a:t>
            </a:r>
            <a:r>
              <a:rPr sz="2000" spc="-5" dirty="0">
                <a:latin typeface="Calibri"/>
                <a:cs typeface="Calibri"/>
              </a:rPr>
              <a:t>denomina </a:t>
            </a:r>
            <a:r>
              <a:rPr sz="2000" spc="-10" dirty="0">
                <a:latin typeface="Calibri"/>
                <a:cs typeface="Calibri"/>
              </a:rPr>
              <a:t>presupuesto total  (BAC-Budget </a:t>
            </a:r>
            <a:r>
              <a:rPr sz="2000" spc="-30" dirty="0">
                <a:latin typeface="Calibri"/>
                <a:cs typeface="Calibri"/>
              </a:rPr>
              <a:t>At </a:t>
            </a:r>
            <a:r>
              <a:rPr sz="2000" spc="-5" dirty="0">
                <a:latin typeface="Calibri"/>
                <a:cs typeface="Calibri"/>
              </a:rPr>
              <a:t>Complete), </a:t>
            </a:r>
            <a:r>
              <a:rPr sz="2000" spc="5" dirty="0">
                <a:latin typeface="Calibri"/>
                <a:cs typeface="Calibri"/>
              </a:rPr>
              <a:t>es </a:t>
            </a:r>
            <a:r>
              <a:rPr sz="2000" spc="-35" dirty="0">
                <a:latin typeface="Calibri"/>
                <a:cs typeface="Calibri"/>
              </a:rPr>
              <a:t>decir, </a:t>
            </a:r>
            <a:r>
              <a:rPr sz="2000" spc="-5" dirty="0">
                <a:latin typeface="Calibri"/>
                <a:cs typeface="Calibri"/>
              </a:rPr>
              <a:t>la Declaración </a:t>
            </a:r>
            <a:r>
              <a:rPr sz="2000" dirty="0">
                <a:latin typeface="Calibri"/>
                <a:cs typeface="Calibri"/>
              </a:rPr>
              <a:t>de </a:t>
            </a:r>
            <a:r>
              <a:rPr sz="2000" spc="-25" dirty="0">
                <a:latin typeface="Calibri"/>
                <a:cs typeface="Calibri"/>
              </a:rPr>
              <a:t>Trabajo </a:t>
            </a:r>
            <a:r>
              <a:rPr sz="2000" spc="-10" dirty="0">
                <a:latin typeface="Calibri"/>
                <a:cs typeface="Calibri"/>
              </a:rPr>
              <a:t>Completa  </a:t>
            </a:r>
            <a:r>
              <a:rPr sz="2000" spc="-5" dirty="0">
                <a:latin typeface="Calibri"/>
                <a:cs typeface="Calibri"/>
              </a:rPr>
              <a:t>(Costeada).</a:t>
            </a:r>
            <a:endParaRPr sz="2000">
              <a:latin typeface="Calibri"/>
              <a:cs typeface="Calibri"/>
            </a:endParaRPr>
          </a:p>
          <a:p>
            <a:pPr marL="355600" marR="6350" indent="-343535" algn="just">
              <a:lnSpc>
                <a:spcPct val="80000"/>
              </a:lnSpc>
              <a:spcBef>
                <a:spcPts val="480"/>
              </a:spcBef>
              <a:buFont typeface="Arial"/>
              <a:buChar char="•"/>
              <a:tabLst>
                <a:tab pos="356235" algn="l"/>
              </a:tabLst>
            </a:pPr>
            <a:r>
              <a:rPr sz="2000" dirty="0">
                <a:latin typeface="Calibri"/>
                <a:cs typeface="Calibri"/>
              </a:rPr>
              <a:t>El </a:t>
            </a:r>
            <a:r>
              <a:rPr sz="2000" spc="-10" dirty="0">
                <a:latin typeface="Calibri"/>
                <a:cs typeface="Calibri"/>
              </a:rPr>
              <a:t>paquete </a:t>
            </a:r>
            <a:r>
              <a:rPr sz="2000" dirty="0">
                <a:latin typeface="Calibri"/>
                <a:cs typeface="Calibri"/>
              </a:rPr>
              <a:t>de </a:t>
            </a:r>
            <a:r>
              <a:rPr sz="2000" spc="-5" dirty="0">
                <a:latin typeface="Calibri"/>
                <a:cs typeface="Calibri"/>
              </a:rPr>
              <a:t>trabajo es </a:t>
            </a:r>
            <a:r>
              <a:rPr sz="2000" dirty="0">
                <a:latin typeface="Calibri"/>
                <a:cs typeface="Calibri"/>
              </a:rPr>
              <a:t>un </a:t>
            </a:r>
            <a:r>
              <a:rPr sz="2000" spc="-10" dirty="0">
                <a:latin typeface="Calibri"/>
                <a:cs typeface="Calibri"/>
              </a:rPr>
              <a:t>subconjunto </a:t>
            </a:r>
            <a:r>
              <a:rPr sz="2000" spc="-5" dirty="0">
                <a:latin typeface="Calibri"/>
                <a:cs typeface="Calibri"/>
              </a:rPr>
              <a:t>de </a:t>
            </a:r>
            <a:r>
              <a:rPr sz="2000" dirty="0">
                <a:latin typeface="Calibri"/>
                <a:cs typeface="Calibri"/>
              </a:rPr>
              <a:t>las </a:t>
            </a:r>
            <a:r>
              <a:rPr sz="2000" spc="-5" dirty="0">
                <a:latin typeface="Calibri"/>
                <a:cs typeface="Calibri"/>
              </a:rPr>
              <a:t>cuentas </a:t>
            </a:r>
            <a:r>
              <a:rPr sz="2000" dirty="0">
                <a:latin typeface="Calibri"/>
                <a:cs typeface="Calibri"/>
              </a:rPr>
              <a:t>de </a:t>
            </a:r>
            <a:r>
              <a:rPr sz="2000" spc="-15" dirty="0">
                <a:latin typeface="Calibri"/>
                <a:cs typeface="Calibri"/>
              </a:rPr>
              <a:t>control </a:t>
            </a:r>
            <a:r>
              <a:rPr sz="2000" spc="-5" dirty="0">
                <a:latin typeface="Calibri"/>
                <a:cs typeface="Calibri"/>
              </a:rPr>
              <a:t>(cada  cuenta </a:t>
            </a:r>
            <a:r>
              <a:rPr sz="2000" dirty="0">
                <a:latin typeface="Calibri"/>
                <a:cs typeface="Calibri"/>
              </a:rPr>
              <a:t>de </a:t>
            </a:r>
            <a:r>
              <a:rPr sz="2000" spc="-15" dirty="0">
                <a:latin typeface="Calibri"/>
                <a:cs typeface="Calibri"/>
              </a:rPr>
              <a:t>control </a:t>
            </a:r>
            <a:r>
              <a:rPr sz="2000" spc="-5" dirty="0">
                <a:latin typeface="Calibri"/>
                <a:cs typeface="Calibri"/>
              </a:rPr>
              <a:t>puede </a:t>
            </a:r>
            <a:r>
              <a:rPr sz="2000" dirty="0">
                <a:latin typeface="Calibri"/>
                <a:cs typeface="Calibri"/>
              </a:rPr>
              <a:t>incluir uno o más </a:t>
            </a:r>
            <a:r>
              <a:rPr sz="2000" spc="-5" dirty="0">
                <a:latin typeface="Calibri"/>
                <a:cs typeface="Calibri"/>
              </a:rPr>
              <a:t>paquetes </a:t>
            </a:r>
            <a:r>
              <a:rPr sz="2000" dirty="0">
                <a:latin typeface="Calibri"/>
                <a:cs typeface="Calibri"/>
              </a:rPr>
              <a:t>de </a:t>
            </a:r>
            <a:r>
              <a:rPr sz="2000" spc="-10" dirty="0">
                <a:latin typeface="Calibri"/>
                <a:cs typeface="Calibri"/>
              </a:rPr>
              <a:t>trabajo, </a:t>
            </a:r>
            <a:r>
              <a:rPr sz="2000" spc="-15" dirty="0">
                <a:latin typeface="Calibri"/>
                <a:cs typeface="Calibri"/>
              </a:rPr>
              <a:t>pero  </a:t>
            </a:r>
            <a:r>
              <a:rPr sz="2000" spc="-10" dirty="0">
                <a:latin typeface="Calibri"/>
                <a:cs typeface="Calibri"/>
              </a:rPr>
              <a:t>normalmente </a:t>
            </a:r>
            <a:r>
              <a:rPr sz="2000" spc="-5" dirty="0">
                <a:latin typeface="Calibri"/>
                <a:cs typeface="Calibri"/>
              </a:rPr>
              <a:t>se establece </a:t>
            </a:r>
            <a:r>
              <a:rPr sz="2000" dirty="0">
                <a:latin typeface="Calibri"/>
                <a:cs typeface="Calibri"/>
              </a:rPr>
              <a:t>una </a:t>
            </a:r>
            <a:r>
              <a:rPr sz="2000" spc="-5" dirty="0">
                <a:latin typeface="Calibri"/>
                <a:cs typeface="Calibri"/>
              </a:rPr>
              <a:t>relación </a:t>
            </a:r>
            <a:r>
              <a:rPr sz="2000" dirty="0">
                <a:latin typeface="Calibri"/>
                <a:cs typeface="Calibri"/>
              </a:rPr>
              <a:t>uno a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uno).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817854" y="5596930"/>
            <a:ext cx="1341160" cy="83745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4604">
              <a:lnSpc>
                <a:spcPct val="100000"/>
              </a:lnSpc>
              <a:spcBef>
                <a:spcPts val="105"/>
              </a:spcBef>
            </a:pPr>
            <a:r>
              <a:rPr spc="-15" dirty="0"/>
              <a:t>Crear </a:t>
            </a:r>
            <a:r>
              <a:rPr dirty="0"/>
              <a:t>la</a:t>
            </a:r>
            <a:r>
              <a:rPr spc="-40" dirty="0"/>
              <a:t> </a:t>
            </a:r>
            <a:r>
              <a:rPr spc="-20" dirty="0"/>
              <a:t>EDT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299464"/>
            <a:ext cx="41529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5" dirty="0">
                <a:latin typeface="Calibri"/>
                <a:cs typeface="Calibri"/>
              </a:rPr>
              <a:t>Relación </a:t>
            </a:r>
            <a:r>
              <a:rPr sz="2400" spc="-15" dirty="0">
                <a:latin typeface="Calibri"/>
                <a:cs typeface="Calibri"/>
              </a:rPr>
              <a:t>entre </a:t>
            </a:r>
            <a:r>
              <a:rPr sz="2400" dirty="0">
                <a:latin typeface="Calibri"/>
                <a:cs typeface="Calibri"/>
              </a:rPr>
              <a:t>el WBS y la</a:t>
            </a:r>
            <a:r>
              <a:rPr sz="2400" spc="-1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OBS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629657" y="2103521"/>
            <a:ext cx="5539760" cy="345910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4604">
              <a:lnSpc>
                <a:spcPct val="100000"/>
              </a:lnSpc>
              <a:spcBef>
                <a:spcPts val="105"/>
              </a:spcBef>
            </a:pPr>
            <a:r>
              <a:rPr spc="-15" dirty="0"/>
              <a:t>Crear </a:t>
            </a:r>
            <a:r>
              <a:rPr dirty="0"/>
              <a:t>la</a:t>
            </a:r>
            <a:r>
              <a:rPr spc="-40" dirty="0"/>
              <a:t> </a:t>
            </a:r>
            <a:r>
              <a:rPr spc="-20" dirty="0"/>
              <a:t>EDT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14589"/>
            <a:ext cx="5682615" cy="2279650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484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3000" b="1" i="1" spc="-15" dirty="0">
                <a:latin typeface="Calibri"/>
                <a:cs typeface="Calibri"/>
              </a:rPr>
              <a:t>Paquete </a:t>
            </a:r>
            <a:r>
              <a:rPr sz="3000" b="1" i="1" dirty="0">
                <a:latin typeface="Calibri"/>
                <a:cs typeface="Calibri"/>
              </a:rPr>
              <a:t>de</a:t>
            </a:r>
            <a:r>
              <a:rPr sz="3000" b="1" i="1" spc="5" dirty="0">
                <a:latin typeface="Calibri"/>
                <a:cs typeface="Calibri"/>
              </a:rPr>
              <a:t> </a:t>
            </a:r>
            <a:r>
              <a:rPr sz="3000" b="1" i="1" spc="-20" dirty="0">
                <a:latin typeface="Calibri"/>
                <a:cs typeface="Calibri"/>
              </a:rPr>
              <a:t>Trabajo</a:t>
            </a:r>
            <a:endParaRPr sz="30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340"/>
              </a:spcBef>
              <a:buFont typeface="Arial"/>
              <a:buChar char="–"/>
              <a:tabLst>
                <a:tab pos="756920" algn="l"/>
              </a:tabLst>
            </a:pPr>
            <a:r>
              <a:rPr sz="2600" spc="-10" dirty="0">
                <a:latin typeface="Calibri"/>
                <a:cs typeface="Calibri"/>
              </a:rPr>
              <a:t>Subconjunto </a:t>
            </a:r>
            <a:r>
              <a:rPr sz="2600" spc="-5" dirty="0">
                <a:latin typeface="Calibri"/>
                <a:cs typeface="Calibri"/>
              </a:rPr>
              <a:t>de </a:t>
            </a:r>
            <a:r>
              <a:rPr sz="2600" dirty="0">
                <a:latin typeface="Calibri"/>
                <a:cs typeface="Calibri"/>
              </a:rPr>
              <a:t>la </a:t>
            </a:r>
            <a:r>
              <a:rPr sz="2600" spc="-10" dirty="0">
                <a:latin typeface="Calibri"/>
                <a:cs typeface="Calibri"/>
              </a:rPr>
              <a:t>Cuenta </a:t>
            </a:r>
            <a:r>
              <a:rPr sz="2600" spc="-5" dirty="0">
                <a:latin typeface="Calibri"/>
                <a:cs typeface="Calibri"/>
              </a:rPr>
              <a:t>de</a:t>
            </a:r>
            <a:r>
              <a:rPr sz="2600" spc="-9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Control</a:t>
            </a:r>
            <a:endParaRPr sz="26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315"/>
              </a:spcBef>
              <a:buFont typeface="Arial"/>
              <a:buChar char="–"/>
              <a:tabLst>
                <a:tab pos="756920" algn="l"/>
              </a:tabLst>
            </a:pPr>
            <a:r>
              <a:rPr sz="2600" dirty="0">
                <a:latin typeface="Calibri"/>
                <a:cs typeface="Calibri"/>
              </a:rPr>
              <a:t>De </a:t>
            </a:r>
            <a:r>
              <a:rPr sz="2600" spc="-5" dirty="0">
                <a:latin typeface="Calibri"/>
                <a:cs typeface="Calibri"/>
              </a:rPr>
              <a:t>duración </a:t>
            </a:r>
            <a:r>
              <a:rPr sz="2600" spc="-15" dirty="0">
                <a:latin typeface="Calibri"/>
                <a:cs typeface="Calibri"/>
              </a:rPr>
              <a:t>razonablemente</a:t>
            </a:r>
            <a:r>
              <a:rPr sz="2600" spc="-9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corta</a:t>
            </a:r>
            <a:endParaRPr sz="26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310"/>
              </a:spcBef>
              <a:buFont typeface="Arial"/>
              <a:buChar char="–"/>
              <a:tabLst>
                <a:tab pos="756920" algn="l"/>
              </a:tabLst>
            </a:pPr>
            <a:r>
              <a:rPr sz="2600" spc="-5" dirty="0">
                <a:latin typeface="Calibri"/>
                <a:cs typeface="Calibri"/>
              </a:rPr>
              <a:t>Un elemento </a:t>
            </a:r>
            <a:r>
              <a:rPr sz="2600" spc="-10" dirty="0">
                <a:latin typeface="Calibri"/>
                <a:cs typeface="Calibri"/>
              </a:rPr>
              <a:t>único </a:t>
            </a:r>
            <a:r>
              <a:rPr sz="2600" spc="-5" dirty="0">
                <a:latin typeface="Calibri"/>
                <a:cs typeface="Calibri"/>
              </a:rPr>
              <a:t>de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costo</a:t>
            </a:r>
            <a:endParaRPr sz="26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315"/>
              </a:spcBef>
              <a:buFont typeface="Arial"/>
              <a:buChar char="–"/>
              <a:tabLst>
                <a:tab pos="756920" algn="l"/>
              </a:tabLst>
            </a:pPr>
            <a:r>
              <a:rPr sz="2600" spc="-10" dirty="0">
                <a:latin typeface="Calibri"/>
                <a:cs typeface="Calibri"/>
              </a:rPr>
              <a:t>Ayuda </a:t>
            </a:r>
            <a:r>
              <a:rPr sz="2600" spc="-15" dirty="0">
                <a:latin typeface="Calibri"/>
                <a:cs typeface="Calibri"/>
              </a:rPr>
              <a:t>para </a:t>
            </a:r>
            <a:r>
              <a:rPr sz="2600" dirty="0">
                <a:latin typeface="Calibri"/>
                <a:cs typeface="Calibri"/>
              </a:rPr>
              <a:t>el </a:t>
            </a:r>
            <a:r>
              <a:rPr sz="2600" spc="-10" dirty="0">
                <a:latin typeface="Calibri"/>
                <a:cs typeface="Calibri"/>
              </a:rPr>
              <a:t>valor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ganado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93444" y="3807028"/>
            <a:ext cx="5507355" cy="422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245235" algn="l"/>
                <a:tab pos="1817370" algn="l"/>
                <a:tab pos="3045460" algn="l"/>
                <a:tab pos="5158105" algn="l"/>
              </a:tabLst>
            </a:pPr>
            <a:r>
              <a:rPr sz="2600" dirty="0">
                <a:latin typeface="Arial"/>
                <a:cs typeface="Arial"/>
              </a:rPr>
              <a:t>–</a:t>
            </a:r>
            <a:r>
              <a:rPr sz="2600" spc="80" dirty="0">
                <a:latin typeface="Arial"/>
                <a:cs typeface="Arial"/>
              </a:rPr>
              <a:t> </a:t>
            </a:r>
            <a:r>
              <a:rPr sz="2600" spc="-5" dirty="0">
                <a:latin typeface="Calibri"/>
                <a:cs typeface="Calibri"/>
              </a:rPr>
              <a:t>T</a:t>
            </a:r>
            <a:r>
              <a:rPr sz="2600" spc="-10" dirty="0">
                <a:latin typeface="Calibri"/>
                <a:cs typeface="Calibri"/>
              </a:rPr>
              <a:t>i</a:t>
            </a:r>
            <a:r>
              <a:rPr sz="2600" dirty="0">
                <a:latin typeface="Calibri"/>
                <a:cs typeface="Calibri"/>
              </a:rPr>
              <a:t>e</a:t>
            </a:r>
            <a:r>
              <a:rPr sz="2600" spc="-15" dirty="0">
                <a:latin typeface="Calibri"/>
                <a:cs typeface="Calibri"/>
              </a:rPr>
              <a:t>n</a:t>
            </a:r>
            <a:r>
              <a:rPr sz="2600" dirty="0">
                <a:latin typeface="Calibri"/>
                <a:cs typeface="Calibri"/>
              </a:rPr>
              <a:t>e	las	mis</a:t>
            </a:r>
            <a:r>
              <a:rPr sz="2600" spc="-5" dirty="0">
                <a:latin typeface="Calibri"/>
                <a:cs typeface="Calibri"/>
              </a:rPr>
              <a:t>m</a:t>
            </a:r>
            <a:r>
              <a:rPr sz="2600" dirty="0">
                <a:latin typeface="Calibri"/>
                <a:cs typeface="Calibri"/>
              </a:rPr>
              <a:t>as	</a:t>
            </a:r>
            <a:r>
              <a:rPr sz="2600" spc="-25" dirty="0">
                <a:latin typeface="Calibri"/>
                <a:cs typeface="Calibri"/>
              </a:rPr>
              <a:t>c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50" dirty="0">
                <a:latin typeface="Calibri"/>
                <a:cs typeface="Calibri"/>
              </a:rPr>
              <a:t>r</a:t>
            </a:r>
            <a:r>
              <a:rPr sz="2600" dirty="0">
                <a:latin typeface="Calibri"/>
                <a:cs typeface="Calibri"/>
              </a:rPr>
              <a:t>ac</a:t>
            </a:r>
            <a:r>
              <a:rPr sz="2600" spc="-3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er</a:t>
            </a:r>
            <a:r>
              <a:rPr sz="2600" spc="-10" dirty="0">
                <a:latin typeface="Calibri"/>
                <a:cs typeface="Calibri"/>
              </a:rPr>
              <a:t>í</a:t>
            </a:r>
            <a:r>
              <a:rPr sz="2600" spc="-25" dirty="0">
                <a:latin typeface="Calibri"/>
                <a:cs typeface="Calibri"/>
              </a:rPr>
              <a:t>s</a:t>
            </a:r>
            <a:r>
              <a:rPr sz="2600" dirty="0">
                <a:latin typeface="Calibri"/>
                <a:cs typeface="Calibri"/>
              </a:rPr>
              <a:t>ti</a:t>
            </a:r>
            <a:r>
              <a:rPr sz="2600" spc="-20" dirty="0">
                <a:latin typeface="Calibri"/>
                <a:cs typeface="Calibri"/>
              </a:rPr>
              <a:t>c</a:t>
            </a:r>
            <a:r>
              <a:rPr sz="2600" spc="-15" dirty="0">
                <a:latin typeface="Calibri"/>
                <a:cs typeface="Calibri"/>
              </a:rPr>
              <a:t>a</a:t>
            </a:r>
            <a:r>
              <a:rPr sz="2600" dirty="0">
                <a:latin typeface="Calibri"/>
                <a:cs typeface="Calibri"/>
              </a:rPr>
              <a:t>s	</a:t>
            </a:r>
            <a:r>
              <a:rPr sz="2600" spc="-15" dirty="0">
                <a:latin typeface="Calibri"/>
                <a:cs typeface="Calibri"/>
              </a:rPr>
              <a:t>de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685026" y="3807028"/>
            <a:ext cx="1923414" cy="422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455930" algn="l"/>
                <a:tab pos="1574800" algn="l"/>
              </a:tabLst>
            </a:pPr>
            <a:r>
              <a:rPr sz="2600" dirty="0">
                <a:latin typeface="Calibri"/>
                <a:cs typeface="Calibri"/>
              </a:rPr>
              <a:t>la	</a:t>
            </a:r>
            <a:r>
              <a:rPr sz="2600" spc="-10" dirty="0">
                <a:latin typeface="Calibri"/>
                <a:cs typeface="Calibri"/>
              </a:rPr>
              <a:t>c</a:t>
            </a:r>
            <a:r>
              <a:rPr sz="2600" spc="-5" dirty="0">
                <a:latin typeface="Calibri"/>
                <a:cs typeface="Calibri"/>
              </a:rPr>
              <a:t>u</a:t>
            </a:r>
            <a:r>
              <a:rPr sz="2600" spc="-20" dirty="0">
                <a:latin typeface="Calibri"/>
                <a:cs typeface="Calibri"/>
              </a:rPr>
              <a:t>e</a:t>
            </a:r>
            <a:r>
              <a:rPr sz="2600" spc="-25" dirty="0">
                <a:latin typeface="Calibri"/>
                <a:cs typeface="Calibri"/>
              </a:rPr>
              <a:t>n</a:t>
            </a:r>
            <a:r>
              <a:rPr sz="2600" spc="-3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a	</a:t>
            </a:r>
            <a:r>
              <a:rPr sz="2600" spc="-15" dirty="0">
                <a:latin typeface="Calibri"/>
                <a:cs typeface="Calibri"/>
              </a:rPr>
              <a:t>de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79905" y="4119874"/>
            <a:ext cx="5439410" cy="1945639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5"/>
              </a:spcBef>
            </a:pPr>
            <a:r>
              <a:rPr sz="2600" spc="-15" dirty="0">
                <a:latin typeface="Calibri"/>
                <a:cs typeface="Calibri"/>
              </a:rPr>
              <a:t>control:</a:t>
            </a:r>
            <a:endParaRPr sz="2600">
              <a:latin typeface="Calibri"/>
              <a:cs typeface="Calibri"/>
            </a:endParaRPr>
          </a:p>
          <a:p>
            <a:pPr marL="411480" indent="-229235">
              <a:lnSpc>
                <a:spcPct val="100000"/>
              </a:lnSpc>
              <a:spcBef>
                <a:spcPts val="290"/>
              </a:spcBef>
              <a:buFont typeface="Arial"/>
              <a:buChar char="•"/>
              <a:tabLst>
                <a:tab pos="411480" algn="l"/>
                <a:tab pos="412115" algn="l"/>
              </a:tabLst>
            </a:pPr>
            <a:r>
              <a:rPr sz="2200" spc="-5" dirty="0">
                <a:latin typeface="Calibri"/>
                <a:cs typeface="Calibri"/>
              </a:rPr>
              <a:t>Es el </a:t>
            </a:r>
            <a:r>
              <a:rPr sz="2200" spc="-10" dirty="0">
                <a:latin typeface="Calibri"/>
                <a:cs typeface="Calibri"/>
              </a:rPr>
              <a:t>alcance </a:t>
            </a:r>
            <a:r>
              <a:rPr sz="2200" spc="-5" dirty="0">
                <a:latin typeface="Calibri"/>
                <a:cs typeface="Calibri"/>
              </a:rPr>
              <a:t>del </a:t>
            </a:r>
            <a:r>
              <a:rPr sz="2200" spc="-15" dirty="0">
                <a:latin typeface="Calibri"/>
                <a:cs typeface="Calibri"/>
              </a:rPr>
              <a:t>trabajo </a:t>
            </a:r>
            <a:r>
              <a:rPr sz="2200" spc="-10" dirty="0">
                <a:latin typeface="Calibri"/>
                <a:cs typeface="Calibri"/>
              </a:rPr>
              <a:t>que </a:t>
            </a:r>
            <a:r>
              <a:rPr sz="2200" spc="-20" dirty="0">
                <a:latin typeface="Calibri"/>
                <a:cs typeface="Calibri"/>
              </a:rPr>
              <a:t>hay </a:t>
            </a:r>
            <a:r>
              <a:rPr sz="2200" spc="-10" dirty="0">
                <a:latin typeface="Calibri"/>
                <a:cs typeface="Calibri"/>
              </a:rPr>
              <a:t>que</a:t>
            </a:r>
            <a:r>
              <a:rPr sz="2200" spc="114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hacer</a:t>
            </a:r>
            <a:endParaRPr sz="2200">
              <a:latin typeface="Calibri"/>
              <a:cs typeface="Calibri"/>
            </a:endParaRPr>
          </a:p>
          <a:p>
            <a:pPr marL="411480" indent="-229235">
              <a:lnSpc>
                <a:spcPct val="100000"/>
              </a:lnSpc>
              <a:spcBef>
                <a:spcPts val="265"/>
              </a:spcBef>
              <a:buFont typeface="Arial"/>
              <a:buChar char="•"/>
              <a:tabLst>
                <a:tab pos="411480" algn="l"/>
                <a:tab pos="412115" algn="l"/>
              </a:tabLst>
            </a:pPr>
            <a:r>
              <a:rPr sz="2200" spc="-10" dirty="0">
                <a:latin typeface="Calibri"/>
                <a:cs typeface="Calibri"/>
              </a:rPr>
              <a:t>Un criterio </a:t>
            </a:r>
            <a:r>
              <a:rPr sz="2200" spc="-5" dirty="0">
                <a:latin typeface="Calibri"/>
                <a:cs typeface="Calibri"/>
              </a:rPr>
              <a:t>es la </a:t>
            </a:r>
            <a:r>
              <a:rPr sz="2200" spc="-10" dirty="0">
                <a:latin typeface="Calibri"/>
                <a:cs typeface="Calibri"/>
              </a:rPr>
              <a:t>terminación </a:t>
            </a:r>
            <a:r>
              <a:rPr sz="2200" spc="-5" dirty="0">
                <a:latin typeface="Calibri"/>
                <a:cs typeface="Calibri"/>
              </a:rPr>
              <a:t>del</a:t>
            </a:r>
            <a:r>
              <a:rPr sz="2200" spc="75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entregable</a:t>
            </a:r>
            <a:endParaRPr sz="2200">
              <a:latin typeface="Calibri"/>
              <a:cs typeface="Calibri"/>
            </a:endParaRPr>
          </a:p>
          <a:p>
            <a:pPr marL="411480" indent="-229235">
              <a:lnSpc>
                <a:spcPct val="100000"/>
              </a:lnSpc>
              <a:spcBef>
                <a:spcPts val="265"/>
              </a:spcBef>
              <a:buFont typeface="Arial"/>
              <a:buChar char="•"/>
              <a:tabLst>
                <a:tab pos="411480" algn="l"/>
                <a:tab pos="412115" algn="l"/>
              </a:tabLst>
            </a:pPr>
            <a:r>
              <a:rPr sz="2200" spc="-10" dirty="0">
                <a:latin typeface="Calibri"/>
                <a:cs typeface="Calibri"/>
              </a:rPr>
              <a:t>Una </a:t>
            </a:r>
            <a:r>
              <a:rPr sz="2200" spc="-5" dirty="0">
                <a:latin typeface="Calibri"/>
                <a:cs typeface="Calibri"/>
              </a:rPr>
              <a:t>sola </a:t>
            </a:r>
            <a:r>
              <a:rPr sz="2200" spc="-10" dirty="0">
                <a:latin typeface="Calibri"/>
                <a:cs typeface="Calibri"/>
              </a:rPr>
              <a:t>persona </a:t>
            </a:r>
            <a:r>
              <a:rPr sz="2200" spc="-5" dirty="0">
                <a:latin typeface="Calibri"/>
                <a:cs typeface="Calibri"/>
              </a:rPr>
              <a:t>es la </a:t>
            </a:r>
            <a:r>
              <a:rPr sz="2200" spc="-15" dirty="0">
                <a:latin typeface="Calibri"/>
                <a:cs typeface="Calibri"/>
              </a:rPr>
              <a:t>encargada </a:t>
            </a:r>
            <a:r>
              <a:rPr sz="2200" spc="-5" dirty="0">
                <a:latin typeface="Calibri"/>
                <a:cs typeface="Calibri"/>
              </a:rPr>
              <a:t>de</a:t>
            </a:r>
            <a:r>
              <a:rPr sz="2200" spc="2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hacerlo</a:t>
            </a:r>
            <a:endParaRPr sz="2200">
              <a:latin typeface="Calibri"/>
              <a:cs typeface="Calibri"/>
            </a:endParaRPr>
          </a:p>
          <a:p>
            <a:pPr marL="411480" indent="-229235">
              <a:lnSpc>
                <a:spcPct val="100000"/>
              </a:lnSpc>
              <a:spcBef>
                <a:spcPts val="265"/>
              </a:spcBef>
              <a:buFont typeface="Arial"/>
              <a:buChar char="•"/>
              <a:tabLst>
                <a:tab pos="411480" algn="l"/>
                <a:tab pos="412115" algn="l"/>
              </a:tabLst>
            </a:pPr>
            <a:r>
              <a:rPr sz="2200" spc="-10" dirty="0">
                <a:latin typeface="Calibri"/>
                <a:cs typeface="Calibri"/>
              </a:rPr>
              <a:t>Tiene </a:t>
            </a:r>
            <a:r>
              <a:rPr sz="2200" spc="-20" dirty="0">
                <a:latin typeface="Calibri"/>
                <a:cs typeface="Calibri"/>
              </a:rPr>
              <a:t>fecha </a:t>
            </a:r>
            <a:r>
              <a:rPr sz="2200" spc="-5" dirty="0">
                <a:latin typeface="Calibri"/>
                <a:cs typeface="Calibri"/>
              </a:rPr>
              <a:t>de inicio y</a:t>
            </a:r>
            <a:r>
              <a:rPr sz="2200" spc="6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terminación.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4604">
              <a:lnSpc>
                <a:spcPct val="100000"/>
              </a:lnSpc>
              <a:spcBef>
                <a:spcPts val="105"/>
              </a:spcBef>
            </a:pPr>
            <a:r>
              <a:rPr spc="-15" dirty="0"/>
              <a:t>Crear </a:t>
            </a:r>
            <a:r>
              <a:rPr dirty="0"/>
              <a:t>la</a:t>
            </a:r>
            <a:r>
              <a:rPr spc="-40" dirty="0"/>
              <a:t> </a:t>
            </a:r>
            <a:r>
              <a:rPr spc="-20" dirty="0"/>
              <a:t>EDT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21511"/>
            <a:ext cx="8074659" cy="3764279"/>
          </a:xfrm>
          <a:prstGeom prst="rect">
            <a:avLst/>
          </a:prstGeom>
        </p:spPr>
        <p:txBody>
          <a:bodyPr vert="horz" wrap="square" lIns="0" tIns="101600" rIns="0" bIns="0" rtlCol="0">
            <a:spAutoFit/>
          </a:bodyPr>
          <a:lstStyle/>
          <a:p>
            <a:pPr marL="355600" indent="-343535" algn="just">
              <a:lnSpc>
                <a:spcPct val="100000"/>
              </a:lnSpc>
              <a:spcBef>
                <a:spcPts val="800"/>
              </a:spcBef>
              <a:buFont typeface="Arial"/>
              <a:buChar char="•"/>
              <a:tabLst>
                <a:tab pos="356235" algn="l"/>
              </a:tabLst>
            </a:pPr>
            <a:r>
              <a:rPr sz="2800" b="1" i="1" spc="-10" dirty="0">
                <a:latin typeface="Calibri"/>
                <a:cs typeface="Calibri"/>
              </a:rPr>
              <a:t>Características </a:t>
            </a:r>
            <a:r>
              <a:rPr sz="2800" b="1" i="1" spc="-5" dirty="0">
                <a:latin typeface="Calibri"/>
                <a:cs typeface="Calibri"/>
              </a:rPr>
              <a:t>del </a:t>
            </a:r>
            <a:r>
              <a:rPr sz="2800" b="1" i="1" spc="-20" dirty="0">
                <a:latin typeface="Calibri"/>
                <a:cs typeface="Calibri"/>
              </a:rPr>
              <a:t>Paquete </a:t>
            </a:r>
            <a:r>
              <a:rPr sz="2800" b="1" i="1" spc="-5" dirty="0">
                <a:latin typeface="Calibri"/>
                <a:cs typeface="Calibri"/>
              </a:rPr>
              <a:t>de</a:t>
            </a:r>
            <a:r>
              <a:rPr sz="2800" b="1" i="1" spc="65" dirty="0">
                <a:latin typeface="Calibri"/>
                <a:cs typeface="Calibri"/>
              </a:rPr>
              <a:t> </a:t>
            </a:r>
            <a:r>
              <a:rPr sz="2800" b="1" i="1" spc="-25" dirty="0">
                <a:latin typeface="Calibri"/>
                <a:cs typeface="Calibri"/>
              </a:rPr>
              <a:t>Trabajo</a:t>
            </a:r>
            <a:endParaRPr sz="2800">
              <a:latin typeface="Calibri"/>
              <a:cs typeface="Calibri"/>
            </a:endParaRPr>
          </a:p>
          <a:p>
            <a:pPr marL="756285" lvl="1" indent="-287020" algn="just">
              <a:lnSpc>
                <a:spcPct val="100000"/>
              </a:lnSpc>
              <a:spcBef>
                <a:spcPts val="605"/>
              </a:spcBef>
              <a:buFont typeface="Arial"/>
              <a:buChar char="–"/>
              <a:tabLst>
                <a:tab pos="756920" algn="l"/>
              </a:tabLst>
            </a:pPr>
            <a:r>
              <a:rPr sz="2400" dirty="0">
                <a:latin typeface="Calibri"/>
                <a:cs typeface="Calibri"/>
              </a:rPr>
              <a:t>Medible y</a:t>
            </a:r>
            <a:r>
              <a:rPr sz="2400" spc="-10" dirty="0">
                <a:latin typeface="Calibri"/>
                <a:cs typeface="Calibri"/>
              </a:rPr>
              <a:t> Discreto</a:t>
            </a:r>
            <a:endParaRPr sz="2400">
              <a:latin typeface="Calibri"/>
              <a:cs typeface="Calibri"/>
            </a:endParaRPr>
          </a:p>
          <a:p>
            <a:pPr marL="756285" lvl="1" indent="-287020" algn="just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5" dirty="0">
                <a:latin typeface="Calibri"/>
                <a:cs typeface="Calibri"/>
              </a:rPr>
              <a:t>Son </a:t>
            </a:r>
            <a:r>
              <a:rPr sz="2400" dirty="0">
                <a:latin typeface="Calibri"/>
                <a:cs typeface="Calibri"/>
              </a:rPr>
              <a:t>los </a:t>
            </a:r>
            <a:r>
              <a:rPr sz="2400" spc="-10" dirty="0">
                <a:latin typeface="Calibri"/>
                <a:cs typeface="Calibri"/>
              </a:rPr>
              <a:t>productos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tangibles</a:t>
            </a:r>
            <a:endParaRPr sz="2400">
              <a:latin typeface="Calibri"/>
              <a:cs typeface="Calibri"/>
            </a:endParaRPr>
          </a:p>
          <a:p>
            <a:pPr marL="1155700" lvl="2" indent="-229235" algn="just">
              <a:lnSpc>
                <a:spcPct val="100000"/>
              </a:lnSpc>
              <a:spcBef>
                <a:spcPts val="509"/>
              </a:spcBef>
              <a:buFont typeface="Arial"/>
              <a:buChar char="•"/>
              <a:tabLst>
                <a:tab pos="1156335" algn="l"/>
              </a:tabLst>
            </a:pPr>
            <a:r>
              <a:rPr sz="2000" spc="-15" dirty="0">
                <a:latin typeface="Calibri"/>
                <a:cs typeface="Calibri"/>
              </a:rPr>
              <a:t>Por </a:t>
            </a:r>
            <a:r>
              <a:rPr sz="2000" spc="-5" dirty="0">
                <a:latin typeface="Calibri"/>
                <a:cs typeface="Calibri"/>
              </a:rPr>
              <a:t>ejemplo: Instalar el timón en </a:t>
            </a:r>
            <a:r>
              <a:rPr sz="2000" dirty="0">
                <a:latin typeface="Calibri"/>
                <a:cs typeface="Calibri"/>
              </a:rPr>
              <a:t>un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barco</a:t>
            </a:r>
            <a:endParaRPr sz="2000">
              <a:latin typeface="Calibri"/>
              <a:cs typeface="Calibri"/>
            </a:endParaRPr>
          </a:p>
          <a:p>
            <a:pPr marL="756285" marR="5080" lvl="1" indent="-287020" algn="just">
              <a:lnSpc>
                <a:spcPct val="100000"/>
              </a:lnSpc>
              <a:spcBef>
                <a:spcPts val="545"/>
              </a:spcBef>
              <a:buFont typeface="Arial"/>
              <a:buChar char="–"/>
              <a:tabLst>
                <a:tab pos="756920" algn="l"/>
              </a:tabLst>
            </a:pPr>
            <a:r>
              <a:rPr sz="2400" dirty="0">
                <a:latin typeface="Calibri"/>
                <a:cs typeface="Calibri"/>
              </a:rPr>
              <a:t>Se </a:t>
            </a:r>
            <a:r>
              <a:rPr sz="2400" spc="-10" dirty="0">
                <a:latin typeface="Calibri"/>
                <a:cs typeface="Calibri"/>
              </a:rPr>
              <a:t>utiliza </a:t>
            </a:r>
            <a:r>
              <a:rPr sz="2400" spc="-15" dirty="0">
                <a:latin typeface="Calibri"/>
                <a:cs typeface="Calibri"/>
              </a:rPr>
              <a:t>“Rolling </a:t>
            </a:r>
            <a:r>
              <a:rPr sz="2400" spc="-40" dirty="0">
                <a:latin typeface="Calibri"/>
                <a:cs typeface="Calibri"/>
              </a:rPr>
              <a:t>Wave </a:t>
            </a:r>
            <a:r>
              <a:rPr sz="2400" spc="-15" dirty="0">
                <a:latin typeface="Calibri"/>
                <a:cs typeface="Calibri"/>
              </a:rPr>
              <a:t>Planning”, </a:t>
            </a:r>
            <a:r>
              <a:rPr sz="2400" dirty="0">
                <a:latin typeface="Calibri"/>
                <a:cs typeface="Calibri"/>
              </a:rPr>
              <a:t>es </a:t>
            </a:r>
            <a:r>
              <a:rPr sz="2400" spc="-35" dirty="0">
                <a:latin typeface="Calibri"/>
                <a:cs typeface="Calibri"/>
              </a:rPr>
              <a:t>decir, </a:t>
            </a:r>
            <a:r>
              <a:rPr sz="2400" dirty="0">
                <a:latin typeface="Calibri"/>
                <a:cs typeface="Calibri"/>
              </a:rPr>
              <a:t>el </a:t>
            </a:r>
            <a:r>
              <a:rPr sz="2400" spc="-10" dirty="0">
                <a:latin typeface="Calibri"/>
                <a:cs typeface="Calibri"/>
              </a:rPr>
              <a:t>proceso </a:t>
            </a:r>
            <a:r>
              <a:rPr sz="2400" spc="-5" dirty="0">
                <a:latin typeface="Calibri"/>
                <a:cs typeface="Calibri"/>
              </a:rPr>
              <a:t>de  planear por olas </a:t>
            </a:r>
            <a:r>
              <a:rPr sz="2400" dirty="0">
                <a:latin typeface="Calibri"/>
                <a:cs typeface="Calibri"/>
              </a:rPr>
              <a:t>a </a:t>
            </a:r>
            <a:r>
              <a:rPr sz="2400" spc="-5" dirty="0">
                <a:latin typeface="Calibri"/>
                <a:cs typeface="Calibri"/>
              </a:rPr>
              <a:t>medida que </a:t>
            </a:r>
            <a:r>
              <a:rPr sz="2400" dirty="0">
                <a:latin typeface="Calibri"/>
                <a:cs typeface="Calibri"/>
              </a:rPr>
              <a:t>el </a:t>
            </a:r>
            <a:r>
              <a:rPr sz="2400" spc="-20" dirty="0">
                <a:latin typeface="Calibri"/>
                <a:cs typeface="Calibri"/>
              </a:rPr>
              <a:t>proyecto </a:t>
            </a:r>
            <a:r>
              <a:rPr sz="2400" spc="-5" dirty="0">
                <a:latin typeface="Calibri"/>
                <a:cs typeface="Calibri"/>
              </a:rPr>
              <a:t>se vuelve </a:t>
            </a:r>
            <a:r>
              <a:rPr sz="2400" dirty="0">
                <a:latin typeface="Calibri"/>
                <a:cs typeface="Calibri"/>
              </a:rPr>
              <a:t>más  </a:t>
            </a:r>
            <a:r>
              <a:rPr sz="2400" spc="-10" dirty="0">
                <a:latin typeface="Calibri"/>
                <a:cs typeface="Calibri"/>
              </a:rPr>
              <a:t>claro.</a:t>
            </a:r>
            <a:endParaRPr sz="2400">
              <a:latin typeface="Calibri"/>
              <a:cs typeface="Calibri"/>
            </a:endParaRPr>
          </a:p>
          <a:p>
            <a:pPr marL="756285" marR="8255" lvl="1" indent="-287020" algn="just">
              <a:lnSpc>
                <a:spcPct val="100000"/>
              </a:lnSpc>
              <a:spcBef>
                <a:spcPts val="58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5" dirty="0">
                <a:latin typeface="Calibri"/>
                <a:cs typeface="Calibri"/>
              </a:rPr>
              <a:t>Paquetes </a:t>
            </a:r>
            <a:r>
              <a:rPr sz="2400" spc="-5" dirty="0">
                <a:latin typeface="Calibri"/>
                <a:cs typeface="Calibri"/>
              </a:rPr>
              <a:t>Abiertos (Manual de </a:t>
            </a:r>
            <a:r>
              <a:rPr sz="2400" spc="-10" dirty="0">
                <a:latin typeface="Calibri"/>
                <a:cs typeface="Calibri"/>
              </a:rPr>
              <a:t>funcionamiento </a:t>
            </a:r>
            <a:r>
              <a:rPr sz="2400" spc="-5" dirty="0">
                <a:latin typeface="Calibri"/>
                <a:cs typeface="Calibri"/>
              </a:rPr>
              <a:t>de un  vehículo) </a:t>
            </a:r>
            <a:r>
              <a:rPr sz="2400" dirty="0">
                <a:latin typeface="Calibri"/>
                <a:cs typeface="Calibri"/>
              </a:rPr>
              <a:t>y </a:t>
            </a:r>
            <a:r>
              <a:rPr sz="2400" spc="-15" dirty="0">
                <a:latin typeface="Calibri"/>
                <a:cs typeface="Calibri"/>
              </a:rPr>
              <a:t>Paquetes </a:t>
            </a:r>
            <a:r>
              <a:rPr sz="2400" spc="-10" dirty="0">
                <a:latin typeface="Calibri"/>
                <a:cs typeface="Calibri"/>
              </a:rPr>
              <a:t>Cerrados (Motor </a:t>
            </a:r>
            <a:r>
              <a:rPr sz="2400" spc="-5" dirty="0">
                <a:latin typeface="Calibri"/>
                <a:cs typeface="Calibri"/>
              </a:rPr>
              <a:t>del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vehículo)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4604">
              <a:lnSpc>
                <a:spcPct val="100000"/>
              </a:lnSpc>
              <a:spcBef>
                <a:spcPts val="105"/>
              </a:spcBef>
            </a:pPr>
            <a:r>
              <a:rPr spc="-15" dirty="0"/>
              <a:t>Crear </a:t>
            </a:r>
            <a:r>
              <a:rPr dirty="0"/>
              <a:t>la</a:t>
            </a:r>
            <a:r>
              <a:rPr spc="-40" dirty="0"/>
              <a:t> </a:t>
            </a:r>
            <a:r>
              <a:rPr spc="-20" dirty="0"/>
              <a:t>EDT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marL="358140" indent="-343535">
              <a:lnSpc>
                <a:spcPct val="100000"/>
              </a:lnSpc>
              <a:spcBef>
                <a:spcPts val="509"/>
              </a:spcBef>
              <a:buFont typeface="Arial"/>
              <a:buChar char="•"/>
              <a:tabLst>
                <a:tab pos="358140" algn="l"/>
                <a:tab pos="358775" algn="l"/>
              </a:tabLst>
            </a:pPr>
            <a:r>
              <a:rPr sz="3200" spc="-5" dirty="0"/>
              <a:t>Tips </a:t>
            </a:r>
            <a:r>
              <a:rPr sz="3200" dirty="0"/>
              <a:t>para la creación de la</a:t>
            </a:r>
            <a:r>
              <a:rPr sz="3200" spc="-80" dirty="0"/>
              <a:t> </a:t>
            </a:r>
            <a:r>
              <a:rPr sz="3200" spc="-25" dirty="0"/>
              <a:t>EDT</a:t>
            </a:r>
            <a:endParaRPr sz="3200"/>
          </a:p>
          <a:p>
            <a:pPr marL="758825" lvl="1" indent="-287020">
              <a:lnSpc>
                <a:spcPct val="100000"/>
              </a:lnSpc>
              <a:spcBef>
                <a:spcPts val="350"/>
              </a:spcBef>
              <a:buFont typeface="Arial"/>
              <a:buChar char="–"/>
              <a:tabLst>
                <a:tab pos="759460" algn="l"/>
              </a:tabLst>
            </a:pPr>
            <a:r>
              <a:rPr sz="2800" spc="-40" dirty="0">
                <a:latin typeface="Calibri"/>
                <a:cs typeface="Calibri"/>
              </a:rPr>
              <a:t>Tamaño </a:t>
            </a:r>
            <a:r>
              <a:rPr sz="2800" spc="-5" dirty="0">
                <a:latin typeface="Calibri"/>
                <a:cs typeface="Calibri"/>
              </a:rPr>
              <a:t>del</a:t>
            </a:r>
            <a:r>
              <a:rPr sz="2800" spc="3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proyecto?</a:t>
            </a:r>
            <a:endParaRPr sz="2800">
              <a:latin typeface="Calibri"/>
              <a:cs typeface="Calibri"/>
            </a:endParaRPr>
          </a:p>
          <a:p>
            <a:pPr marL="758825" marR="8255" lvl="1" indent="-287020">
              <a:lnSpc>
                <a:spcPts val="3030"/>
              </a:lnSpc>
              <a:spcBef>
                <a:spcPts val="715"/>
              </a:spcBef>
              <a:buFont typeface="Arial"/>
              <a:buChar char="–"/>
              <a:tabLst>
                <a:tab pos="759460" algn="l"/>
                <a:tab pos="1784350" algn="l"/>
                <a:tab pos="2680970" algn="l"/>
                <a:tab pos="5119370" algn="l"/>
                <a:tab pos="5637530" algn="l"/>
                <a:tab pos="6203315" algn="l"/>
                <a:tab pos="7698740" algn="l"/>
              </a:tabLst>
            </a:pPr>
            <a:r>
              <a:rPr sz="2800" spc="-5" dirty="0">
                <a:latin typeface="Calibri"/>
                <a:cs typeface="Calibri"/>
              </a:rPr>
              <a:t>Qu</a:t>
            </a:r>
            <a:r>
              <a:rPr sz="2800" spc="-20" dirty="0">
                <a:latin typeface="Calibri"/>
                <a:cs typeface="Calibri"/>
              </a:rPr>
              <a:t>i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5" dirty="0">
                <a:latin typeface="Calibri"/>
                <a:cs typeface="Calibri"/>
              </a:rPr>
              <a:t>n</a:t>
            </a:r>
            <a:r>
              <a:rPr sz="2800" dirty="0">
                <a:latin typeface="Calibri"/>
                <a:cs typeface="Calibri"/>
              </a:rPr>
              <a:t>	t</a:t>
            </a:r>
            <a:r>
              <a:rPr sz="2800" spc="-5" dirty="0">
                <a:latin typeface="Calibri"/>
                <a:cs typeface="Calibri"/>
              </a:rPr>
              <a:t>i</a:t>
            </a:r>
            <a:r>
              <a:rPr sz="2800" spc="-15" dirty="0">
                <a:latin typeface="Calibri"/>
                <a:cs typeface="Calibri"/>
              </a:rPr>
              <a:t>e</a:t>
            </a:r>
            <a:r>
              <a:rPr sz="2800" spc="-10" dirty="0">
                <a:latin typeface="Calibri"/>
                <a:cs typeface="Calibri"/>
              </a:rPr>
              <a:t>n</a:t>
            </a:r>
            <a:r>
              <a:rPr sz="2800" spc="-5" dirty="0">
                <a:latin typeface="Calibri"/>
                <a:cs typeface="Calibri"/>
              </a:rPr>
              <a:t>e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50" dirty="0">
                <a:latin typeface="Calibri"/>
                <a:cs typeface="Calibri"/>
              </a:rPr>
              <a:t>r</a:t>
            </a:r>
            <a:r>
              <a:rPr sz="2800" spc="-5" dirty="0">
                <a:latin typeface="Calibri"/>
                <a:cs typeface="Calibri"/>
              </a:rPr>
              <a:t>esp</a:t>
            </a:r>
            <a:r>
              <a:rPr sz="2800" spc="10" dirty="0">
                <a:latin typeface="Calibri"/>
                <a:cs typeface="Calibri"/>
              </a:rPr>
              <a:t>o</a:t>
            </a:r>
            <a:r>
              <a:rPr sz="2800" spc="-10" dirty="0">
                <a:latin typeface="Calibri"/>
                <a:cs typeface="Calibri"/>
              </a:rPr>
              <a:t>nsabi</a:t>
            </a:r>
            <a:r>
              <a:rPr sz="2800" spc="-20" dirty="0">
                <a:latin typeface="Calibri"/>
                <a:cs typeface="Calibri"/>
              </a:rPr>
              <a:t>l</a:t>
            </a:r>
            <a:r>
              <a:rPr sz="2800" spc="-5" dirty="0">
                <a:latin typeface="Calibri"/>
                <a:cs typeface="Calibri"/>
              </a:rPr>
              <a:t>id</a:t>
            </a:r>
            <a:r>
              <a:rPr sz="2800" spc="5" dirty="0">
                <a:latin typeface="Calibri"/>
                <a:cs typeface="Calibri"/>
              </a:rPr>
              <a:t>a</a:t>
            </a:r>
            <a:r>
              <a:rPr sz="2800" spc="-5" dirty="0">
                <a:latin typeface="Calibri"/>
                <a:cs typeface="Calibri"/>
              </a:rPr>
              <a:t>d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e</a:t>
            </a:r>
            <a:r>
              <a:rPr sz="2800" spc="-5" dirty="0">
                <a:latin typeface="Calibri"/>
                <a:cs typeface="Calibri"/>
              </a:rPr>
              <a:t>n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5" dirty="0">
                <a:latin typeface="Calibri"/>
                <a:cs typeface="Calibri"/>
              </a:rPr>
              <a:t>l</a:t>
            </a:r>
            <a:r>
              <a:rPr sz="2800" dirty="0">
                <a:latin typeface="Calibri"/>
                <a:cs typeface="Calibri"/>
              </a:rPr>
              <a:t>o</a:t>
            </a:r>
            <a:r>
              <a:rPr sz="2800" spc="-5" dirty="0">
                <a:latin typeface="Calibri"/>
                <a:cs typeface="Calibri"/>
              </a:rPr>
              <a:t>s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p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10" dirty="0">
                <a:latin typeface="Calibri"/>
                <a:cs typeface="Calibri"/>
              </a:rPr>
              <a:t>qu</a:t>
            </a:r>
            <a:r>
              <a:rPr sz="2800" spc="-20" dirty="0">
                <a:latin typeface="Calibri"/>
                <a:cs typeface="Calibri"/>
              </a:rPr>
              <a:t>e</a:t>
            </a:r>
            <a:r>
              <a:rPr sz="2800" spc="-35" dirty="0">
                <a:latin typeface="Calibri"/>
                <a:cs typeface="Calibri"/>
              </a:rPr>
              <a:t>t</a:t>
            </a:r>
            <a:r>
              <a:rPr sz="2800" spc="-5" dirty="0">
                <a:latin typeface="Calibri"/>
                <a:cs typeface="Calibri"/>
              </a:rPr>
              <a:t>es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5" dirty="0">
                <a:latin typeface="Calibri"/>
                <a:cs typeface="Calibri"/>
              </a:rPr>
              <a:t>de  trabajo?</a:t>
            </a:r>
            <a:endParaRPr sz="2800">
              <a:latin typeface="Calibri"/>
              <a:cs typeface="Calibri"/>
            </a:endParaRPr>
          </a:p>
          <a:p>
            <a:pPr marL="758825" lvl="1" indent="-287020">
              <a:lnSpc>
                <a:spcPct val="100000"/>
              </a:lnSpc>
              <a:spcBef>
                <a:spcPts val="285"/>
              </a:spcBef>
              <a:buFont typeface="Arial"/>
              <a:buChar char="–"/>
              <a:tabLst>
                <a:tab pos="759460" algn="l"/>
              </a:tabLst>
            </a:pPr>
            <a:r>
              <a:rPr sz="2800" spc="-5" dirty="0">
                <a:latin typeface="Calibri"/>
                <a:cs typeface="Calibri"/>
              </a:rPr>
              <a:t>Qué </a:t>
            </a:r>
            <a:r>
              <a:rPr sz="2800" spc="-15" dirty="0">
                <a:latin typeface="Calibri"/>
                <a:cs typeface="Calibri"/>
              </a:rPr>
              <a:t>nivel </a:t>
            </a:r>
            <a:r>
              <a:rPr sz="2800" spc="-5" dirty="0">
                <a:latin typeface="Calibri"/>
                <a:cs typeface="Calibri"/>
              </a:rPr>
              <a:t>de </a:t>
            </a:r>
            <a:r>
              <a:rPr sz="2800" spc="-20" dirty="0">
                <a:latin typeface="Calibri"/>
                <a:cs typeface="Calibri"/>
              </a:rPr>
              <a:t>control </a:t>
            </a:r>
            <a:r>
              <a:rPr sz="2800" spc="-5" dirty="0">
                <a:latin typeface="Calibri"/>
                <a:cs typeface="Calibri"/>
              </a:rPr>
              <a:t>se </a:t>
            </a:r>
            <a:r>
              <a:rPr sz="2800" spc="-15" dirty="0">
                <a:latin typeface="Calibri"/>
                <a:cs typeface="Calibri"/>
              </a:rPr>
              <a:t>requiere </a:t>
            </a:r>
            <a:r>
              <a:rPr sz="2800" spc="-10" dirty="0">
                <a:latin typeface="Calibri"/>
                <a:cs typeface="Calibri"/>
              </a:rPr>
              <a:t>como</a:t>
            </a:r>
            <a:r>
              <a:rPr sz="2800" spc="13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PM?</a:t>
            </a:r>
            <a:endParaRPr sz="2800">
              <a:latin typeface="Calibri"/>
              <a:cs typeface="Calibri"/>
            </a:endParaRPr>
          </a:p>
          <a:p>
            <a:pPr marL="758825" marR="5080" lvl="1" indent="-287020">
              <a:lnSpc>
                <a:spcPts val="3030"/>
              </a:lnSpc>
              <a:spcBef>
                <a:spcPts val="710"/>
              </a:spcBef>
              <a:buFont typeface="Arial"/>
              <a:buChar char="–"/>
              <a:tabLst>
                <a:tab pos="759460" algn="l"/>
                <a:tab pos="1276985" algn="l"/>
                <a:tab pos="1985645" algn="l"/>
                <a:tab pos="3035935" algn="l"/>
                <a:tab pos="4011929" algn="l"/>
                <a:tab pos="5144135" algn="l"/>
                <a:tab pos="6299835" algn="l"/>
                <a:tab pos="6774815" algn="l"/>
                <a:tab pos="7805420" algn="l"/>
              </a:tabLst>
            </a:pPr>
            <a:r>
              <a:rPr sz="2800" spc="-5" dirty="0">
                <a:latin typeface="Calibri"/>
                <a:cs typeface="Calibri"/>
              </a:rPr>
              <a:t>En	</a:t>
            </a:r>
            <a:r>
              <a:rPr sz="2800" spc="-10" dirty="0">
                <a:latin typeface="Calibri"/>
                <a:cs typeface="Calibri"/>
              </a:rPr>
              <a:t>qu</a:t>
            </a:r>
            <a:r>
              <a:rPr sz="2800" spc="-5" dirty="0">
                <a:latin typeface="Calibri"/>
                <a:cs typeface="Calibri"/>
              </a:rPr>
              <a:t>é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45" dirty="0">
                <a:latin typeface="Calibri"/>
                <a:cs typeface="Calibri"/>
              </a:rPr>
              <a:t>t</a:t>
            </a:r>
            <a:r>
              <a:rPr sz="2800" spc="-5" dirty="0">
                <a:latin typeface="Calibri"/>
                <a:cs typeface="Calibri"/>
              </a:rPr>
              <a:t>a</a:t>
            </a:r>
            <a:r>
              <a:rPr sz="2800" spc="-25" dirty="0">
                <a:latin typeface="Calibri"/>
                <a:cs typeface="Calibri"/>
              </a:rPr>
              <a:t>n</a:t>
            </a:r>
            <a:r>
              <a:rPr sz="2800" spc="-45" dirty="0">
                <a:latin typeface="Calibri"/>
                <a:cs typeface="Calibri"/>
              </a:rPr>
              <a:t>t</a:t>
            </a:r>
            <a:r>
              <a:rPr sz="2800" spc="-5" dirty="0">
                <a:latin typeface="Calibri"/>
                <a:cs typeface="Calibri"/>
              </a:rPr>
              <a:t>as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70" dirty="0">
                <a:latin typeface="Calibri"/>
                <a:cs typeface="Calibri"/>
              </a:rPr>
              <a:t>f</a:t>
            </a:r>
            <a:r>
              <a:rPr sz="2800" spc="-5" dirty="0">
                <a:latin typeface="Calibri"/>
                <a:cs typeface="Calibri"/>
              </a:rPr>
              <a:t>as</a:t>
            </a:r>
            <a:r>
              <a:rPr sz="2800" dirty="0">
                <a:latin typeface="Calibri"/>
                <a:cs typeface="Calibri"/>
              </a:rPr>
              <a:t>es</a:t>
            </a:r>
            <a:r>
              <a:rPr sz="2800" spc="-5" dirty="0">
                <a:latin typeface="Calibri"/>
                <a:cs typeface="Calibri"/>
              </a:rPr>
              <a:t>,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p</a:t>
            </a:r>
            <a:r>
              <a:rPr sz="2800" spc="-25" dirty="0">
                <a:latin typeface="Calibri"/>
                <a:cs typeface="Calibri"/>
              </a:rPr>
              <a:t>i</a:t>
            </a:r>
            <a:r>
              <a:rPr sz="2800" spc="-30" dirty="0">
                <a:latin typeface="Calibri"/>
                <a:cs typeface="Calibri"/>
              </a:rPr>
              <a:t>e</a:t>
            </a:r>
            <a:r>
              <a:rPr sz="2800" spc="-60" dirty="0">
                <a:latin typeface="Calibri"/>
                <a:cs typeface="Calibri"/>
              </a:rPr>
              <a:t>z</a:t>
            </a:r>
            <a:r>
              <a:rPr sz="2800" spc="-5" dirty="0">
                <a:latin typeface="Calibri"/>
                <a:cs typeface="Calibri"/>
              </a:rPr>
              <a:t>as,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n</a:t>
            </a:r>
            <a:r>
              <a:rPr sz="2800" spc="-25" dirty="0">
                <a:latin typeface="Calibri"/>
                <a:cs typeface="Calibri"/>
              </a:rPr>
              <a:t>i</a:t>
            </a:r>
            <a:r>
              <a:rPr sz="2800" spc="-35" dirty="0">
                <a:latin typeface="Calibri"/>
                <a:cs typeface="Calibri"/>
              </a:rPr>
              <a:t>v</a:t>
            </a:r>
            <a:r>
              <a:rPr sz="2800" spc="-5" dirty="0">
                <a:latin typeface="Calibri"/>
                <a:cs typeface="Calibri"/>
              </a:rPr>
              <a:t>e</a:t>
            </a:r>
            <a:r>
              <a:rPr sz="2800" spc="-15" dirty="0">
                <a:latin typeface="Calibri"/>
                <a:cs typeface="Calibri"/>
              </a:rPr>
              <a:t>l</a:t>
            </a:r>
            <a:r>
              <a:rPr sz="2800" spc="-5" dirty="0">
                <a:latin typeface="Calibri"/>
                <a:cs typeface="Calibri"/>
              </a:rPr>
              <a:t>es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s</a:t>
            </a:r>
            <a:r>
              <a:rPr sz="2800" spc="-5" dirty="0">
                <a:latin typeface="Calibri"/>
                <a:cs typeface="Calibri"/>
              </a:rPr>
              <a:t>e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d</a:t>
            </a:r>
            <a:r>
              <a:rPr sz="2800" spc="-25" dirty="0">
                <a:latin typeface="Calibri"/>
                <a:cs typeface="Calibri"/>
              </a:rPr>
              <a:t>i</a:t>
            </a:r>
            <a:r>
              <a:rPr sz="2800" spc="-5" dirty="0">
                <a:latin typeface="Calibri"/>
                <a:cs typeface="Calibri"/>
              </a:rPr>
              <a:t>vide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el  </a:t>
            </a:r>
            <a:r>
              <a:rPr sz="2800" spc="-15" dirty="0">
                <a:latin typeface="Calibri"/>
                <a:cs typeface="Calibri"/>
              </a:rPr>
              <a:t>trabajo?</a:t>
            </a:r>
            <a:endParaRPr sz="2800">
              <a:latin typeface="Calibri"/>
              <a:cs typeface="Calibri"/>
            </a:endParaRPr>
          </a:p>
          <a:p>
            <a:pPr marL="758825" lvl="1" indent="-287020">
              <a:lnSpc>
                <a:spcPct val="100000"/>
              </a:lnSpc>
              <a:spcBef>
                <a:spcPts val="290"/>
              </a:spcBef>
              <a:buFont typeface="Arial"/>
              <a:buChar char="–"/>
              <a:tabLst>
                <a:tab pos="759460" algn="l"/>
              </a:tabLst>
            </a:pPr>
            <a:r>
              <a:rPr sz="2800" spc="-5" dirty="0">
                <a:latin typeface="Calibri"/>
                <a:cs typeface="Calibri"/>
              </a:rPr>
              <a:t>Qué es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“manejable”?</a:t>
            </a:r>
            <a:endParaRPr sz="2800">
              <a:latin typeface="Calibri"/>
              <a:cs typeface="Calibri"/>
            </a:endParaRPr>
          </a:p>
          <a:p>
            <a:pPr marL="758825" marR="5080" lvl="1" indent="-287020">
              <a:lnSpc>
                <a:spcPts val="3020"/>
              </a:lnSpc>
              <a:spcBef>
                <a:spcPts val="720"/>
              </a:spcBef>
              <a:buFont typeface="Arial"/>
              <a:buChar char="–"/>
              <a:tabLst>
                <a:tab pos="759460" algn="l"/>
                <a:tab pos="1973580" algn="l"/>
                <a:tab pos="3750945" algn="l"/>
                <a:tab pos="4345305" algn="l"/>
                <a:tab pos="5250815" algn="l"/>
                <a:tab pos="5953760" algn="l"/>
                <a:tab pos="6858634" algn="l"/>
                <a:tab pos="7517130" algn="l"/>
              </a:tabLst>
            </a:pPr>
            <a:r>
              <a:rPr sz="2800" spc="-5" dirty="0">
                <a:latin typeface="Calibri"/>
                <a:cs typeface="Calibri"/>
              </a:rPr>
              <a:t>Qu</a:t>
            </a:r>
            <a:r>
              <a:rPr sz="2800" spc="-15" dirty="0">
                <a:latin typeface="Calibri"/>
                <a:cs typeface="Calibri"/>
              </a:rPr>
              <a:t>i</a:t>
            </a:r>
            <a:r>
              <a:rPr sz="2800" dirty="0">
                <a:latin typeface="Calibri"/>
                <a:cs typeface="Calibri"/>
              </a:rPr>
              <a:t>é</a:t>
            </a:r>
            <a:r>
              <a:rPr sz="2800" spc="-5" dirty="0">
                <a:latin typeface="Calibri"/>
                <a:cs typeface="Calibri"/>
              </a:rPr>
              <a:t>n</a:t>
            </a:r>
            <a:r>
              <a:rPr sz="2800" dirty="0">
                <a:latin typeface="Calibri"/>
                <a:cs typeface="Calibri"/>
              </a:rPr>
              <a:t>	d</a:t>
            </a:r>
            <a:r>
              <a:rPr sz="2800" spc="-5" dirty="0">
                <a:latin typeface="Calibri"/>
                <a:cs typeface="Calibri"/>
              </a:rPr>
              <a:t>esar</a:t>
            </a:r>
            <a:r>
              <a:rPr sz="2800" spc="-55" dirty="0">
                <a:latin typeface="Calibri"/>
                <a:cs typeface="Calibri"/>
              </a:rPr>
              <a:t>r</a:t>
            </a:r>
            <a:r>
              <a:rPr sz="2800" spc="-10" dirty="0">
                <a:latin typeface="Calibri"/>
                <a:cs typeface="Calibri"/>
              </a:rPr>
              <a:t>ol</a:t>
            </a:r>
            <a:r>
              <a:rPr sz="2800" spc="-15" dirty="0">
                <a:latin typeface="Calibri"/>
                <a:cs typeface="Calibri"/>
              </a:rPr>
              <a:t>l</a:t>
            </a:r>
            <a:r>
              <a:rPr sz="2800" spc="-5" dirty="0">
                <a:latin typeface="Calibri"/>
                <a:cs typeface="Calibri"/>
              </a:rPr>
              <a:t>a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5" dirty="0">
                <a:latin typeface="Calibri"/>
                <a:cs typeface="Calibri"/>
              </a:rPr>
              <a:t>l</a:t>
            </a:r>
            <a:r>
              <a:rPr sz="2800" spc="-5" dirty="0">
                <a:latin typeface="Calibri"/>
                <a:cs typeface="Calibri"/>
              </a:rPr>
              <a:t>a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E</a:t>
            </a:r>
            <a:r>
              <a:rPr sz="2800" spc="-45" dirty="0">
                <a:latin typeface="Calibri"/>
                <a:cs typeface="Calibri"/>
              </a:rPr>
              <a:t>D</a:t>
            </a:r>
            <a:r>
              <a:rPr sz="2800" spc="-5" dirty="0">
                <a:latin typeface="Calibri"/>
                <a:cs typeface="Calibri"/>
              </a:rPr>
              <a:t>T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(l</a:t>
            </a:r>
            <a:r>
              <a:rPr sz="2800" spc="-5" dirty="0">
                <a:latin typeface="Calibri"/>
                <a:cs typeface="Calibri"/>
              </a:rPr>
              <a:t>a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E</a:t>
            </a:r>
            <a:r>
              <a:rPr sz="2800" spc="-35" dirty="0">
                <a:latin typeface="Calibri"/>
                <a:cs typeface="Calibri"/>
              </a:rPr>
              <a:t>D</a:t>
            </a:r>
            <a:r>
              <a:rPr sz="2800" spc="-5" dirty="0">
                <a:latin typeface="Calibri"/>
                <a:cs typeface="Calibri"/>
              </a:rPr>
              <a:t>T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5" dirty="0">
                <a:latin typeface="Calibri"/>
                <a:cs typeface="Calibri"/>
              </a:rPr>
              <a:t>es</a:t>
            </a:r>
            <a:r>
              <a:rPr sz="2800" dirty="0">
                <a:latin typeface="Calibri"/>
                <a:cs typeface="Calibri"/>
              </a:rPr>
              <a:t>	una  </a:t>
            </a:r>
            <a:r>
              <a:rPr sz="2800" spc="-20" dirty="0">
                <a:latin typeface="Calibri"/>
                <a:cs typeface="Calibri"/>
              </a:rPr>
              <a:t>herramienta </a:t>
            </a:r>
            <a:r>
              <a:rPr sz="2800" spc="-5" dirty="0">
                <a:latin typeface="Calibri"/>
                <a:cs typeface="Calibri"/>
              </a:rPr>
              <a:t>de </a:t>
            </a:r>
            <a:r>
              <a:rPr sz="2800" spc="-65" dirty="0">
                <a:latin typeface="Calibri"/>
                <a:cs typeface="Calibri"/>
              </a:rPr>
              <a:t>Team</a:t>
            </a:r>
            <a:r>
              <a:rPr sz="2800" spc="5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Building).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4604">
              <a:lnSpc>
                <a:spcPct val="100000"/>
              </a:lnSpc>
              <a:spcBef>
                <a:spcPts val="105"/>
              </a:spcBef>
            </a:pPr>
            <a:r>
              <a:rPr spc="-15" dirty="0"/>
              <a:t>Crear </a:t>
            </a:r>
            <a:r>
              <a:rPr dirty="0"/>
              <a:t>la</a:t>
            </a:r>
            <a:r>
              <a:rPr spc="-40" dirty="0"/>
              <a:t> </a:t>
            </a:r>
            <a:r>
              <a:rPr spc="-20" dirty="0"/>
              <a:t>EDT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07946"/>
            <a:ext cx="354901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3200" b="1" i="1" spc="-5" dirty="0">
                <a:latin typeface="Calibri"/>
                <a:cs typeface="Calibri"/>
              </a:rPr>
              <a:t>Software </a:t>
            </a:r>
            <a:r>
              <a:rPr sz="3200" b="1" i="1" dirty="0">
                <a:latin typeface="Calibri"/>
                <a:cs typeface="Calibri"/>
              </a:rPr>
              <a:t>de</a:t>
            </a:r>
            <a:r>
              <a:rPr sz="3200" b="1" i="1" spc="-65" dirty="0">
                <a:latin typeface="Calibri"/>
                <a:cs typeface="Calibri"/>
              </a:rPr>
              <a:t> </a:t>
            </a:r>
            <a:r>
              <a:rPr sz="3200" b="1" i="1" spc="-5" dirty="0">
                <a:latin typeface="Calibri"/>
                <a:cs typeface="Calibri"/>
              </a:rPr>
              <a:t>apoyo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34008" y="2066242"/>
            <a:ext cx="1196975" cy="1397000"/>
          </a:xfrm>
          <a:prstGeom prst="rect">
            <a:avLst/>
          </a:prstGeom>
        </p:spPr>
        <p:txBody>
          <a:bodyPr vert="horz" wrap="square" lIns="0" tIns="1644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95"/>
              </a:spcBef>
            </a:pPr>
            <a:r>
              <a:rPr sz="2000" dirty="0">
                <a:solidFill>
                  <a:srgbClr val="205868"/>
                </a:solidFill>
                <a:latin typeface="Calibri"/>
                <a:cs typeface="Calibri"/>
              </a:rPr>
              <a:t>All clear</a:t>
            </a:r>
            <a:r>
              <a:rPr sz="2000" spc="-25" dirty="0">
                <a:solidFill>
                  <a:srgbClr val="205868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05868"/>
                </a:solidFill>
                <a:latin typeface="Calibri"/>
                <a:cs typeface="Calibri"/>
              </a:rPr>
              <a:t>: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000" spc="-5" dirty="0">
                <a:solidFill>
                  <a:srgbClr val="205868"/>
                </a:solidFill>
                <a:latin typeface="Calibri"/>
                <a:cs typeface="Calibri"/>
              </a:rPr>
              <a:t>Visio: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000" dirty="0">
                <a:solidFill>
                  <a:srgbClr val="205868"/>
                </a:solidFill>
                <a:latin typeface="Calibri"/>
                <a:cs typeface="Calibri"/>
              </a:rPr>
              <a:t>WBS</a:t>
            </a:r>
            <a:r>
              <a:rPr sz="2000" spc="-80" dirty="0">
                <a:solidFill>
                  <a:srgbClr val="205868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205868"/>
                </a:solidFill>
                <a:latin typeface="Calibri"/>
                <a:cs typeface="Calibri"/>
              </a:rPr>
              <a:t>Chart: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819526" y="2066242"/>
            <a:ext cx="4502785" cy="1397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95"/>
              </a:spcBef>
            </a:pPr>
            <a:r>
              <a:rPr sz="2000" u="heavy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"/>
              </a:rPr>
              <a:t>www.allclearonline.com</a:t>
            </a:r>
            <a:r>
              <a:rPr sz="2000" spc="-1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000" u="heavy" spc="-1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/>
              </a:rPr>
              <a:t>www.proquis.com </a:t>
            </a:r>
            <a:r>
              <a:rPr sz="2000" spc="-1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000" u="heavy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4"/>
              </a:rPr>
              <a:t>http://office.microsoft.com/es-hn/visio </a:t>
            </a:r>
            <a:r>
              <a:rPr sz="2000" spc="-1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2000" u="heavy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5"/>
              </a:rPr>
              <a:t>www.criticaltools.com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80538" y="461899"/>
            <a:ext cx="357949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Ejemplo de</a:t>
            </a:r>
            <a:r>
              <a:rPr spc="-70" dirty="0"/>
              <a:t> </a:t>
            </a:r>
            <a:r>
              <a:rPr spc="-20" dirty="0"/>
              <a:t>EDT</a:t>
            </a:r>
          </a:p>
        </p:txBody>
      </p:sp>
      <p:sp>
        <p:nvSpPr>
          <p:cNvPr id="3" name="object 3"/>
          <p:cNvSpPr/>
          <p:nvPr/>
        </p:nvSpPr>
        <p:spPr>
          <a:xfrm>
            <a:off x="596508" y="1323772"/>
            <a:ext cx="7927809" cy="430189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50240" y="6091529"/>
            <a:ext cx="59429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No se </a:t>
            </a:r>
            <a:r>
              <a:rPr sz="1800" spc="-5" dirty="0">
                <a:latin typeface="Calibri"/>
                <a:cs typeface="Calibri"/>
              </a:rPr>
              <a:t>puede olvidar </a:t>
            </a:r>
            <a:r>
              <a:rPr sz="1800" spc="-10" dirty="0">
                <a:latin typeface="Calibri"/>
                <a:cs typeface="Calibri"/>
              </a:rPr>
              <a:t>Dirección </a:t>
            </a:r>
            <a:r>
              <a:rPr sz="1800" spc="-5" dirty="0">
                <a:latin typeface="Calibri"/>
                <a:cs typeface="Calibri"/>
              </a:rPr>
              <a:t>de </a:t>
            </a:r>
            <a:r>
              <a:rPr sz="1800" spc="-15" dirty="0">
                <a:latin typeface="Calibri"/>
                <a:cs typeface="Calibri"/>
              </a:rPr>
              <a:t>Proyectos, </a:t>
            </a:r>
            <a:r>
              <a:rPr sz="1800" spc="-10" dirty="0">
                <a:latin typeface="Calibri"/>
                <a:cs typeface="Calibri"/>
              </a:rPr>
              <a:t>representa </a:t>
            </a:r>
            <a:r>
              <a:rPr sz="1800" dirty="0">
                <a:latin typeface="Calibri"/>
                <a:cs typeface="Calibri"/>
              </a:rPr>
              <a:t>el 20</a:t>
            </a:r>
            <a:r>
              <a:rPr sz="1800" spc="18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%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777110" y="6091529"/>
            <a:ext cx="12426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del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Proyecto.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936872" y="1732915"/>
            <a:ext cx="2000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1.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21868" y="2590291"/>
            <a:ext cx="3149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1.1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36142" y="3382517"/>
            <a:ext cx="3346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1.1</a:t>
            </a:r>
            <a:r>
              <a:rPr sz="1200" spc="-5" dirty="0">
                <a:latin typeface="Calibri"/>
                <a:cs typeface="Calibri"/>
              </a:rPr>
              <a:t>.1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36142" y="4024960"/>
            <a:ext cx="33528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1.1.2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36142" y="4749545"/>
            <a:ext cx="3346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1.1</a:t>
            </a:r>
            <a:r>
              <a:rPr sz="1200" spc="-5" dirty="0">
                <a:latin typeface="Calibri"/>
                <a:cs typeface="Calibri"/>
              </a:rPr>
              <a:t>.3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80538" y="461899"/>
            <a:ext cx="357949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Ejemplo de</a:t>
            </a:r>
            <a:r>
              <a:rPr spc="-70" dirty="0"/>
              <a:t> </a:t>
            </a:r>
            <a:r>
              <a:rPr spc="-20" dirty="0"/>
              <a:t>EDT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14042"/>
            <a:ext cx="80613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5" dirty="0">
                <a:latin typeface="Calibri"/>
                <a:cs typeface="Calibri"/>
              </a:rPr>
              <a:t>Construcción de un </a:t>
            </a:r>
            <a:r>
              <a:rPr sz="2400" spc="-10" dirty="0">
                <a:latin typeface="Calibri"/>
                <a:cs typeface="Calibri"/>
              </a:rPr>
              <a:t>carro nuevo (utilización </a:t>
            </a:r>
            <a:r>
              <a:rPr sz="2400" spc="-5" dirty="0">
                <a:latin typeface="Calibri"/>
                <a:cs typeface="Calibri"/>
              </a:rPr>
              <a:t>de </a:t>
            </a:r>
            <a:r>
              <a:rPr sz="2400" dirty="0">
                <a:latin typeface="Calibri"/>
                <a:cs typeface="Calibri"/>
              </a:rPr>
              <a:t>WBS </a:t>
            </a:r>
            <a:r>
              <a:rPr sz="2400" spc="-5" dirty="0">
                <a:latin typeface="Calibri"/>
                <a:cs typeface="Calibri"/>
              </a:rPr>
              <a:t>Chart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Pro)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99744" y="2471927"/>
            <a:ext cx="7144511" cy="395782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80538" y="461899"/>
            <a:ext cx="357949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Ejemplo de</a:t>
            </a:r>
            <a:r>
              <a:rPr spc="-70" dirty="0"/>
              <a:t> </a:t>
            </a:r>
            <a:r>
              <a:rPr spc="-20" dirty="0"/>
              <a:t>EDT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14042"/>
            <a:ext cx="64801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5" dirty="0">
                <a:latin typeface="Calibri"/>
                <a:cs typeface="Calibri"/>
              </a:rPr>
              <a:t>Ejemplo de </a:t>
            </a:r>
            <a:r>
              <a:rPr sz="2400" spc="-10" dirty="0">
                <a:latin typeface="Calibri"/>
                <a:cs typeface="Calibri"/>
              </a:rPr>
              <a:t>EDT </a:t>
            </a:r>
            <a:r>
              <a:rPr sz="2400" spc="-5" dirty="0">
                <a:latin typeface="Calibri"/>
                <a:cs typeface="Calibri"/>
              </a:rPr>
              <a:t>de una </a:t>
            </a:r>
            <a:r>
              <a:rPr sz="2400" spc="-15" dirty="0">
                <a:latin typeface="Calibri"/>
                <a:cs typeface="Calibri"/>
              </a:rPr>
              <a:t>Intranet </a:t>
            </a:r>
            <a:r>
              <a:rPr sz="2400" dirty="0">
                <a:latin typeface="Calibri"/>
                <a:cs typeface="Calibri"/>
              </a:rPr>
              <a:t>en </a:t>
            </a:r>
            <a:r>
              <a:rPr sz="2400" spc="-15" dirty="0">
                <a:latin typeface="Calibri"/>
                <a:cs typeface="Calibri"/>
              </a:rPr>
              <a:t>forma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35" dirty="0">
                <a:latin typeface="Calibri"/>
                <a:cs typeface="Calibri"/>
              </a:rPr>
              <a:t>tabular.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034794" y="2565621"/>
            <a:ext cx="5154167" cy="281400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781555" y="2357627"/>
            <a:ext cx="5842000" cy="3218815"/>
          </a:xfrm>
          <a:custGeom>
            <a:avLst/>
            <a:gdLst/>
            <a:ahLst/>
            <a:cxnLst/>
            <a:rect l="l" t="t" r="r" b="b"/>
            <a:pathLst>
              <a:path w="5842000" h="3218815">
                <a:moveTo>
                  <a:pt x="0" y="3218688"/>
                </a:moveTo>
                <a:lnTo>
                  <a:pt x="5841492" y="3218688"/>
                </a:lnTo>
                <a:lnTo>
                  <a:pt x="5841492" y="0"/>
                </a:lnTo>
                <a:lnTo>
                  <a:pt x="0" y="0"/>
                </a:lnTo>
                <a:lnTo>
                  <a:pt x="0" y="3218688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16632" y="461899"/>
            <a:ext cx="511238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" dirty="0"/>
              <a:t>Crear </a:t>
            </a:r>
            <a:r>
              <a:rPr dirty="0"/>
              <a:t>la </a:t>
            </a:r>
            <a:r>
              <a:rPr spc="-15" dirty="0"/>
              <a:t>EDT-</a:t>
            </a:r>
            <a:r>
              <a:rPr spc="-5" dirty="0"/>
              <a:t> </a:t>
            </a:r>
            <a:r>
              <a:rPr b="1" spc="-20" dirty="0">
                <a:latin typeface="Calibri"/>
                <a:cs typeface="Calibri"/>
              </a:rPr>
              <a:t>Entradas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11020"/>
            <a:ext cx="7964805" cy="4490720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86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3200" b="1" i="1" spc="-5" dirty="0">
                <a:latin typeface="Calibri"/>
                <a:cs typeface="Calibri"/>
              </a:rPr>
              <a:t>1. Plan </a:t>
            </a:r>
            <a:r>
              <a:rPr sz="3200" b="1" i="1" dirty="0">
                <a:latin typeface="Calibri"/>
                <a:cs typeface="Calibri"/>
              </a:rPr>
              <a:t>de </a:t>
            </a:r>
            <a:r>
              <a:rPr sz="3200" b="1" i="1" spc="-5" dirty="0">
                <a:latin typeface="Calibri"/>
                <a:cs typeface="Calibri"/>
              </a:rPr>
              <a:t>Gestión </a:t>
            </a:r>
            <a:r>
              <a:rPr sz="3200" b="1" i="1" dirty="0">
                <a:latin typeface="Calibri"/>
                <a:cs typeface="Calibri"/>
              </a:rPr>
              <a:t>del</a:t>
            </a:r>
            <a:r>
              <a:rPr sz="3200" b="1" i="1" spc="-35" dirty="0">
                <a:latin typeface="Calibri"/>
                <a:cs typeface="Calibri"/>
              </a:rPr>
              <a:t> </a:t>
            </a:r>
            <a:r>
              <a:rPr sz="3200" b="1" i="1" spc="-5" dirty="0">
                <a:latin typeface="Calibri"/>
                <a:cs typeface="Calibri"/>
              </a:rPr>
              <a:t>Alcance</a:t>
            </a:r>
            <a:endParaRPr sz="3200">
              <a:latin typeface="Calibri"/>
              <a:cs typeface="Calibri"/>
            </a:endParaRPr>
          </a:p>
          <a:p>
            <a:pPr marL="355600" indent="-343535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3200" b="1" i="1" spc="-5" dirty="0">
                <a:latin typeface="Calibri"/>
                <a:cs typeface="Calibri"/>
              </a:rPr>
              <a:t>2. Enunciado </a:t>
            </a:r>
            <a:r>
              <a:rPr sz="3200" b="1" i="1" dirty="0">
                <a:latin typeface="Calibri"/>
                <a:cs typeface="Calibri"/>
              </a:rPr>
              <a:t>del </a:t>
            </a:r>
            <a:r>
              <a:rPr sz="3200" b="1" i="1" spc="-5" dirty="0">
                <a:latin typeface="Calibri"/>
                <a:cs typeface="Calibri"/>
              </a:rPr>
              <a:t>Alcance </a:t>
            </a:r>
            <a:r>
              <a:rPr sz="3200" b="1" i="1" dirty="0">
                <a:latin typeface="Calibri"/>
                <a:cs typeface="Calibri"/>
              </a:rPr>
              <a:t>del</a:t>
            </a:r>
            <a:r>
              <a:rPr sz="3200" b="1" i="1" spc="-70" dirty="0">
                <a:latin typeface="Calibri"/>
                <a:cs typeface="Calibri"/>
              </a:rPr>
              <a:t> </a:t>
            </a:r>
            <a:r>
              <a:rPr sz="3200" b="1" i="1" spc="-10" dirty="0">
                <a:latin typeface="Calibri"/>
                <a:cs typeface="Calibri"/>
              </a:rPr>
              <a:t>Proyecto</a:t>
            </a:r>
            <a:endParaRPr sz="3200">
              <a:latin typeface="Calibri"/>
              <a:cs typeface="Calibri"/>
            </a:endParaRPr>
          </a:p>
          <a:p>
            <a:pPr marL="355600" indent="-343535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3200" b="1" i="1" spc="-5" dirty="0">
                <a:latin typeface="Calibri"/>
                <a:cs typeface="Calibri"/>
              </a:rPr>
              <a:t>3. </a:t>
            </a:r>
            <a:r>
              <a:rPr sz="3200" b="1" i="1" spc="-10" dirty="0">
                <a:latin typeface="Calibri"/>
                <a:cs typeface="Calibri"/>
              </a:rPr>
              <a:t>Documentación </a:t>
            </a:r>
            <a:r>
              <a:rPr sz="3200" b="1" i="1" dirty="0">
                <a:latin typeface="Calibri"/>
                <a:cs typeface="Calibri"/>
              </a:rPr>
              <a:t>de</a:t>
            </a:r>
            <a:r>
              <a:rPr sz="3200" b="1" i="1" spc="-35" dirty="0">
                <a:latin typeface="Calibri"/>
                <a:cs typeface="Calibri"/>
              </a:rPr>
              <a:t> </a:t>
            </a:r>
            <a:r>
              <a:rPr sz="3200" b="1" i="1" spc="-10" dirty="0">
                <a:latin typeface="Calibri"/>
                <a:cs typeface="Calibri"/>
              </a:rPr>
              <a:t>Requerimientos</a:t>
            </a:r>
            <a:endParaRPr sz="3200">
              <a:latin typeface="Calibri"/>
              <a:cs typeface="Calibri"/>
            </a:endParaRPr>
          </a:p>
          <a:p>
            <a:pPr marL="355600" indent="-343535">
              <a:lnSpc>
                <a:spcPct val="100000"/>
              </a:lnSpc>
              <a:spcBef>
                <a:spcPts val="76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3200" b="1" i="1" spc="-5" dirty="0">
                <a:latin typeface="Calibri"/>
                <a:cs typeface="Calibri"/>
              </a:rPr>
              <a:t>4. </a:t>
            </a:r>
            <a:r>
              <a:rPr sz="3200" b="1" i="1" spc="-10" dirty="0">
                <a:latin typeface="Calibri"/>
                <a:cs typeface="Calibri"/>
              </a:rPr>
              <a:t>Factores </a:t>
            </a:r>
            <a:r>
              <a:rPr sz="3200" b="1" i="1" spc="-5" dirty="0">
                <a:latin typeface="Calibri"/>
                <a:cs typeface="Calibri"/>
              </a:rPr>
              <a:t>Ambientales </a:t>
            </a:r>
            <a:r>
              <a:rPr sz="3200" b="1" i="1" dirty="0">
                <a:latin typeface="Calibri"/>
                <a:cs typeface="Calibri"/>
              </a:rPr>
              <a:t>de la</a:t>
            </a:r>
            <a:r>
              <a:rPr sz="3200" b="1" i="1" spc="-45" dirty="0">
                <a:latin typeface="Calibri"/>
                <a:cs typeface="Calibri"/>
              </a:rPr>
              <a:t> </a:t>
            </a:r>
            <a:r>
              <a:rPr sz="3200" b="1" i="1" spc="-5" dirty="0">
                <a:latin typeface="Calibri"/>
                <a:cs typeface="Calibri"/>
              </a:rPr>
              <a:t>Empresa</a:t>
            </a:r>
            <a:endParaRPr sz="3200">
              <a:latin typeface="Calibri"/>
              <a:cs typeface="Calibri"/>
            </a:endParaRPr>
          </a:p>
          <a:p>
            <a:pPr marL="355600" indent="-343535">
              <a:lnSpc>
                <a:spcPct val="100000"/>
              </a:lnSpc>
              <a:spcBef>
                <a:spcPts val="7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3200" b="1" i="1" spc="-5" dirty="0">
                <a:latin typeface="Calibri"/>
                <a:cs typeface="Calibri"/>
              </a:rPr>
              <a:t>5. Activos </a:t>
            </a:r>
            <a:r>
              <a:rPr sz="3200" b="1" i="1" dirty="0">
                <a:latin typeface="Calibri"/>
                <a:cs typeface="Calibri"/>
              </a:rPr>
              <a:t>del los </a:t>
            </a:r>
            <a:r>
              <a:rPr sz="3200" b="1" i="1" spc="-10" dirty="0">
                <a:latin typeface="Calibri"/>
                <a:cs typeface="Calibri"/>
              </a:rPr>
              <a:t>Procesos </a:t>
            </a:r>
            <a:r>
              <a:rPr sz="3200" b="1" i="1" dirty="0">
                <a:latin typeface="Calibri"/>
                <a:cs typeface="Calibri"/>
              </a:rPr>
              <a:t>de la</a:t>
            </a:r>
            <a:r>
              <a:rPr sz="3200" b="1" i="1" spc="-10" dirty="0">
                <a:latin typeface="Calibri"/>
                <a:cs typeface="Calibri"/>
              </a:rPr>
              <a:t> </a:t>
            </a:r>
            <a:r>
              <a:rPr sz="3200" b="1" i="1" spc="-5" dirty="0">
                <a:latin typeface="Calibri"/>
                <a:cs typeface="Calibri"/>
              </a:rPr>
              <a:t>Organización</a:t>
            </a:r>
            <a:endParaRPr sz="32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685"/>
              </a:spcBef>
              <a:buFont typeface="Arial"/>
              <a:buChar char="–"/>
              <a:tabLst>
                <a:tab pos="756920" algn="l"/>
              </a:tabLst>
            </a:pPr>
            <a:r>
              <a:rPr sz="2800" spc="-15" dirty="0">
                <a:latin typeface="Calibri"/>
                <a:cs typeface="Calibri"/>
              </a:rPr>
              <a:t>Políticas, procedimientos </a:t>
            </a:r>
            <a:r>
              <a:rPr sz="2800" spc="-5" dirty="0">
                <a:latin typeface="Calibri"/>
                <a:cs typeface="Calibri"/>
              </a:rPr>
              <a:t>y </a:t>
            </a:r>
            <a:r>
              <a:rPr sz="2800" spc="-10" dirty="0">
                <a:latin typeface="Calibri"/>
                <a:cs typeface="Calibri"/>
              </a:rPr>
              <a:t>plantillas </a:t>
            </a:r>
            <a:r>
              <a:rPr sz="2800" spc="-5" dirty="0">
                <a:latin typeface="Calibri"/>
                <a:cs typeface="Calibri"/>
              </a:rPr>
              <a:t>de </a:t>
            </a:r>
            <a:r>
              <a:rPr sz="2800" spc="-10" dirty="0">
                <a:latin typeface="Calibri"/>
                <a:cs typeface="Calibri"/>
              </a:rPr>
              <a:t>la</a:t>
            </a:r>
            <a:r>
              <a:rPr sz="2800" spc="14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EDT</a:t>
            </a:r>
            <a:endParaRPr sz="28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675"/>
              </a:spcBef>
              <a:buFont typeface="Arial"/>
              <a:buChar char="–"/>
              <a:tabLst>
                <a:tab pos="756920" algn="l"/>
              </a:tabLst>
            </a:pPr>
            <a:r>
              <a:rPr sz="2800" spc="-15" dirty="0">
                <a:latin typeface="Calibri"/>
                <a:cs typeface="Calibri"/>
              </a:rPr>
              <a:t>Archivos </a:t>
            </a:r>
            <a:r>
              <a:rPr sz="2800" spc="-5" dirty="0">
                <a:latin typeface="Calibri"/>
                <a:cs typeface="Calibri"/>
              </a:rPr>
              <a:t>de </a:t>
            </a:r>
            <a:r>
              <a:rPr sz="2800" spc="-20" dirty="0">
                <a:latin typeface="Calibri"/>
                <a:cs typeface="Calibri"/>
              </a:rPr>
              <a:t>proyectos</a:t>
            </a:r>
            <a:r>
              <a:rPr sz="2800" spc="7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anteriores</a:t>
            </a:r>
            <a:endParaRPr sz="28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670"/>
              </a:spcBef>
              <a:buFont typeface="Arial"/>
              <a:buChar char="–"/>
              <a:tabLst>
                <a:tab pos="756920" algn="l"/>
              </a:tabLst>
            </a:pPr>
            <a:r>
              <a:rPr sz="2800" spc="-5" dirty="0">
                <a:latin typeface="Calibri"/>
                <a:cs typeface="Calibri"/>
              </a:rPr>
              <a:t>Lecciones </a:t>
            </a:r>
            <a:r>
              <a:rPr sz="2800" spc="-10" dirty="0">
                <a:latin typeface="Calibri"/>
                <a:cs typeface="Calibri"/>
              </a:rPr>
              <a:t>aprendidas </a:t>
            </a:r>
            <a:r>
              <a:rPr sz="2800" spc="-5" dirty="0">
                <a:latin typeface="Calibri"/>
                <a:cs typeface="Calibri"/>
              </a:rPr>
              <a:t>de </a:t>
            </a:r>
            <a:r>
              <a:rPr sz="2800" spc="-20" dirty="0">
                <a:latin typeface="Calibri"/>
                <a:cs typeface="Calibri"/>
              </a:rPr>
              <a:t>proyectos</a:t>
            </a:r>
            <a:r>
              <a:rPr sz="2800" spc="8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anteriores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37438" y="496950"/>
            <a:ext cx="787019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5" dirty="0"/>
              <a:t>Crear </a:t>
            </a:r>
            <a:r>
              <a:rPr sz="4000" spc="-5" dirty="0"/>
              <a:t>la </a:t>
            </a:r>
            <a:r>
              <a:rPr sz="4000" spc="-20" dirty="0"/>
              <a:t>EDT- </a:t>
            </a:r>
            <a:r>
              <a:rPr sz="4000" b="1" spc="-55" dirty="0">
                <a:latin typeface="Calibri"/>
                <a:cs typeface="Calibri"/>
              </a:rPr>
              <a:t>Técnicas </a:t>
            </a:r>
            <a:r>
              <a:rPr sz="4000" b="1" spc="-5" dirty="0">
                <a:latin typeface="Calibri"/>
                <a:cs typeface="Calibri"/>
              </a:rPr>
              <a:t>y</a:t>
            </a:r>
            <a:r>
              <a:rPr sz="4000" b="1" spc="120" dirty="0">
                <a:latin typeface="Calibri"/>
                <a:cs typeface="Calibri"/>
              </a:rPr>
              <a:t> </a:t>
            </a:r>
            <a:r>
              <a:rPr sz="4000" b="1" spc="-20" dirty="0">
                <a:latin typeface="Calibri"/>
                <a:cs typeface="Calibri"/>
              </a:rPr>
              <a:t>Herramientas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527175"/>
            <a:ext cx="8072755" cy="41268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3000" b="1" i="1" dirty="0">
                <a:latin typeface="Calibri"/>
                <a:cs typeface="Calibri"/>
              </a:rPr>
              <a:t>1.</a:t>
            </a:r>
            <a:r>
              <a:rPr sz="3000" b="1" i="1" spc="-10" dirty="0">
                <a:latin typeface="Calibri"/>
                <a:cs typeface="Calibri"/>
              </a:rPr>
              <a:t> </a:t>
            </a:r>
            <a:r>
              <a:rPr sz="3000" b="1" i="1" spc="-5" dirty="0">
                <a:latin typeface="Calibri"/>
                <a:cs typeface="Calibri"/>
              </a:rPr>
              <a:t>Descomposición</a:t>
            </a:r>
            <a:endParaRPr sz="3000">
              <a:latin typeface="Calibri"/>
              <a:cs typeface="Calibri"/>
            </a:endParaRPr>
          </a:p>
          <a:p>
            <a:pPr marL="756285" marR="5080" lvl="1" indent="-287020" algn="just">
              <a:lnSpc>
                <a:spcPct val="80000"/>
              </a:lnSpc>
              <a:spcBef>
                <a:spcPts val="640"/>
              </a:spcBef>
              <a:buFont typeface="Arial"/>
              <a:buChar char="–"/>
              <a:tabLst>
                <a:tab pos="756920" algn="l"/>
              </a:tabLst>
            </a:pPr>
            <a:r>
              <a:rPr sz="2600" dirty="0">
                <a:latin typeface="Calibri"/>
                <a:cs typeface="Calibri"/>
              </a:rPr>
              <a:t>Es la </a:t>
            </a:r>
            <a:r>
              <a:rPr sz="2600" spc="-5" dirty="0">
                <a:latin typeface="Calibri"/>
                <a:cs typeface="Calibri"/>
              </a:rPr>
              <a:t>subdivisión de los </a:t>
            </a:r>
            <a:r>
              <a:rPr sz="2600" spc="-15" dirty="0">
                <a:latin typeface="Calibri"/>
                <a:cs typeface="Calibri"/>
              </a:rPr>
              <a:t>entregables </a:t>
            </a:r>
            <a:r>
              <a:rPr sz="2600" spc="-5" dirty="0">
                <a:latin typeface="Calibri"/>
                <a:cs typeface="Calibri"/>
              </a:rPr>
              <a:t>del </a:t>
            </a:r>
            <a:r>
              <a:rPr sz="2600" spc="-20" dirty="0">
                <a:latin typeface="Calibri"/>
                <a:cs typeface="Calibri"/>
              </a:rPr>
              <a:t>proyecto </a:t>
            </a:r>
            <a:r>
              <a:rPr sz="2600" spc="-15" dirty="0">
                <a:latin typeface="Calibri"/>
                <a:cs typeface="Calibri"/>
              </a:rPr>
              <a:t>en  componentes </a:t>
            </a:r>
            <a:r>
              <a:rPr sz="2600" dirty="0">
                <a:latin typeface="Calibri"/>
                <a:cs typeface="Calibri"/>
              </a:rPr>
              <a:t>más </a:t>
            </a:r>
            <a:r>
              <a:rPr sz="2600" spc="-10" dirty="0">
                <a:latin typeface="Calibri"/>
                <a:cs typeface="Calibri"/>
              </a:rPr>
              <a:t>pequeños </a:t>
            </a:r>
            <a:r>
              <a:rPr sz="2600" dirty="0">
                <a:latin typeface="Calibri"/>
                <a:cs typeface="Calibri"/>
              </a:rPr>
              <a:t>y </a:t>
            </a:r>
            <a:r>
              <a:rPr sz="2600" spc="-5" dirty="0">
                <a:latin typeface="Calibri"/>
                <a:cs typeface="Calibri"/>
              </a:rPr>
              <a:t>más </a:t>
            </a:r>
            <a:r>
              <a:rPr sz="2600" dirty="0">
                <a:latin typeface="Calibri"/>
                <a:cs typeface="Calibri"/>
              </a:rPr>
              <a:t>manejables, </a:t>
            </a:r>
            <a:r>
              <a:rPr sz="2600" spc="-15" dirty="0">
                <a:latin typeface="Calibri"/>
                <a:cs typeface="Calibri"/>
              </a:rPr>
              <a:t>hasta  </a:t>
            </a:r>
            <a:r>
              <a:rPr sz="2600" spc="-5" dirty="0">
                <a:latin typeface="Calibri"/>
                <a:cs typeface="Calibri"/>
              </a:rPr>
              <a:t>el </a:t>
            </a:r>
            <a:r>
              <a:rPr sz="2600" spc="-10" dirty="0">
                <a:latin typeface="Calibri"/>
                <a:cs typeface="Calibri"/>
              </a:rPr>
              <a:t>nivel </a:t>
            </a:r>
            <a:r>
              <a:rPr sz="2600" dirty="0">
                <a:latin typeface="Calibri"/>
                <a:cs typeface="Calibri"/>
              </a:rPr>
              <a:t>de </a:t>
            </a:r>
            <a:r>
              <a:rPr sz="2600" spc="-10" dirty="0">
                <a:latin typeface="Calibri"/>
                <a:cs typeface="Calibri"/>
              </a:rPr>
              <a:t>paquetes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trabajo.</a:t>
            </a:r>
            <a:endParaRPr sz="2600">
              <a:latin typeface="Calibri"/>
              <a:cs typeface="Calibri"/>
            </a:endParaRPr>
          </a:p>
          <a:p>
            <a:pPr marL="756285" lvl="1" indent="-287020" algn="just">
              <a:lnSpc>
                <a:spcPct val="100000"/>
              </a:lnSpc>
              <a:buFont typeface="Arial"/>
              <a:buChar char="–"/>
              <a:tabLst>
                <a:tab pos="756920" algn="l"/>
              </a:tabLst>
            </a:pPr>
            <a:r>
              <a:rPr sz="2600" spc="-5" dirty="0">
                <a:latin typeface="Calibri"/>
                <a:cs typeface="Calibri"/>
              </a:rPr>
              <a:t>Implica:</a:t>
            </a:r>
            <a:endParaRPr sz="2600">
              <a:latin typeface="Calibri"/>
              <a:cs typeface="Calibri"/>
            </a:endParaRPr>
          </a:p>
          <a:p>
            <a:pPr marL="1155700" lvl="2" indent="-229235" algn="just">
              <a:lnSpc>
                <a:spcPct val="100000"/>
              </a:lnSpc>
              <a:spcBef>
                <a:spcPts val="15"/>
              </a:spcBef>
              <a:buFont typeface="Arial"/>
              <a:buChar char="•"/>
              <a:tabLst>
                <a:tab pos="1156335" algn="l"/>
              </a:tabLst>
            </a:pPr>
            <a:r>
              <a:rPr sz="2200" spc="-10" dirty="0">
                <a:latin typeface="Calibri"/>
                <a:cs typeface="Calibri"/>
              </a:rPr>
              <a:t>Identificar </a:t>
            </a:r>
            <a:r>
              <a:rPr sz="2200" spc="-5" dirty="0">
                <a:latin typeface="Calibri"/>
                <a:cs typeface="Calibri"/>
              </a:rPr>
              <a:t>y </a:t>
            </a:r>
            <a:r>
              <a:rPr sz="2200" spc="-10" dirty="0">
                <a:latin typeface="Calibri"/>
                <a:cs typeface="Calibri"/>
              </a:rPr>
              <a:t>analizar </a:t>
            </a:r>
            <a:r>
              <a:rPr sz="2200" spc="-5" dirty="0">
                <a:latin typeface="Calibri"/>
                <a:cs typeface="Calibri"/>
              </a:rPr>
              <a:t>los </a:t>
            </a:r>
            <a:r>
              <a:rPr sz="2200" spc="-10" dirty="0">
                <a:latin typeface="Calibri"/>
                <a:cs typeface="Calibri"/>
              </a:rPr>
              <a:t>entregables </a:t>
            </a:r>
            <a:r>
              <a:rPr sz="2200" spc="-5" dirty="0">
                <a:latin typeface="Calibri"/>
                <a:cs typeface="Calibri"/>
              </a:rPr>
              <a:t>del</a:t>
            </a:r>
            <a:r>
              <a:rPr sz="2200" spc="4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trabajo</a:t>
            </a:r>
            <a:endParaRPr sz="2200">
              <a:latin typeface="Calibri"/>
              <a:cs typeface="Calibri"/>
            </a:endParaRPr>
          </a:p>
          <a:p>
            <a:pPr marL="1155700" lvl="2" indent="-229235" algn="just">
              <a:lnSpc>
                <a:spcPct val="100000"/>
              </a:lnSpc>
              <a:buFont typeface="Arial"/>
              <a:buChar char="•"/>
              <a:tabLst>
                <a:tab pos="1156335" algn="l"/>
              </a:tabLst>
            </a:pPr>
            <a:r>
              <a:rPr sz="2200" spc="-15" dirty="0">
                <a:latin typeface="Calibri"/>
                <a:cs typeface="Calibri"/>
              </a:rPr>
              <a:t>Estructurar </a:t>
            </a:r>
            <a:r>
              <a:rPr sz="2200" spc="-5" dirty="0">
                <a:latin typeface="Calibri"/>
                <a:cs typeface="Calibri"/>
              </a:rPr>
              <a:t>y </a:t>
            </a:r>
            <a:r>
              <a:rPr sz="2200" spc="-15" dirty="0">
                <a:latin typeface="Calibri"/>
                <a:cs typeface="Calibri"/>
              </a:rPr>
              <a:t>organizar </a:t>
            </a:r>
            <a:r>
              <a:rPr sz="2200" spc="-5" dirty="0">
                <a:latin typeface="Calibri"/>
                <a:cs typeface="Calibri"/>
              </a:rPr>
              <a:t>la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EDT</a:t>
            </a:r>
            <a:endParaRPr sz="2200">
              <a:latin typeface="Calibri"/>
              <a:cs typeface="Calibri"/>
            </a:endParaRPr>
          </a:p>
          <a:p>
            <a:pPr marL="1155700" marR="5080" lvl="2" indent="-228600" algn="just">
              <a:lnSpc>
                <a:spcPct val="80000"/>
              </a:lnSpc>
              <a:spcBef>
                <a:spcPts val="535"/>
              </a:spcBef>
              <a:buFont typeface="Arial"/>
              <a:buChar char="•"/>
              <a:tabLst>
                <a:tab pos="1156335" algn="l"/>
              </a:tabLst>
            </a:pPr>
            <a:r>
              <a:rPr sz="2200" spc="-5" dirty="0">
                <a:latin typeface="Calibri"/>
                <a:cs typeface="Calibri"/>
              </a:rPr>
              <a:t>Descomponer los </a:t>
            </a:r>
            <a:r>
              <a:rPr sz="2200" spc="-10" dirty="0">
                <a:latin typeface="Calibri"/>
                <a:cs typeface="Calibri"/>
              </a:rPr>
              <a:t>niveles </a:t>
            </a:r>
            <a:r>
              <a:rPr sz="2200" spc="-5" dirty="0">
                <a:latin typeface="Calibri"/>
                <a:cs typeface="Calibri"/>
              </a:rPr>
              <a:t>superiores </a:t>
            </a:r>
            <a:r>
              <a:rPr sz="2200" dirty="0">
                <a:latin typeface="Calibri"/>
                <a:cs typeface="Calibri"/>
              </a:rPr>
              <a:t>de </a:t>
            </a:r>
            <a:r>
              <a:rPr sz="2200" spc="-5" dirty="0">
                <a:latin typeface="Calibri"/>
                <a:cs typeface="Calibri"/>
              </a:rPr>
              <a:t>la </a:t>
            </a:r>
            <a:r>
              <a:rPr sz="2200" spc="-15" dirty="0">
                <a:latin typeface="Calibri"/>
                <a:cs typeface="Calibri"/>
              </a:rPr>
              <a:t>EDT </a:t>
            </a:r>
            <a:r>
              <a:rPr sz="2200" spc="-10" dirty="0">
                <a:latin typeface="Calibri"/>
                <a:cs typeface="Calibri"/>
              </a:rPr>
              <a:t>en  componentes detallados </a:t>
            </a:r>
            <a:r>
              <a:rPr sz="2200" spc="-5" dirty="0">
                <a:latin typeface="Calibri"/>
                <a:cs typeface="Calibri"/>
              </a:rPr>
              <a:t>de </a:t>
            </a:r>
            <a:r>
              <a:rPr sz="2200" spc="-10" dirty="0">
                <a:latin typeface="Calibri"/>
                <a:cs typeface="Calibri"/>
              </a:rPr>
              <a:t>nivel</a:t>
            </a:r>
            <a:r>
              <a:rPr sz="2200" spc="6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inferior</a:t>
            </a:r>
            <a:endParaRPr sz="2200">
              <a:latin typeface="Calibri"/>
              <a:cs typeface="Calibri"/>
            </a:endParaRPr>
          </a:p>
          <a:p>
            <a:pPr marL="1155700" lvl="2" indent="-229235" algn="just">
              <a:lnSpc>
                <a:spcPts val="2375"/>
              </a:lnSpc>
              <a:buFont typeface="Arial"/>
              <a:buChar char="•"/>
              <a:tabLst>
                <a:tab pos="1156335" algn="l"/>
              </a:tabLst>
            </a:pPr>
            <a:r>
              <a:rPr sz="2200" spc="-10" dirty="0">
                <a:latin typeface="Calibri"/>
                <a:cs typeface="Calibri"/>
              </a:rPr>
              <a:t>Desarrollar </a:t>
            </a:r>
            <a:r>
              <a:rPr sz="2200" spc="-5" dirty="0">
                <a:latin typeface="Calibri"/>
                <a:cs typeface="Calibri"/>
              </a:rPr>
              <a:t>y asignar </a:t>
            </a:r>
            <a:r>
              <a:rPr sz="2200" spc="-15" dirty="0">
                <a:latin typeface="Calibri"/>
                <a:cs typeface="Calibri"/>
              </a:rPr>
              <a:t>códigos </a:t>
            </a:r>
            <a:r>
              <a:rPr sz="2200" spc="-5" dirty="0">
                <a:latin typeface="Calibri"/>
                <a:cs typeface="Calibri"/>
              </a:rPr>
              <a:t>de identificación a</a:t>
            </a:r>
            <a:r>
              <a:rPr sz="2200" spc="254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los</a:t>
            </a:r>
            <a:endParaRPr sz="2200">
              <a:latin typeface="Calibri"/>
              <a:cs typeface="Calibri"/>
            </a:endParaRPr>
          </a:p>
          <a:p>
            <a:pPr marL="1155700" algn="just">
              <a:lnSpc>
                <a:spcPts val="2375"/>
              </a:lnSpc>
            </a:pPr>
            <a:r>
              <a:rPr sz="2200" spc="-15" dirty="0">
                <a:latin typeface="Calibri"/>
                <a:cs typeface="Calibri"/>
              </a:rPr>
              <a:t>componentes </a:t>
            </a:r>
            <a:r>
              <a:rPr sz="2200" spc="-5" dirty="0">
                <a:latin typeface="Calibri"/>
                <a:cs typeface="Calibri"/>
              </a:rPr>
              <a:t>de la</a:t>
            </a:r>
            <a:r>
              <a:rPr sz="2200" spc="5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EDT</a:t>
            </a:r>
            <a:endParaRPr sz="2200">
              <a:latin typeface="Calibri"/>
              <a:cs typeface="Calibri"/>
            </a:endParaRPr>
          </a:p>
          <a:p>
            <a:pPr marL="1155700" lvl="2" indent="-229235" algn="just">
              <a:lnSpc>
                <a:spcPct val="100000"/>
              </a:lnSpc>
              <a:buFont typeface="Arial"/>
              <a:buChar char="•"/>
              <a:tabLst>
                <a:tab pos="1156335" algn="l"/>
              </a:tabLst>
            </a:pPr>
            <a:r>
              <a:rPr sz="2200" spc="-20" dirty="0">
                <a:latin typeface="Calibri"/>
                <a:cs typeface="Calibri"/>
              </a:rPr>
              <a:t>Verificar </a:t>
            </a:r>
            <a:r>
              <a:rPr sz="2200" spc="-10" dirty="0">
                <a:latin typeface="Calibri"/>
                <a:cs typeface="Calibri"/>
              </a:rPr>
              <a:t>que </a:t>
            </a:r>
            <a:r>
              <a:rPr sz="2200" spc="-5" dirty="0">
                <a:latin typeface="Calibri"/>
                <a:cs typeface="Calibri"/>
              </a:rPr>
              <a:t>la </a:t>
            </a:r>
            <a:r>
              <a:rPr sz="2200" spc="-10" dirty="0">
                <a:latin typeface="Calibri"/>
                <a:cs typeface="Calibri"/>
              </a:rPr>
              <a:t>descomposición sea </a:t>
            </a:r>
            <a:r>
              <a:rPr sz="2200" spc="-5" dirty="0">
                <a:latin typeface="Calibri"/>
                <a:cs typeface="Calibri"/>
              </a:rPr>
              <a:t>necesaria y</a:t>
            </a:r>
            <a:r>
              <a:rPr sz="2200" spc="12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suficiente.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37438" y="496950"/>
            <a:ext cx="787019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5" dirty="0"/>
              <a:t>Crear </a:t>
            </a:r>
            <a:r>
              <a:rPr sz="4000" spc="-5" dirty="0"/>
              <a:t>la </a:t>
            </a:r>
            <a:r>
              <a:rPr sz="4000" spc="-20" dirty="0"/>
              <a:t>EDT- </a:t>
            </a:r>
            <a:r>
              <a:rPr sz="4000" b="1" spc="-55" dirty="0">
                <a:latin typeface="Calibri"/>
                <a:cs typeface="Calibri"/>
              </a:rPr>
              <a:t>Técnicas </a:t>
            </a:r>
            <a:r>
              <a:rPr sz="4000" b="1" spc="-5" dirty="0">
                <a:latin typeface="Calibri"/>
                <a:cs typeface="Calibri"/>
              </a:rPr>
              <a:t>y</a:t>
            </a:r>
            <a:r>
              <a:rPr sz="4000" b="1" spc="120" dirty="0">
                <a:latin typeface="Calibri"/>
                <a:cs typeface="Calibri"/>
              </a:rPr>
              <a:t> </a:t>
            </a:r>
            <a:r>
              <a:rPr sz="4000" b="1" spc="-20" dirty="0">
                <a:latin typeface="Calibri"/>
                <a:cs typeface="Calibri"/>
              </a:rPr>
              <a:t>Herramientas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8140" indent="-343535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358140" algn="l"/>
                <a:tab pos="358775" algn="l"/>
              </a:tabLst>
            </a:pPr>
            <a:r>
              <a:rPr spc="-10" dirty="0"/>
              <a:t>Tips:</a:t>
            </a:r>
          </a:p>
          <a:p>
            <a:pPr marL="758825" marR="5080" lvl="1" indent="-287020">
              <a:lnSpc>
                <a:spcPts val="2110"/>
              </a:lnSpc>
              <a:spcBef>
                <a:spcPts val="525"/>
              </a:spcBef>
              <a:buFont typeface="Arial"/>
              <a:buChar char="–"/>
              <a:tabLst>
                <a:tab pos="758825" algn="l"/>
                <a:tab pos="759460" algn="l"/>
                <a:tab pos="1456690" algn="l"/>
                <a:tab pos="2593975" algn="l"/>
                <a:tab pos="3014980" algn="l"/>
                <a:tab pos="3683635" algn="l"/>
                <a:tab pos="4391025" algn="l"/>
                <a:tab pos="4872990" algn="l"/>
                <a:tab pos="6109335" algn="l"/>
                <a:tab pos="6749415" algn="l"/>
                <a:tab pos="7865109" algn="l"/>
              </a:tabLst>
            </a:pPr>
            <a:r>
              <a:rPr sz="2200" spc="-10" dirty="0">
                <a:latin typeface="Calibri"/>
                <a:cs typeface="Calibri"/>
              </a:rPr>
              <a:t>C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10" dirty="0">
                <a:latin typeface="Calibri"/>
                <a:cs typeface="Calibri"/>
              </a:rPr>
              <a:t>d</a:t>
            </a:r>
            <a:r>
              <a:rPr sz="2200" spc="-5" dirty="0">
                <a:latin typeface="Calibri"/>
                <a:cs typeface="Calibri"/>
              </a:rPr>
              <a:t>a</a:t>
            </a:r>
            <a:r>
              <a:rPr sz="2200" dirty="0">
                <a:latin typeface="Calibri"/>
                <a:cs typeface="Calibri"/>
              </a:rPr>
              <a:t>	</a:t>
            </a:r>
            <a:r>
              <a:rPr sz="2200" spc="-35" dirty="0">
                <a:latin typeface="Calibri"/>
                <a:cs typeface="Calibri"/>
              </a:rPr>
              <a:t>c</a:t>
            </a:r>
            <a:r>
              <a:rPr sz="2200" spc="-5" dirty="0">
                <a:latin typeface="Calibri"/>
                <a:cs typeface="Calibri"/>
              </a:rPr>
              <a:t>o</a:t>
            </a:r>
            <a:r>
              <a:rPr sz="2200" spc="-10" dirty="0">
                <a:latin typeface="Calibri"/>
                <a:cs typeface="Calibri"/>
              </a:rPr>
              <a:t>nju</a:t>
            </a:r>
            <a:r>
              <a:rPr sz="2200" spc="-30" dirty="0">
                <a:latin typeface="Calibri"/>
                <a:cs typeface="Calibri"/>
              </a:rPr>
              <a:t>n</a:t>
            </a:r>
            <a:r>
              <a:rPr sz="2200" spc="-35" dirty="0">
                <a:latin typeface="Calibri"/>
                <a:cs typeface="Calibri"/>
              </a:rPr>
              <a:t>t</a:t>
            </a:r>
            <a:r>
              <a:rPr sz="2200" spc="-5" dirty="0">
                <a:latin typeface="Calibri"/>
                <a:cs typeface="Calibri"/>
              </a:rPr>
              <a:t>o</a:t>
            </a:r>
            <a:r>
              <a:rPr sz="2200" dirty="0">
                <a:latin typeface="Calibri"/>
                <a:cs typeface="Calibri"/>
              </a:rPr>
              <a:t>	</a:t>
            </a:r>
            <a:r>
              <a:rPr sz="2200" spc="-10" dirty="0">
                <a:latin typeface="Calibri"/>
                <a:cs typeface="Calibri"/>
              </a:rPr>
              <a:t>d</a:t>
            </a:r>
            <a:r>
              <a:rPr sz="2200" spc="-5" dirty="0">
                <a:latin typeface="Calibri"/>
                <a:cs typeface="Calibri"/>
              </a:rPr>
              <a:t>e</a:t>
            </a:r>
            <a:r>
              <a:rPr sz="2200" dirty="0">
                <a:latin typeface="Calibri"/>
                <a:cs typeface="Calibri"/>
              </a:rPr>
              <a:t>	</a:t>
            </a:r>
            <a:r>
              <a:rPr sz="2200" spc="-10" dirty="0">
                <a:latin typeface="Calibri"/>
                <a:cs typeface="Calibri"/>
              </a:rPr>
              <a:t>hij</a:t>
            </a:r>
            <a:r>
              <a:rPr sz="2200" dirty="0">
                <a:latin typeface="Calibri"/>
                <a:cs typeface="Calibri"/>
              </a:rPr>
              <a:t>o</a:t>
            </a:r>
            <a:r>
              <a:rPr sz="2200" spc="-5" dirty="0">
                <a:latin typeface="Calibri"/>
                <a:cs typeface="Calibri"/>
              </a:rPr>
              <a:t>s</a:t>
            </a:r>
            <a:r>
              <a:rPr sz="2200" dirty="0">
                <a:latin typeface="Calibri"/>
                <a:cs typeface="Calibri"/>
              </a:rPr>
              <a:t>	d</a:t>
            </a:r>
            <a:r>
              <a:rPr sz="2200" spc="-5" dirty="0">
                <a:latin typeface="Calibri"/>
                <a:cs typeface="Calibri"/>
              </a:rPr>
              <a:t>ebe</a:t>
            </a:r>
            <a:r>
              <a:rPr sz="2200" dirty="0">
                <a:latin typeface="Calibri"/>
                <a:cs typeface="Calibri"/>
              </a:rPr>
              <a:t>	</a:t>
            </a:r>
            <a:r>
              <a:rPr sz="2200" spc="10" dirty="0">
                <a:latin typeface="Calibri"/>
                <a:cs typeface="Calibri"/>
              </a:rPr>
              <a:t>s</a:t>
            </a:r>
            <a:r>
              <a:rPr sz="2200" spc="-5" dirty="0">
                <a:latin typeface="Calibri"/>
                <a:cs typeface="Calibri"/>
              </a:rPr>
              <a:t>er</a:t>
            </a:r>
            <a:r>
              <a:rPr sz="2200" dirty="0">
                <a:latin typeface="Calibri"/>
                <a:cs typeface="Calibri"/>
              </a:rPr>
              <a:t>	</a:t>
            </a:r>
            <a:r>
              <a:rPr sz="2200" spc="-10" dirty="0">
                <a:latin typeface="Calibri"/>
                <a:cs typeface="Calibri"/>
              </a:rPr>
              <a:t>su</a:t>
            </a:r>
            <a:r>
              <a:rPr sz="2200" spc="-5" dirty="0">
                <a:latin typeface="Calibri"/>
                <a:cs typeface="Calibri"/>
              </a:rPr>
              <a:t>f</a:t>
            </a:r>
            <a:r>
              <a:rPr sz="2200" dirty="0">
                <a:latin typeface="Calibri"/>
                <a:cs typeface="Calibri"/>
              </a:rPr>
              <a:t>i</a:t>
            </a:r>
            <a:r>
              <a:rPr sz="2200" spc="-5" dirty="0">
                <a:latin typeface="Calibri"/>
                <a:cs typeface="Calibri"/>
              </a:rPr>
              <a:t>ci</a:t>
            </a:r>
            <a:r>
              <a:rPr sz="2200" spc="-15" dirty="0">
                <a:latin typeface="Calibri"/>
                <a:cs typeface="Calibri"/>
              </a:rPr>
              <a:t>e</a:t>
            </a:r>
            <a:r>
              <a:rPr sz="2200" spc="-30" dirty="0">
                <a:latin typeface="Calibri"/>
                <a:cs typeface="Calibri"/>
              </a:rPr>
              <a:t>n</a:t>
            </a:r>
            <a:r>
              <a:rPr sz="2200" spc="-25" dirty="0">
                <a:latin typeface="Calibri"/>
                <a:cs typeface="Calibri"/>
              </a:rPr>
              <a:t>t</a:t>
            </a:r>
            <a:r>
              <a:rPr sz="2200" spc="-5" dirty="0">
                <a:latin typeface="Calibri"/>
                <a:cs typeface="Calibri"/>
              </a:rPr>
              <a:t>e</a:t>
            </a:r>
            <a:r>
              <a:rPr sz="2200" dirty="0">
                <a:latin typeface="Calibri"/>
                <a:cs typeface="Calibri"/>
              </a:rPr>
              <a:t>	</a:t>
            </a:r>
            <a:r>
              <a:rPr sz="2200" spc="-10" dirty="0">
                <a:latin typeface="Calibri"/>
                <a:cs typeface="Calibri"/>
              </a:rPr>
              <a:t>pa</a:t>
            </a:r>
            <a:r>
              <a:rPr sz="2200" spc="-50" dirty="0">
                <a:latin typeface="Calibri"/>
                <a:cs typeface="Calibri"/>
              </a:rPr>
              <a:t>r</a:t>
            </a:r>
            <a:r>
              <a:rPr sz="2200" spc="-5" dirty="0">
                <a:latin typeface="Calibri"/>
                <a:cs typeface="Calibri"/>
              </a:rPr>
              <a:t>a</a:t>
            </a:r>
            <a:r>
              <a:rPr sz="2200" dirty="0">
                <a:latin typeface="Calibri"/>
                <a:cs typeface="Calibri"/>
              </a:rPr>
              <a:t>	</a:t>
            </a:r>
            <a:r>
              <a:rPr sz="2200" spc="-10" dirty="0">
                <a:latin typeface="Calibri"/>
                <a:cs typeface="Calibri"/>
              </a:rPr>
              <a:t>describi</a:t>
            </a:r>
            <a:r>
              <a:rPr sz="2200" spc="-5" dirty="0">
                <a:latin typeface="Calibri"/>
                <a:cs typeface="Calibri"/>
              </a:rPr>
              <a:t>r</a:t>
            </a:r>
            <a:r>
              <a:rPr sz="2200" dirty="0">
                <a:latin typeface="Calibri"/>
                <a:cs typeface="Calibri"/>
              </a:rPr>
              <a:t>	</a:t>
            </a:r>
            <a:r>
              <a:rPr sz="2200" spc="-5" dirty="0">
                <a:latin typeface="Calibri"/>
                <a:cs typeface="Calibri"/>
              </a:rPr>
              <a:t>al  </a:t>
            </a:r>
            <a:r>
              <a:rPr sz="2200" spc="-10" dirty="0">
                <a:latin typeface="Calibri"/>
                <a:cs typeface="Calibri"/>
              </a:rPr>
              <a:t>padre </a:t>
            </a:r>
            <a:r>
              <a:rPr sz="2200" spc="-5" dirty="0">
                <a:latin typeface="Calibri"/>
                <a:cs typeface="Calibri"/>
              </a:rPr>
              <a:t>y la </a:t>
            </a:r>
            <a:r>
              <a:rPr sz="2200" spc="-10" dirty="0">
                <a:latin typeface="Calibri"/>
                <a:cs typeface="Calibri"/>
              </a:rPr>
              <a:t>suma </a:t>
            </a:r>
            <a:r>
              <a:rPr sz="2200" spc="-5" dirty="0">
                <a:latin typeface="Calibri"/>
                <a:cs typeface="Calibri"/>
              </a:rPr>
              <a:t>de los hijos </a:t>
            </a:r>
            <a:r>
              <a:rPr sz="2200" spc="-15" dirty="0">
                <a:latin typeface="Calibri"/>
                <a:cs typeface="Calibri"/>
              </a:rPr>
              <a:t>conforman </a:t>
            </a:r>
            <a:r>
              <a:rPr sz="2200" spc="-5" dirty="0">
                <a:latin typeface="Calibri"/>
                <a:cs typeface="Calibri"/>
              </a:rPr>
              <a:t>al</a:t>
            </a:r>
            <a:r>
              <a:rPr sz="2200" spc="6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padre</a:t>
            </a:r>
            <a:endParaRPr sz="2200">
              <a:latin typeface="Calibri"/>
              <a:cs typeface="Calibri"/>
            </a:endParaRPr>
          </a:p>
          <a:p>
            <a:pPr marL="758825" lvl="1" indent="-287020">
              <a:lnSpc>
                <a:spcPct val="100000"/>
              </a:lnSpc>
              <a:spcBef>
                <a:spcPts val="20"/>
              </a:spcBef>
              <a:buFont typeface="Arial"/>
              <a:buChar char="–"/>
              <a:tabLst>
                <a:tab pos="758825" algn="l"/>
                <a:tab pos="759460" algn="l"/>
              </a:tabLst>
            </a:pPr>
            <a:r>
              <a:rPr sz="2200" spc="-55" dirty="0">
                <a:latin typeface="Calibri"/>
                <a:cs typeface="Calibri"/>
              </a:rPr>
              <a:t>Todo </a:t>
            </a:r>
            <a:r>
              <a:rPr sz="2200" spc="-10" dirty="0">
                <a:latin typeface="Calibri"/>
                <a:cs typeface="Calibri"/>
              </a:rPr>
              <a:t>trabajo </a:t>
            </a:r>
            <a:r>
              <a:rPr sz="2200" spc="-5" dirty="0">
                <a:latin typeface="Calibri"/>
                <a:cs typeface="Calibri"/>
              </a:rPr>
              <a:t>que no </a:t>
            </a:r>
            <a:r>
              <a:rPr sz="2200" spc="-15" dirty="0">
                <a:latin typeface="Calibri"/>
                <a:cs typeface="Calibri"/>
              </a:rPr>
              <a:t>esté </a:t>
            </a:r>
            <a:r>
              <a:rPr sz="2200" spc="-5" dirty="0">
                <a:latin typeface="Calibri"/>
                <a:cs typeface="Calibri"/>
              </a:rPr>
              <a:t>en la </a:t>
            </a:r>
            <a:r>
              <a:rPr sz="2200" spc="-15" dirty="0">
                <a:latin typeface="Calibri"/>
                <a:cs typeface="Calibri"/>
              </a:rPr>
              <a:t>EDT </a:t>
            </a:r>
            <a:r>
              <a:rPr sz="2200" spc="-5" dirty="0">
                <a:latin typeface="Calibri"/>
                <a:cs typeface="Calibri"/>
              </a:rPr>
              <a:t>no </a:t>
            </a:r>
            <a:r>
              <a:rPr sz="2200" spc="-15" dirty="0">
                <a:latin typeface="Calibri"/>
                <a:cs typeface="Calibri"/>
              </a:rPr>
              <a:t>está </a:t>
            </a:r>
            <a:r>
              <a:rPr sz="2200" spc="-5" dirty="0">
                <a:latin typeface="Calibri"/>
                <a:cs typeface="Calibri"/>
              </a:rPr>
              <a:t>en el</a:t>
            </a:r>
            <a:r>
              <a:rPr sz="2200" spc="17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proyecto</a:t>
            </a:r>
            <a:endParaRPr sz="2200">
              <a:latin typeface="Calibri"/>
              <a:cs typeface="Calibri"/>
            </a:endParaRPr>
          </a:p>
          <a:p>
            <a:pPr marL="758825" lvl="1" indent="-287020">
              <a:lnSpc>
                <a:spcPct val="100000"/>
              </a:lnSpc>
              <a:buFont typeface="Arial"/>
              <a:buChar char="–"/>
              <a:tabLst>
                <a:tab pos="758825" algn="l"/>
                <a:tab pos="759460" algn="l"/>
              </a:tabLst>
            </a:pPr>
            <a:r>
              <a:rPr sz="2200" spc="-5" dirty="0">
                <a:latin typeface="Calibri"/>
                <a:cs typeface="Calibri"/>
              </a:rPr>
              <a:t>El </a:t>
            </a:r>
            <a:r>
              <a:rPr sz="2200" spc="-10" dirty="0">
                <a:latin typeface="Calibri"/>
                <a:cs typeface="Calibri"/>
              </a:rPr>
              <a:t>nivel </a:t>
            </a:r>
            <a:r>
              <a:rPr sz="2200" spc="-5" dirty="0">
                <a:latin typeface="Calibri"/>
                <a:cs typeface="Calibri"/>
              </a:rPr>
              <a:t>más </a:t>
            </a:r>
            <a:r>
              <a:rPr sz="2200" spc="-10" dirty="0">
                <a:latin typeface="Calibri"/>
                <a:cs typeface="Calibri"/>
              </a:rPr>
              <a:t>bajo </a:t>
            </a:r>
            <a:r>
              <a:rPr sz="2200" dirty="0">
                <a:latin typeface="Calibri"/>
                <a:cs typeface="Calibri"/>
              </a:rPr>
              <a:t>se </a:t>
            </a:r>
            <a:r>
              <a:rPr sz="2200" spc="-10" dirty="0">
                <a:latin typeface="Calibri"/>
                <a:cs typeface="Calibri"/>
              </a:rPr>
              <a:t>denomina “paquete </a:t>
            </a:r>
            <a:r>
              <a:rPr sz="2200" spc="-5" dirty="0">
                <a:latin typeface="Calibri"/>
                <a:cs typeface="Calibri"/>
              </a:rPr>
              <a:t>de</a:t>
            </a:r>
            <a:r>
              <a:rPr sz="2200" spc="9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trabajo”</a:t>
            </a:r>
            <a:endParaRPr sz="2200">
              <a:latin typeface="Calibri"/>
              <a:cs typeface="Calibri"/>
            </a:endParaRPr>
          </a:p>
          <a:p>
            <a:pPr marL="758825" lvl="1" indent="-287020">
              <a:lnSpc>
                <a:spcPct val="100000"/>
              </a:lnSpc>
              <a:buFont typeface="Arial"/>
              <a:buChar char="–"/>
              <a:tabLst>
                <a:tab pos="758825" algn="l"/>
                <a:tab pos="759460" algn="l"/>
              </a:tabLst>
            </a:pPr>
            <a:r>
              <a:rPr sz="2200" spc="-5" dirty="0">
                <a:latin typeface="Calibri"/>
                <a:cs typeface="Calibri"/>
              </a:rPr>
              <a:t>Un </a:t>
            </a:r>
            <a:r>
              <a:rPr sz="2200" spc="-15" dirty="0">
                <a:latin typeface="Calibri"/>
                <a:cs typeface="Calibri"/>
              </a:rPr>
              <a:t>paquete </a:t>
            </a:r>
            <a:r>
              <a:rPr sz="2200" spc="-5" dirty="0">
                <a:latin typeface="Calibri"/>
                <a:cs typeface="Calibri"/>
              </a:rPr>
              <a:t>de </a:t>
            </a:r>
            <a:r>
              <a:rPr sz="2200" spc="-15" dirty="0">
                <a:latin typeface="Calibri"/>
                <a:cs typeface="Calibri"/>
              </a:rPr>
              <a:t>trabajo </a:t>
            </a:r>
            <a:r>
              <a:rPr sz="2200" spc="-10" dirty="0">
                <a:latin typeface="Calibri"/>
                <a:cs typeface="Calibri"/>
              </a:rPr>
              <a:t>puede </a:t>
            </a:r>
            <a:r>
              <a:rPr sz="2200" spc="-5" dirty="0">
                <a:latin typeface="Calibri"/>
                <a:cs typeface="Calibri"/>
              </a:rPr>
              <a:t>ser </a:t>
            </a:r>
            <a:r>
              <a:rPr sz="2200" spc="-15" dirty="0">
                <a:latin typeface="Calibri"/>
                <a:cs typeface="Calibri"/>
              </a:rPr>
              <a:t>otro</a:t>
            </a:r>
            <a:r>
              <a:rPr sz="2200" spc="11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proyecto</a:t>
            </a:r>
            <a:endParaRPr sz="2200">
              <a:latin typeface="Calibri"/>
              <a:cs typeface="Calibri"/>
            </a:endParaRPr>
          </a:p>
          <a:p>
            <a:pPr marL="758825" lvl="1" indent="-287020">
              <a:lnSpc>
                <a:spcPct val="100000"/>
              </a:lnSpc>
              <a:buFont typeface="Arial"/>
              <a:buChar char="–"/>
              <a:tabLst>
                <a:tab pos="758825" algn="l"/>
                <a:tab pos="759460" algn="l"/>
              </a:tabLst>
            </a:pPr>
            <a:r>
              <a:rPr sz="2200" spc="-10" dirty="0">
                <a:latin typeface="Calibri"/>
                <a:cs typeface="Calibri"/>
              </a:rPr>
              <a:t>Las tareas </a:t>
            </a:r>
            <a:r>
              <a:rPr sz="2200" spc="-5" dirty="0">
                <a:latin typeface="Calibri"/>
                <a:cs typeface="Calibri"/>
              </a:rPr>
              <a:t>de </a:t>
            </a:r>
            <a:r>
              <a:rPr sz="2200" spc="-10" dirty="0">
                <a:latin typeface="Calibri"/>
                <a:cs typeface="Calibri"/>
              </a:rPr>
              <a:t>gerencia </a:t>
            </a:r>
            <a:r>
              <a:rPr sz="2200" spc="-5" dirty="0">
                <a:latin typeface="Calibri"/>
                <a:cs typeface="Calibri"/>
              </a:rPr>
              <a:t>de </a:t>
            </a:r>
            <a:r>
              <a:rPr sz="2200" spc="-20" dirty="0">
                <a:latin typeface="Calibri"/>
                <a:cs typeface="Calibri"/>
              </a:rPr>
              <a:t>proyecto </a:t>
            </a:r>
            <a:r>
              <a:rPr sz="2200" spc="-10" dirty="0">
                <a:latin typeface="Calibri"/>
                <a:cs typeface="Calibri"/>
              </a:rPr>
              <a:t>deben añadirse </a:t>
            </a:r>
            <a:r>
              <a:rPr sz="2200" spc="-5" dirty="0">
                <a:latin typeface="Calibri"/>
                <a:cs typeface="Calibri"/>
              </a:rPr>
              <a:t>a la</a:t>
            </a:r>
            <a:r>
              <a:rPr sz="2200" spc="114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EDT</a:t>
            </a:r>
            <a:endParaRPr sz="2200">
              <a:latin typeface="Calibri"/>
              <a:cs typeface="Calibri"/>
            </a:endParaRPr>
          </a:p>
          <a:p>
            <a:pPr marL="758825" lvl="1" indent="-287020">
              <a:lnSpc>
                <a:spcPts val="2375"/>
              </a:lnSpc>
              <a:buFont typeface="Arial"/>
              <a:buChar char="–"/>
              <a:tabLst>
                <a:tab pos="758825" algn="l"/>
                <a:tab pos="759460" algn="l"/>
                <a:tab pos="1673225" algn="l"/>
                <a:tab pos="2961640" algn="l"/>
                <a:tab pos="3599815" algn="l"/>
                <a:tab pos="4763135" algn="l"/>
                <a:tab pos="5685155" algn="l"/>
                <a:tab pos="6602730" algn="l"/>
              </a:tabLst>
            </a:pPr>
            <a:r>
              <a:rPr sz="2200" spc="-5" dirty="0">
                <a:latin typeface="Calibri"/>
                <a:cs typeface="Calibri"/>
              </a:rPr>
              <a:t>Cada	</a:t>
            </a:r>
            <a:r>
              <a:rPr sz="2200" spc="-15" dirty="0">
                <a:latin typeface="Calibri"/>
                <a:cs typeface="Calibri"/>
              </a:rPr>
              <a:t>paquete	</a:t>
            </a:r>
            <a:r>
              <a:rPr sz="2200" dirty="0">
                <a:latin typeface="Calibri"/>
                <a:cs typeface="Calibri"/>
              </a:rPr>
              <a:t>de	</a:t>
            </a:r>
            <a:r>
              <a:rPr sz="2200" spc="-10" dirty="0">
                <a:latin typeface="Calibri"/>
                <a:cs typeface="Calibri"/>
              </a:rPr>
              <a:t>trabajo	</a:t>
            </a:r>
            <a:r>
              <a:rPr sz="2200" spc="-5" dirty="0">
                <a:latin typeface="Calibri"/>
                <a:cs typeface="Calibri"/>
              </a:rPr>
              <a:t>debe	</a:t>
            </a:r>
            <a:r>
              <a:rPr sz="2200" spc="-15" dirty="0">
                <a:latin typeface="Calibri"/>
                <a:cs typeface="Calibri"/>
              </a:rPr>
              <a:t>estar	programado,</a:t>
            </a:r>
            <a:endParaRPr sz="2200">
              <a:latin typeface="Calibri"/>
              <a:cs typeface="Calibri"/>
            </a:endParaRPr>
          </a:p>
          <a:p>
            <a:pPr marL="758825">
              <a:lnSpc>
                <a:spcPts val="2375"/>
              </a:lnSpc>
            </a:pPr>
            <a:r>
              <a:rPr sz="2200" b="0" i="0" spc="-10" dirty="0">
                <a:latin typeface="Calibri"/>
                <a:cs typeface="Calibri"/>
              </a:rPr>
              <a:t>presupuestado </a:t>
            </a:r>
            <a:r>
              <a:rPr sz="2200" b="0" i="0" spc="-5" dirty="0">
                <a:latin typeface="Calibri"/>
                <a:cs typeface="Calibri"/>
              </a:rPr>
              <a:t>y asignado </a:t>
            </a:r>
            <a:r>
              <a:rPr sz="2200" b="0" i="0" spc="-10" dirty="0">
                <a:latin typeface="Calibri"/>
                <a:cs typeface="Calibri"/>
              </a:rPr>
              <a:t>apropiadamente.</a:t>
            </a:r>
            <a:endParaRPr sz="2200">
              <a:latin typeface="Calibri"/>
              <a:cs typeface="Calibri"/>
            </a:endParaRPr>
          </a:p>
          <a:p>
            <a:pPr marL="758825" marR="6350" lvl="1" indent="-287020">
              <a:lnSpc>
                <a:spcPct val="80000"/>
              </a:lnSpc>
              <a:spcBef>
                <a:spcPts val="530"/>
              </a:spcBef>
              <a:buFont typeface="Arial"/>
              <a:buChar char="–"/>
              <a:tabLst>
                <a:tab pos="758825" algn="l"/>
                <a:tab pos="759460" algn="l"/>
              </a:tabLst>
            </a:pPr>
            <a:r>
              <a:rPr sz="2200" spc="-5" dirty="0">
                <a:latin typeface="Calibri"/>
                <a:cs typeface="Calibri"/>
              </a:rPr>
              <a:t>Cuando </a:t>
            </a:r>
            <a:r>
              <a:rPr sz="2200" spc="-20" dirty="0">
                <a:latin typeface="Calibri"/>
                <a:cs typeface="Calibri"/>
              </a:rPr>
              <a:t>existen </a:t>
            </a:r>
            <a:r>
              <a:rPr sz="2200" spc="-5" dirty="0">
                <a:latin typeface="Calibri"/>
                <a:cs typeface="Calibri"/>
              </a:rPr>
              <a:t>cambios no </a:t>
            </a:r>
            <a:r>
              <a:rPr sz="2200" spc="-15" dirty="0">
                <a:latin typeface="Calibri"/>
                <a:cs typeface="Calibri"/>
              </a:rPr>
              <a:t>controlados </a:t>
            </a:r>
            <a:r>
              <a:rPr sz="2200" spc="-5" dirty="0">
                <a:latin typeface="Calibri"/>
                <a:cs typeface="Calibri"/>
              </a:rPr>
              <a:t>en el </a:t>
            </a:r>
            <a:r>
              <a:rPr sz="2200" spc="-10" dirty="0">
                <a:latin typeface="Calibri"/>
                <a:cs typeface="Calibri"/>
              </a:rPr>
              <a:t>alcance </a:t>
            </a:r>
            <a:r>
              <a:rPr sz="2200" dirty="0">
                <a:latin typeface="Calibri"/>
                <a:cs typeface="Calibri"/>
              </a:rPr>
              <a:t>se </a:t>
            </a:r>
            <a:r>
              <a:rPr sz="2200" spc="-5" dirty="0">
                <a:latin typeface="Calibri"/>
                <a:cs typeface="Calibri"/>
              </a:rPr>
              <a:t>llama  </a:t>
            </a:r>
            <a:r>
              <a:rPr sz="2200" spc="-10" dirty="0">
                <a:latin typeface="Calibri"/>
                <a:cs typeface="Calibri"/>
              </a:rPr>
              <a:t>“Scope Crep” (desajuste </a:t>
            </a:r>
            <a:r>
              <a:rPr sz="2200" spc="-5" dirty="0">
                <a:latin typeface="Calibri"/>
                <a:cs typeface="Calibri"/>
              </a:rPr>
              <a:t>del</a:t>
            </a:r>
            <a:r>
              <a:rPr sz="2200" spc="6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alcance).</a:t>
            </a:r>
            <a:endParaRPr sz="2200">
              <a:latin typeface="Calibri"/>
              <a:cs typeface="Calibri"/>
            </a:endParaRPr>
          </a:p>
          <a:p>
            <a:pPr marL="758825" lvl="1" indent="-287020">
              <a:lnSpc>
                <a:spcPts val="2635"/>
              </a:lnSpc>
              <a:buFont typeface="Arial"/>
              <a:buChar char="–"/>
              <a:tabLst>
                <a:tab pos="758825" algn="l"/>
                <a:tab pos="759460" algn="l"/>
              </a:tabLst>
            </a:pPr>
            <a:r>
              <a:rPr sz="2200" spc="-5" dirty="0">
                <a:latin typeface="Calibri"/>
                <a:cs typeface="Calibri"/>
              </a:rPr>
              <a:t>La </a:t>
            </a:r>
            <a:r>
              <a:rPr sz="2200" spc="-15" dirty="0">
                <a:latin typeface="Calibri"/>
                <a:cs typeface="Calibri"/>
              </a:rPr>
              <a:t>EDT </a:t>
            </a:r>
            <a:r>
              <a:rPr sz="2200" spc="-5" dirty="0">
                <a:latin typeface="Calibri"/>
                <a:cs typeface="Calibri"/>
              </a:rPr>
              <a:t>debe incluir </a:t>
            </a:r>
            <a:r>
              <a:rPr sz="2200" spc="-10" dirty="0">
                <a:latin typeface="Calibri"/>
                <a:cs typeface="Calibri"/>
              </a:rPr>
              <a:t>todos </a:t>
            </a:r>
            <a:r>
              <a:rPr sz="2200" spc="-5" dirty="0">
                <a:latin typeface="Calibri"/>
                <a:cs typeface="Calibri"/>
              </a:rPr>
              <a:t>los </a:t>
            </a:r>
            <a:r>
              <a:rPr sz="2200" spc="-15" dirty="0">
                <a:latin typeface="Calibri"/>
                <a:cs typeface="Calibri"/>
              </a:rPr>
              <a:t>entregables y/o fases </a:t>
            </a:r>
            <a:r>
              <a:rPr sz="2200" spc="-5" dirty="0">
                <a:latin typeface="Calibri"/>
                <a:cs typeface="Calibri"/>
              </a:rPr>
              <a:t>del</a:t>
            </a:r>
            <a:r>
              <a:rPr sz="2200" spc="16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proyecto.</a:t>
            </a:r>
            <a:endParaRPr sz="2200">
              <a:latin typeface="Calibri"/>
              <a:cs typeface="Calibri"/>
            </a:endParaRPr>
          </a:p>
          <a:p>
            <a:pPr marL="358140" indent="-343535">
              <a:lnSpc>
                <a:spcPts val="2995"/>
              </a:lnSpc>
              <a:buFont typeface="Arial"/>
              <a:buChar char="•"/>
              <a:tabLst>
                <a:tab pos="358140" algn="l"/>
                <a:tab pos="358775" algn="l"/>
              </a:tabLst>
            </a:pPr>
            <a:r>
              <a:rPr spc="-10" dirty="0"/>
              <a:t>2. </a:t>
            </a:r>
            <a:r>
              <a:rPr spc="-5" dirty="0"/>
              <a:t>Juicio</a:t>
            </a:r>
            <a:r>
              <a:rPr spc="-25" dirty="0"/>
              <a:t> </a:t>
            </a:r>
            <a:r>
              <a:rPr spc="-10" dirty="0"/>
              <a:t>Experto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22373" y="461899"/>
            <a:ext cx="470217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" dirty="0"/>
              <a:t>Crear </a:t>
            </a:r>
            <a:r>
              <a:rPr dirty="0"/>
              <a:t>la </a:t>
            </a:r>
            <a:r>
              <a:rPr spc="-20" dirty="0"/>
              <a:t>EDT-</a:t>
            </a:r>
            <a:r>
              <a:rPr spc="15" dirty="0"/>
              <a:t> </a:t>
            </a:r>
            <a:r>
              <a:rPr b="1" spc="-5" dirty="0">
                <a:latin typeface="Calibri"/>
                <a:cs typeface="Calibri"/>
              </a:rPr>
              <a:t>Salidas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07288" y="1531297"/>
            <a:ext cx="5173980" cy="3470910"/>
          </a:xfrm>
          <a:prstGeom prst="rect">
            <a:avLst/>
          </a:prstGeom>
        </p:spPr>
        <p:txBody>
          <a:bodyPr vert="horz" wrap="square" lIns="0" tIns="71120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56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1800" b="1" i="1" spc="-5" dirty="0">
                <a:latin typeface="Calibri"/>
                <a:cs typeface="Calibri"/>
              </a:rPr>
              <a:t>1. Línea Base </a:t>
            </a:r>
            <a:r>
              <a:rPr sz="1800" b="1" i="1" dirty="0">
                <a:latin typeface="Calibri"/>
                <a:cs typeface="Calibri"/>
              </a:rPr>
              <a:t>del</a:t>
            </a:r>
            <a:r>
              <a:rPr sz="1800" b="1" i="1" spc="35" dirty="0">
                <a:latin typeface="Calibri"/>
                <a:cs typeface="Calibri"/>
              </a:rPr>
              <a:t> </a:t>
            </a:r>
            <a:r>
              <a:rPr sz="1800" b="1" i="1" spc="-5" dirty="0">
                <a:latin typeface="Calibri"/>
                <a:cs typeface="Calibri"/>
              </a:rPr>
              <a:t>Alcance</a:t>
            </a:r>
            <a:endParaRPr sz="1800">
              <a:latin typeface="Calibri"/>
              <a:cs typeface="Calibri"/>
            </a:endParaRPr>
          </a:p>
          <a:p>
            <a:pPr marL="756285" lvl="1" indent="-287020" algn="just">
              <a:lnSpc>
                <a:spcPct val="100000"/>
              </a:lnSpc>
              <a:spcBef>
                <a:spcPts val="365"/>
              </a:spcBef>
              <a:buFont typeface="Arial"/>
              <a:buChar char="•"/>
              <a:tabLst>
                <a:tab pos="756920" algn="l"/>
              </a:tabLst>
            </a:pPr>
            <a:r>
              <a:rPr sz="1400" b="1" i="1" spc="-5" dirty="0">
                <a:latin typeface="Calibri"/>
                <a:cs typeface="Calibri"/>
              </a:rPr>
              <a:t>Enunciado </a:t>
            </a:r>
            <a:r>
              <a:rPr sz="1400" b="1" i="1" dirty="0">
                <a:latin typeface="Calibri"/>
                <a:cs typeface="Calibri"/>
              </a:rPr>
              <a:t>del</a:t>
            </a:r>
            <a:r>
              <a:rPr sz="1400" b="1" i="1" spc="-25" dirty="0">
                <a:latin typeface="Calibri"/>
                <a:cs typeface="Calibri"/>
              </a:rPr>
              <a:t> </a:t>
            </a:r>
            <a:r>
              <a:rPr sz="1400" b="1" i="1" spc="-5" dirty="0">
                <a:latin typeface="Calibri"/>
                <a:cs typeface="Calibri"/>
              </a:rPr>
              <a:t>Alcance</a:t>
            </a:r>
            <a:endParaRPr sz="1400">
              <a:latin typeface="Calibri"/>
              <a:cs typeface="Calibri"/>
            </a:endParaRPr>
          </a:p>
          <a:p>
            <a:pPr marL="756285" lvl="1" indent="-287020" algn="just">
              <a:lnSpc>
                <a:spcPct val="100000"/>
              </a:lnSpc>
              <a:spcBef>
                <a:spcPts val="335"/>
              </a:spcBef>
              <a:buFont typeface="Arial"/>
              <a:buChar char="•"/>
              <a:tabLst>
                <a:tab pos="756920" algn="l"/>
              </a:tabLst>
            </a:pPr>
            <a:r>
              <a:rPr sz="1400" b="1" i="1" spc="-10" dirty="0">
                <a:latin typeface="Calibri"/>
                <a:cs typeface="Calibri"/>
              </a:rPr>
              <a:t>EDT</a:t>
            </a:r>
            <a:endParaRPr sz="1400">
              <a:latin typeface="Calibri"/>
              <a:cs typeface="Calibri"/>
            </a:endParaRPr>
          </a:p>
          <a:p>
            <a:pPr marL="756285" lvl="1" indent="-287020" algn="just">
              <a:lnSpc>
                <a:spcPct val="100000"/>
              </a:lnSpc>
              <a:spcBef>
                <a:spcPts val="335"/>
              </a:spcBef>
              <a:buFont typeface="Arial"/>
              <a:buChar char="•"/>
              <a:tabLst>
                <a:tab pos="756920" algn="l"/>
              </a:tabLst>
            </a:pPr>
            <a:r>
              <a:rPr sz="1400" b="1" i="1" spc="-5" dirty="0">
                <a:latin typeface="Calibri"/>
                <a:cs typeface="Calibri"/>
              </a:rPr>
              <a:t>Diccionario </a:t>
            </a:r>
            <a:r>
              <a:rPr sz="1400" b="1" i="1" dirty="0">
                <a:latin typeface="Calibri"/>
                <a:cs typeface="Calibri"/>
              </a:rPr>
              <a:t>de la</a:t>
            </a:r>
            <a:r>
              <a:rPr sz="1400" b="1" i="1" spc="-50" dirty="0">
                <a:latin typeface="Calibri"/>
                <a:cs typeface="Calibri"/>
              </a:rPr>
              <a:t> </a:t>
            </a:r>
            <a:r>
              <a:rPr sz="1400" b="1" i="1" spc="-10" dirty="0">
                <a:latin typeface="Calibri"/>
                <a:cs typeface="Calibri"/>
              </a:rPr>
              <a:t>EDT</a:t>
            </a:r>
            <a:endParaRPr sz="1400">
              <a:latin typeface="Calibri"/>
              <a:cs typeface="Calibri"/>
            </a:endParaRPr>
          </a:p>
          <a:p>
            <a:pPr marL="756285" marR="5080" indent="-287020" algn="just">
              <a:lnSpc>
                <a:spcPct val="100000"/>
              </a:lnSpc>
              <a:spcBef>
                <a:spcPts val="380"/>
              </a:spcBef>
              <a:buFont typeface="Arial"/>
              <a:buChar char="–"/>
              <a:tabLst>
                <a:tab pos="756920" algn="l"/>
              </a:tabLst>
            </a:pPr>
            <a:r>
              <a:rPr sz="1600" spc="-5" dirty="0">
                <a:latin typeface="Calibri"/>
                <a:cs typeface="Calibri"/>
              </a:rPr>
              <a:t>Es un conjunto de definiciones específicas que  describen en </a:t>
            </a:r>
            <a:r>
              <a:rPr sz="1600" spc="-15" dirty="0">
                <a:latin typeface="Calibri"/>
                <a:cs typeface="Calibri"/>
              </a:rPr>
              <a:t>mayor </a:t>
            </a:r>
            <a:r>
              <a:rPr sz="1600" spc="-5" dirty="0">
                <a:latin typeface="Calibri"/>
                <a:cs typeface="Calibri"/>
              </a:rPr>
              <a:t>detalle cuáles </a:t>
            </a:r>
            <a:r>
              <a:rPr sz="1600" spc="-10" dirty="0">
                <a:latin typeface="Calibri"/>
                <a:cs typeface="Calibri"/>
              </a:rPr>
              <a:t>son </a:t>
            </a:r>
            <a:r>
              <a:rPr sz="1600" spc="-5" dirty="0">
                <a:latin typeface="Calibri"/>
                <a:cs typeface="Calibri"/>
              </a:rPr>
              <a:t>los </a:t>
            </a:r>
            <a:r>
              <a:rPr sz="1600" spc="-10" dirty="0">
                <a:latin typeface="Calibri"/>
                <a:cs typeface="Calibri"/>
              </a:rPr>
              <a:t>elementos  </a:t>
            </a:r>
            <a:r>
              <a:rPr sz="1600" spc="-5" dirty="0">
                <a:latin typeface="Calibri"/>
                <a:cs typeface="Calibri"/>
              </a:rPr>
              <a:t>de </a:t>
            </a:r>
            <a:r>
              <a:rPr sz="1600" dirty="0">
                <a:latin typeface="Calibri"/>
                <a:cs typeface="Calibri"/>
              </a:rPr>
              <a:t>la </a:t>
            </a:r>
            <a:r>
              <a:rPr sz="1600" spc="-10" dirty="0">
                <a:latin typeface="Calibri"/>
                <a:cs typeface="Calibri"/>
              </a:rPr>
              <a:t>EDT (instrucciones </a:t>
            </a:r>
            <a:r>
              <a:rPr sz="1600" spc="-5" dirty="0">
                <a:latin typeface="Calibri"/>
                <a:cs typeface="Calibri"/>
              </a:rPr>
              <a:t>especiales, asignación de  </a:t>
            </a:r>
            <a:r>
              <a:rPr sz="1600" spc="-10" dirty="0">
                <a:latin typeface="Calibri"/>
                <a:cs typeface="Calibri"/>
              </a:rPr>
              <a:t>presupuesto, restricción </a:t>
            </a:r>
            <a:r>
              <a:rPr sz="1600" spc="-5" dirty="0">
                <a:latin typeface="Calibri"/>
                <a:cs typeface="Calibri"/>
              </a:rPr>
              <a:t>de </a:t>
            </a:r>
            <a:r>
              <a:rPr sz="1600" spc="-10" dirty="0">
                <a:latin typeface="Calibri"/>
                <a:cs typeface="Calibri"/>
              </a:rPr>
              <a:t>tiempo,</a:t>
            </a:r>
            <a:r>
              <a:rPr sz="1600" spc="6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etc.).</a:t>
            </a:r>
            <a:endParaRPr sz="1600">
              <a:latin typeface="Calibri"/>
              <a:cs typeface="Calibri"/>
            </a:endParaRPr>
          </a:p>
          <a:p>
            <a:pPr marL="756285" indent="-287020" algn="just">
              <a:lnSpc>
                <a:spcPct val="100000"/>
              </a:lnSpc>
              <a:spcBef>
                <a:spcPts val="385"/>
              </a:spcBef>
              <a:buFont typeface="Arial"/>
              <a:buChar char="–"/>
              <a:tabLst>
                <a:tab pos="756920" algn="l"/>
              </a:tabLst>
            </a:pPr>
            <a:r>
              <a:rPr sz="1600" spc="-5" dirty="0">
                <a:latin typeface="Calibri"/>
                <a:cs typeface="Calibri"/>
              </a:rPr>
              <a:t>Cada </a:t>
            </a:r>
            <a:r>
              <a:rPr sz="1600" spc="-10" dirty="0">
                <a:latin typeface="Calibri"/>
                <a:cs typeface="Calibri"/>
              </a:rPr>
              <a:t>paquete </a:t>
            </a:r>
            <a:r>
              <a:rPr sz="1600" spc="-5" dirty="0">
                <a:latin typeface="Calibri"/>
                <a:cs typeface="Calibri"/>
              </a:rPr>
              <a:t>de </a:t>
            </a:r>
            <a:r>
              <a:rPr sz="1600" spc="-10" dirty="0">
                <a:latin typeface="Calibri"/>
                <a:cs typeface="Calibri"/>
              </a:rPr>
              <a:t>trabajo </a:t>
            </a:r>
            <a:r>
              <a:rPr sz="1600" dirty="0">
                <a:latin typeface="Calibri"/>
                <a:cs typeface="Calibri"/>
              </a:rPr>
              <a:t>puede </a:t>
            </a:r>
            <a:r>
              <a:rPr sz="1600" spc="-5" dirty="0">
                <a:latin typeface="Calibri"/>
                <a:cs typeface="Calibri"/>
              </a:rPr>
              <a:t>tener una </a:t>
            </a:r>
            <a:r>
              <a:rPr sz="1600" spc="-10" dirty="0">
                <a:latin typeface="Calibri"/>
                <a:cs typeface="Calibri"/>
              </a:rPr>
              <a:t>entrada</a:t>
            </a:r>
            <a:r>
              <a:rPr sz="1600" spc="114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en</a:t>
            </a:r>
            <a:endParaRPr sz="1600">
              <a:latin typeface="Calibri"/>
              <a:cs typeface="Calibri"/>
            </a:endParaRPr>
          </a:p>
          <a:p>
            <a:pPr marL="756285" algn="just">
              <a:lnSpc>
                <a:spcPct val="100000"/>
              </a:lnSpc>
            </a:pPr>
            <a:r>
              <a:rPr sz="1600" spc="-5" dirty="0">
                <a:latin typeface="Calibri"/>
                <a:cs typeface="Calibri"/>
              </a:rPr>
              <a:t>el Diccionario.</a:t>
            </a:r>
            <a:endParaRPr sz="1600">
              <a:latin typeface="Calibri"/>
              <a:cs typeface="Calibri"/>
            </a:endParaRPr>
          </a:p>
          <a:p>
            <a:pPr marL="756285" marR="5715" indent="-287020" algn="just">
              <a:lnSpc>
                <a:spcPct val="100000"/>
              </a:lnSpc>
              <a:spcBef>
                <a:spcPts val="385"/>
              </a:spcBef>
              <a:buFont typeface="Arial"/>
              <a:buChar char="–"/>
              <a:tabLst>
                <a:tab pos="756920" algn="l"/>
              </a:tabLst>
            </a:pPr>
            <a:r>
              <a:rPr sz="1600" spc="-10" dirty="0">
                <a:latin typeface="Calibri"/>
                <a:cs typeface="Calibri"/>
              </a:rPr>
              <a:t>Incluye: </a:t>
            </a:r>
            <a:r>
              <a:rPr sz="1600" spc="-5" dirty="0">
                <a:latin typeface="Calibri"/>
                <a:cs typeface="Calibri"/>
              </a:rPr>
              <a:t>El </a:t>
            </a:r>
            <a:r>
              <a:rPr sz="1600" spc="-10" dirty="0">
                <a:latin typeface="Calibri"/>
                <a:cs typeface="Calibri"/>
              </a:rPr>
              <a:t>identificador </a:t>
            </a:r>
            <a:r>
              <a:rPr sz="1600" dirty="0">
                <a:latin typeface="Calibri"/>
                <a:cs typeface="Calibri"/>
              </a:rPr>
              <a:t>del </a:t>
            </a:r>
            <a:r>
              <a:rPr sz="1600" spc="-10" dirty="0">
                <a:latin typeface="Calibri"/>
                <a:cs typeface="Calibri"/>
              </a:rPr>
              <a:t>código </a:t>
            </a:r>
            <a:r>
              <a:rPr sz="1600" spc="-5" dirty="0">
                <a:latin typeface="Calibri"/>
                <a:cs typeface="Calibri"/>
              </a:rPr>
              <a:t>de </a:t>
            </a:r>
            <a:r>
              <a:rPr sz="1600" spc="-10" dirty="0">
                <a:latin typeface="Calibri"/>
                <a:cs typeface="Calibri"/>
              </a:rPr>
              <a:t>cuentas,  </a:t>
            </a:r>
            <a:r>
              <a:rPr sz="1600" spc="-5" dirty="0">
                <a:latin typeface="Calibri"/>
                <a:cs typeface="Calibri"/>
              </a:rPr>
              <a:t>Descripción del </a:t>
            </a:r>
            <a:r>
              <a:rPr sz="1600" spc="-15" dirty="0">
                <a:latin typeface="Calibri"/>
                <a:cs typeface="Calibri"/>
              </a:rPr>
              <a:t>trabajo, organización </a:t>
            </a:r>
            <a:r>
              <a:rPr sz="1600" spc="-10" dirty="0">
                <a:latin typeface="Calibri"/>
                <a:cs typeface="Calibri"/>
              </a:rPr>
              <a:t>responsable,  </a:t>
            </a:r>
            <a:r>
              <a:rPr sz="1600" spc="-15" dirty="0">
                <a:latin typeface="Calibri"/>
                <a:cs typeface="Calibri"/>
              </a:rPr>
              <a:t>lista </a:t>
            </a:r>
            <a:r>
              <a:rPr sz="1600" spc="-5" dirty="0">
                <a:latin typeface="Calibri"/>
                <a:cs typeface="Calibri"/>
              </a:rPr>
              <a:t>de </a:t>
            </a:r>
            <a:r>
              <a:rPr sz="1600" spc="-10" dirty="0">
                <a:latin typeface="Calibri"/>
                <a:cs typeface="Calibri"/>
              </a:rPr>
              <a:t>hitos </a:t>
            </a:r>
            <a:r>
              <a:rPr sz="1600" spc="-5" dirty="0">
                <a:latin typeface="Calibri"/>
                <a:cs typeface="Calibri"/>
              </a:rPr>
              <a:t>del </a:t>
            </a:r>
            <a:r>
              <a:rPr sz="1600" spc="-10" dirty="0">
                <a:latin typeface="Calibri"/>
                <a:cs typeface="Calibri"/>
              </a:rPr>
              <a:t>cronograma, </a:t>
            </a:r>
            <a:r>
              <a:rPr sz="1600" spc="-5" dirty="0">
                <a:latin typeface="Calibri"/>
                <a:cs typeface="Calibri"/>
              </a:rPr>
              <a:t>actividades</a:t>
            </a:r>
            <a:r>
              <a:rPr sz="1600" spc="-100" dirty="0">
                <a:latin typeface="Calibri"/>
                <a:cs typeface="Calibri"/>
              </a:rPr>
              <a:t> </a:t>
            </a:r>
            <a:r>
              <a:rPr sz="1600" spc="-5" dirty="0">
                <a:latin typeface="Calibri"/>
                <a:cs typeface="Calibri"/>
              </a:rPr>
              <a:t>asociadas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51305" y="4976571"/>
            <a:ext cx="329692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99745" algn="l"/>
                <a:tab pos="1780539" algn="l"/>
                <a:tab pos="2760345" algn="l"/>
              </a:tabLst>
            </a:pPr>
            <a:r>
              <a:rPr sz="1600" spc="-10" dirty="0">
                <a:latin typeface="Calibri"/>
                <a:cs typeface="Calibri"/>
              </a:rPr>
              <a:t>de</a:t>
            </a:r>
            <a:r>
              <a:rPr sz="1600" spc="-5" dirty="0">
                <a:latin typeface="Calibri"/>
                <a:cs typeface="Calibri"/>
              </a:rPr>
              <a:t>l</a:t>
            </a:r>
            <a:r>
              <a:rPr sz="1600" dirty="0">
                <a:latin typeface="Calibri"/>
                <a:cs typeface="Calibri"/>
              </a:rPr>
              <a:t>	</a:t>
            </a:r>
            <a:r>
              <a:rPr sz="1600" spc="-5" dirty="0">
                <a:latin typeface="Calibri"/>
                <a:cs typeface="Calibri"/>
              </a:rPr>
              <a:t>c</a:t>
            </a:r>
            <a:r>
              <a:rPr sz="1600" spc="-30" dirty="0">
                <a:latin typeface="Calibri"/>
                <a:cs typeface="Calibri"/>
              </a:rPr>
              <a:t>r</a:t>
            </a:r>
            <a:r>
              <a:rPr sz="1600" spc="-10" dirty="0">
                <a:latin typeface="Calibri"/>
                <a:cs typeface="Calibri"/>
              </a:rPr>
              <a:t>o</a:t>
            </a:r>
            <a:r>
              <a:rPr sz="1600" dirty="0">
                <a:latin typeface="Calibri"/>
                <a:cs typeface="Calibri"/>
              </a:rPr>
              <a:t>n</a:t>
            </a:r>
            <a:r>
              <a:rPr sz="1600" spc="-10" dirty="0">
                <a:latin typeface="Calibri"/>
                <a:cs typeface="Calibri"/>
              </a:rPr>
              <a:t>og</a:t>
            </a:r>
            <a:r>
              <a:rPr sz="1600" spc="-50" dirty="0">
                <a:latin typeface="Calibri"/>
                <a:cs typeface="Calibri"/>
              </a:rPr>
              <a:t>r</a:t>
            </a:r>
            <a:r>
              <a:rPr sz="1600" spc="-5" dirty="0">
                <a:latin typeface="Calibri"/>
                <a:cs typeface="Calibri"/>
              </a:rPr>
              <a:t>ama,</a:t>
            </a:r>
            <a:r>
              <a:rPr sz="1600" dirty="0">
                <a:latin typeface="Calibri"/>
                <a:cs typeface="Calibri"/>
              </a:rPr>
              <a:t>	</a:t>
            </a:r>
            <a:r>
              <a:rPr sz="1600" spc="-35" dirty="0">
                <a:latin typeface="Calibri"/>
                <a:cs typeface="Calibri"/>
              </a:rPr>
              <a:t>r</a:t>
            </a:r>
            <a:r>
              <a:rPr sz="1600" dirty="0">
                <a:latin typeface="Calibri"/>
                <a:cs typeface="Calibri"/>
              </a:rPr>
              <a:t>e</a:t>
            </a:r>
            <a:r>
              <a:rPr sz="1600" spc="-5" dirty="0">
                <a:latin typeface="Calibri"/>
                <a:cs typeface="Calibri"/>
              </a:rPr>
              <a:t>cu</a:t>
            </a:r>
            <a:r>
              <a:rPr sz="1600" spc="-40" dirty="0">
                <a:latin typeface="Calibri"/>
                <a:cs typeface="Calibri"/>
              </a:rPr>
              <a:t>r</a:t>
            </a:r>
            <a:r>
              <a:rPr sz="1600" dirty="0">
                <a:latin typeface="Calibri"/>
                <a:cs typeface="Calibri"/>
              </a:rPr>
              <a:t>s</a:t>
            </a:r>
            <a:r>
              <a:rPr sz="1600" spc="-10" dirty="0">
                <a:latin typeface="Calibri"/>
                <a:cs typeface="Calibri"/>
              </a:rPr>
              <a:t>os</a:t>
            </a:r>
            <a:r>
              <a:rPr sz="1600" spc="-5" dirty="0">
                <a:latin typeface="Calibri"/>
                <a:cs typeface="Calibri"/>
              </a:rPr>
              <a:t>,</a:t>
            </a:r>
            <a:r>
              <a:rPr sz="1600" dirty="0">
                <a:latin typeface="Calibri"/>
                <a:cs typeface="Calibri"/>
              </a:rPr>
              <a:t>	</a:t>
            </a:r>
            <a:r>
              <a:rPr sz="1600" spc="-5" dirty="0">
                <a:latin typeface="Calibri"/>
                <a:cs typeface="Calibri"/>
              </a:rPr>
              <a:t>c</a:t>
            </a:r>
            <a:r>
              <a:rPr sz="1600" spc="-15" dirty="0">
                <a:latin typeface="Calibri"/>
                <a:cs typeface="Calibri"/>
              </a:rPr>
              <a:t>o</a:t>
            </a:r>
            <a:r>
              <a:rPr sz="1600" spc="-20" dirty="0">
                <a:latin typeface="Calibri"/>
                <a:cs typeface="Calibri"/>
              </a:rPr>
              <a:t>s</a:t>
            </a:r>
            <a:r>
              <a:rPr sz="1600" spc="-15" dirty="0">
                <a:latin typeface="Calibri"/>
                <a:cs typeface="Calibri"/>
              </a:rPr>
              <a:t>t</a:t>
            </a:r>
            <a:r>
              <a:rPr sz="1600" spc="-10" dirty="0">
                <a:latin typeface="Calibri"/>
                <a:cs typeface="Calibri"/>
              </a:rPr>
              <a:t>os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  <a:tabLst>
                <a:tab pos="1004569" algn="l"/>
                <a:tab pos="1396365" algn="l"/>
                <a:tab pos="2212975" algn="l"/>
                <a:tab pos="3071495" algn="l"/>
              </a:tabLst>
            </a:pPr>
            <a:r>
              <a:rPr sz="1600" spc="-10" dirty="0">
                <a:latin typeface="Calibri"/>
                <a:cs typeface="Calibri"/>
              </a:rPr>
              <a:t>requisitos	</a:t>
            </a:r>
            <a:r>
              <a:rPr sz="1600" spc="-5" dirty="0">
                <a:latin typeface="Calibri"/>
                <a:cs typeface="Calibri"/>
              </a:rPr>
              <a:t>de	calidad,	</a:t>
            </a:r>
            <a:r>
              <a:rPr sz="1600" spc="-10" dirty="0">
                <a:latin typeface="Calibri"/>
                <a:cs typeface="Calibri"/>
              </a:rPr>
              <a:t>criterios	</a:t>
            </a:r>
            <a:r>
              <a:rPr sz="1600" spc="-5" dirty="0">
                <a:latin typeface="Calibri"/>
                <a:cs typeface="Calibri"/>
              </a:rPr>
              <a:t>de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702302" y="4976571"/>
            <a:ext cx="97726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731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Calibri"/>
                <a:cs typeface="Calibri"/>
              </a:rPr>
              <a:t>e</a:t>
            </a:r>
            <a:r>
              <a:rPr sz="1600" spc="-25" dirty="0">
                <a:latin typeface="Calibri"/>
                <a:cs typeface="Calibri"/>
              </a:rPr>
              <a:t>s</a:t>
            </a:r>
            <a:r>
              <a:rPr sz="1600" spc="-5" dirty="0">
                <a:latin typeface="Calibri"/>
                <a:cs typeface="Calibri"/>
              </a:rPr>
              <a:t>t</a:t>
            </a:r>
            <a:r>
              <a:rPr sz="1600" dirty="0">
                <a:latin typeface="Calibri"/>
                <a:cs typeface="Calibri"/>
              </a:rPr>
              <a:t>i</a:t>
            </a:r>
            <a:r>
              <a:rPr sz="1600" spc="-10" dirty="0">
                <a:latin typeface="Calibri"/>
                <a:cs typeface="Calibri"/>
              </a:rPr>
              <a:t>m</a:t>
            </a:r>
            <a:r>
              <a:rPr sz="1600" spc="-5" dirty="0">
                <a:latin typeface="Calibri"/>
                <a:cs typeface="Calibri"/>
              </a:rPr>
              <a:t>ados,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600" spc="-10" dirty="0">
                <a:latin typeface="Calibri"/>
                <a:cs typeface="Calibri"/>
              </a:rPr>
              <a:t>aceptación,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858255" y="2570988"/>
            <a:ext cx="3048000" cy="183946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78916" y="5464860"/>
            <a:ext cx="7983220" cy="9639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84530">
              <a:lnSpc>
                <a:spcPct val="100000"/>
              </a:lnSpc>
              <a:spcBef>
                <a:spcPts val="95"/>
              </a:spcBef>
            </a:pPr>
            <a:r>
              <a:rPr sz="1600" spc="-15" dirty="0">
                <a:latin typeface="Calibri"/>
                <a:cs typeface="Calibri"/>
              </a:rPr>
              <a:t>referencias </a:t>
            </a:r>
            <a:r>
              <a:rPr sz="1600" spc="-10" dirty="0">
                <a:latin typeface="Calibri"/>
                <a:cs typeface="Calibri"/>
              </a:rPr>
              <a:t>técnicas, información </a:t>
            </a:r>
            <a:r>
              <a:rPr sz="1600" spc="-5" dirty="0">
                <a:latin typeface="Calibri"/>
                <a:cs typeface="Calibri"/>
              </a:rPr>
              <a:t>del </a:t>
            </a:r>
            <a:r>
              <a:rPr sz="1600" spc="-20" dirty="0">
                <a:latin typeface="Calibri"/>
                <a:cs typeface="Calibri"/>
              </a:rPr>
              <a:t>contrato,</a:t>
            </a:r>
            <a:r>
              <a:rPr sz="1600" spc="80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etc.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400">
              <a:latin typeface="Times New Roman"/>
              <a:cs typeface="Times New Roman"/>
            </a:endParaRPr>
          </a:p>
          <a:p>
            <a:pPr marL="355600" marR="5080" indent="-342900">
              <a:lnSpc>
                <a:spcPts val="1939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1800" b="1" i="1" spc="-5" dirty="0">
                <a:latin typeface="Calibri"/>
                <a:cs typeface="Calibri"/>
              </a:rPr>
              <a:t>2. Actualización </a:t>
            </a:r>
            <a:r>
              <a:rPr sz="1800" b="1" i="1" dirty="0">
                <a:latin typeface="Calibri"/>
                <a:cs typeface="Calibri"/>
              </a:rPr>
              <a:t>a los </a:t>
            </a:r>
            <a:r>
              <a:rPr sz="1800" b="1" i="1" spc="-10" dirty="0">
                <a:latin typeface="Calibri"/>
                <a:cs typeface="Calibri"/>
              </a:rPr>
              <a:t>Documentos </a:t>
            </a:r>
            <a:r>
              <a:rPr sz="1800" b="1" i="1" dirty="0">
                <a:latin typeface="Calibri"/>
                <a:cs typeface="Calibri"/>
              </a:rPr>
              <a:t>del </a:t>
            </a:r>
            <a:r>
              <a:rPr sz="1800" b="1" i="1" spc="-10" dirty="0">
                <a:latin typeface="Calibri"/>
                <a:cs typeface="Calibri"/>
              </a:rPr>
              <a:t>Proyecto </a:t>
            </a:r>
            <a:r>
              <a:rPr sz="1800" dirty="0">
                <a:latin typeface="Calibri"/>
                <a:cs typeface="Calibri"/>
              </a:rPr>
              <a:t>Si </a:t>
            </a:r>
            <a:r>
              <a:rPr sz="1800" spc="-5" dirty="0">
                <a:latin typeface="Calibri"/>
                <a:cs typeface="Calibri"/>
              </a:rPr>
              <a:t>cambia algo </a:t>
            </a:r>
            <a:r>
              <a:rPr sz="1800" spc="5" dirty="0">
                <a:latin typeface="Calibri"/>
                <a:cs typeface="Calibri"/>
              </a:rPr>
              <a:t>en </a:t>
            </a:r>
            <a:r>
              <a:rPr sz="1800" spc="-5" dirty="0">
                <a:latin typeface="Calibri"/>
                <a:cs typeface="Calibri"/>
              </a:rPr>
              <a:t>la </a:t>
            </a:r>
            <a:r>
              <a:rPr sz="1800" spc="-10" dirty="0">
                <a:latin typeface="Calibri"/>
                <a:cs typeface="Calibri"/>
              </a:rPr>
              <a:t>EDT </a:t>
            </a:r>
            <a:r>
              <a:rPr sz="1800" dirty="0">
                <a:latin typeface="Calibri"/>
                <a:cs typeface="Calibri"/>
              </a:rPr>
              <a:t>se debe  </a:t>
            </a:r>
            <a:r>
              <a:rPr sz="1800" spc="-10" dirty="0">
                <a:latin typeface="Calibri"/>
                <a:cs typeface="Calibri"/>
              </a:rPr>
              <a:t>actualizar </a:t>
            </a:r>
            <a:r>
              <a:rPr sz="1800" dirty="0">
                <a:latin typeface="Calibri"/>
                <a:cs typeface="Calibri"/>
              </a:rPr>
              <a:t>el </a:t>
            </a:r>
            <a:r>
              <a:rPr sz="1800" spc="-5" dirty="0">
                <a:latin typeface="Calibri"/>
                <a:cs typeface="Calibri"/>
              </a:rPr>
              <a:t>enunciado </a:t>
            </a:r>
            <a:r>
              <a:rPr sz="1800" dirty="0">
                <a:latin typeface="Calibri"/>
                <a:cs typeface="Calibri"/>
              </a:rPr>
              <a:t>del </a:t>
            </a:r>
            <a:r>
              <a:rPr sz="1800" spc="-5" dirty="0">
                <a:latin typeface="Calibri"/>
                <a:cs typeface="Calibri"/>
              </a:rPr>
              <a:t>Alcance </a:t>
            </a:r>
            <a:r>
              <a:rPr sz="1800" spc="-10" dirty="0">
                <a:latin typeface="Calibri"/>
                <a:cs typeface="Calibri"/>
              </a:rPr>
              <a:t>(adición </a:t>
            </a:r>
            <a:r>
              <a:rPr sz="1800" dirty="0">
                <a:latin typeface="Calibri"/>
                <a:cs typeface="Calibri"/>
              </a:rPr>
              <a:t>o </a:t>
            </a:r>
            <a:r>
              <a:rPr sz="1800" spc="-5" dirty="0">
                <a:latin typeface="Calibri"/>
                <a:cs typeface="Calibri"/>
              </a:rPr>
              <a:t>reducción </a:t>
            </a:r>
            <a:r>
              <a:rPr sz="1800" dirty="0">
                <a:latin typeface="Calibri"/>
                <a:cs typeface="Calibri"/>
              </a:rPr>
              <a:t>del </a:t>
            </a:r>
            <a:r>
              <a:rPr sz="1800" spc="-5" dirty="0">
                <a:latin typeface="Calibri"/>
                <a:cs typeface="Calibri"/>
              </a:rPr>
              <a:t>alcance</a:t>
            </a:r>
            <a:r>
              <a:rPr sz="1800" spc="22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original).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2425</Words>
  <Application>Microsoft Office PowerPoint</Application>
  <PresentationFormat>Presentación en pantalla (4:3)</PresentationFormat>
  <Paragraphs>440</Paragraphs>
  <Slides>45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45</vt:i4>
      </vt:variant>
    </vt:vector>
  </HeadingPairs>
  <TitlesOfParts>
    <vt:vector size="49" baseType="lpstr">
      <vt:lpstr>Arial</vt:lpstr>
      <vt:lpstr>Calibri</vt:lpstr>
      <vt:lpstr>Times New Roman</vt:lpstr>
      <vt:lpstr>Office Theme</vt:lpstr>
      <vt:lpstr>Agenda</vt:lpstr>
      <vt:lpstr>Grupos de proceso-áreas de conocimiento</vt:lpstr>
      <vt:lpstr>Grupo de Procesos de Planificación</vt:lpstr>
      <vt:lpstr>Agenda</vt:lpstr>
      <vt:lpstr>Planificar la Gestión del Alcance</vt:lpstr>
      <vt:lpstr>Planificar la Gestión del Alcance - Entradas</vt:lpstr>
      <vt:lpstr>Planificar la Gestión del Alcance - Entradas</vt:lpstr>
      <vt:lpstr>Planificar la Gestión del Alcance – Técnicas y  Herramientas</vt:lpstr>
      <vt:lpstr>Planificar la Gestión del Alcance – Salidas</vt:lpstr>
      <vt:lpstr>Agenda</vt:lpstr>
      <vt:lpstr>Recolectar Requerimientos</vt:lpstr>
      <vt:lpstr>Recolectar Requerimientos - Entradas</vt:lpstr>
      <vt:lpstr>Recolectar Requerimientos - Entradas</vt:lpstr>
      <vt:lpstr>Recolectar Requerimientos – Técnicas  y Herramientas</vt:lpstr>
      <vt:lpstr>Recolectar Requerimientos – Técnicas  y Herramientas</vt:lpstr>
      <vt:lpstr>Recolectar Requerimientos – Técnicas  y Herramientas</vt:lpstr>
      <vt:lpstr>Recolectar Requerimientos – Técnicas  y Herramientas</vt:lpstr>
      <vt:lpstr>Recolectar Requerimientos – Salidas</vt:lpstr>
      <vt:lpstr>Agenda</vt:lpstr>
      <vt:lpstr>Definir el Alcance</vt:lpstr>
      <vt:lpstr>Definir el Alcance- Entradas</vt:lpstr>
      <vt:lpstr>Definir el Alcance- Técnicas y  Herramientas</vt:lpstr>
      <vt:lpstr>Definir el Alcance- Salidas</vt:lpstr>
      <vt:lpstr>Definir el Alcance- Salidas</vt:lpstr>
      <vt:lpstr>Definir el Alcance- Salidas</vt:lpstr>
      <vt:lpstr>Agenda</vt:lpstr>
      <vt:lpstr>Crear la EDT</vt:lpstr>
      <vt:lpstr>Crear la EDT</vt:lpstr>
      <vt:lpstr>Crear la EDT</vt:lpstr>
      <vt:lpstr>Crear la EDT</vt:lpstr>
      <vt:lpstr>Crear la EDT</vt:lpstr>
      <vt:lpstr>Crear la EDT</vt:lpstr>
      <vt:lpstr>Crear la EDT</vt:lpstr>
      <vt:lpstr>Crear la EDT</vt:lpstr>
      <vt:lpstr>Crear la EDT</vt:lpstr>
      <vt:lpstr>Crear la EDT</vt:lpstr>
      <vt:lpstr>Crear la EDT</vt:lpstr>
      <vt:lpstr>Crear la EDT</vt:lpstr>
      <vt:lpstr>Ejemplo de EDT</vt:lpstr>
      <vt:lpstr>Ejemplo de EDT</vt:lpstr>
      <vt:lpstr>Ejemplo de EDT</vt:lpstr>
      <vt:lpstr>Crear la EDT- Entradas</vt:lpstr>
      <vt:lpstr>Crear la EDT- Técnicas y Herramientas</vt:lpstr>
      <vt:lpstr>Crear la EDT- Técnicas y Herramientas</vt:lpstr>
      <vt:lpstr>Crear la EDT- Salidas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GERENCIA DE PROYECTOS</dc:title>
  <dc:creator>JuanCarlos</dc:creator>
  <cp:lastModifiedBy>IVAN ALARCON</cp:lastModifiedBy>
  <cp:revision>2</cp:revision>
  <dcterms:created xsi:type="dcterms:W3CDTF">2020-04-15T00:53:28Z</dcterms:created>
  <dcterms:modified xsi:type="dcterms:W3CDTF">2020-09-23T15:32:13Z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2015-01-19T00:00:00Z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2020-04-15T00:00:00Z</vt:filetime>
  </property>
</Properties>
</file>