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</p:sldIdLst>
  <p:sldSz cx="9144000" cy="6858000" type="screen4x3"/>
  <p:notesSz cx="9144000" cy="6858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11117" y="461899"/>
            <a:ext cx="1921764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7697" y="192150"/>
            <a:ext cx="7988604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56130"/>
            <a:ext cx="4958715" cy="2239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1034" y="231470"/>
            <a:ext cx="1743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</a:t>
            </a:r>
            <a:r>
              <a:rPr sz="4400" spc="-45" dirty="0"/>
              <a:t>g</a:t>
            </a:r>
            <a:r>
              <a:rPr sz="4400" dirty="0"/>
              <a:t>enda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891436"/>
            <a:ext cx="3374390" cy="59702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300" b="1" spc="-10" dirty="0">
                <a:latin typeface="Calibri"/>
                <a:cs typeface="Calibri"/>
              </a:rPr>
              <a:t>GRUPO </a:t>
            </a:r>
            <a:r>
              <a:rPr sz="1300" b="1" spc="-5" dirty="0">
                <a:latin typeface="Calibri"/>
                <a:cs typeface="Calibri"/>
              </a:rPr>
              <a:t>DE </a:t>
            </a:r>
            <a:r>
              <a:rPr sz="1300" b="1" spc="-10" dirty="0">
                <a:latin typeface="Calibri"/>
                <a:cs typeface="Calibri"/>
              </a:rPr>
              <a:t>PROCESOS </a:t>
            </a:r>
            <a:r>
              <a:rPr sz="1300" b="1" spc="-5" dirty="0">
                <a:latin typeface="Calibri"/>
                <a:cs typeface="Calibri"/>
              </a:rPr>
              <a:t>DE</a:t>
            </a:r>
            <a:r>
              <a:rPr sz="1300" b="1" spc="6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PLANIFICACION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Planificar la gestión del</a:t>
            </a:r>
            <a:r>
              <a:rPr sz="1300" spc="5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Cronograma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10" dirty="0">
                <a:latin typeface="Calibri"/>
                <a:cs typeface="Calibri"/>
              </a:rPr>
              <a:t>Definir </a:t>
            </a:r>
            <a:r>
              <a:rPr sz="1300" spc="-5" dirty="0">
                <a:latin typeface="Calibri"/>
                <a:cs typeface="Calibri"/>
              </a:rPr>
              <a:t>las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Secuenciar las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Estimar los </a:t>
            </a:r>
            <a:r>
              <a:rPr sz="1300" spc="-10" dirty="0">
                <a:latin typeface="Calibri"/>
                <a:cs typeface="Calibri"/>
              </a:rPr>
              <a:t>Recursos </a:t>
            </a:r>
            <a:r>
              <a:rPr sz="1300" spc="-5" dirty="0">
                <a:latin typeface="Calibri"/>
                <a:cs typeface="Calibri"/>
              </a:rPr>
              <a:t>de las</a:t>
            </a:r>
            <a:r>
              <a:rPr sz="1300" spc="5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Estimar la </a:t>
            </a:r>
            <a:r>
              <a:rPr sz="1300" spc="-10" dirty="0">
                <a:latin typeface="Calibri"/>
                <a:cs typeface="Calibri"/>
              </a:rPr>
              <a:t>Duración </a:t>
            </a:r>
            <a:r>
              <a:rPr sz="1300" spc="-5" dirty="0">
                <a:latin typeface="Calibri"/>
                <a:cs typeface="Calibri"/>
              </a:rPr>
              <a:t>de las</a:t>
            </a:r>
            <a:r>
              <a:rPr sz="1300" spc="7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10" dirty="0">
                <a:latin typeface="Calibri"/>
                <a:cs typeface="Calibri"/>
              </a:rPr>
              <a:t>Desarrollar </a:t>
            </a:r>
            <a:r>
              <a:rPr sz="1300" spc="-5" dirty="0">
                <a:latin typeface="Calibri"/>
                <a:cs typeface="Calibri"/>
              </a:rPr>
              <a:t>el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Cronograma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657600" y="6019800"/>
            <a:ext cx="5486400" cy="659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b="1" i="1" spc="-5" dirty="0">
                <a:latin typeface="Arial"/>
                <a:cs typeface="Arial"/>
              </a:rPr>
              <a:t>Sacado de: </a:t>
            </a:r>
            <a:r>
              <a:rPr lang="es-CO" b="1" i="1" dirty="0">
                <a:latin typeface="Arial"/>
                <a:cs typeface="Arial"/>
              </a:rPr>
              <a:t>Juan Carlos </a:t>
            </a:r>
            <a:r>
              <a:rPr lang="es-CO" b="1" i="1" dirty="0" err="1">
                <a:latin typeface="Arial"/>
                <a:cs typeface="Arial"/>
              </a:rPr>
              <a:t>Jimenez</a:t>
            </a:r>
            <a:r>
              <a:rPr lang="es-CO" b="1" i="1" dirty="0">
                <a:latin typeface="Arial"/>
                <a:cs typeface="Arial"/>
              </a:rPr>
              <a:t> Sanz – </a:t>
            </a:r>
            <a:r>
              <a:rPr lang="es-CO" b="1" i="1" spc="-5" dirty="0">
                <a:latin typeface="Arial"/>
                <a:cs typeface="Arial"/>
              </a:rPr>
              <a:t>PMP</a:t>
            </a:r>
            <a:r>
              <a:rPr lang="es-CO" b="1" i="1" spc="-204" dirty="0">
                <a:latin typeface="Arial"/>
                <a:cs typeface="Arial"/>
              </a:rPr>
              <a:t> </a:t>
            </a:r>
            <a:r>
              <a:rPr lang="es-CO" dirty="0">
                <a:latin typeface="Arial"/>
                <a:cs typeface="Arial"/>
              </a:rPr>
              <a:t>®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dirty="0">
                <a:latin typeface="Arial"/>
                <a:cs typeface="Arial"/>
              </a:rPr>
              <a:t>Exponente Iván Alarcón </a:t>
            </a:r>
            <a:r>
              <a:rPr lang="es-CO" dirty="0" err="1">
                <a:latin typeface="Arial"/>
                <a:cs typeface="Arial"/>
              </a:rPr>
              <a:t>Avila</a:t>
            </a:r>
            <a:endParaRPr lang="es-CO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1634" y="0"/>
            <a:ext cx="78644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Grupos </a:t>
            </a:r>
            <a:r>
              <a:rPr sz="3600" spc="-5" dirty="0"/>
              <a:t>de </a:t>
            </a:r>
            <a:r>
              <a:rPr sz="3600" spc="-10" dirty="0"/>
              <a:t>proceso-áreas </a:t>
            </a:r>
            <a:r>
              <a:rPr sz="3600" spc="-5" dirty="0"/>
              <a:t>de</a:t>
            </a:r>
            <a:r>
              <a:rPr sz="3600" spc="-75" dirty="0"/>
              <a:t> </a:t>
            </a:r>
            <a:r>
              <a:rPr sz="3600" spc="-15" dirty="0"/>
              <a:t>conocimiento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-6350" y="398272"/>
          <a:ext cx="9163050" cy="6358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9400"/>
                <a:gridCol w="1549400"/>
                <a:gridCol w="1549400"/>
                <a:gridCol w="1549400"/>
                <a:gridCol w="1549400"/>
                <a:gridCol w="1395729"/>
              </a:tblGrid>
              <a:tr h="175387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  <a:spcBef>
                          <a:spcPts val="5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Área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11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Proceso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E6B8B8"/>
                    </a:solidFill>
                  </a:tcPr>
                </a:tc>
                <a:tc>
                  <a:txBody>
                    <a:bodyPr/>
                    <a:lstStyle/>
                    <a:p>
                      <a:pPr marL="451484">
                        <a:lnSpc>
                          <a:spcPts val="1230"/>
                        </a:lnSpc>
                        <a:spcBef>
                          <a:spcPts val="50"/>
                        </a:spcBef>
                      </a:pPr>
                      <a:r>
                        <a:rPr sz="11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Iniciación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6350" cap="flat" cmpd="sng" algn="ctr">
                      <a:solidFill>
                        <a:srgbClr val="F795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ts val="1230"/>
                        </a:lnSpc>
                        <a:spcBef>
                          <a:spcPts val="5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Planificación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ts val="1230"/>
                        </a:lnSpc>
                        <a:spcBef>
                          <a:spcPts val="5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Ejecución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ts val="1230"/>
                        </a:lnSpc>
                        <a:spcBef>
                          <a:spcPts val="5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Monitoreo y</a:t>
                      </a:r>
                      <a:r>
                        <a:rPr sz="1100" b="1" spc="-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Control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30"/>
                        </a:lnSpc>
                        <a:spcBef>
                          <a:spcPts val="5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Cierre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</a:tr>
              <a:tr h="5563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 la</a:t>
                      </a:r>
                      <a:r>
                        <a:rPr sz="9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Integración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7620" marR="238760">
                        <a:lnSpc>
                          <a:spcPct val="100000"/>
                        </a:lnSpc>
                        <a:spcBef>
                          <a:spcPts val="35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Desarrollar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Acta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Constitución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del</a:t>
                      </a:r>
                      <a:r>
                        <a:rPr sz="9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Proyecto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marL="7620" marR="140970">
                        <a:lnSpc>
                          <a:spcPct val="100000"/>
                        </a:lnSpc>
                        <a:spcBef>
                          <a:spcPts val="35"/>
                        </a:spcBef>
                        <a:buChar char="•"/>
                        <a:tabLst>
                          <a:tab pos="8001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Desarrollar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el Plan para</a:t>
                      </a:r>
                      <a:r>
                        <a:rPr sz="9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Dirección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del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Proyecto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75565">
                        <a:lnSpc>
                          <a:spcPct val="100000"/>
                        </a:lnSpc>
                        <a:spcBef>
                          <a:spcPts val="3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Dirigir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y Gestionar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trabajo  del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proyecto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235585">
                        <a:lnSpc>
                          <a:spcPct val="100000"/>
                        </a:lnSpc>
                        <a:spcBef>
                          <a:spcPts val="3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Monitorear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y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Controlar el  trabajo del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Proyecto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8255" marR="44450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Realizar el Control integrado  de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Cambios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marL="49530" indent="-41275">
                        <a:lnSpc>
                          <a:spcPct val="100000"/>
                        </a:lnSpc>
                        <a:spcBef>
                          <a:spcPts val="35"/>
                        </a:spcBef>
                        <a:buSzPct val="88888"/>
                        <a:buChar char="•"/>
                        <a:tabLst>
                          <a:tab pos="5016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Cerrar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el Proyecto o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Fase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</a:tr>
              <a:tr h="6935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del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Alcance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319405">
                        <a:lnSpc>
                          <a:spcPct val="100000"/>
                        </a:lnSpc>
                        <a:spcBef>
                          <a:spcPts val="40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</a:t>
                      </a:r>
                      <a:r>
                        <a:rPr sz="9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del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alcance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Recopilar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Requisitos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Definir el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Alcance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ts val="1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Crear la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EDT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0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Validar el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Alcance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895" indent="-4127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el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Alcance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1242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del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Tiempo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 indent="-41275">
                        <a:lnSpc>
                          <a:spcPct val="100000"/>
                        </a:lnSpc>
                        <a:spcBef>
                          <a:spcPts val="40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la gestión</a:t>
                      </a:r>
                      <a:r>
                        <a:rPr sz="9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del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620">
                        <a:lnSpc>
                          <a:spcPct val="100000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cronograma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Definir las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Actividades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Secuenciar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las</a:t>
                      </a:r>
                      <a:r>
                        <a:rPr sz="9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Actividades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620" marR="7810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Estimar los Recursos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9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las  Actividades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620" marR="168910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Estimación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Duración</a:t>
                      </a:r>
                      <a:r>
                        <a:rPr sz="90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 las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Actividades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ts val="1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Desarrollar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Cronograma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0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Controlar el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Cronograma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5563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de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los</a:t>
                      </a:r>
                      <a:r>
                        <a:rPr sz="9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163830">
                        <a:lnSpc>
                          <a:spcPct val="100000"/>
                        </a:lnSpc>
                        <a:spcBef>
                          <a:spcPts val="40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 de</a:t>
                      </a:r>
                      <a:r>
                        <a:rPr sz="9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los  costos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Estimar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Costos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ts val="994"/>
                        </a:lnSpc>
                        <a:spcBef>
                          <a:spcPts val="5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Determinar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9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Presupuesto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E6B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0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los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Costos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E6B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820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de la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Calidad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1120" marB="0"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3206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</a:t>
                      </a:r>
                      <a:r>
                        <a:rPr sz="9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Calidad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15176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Realizar el Aseguramiento  de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Calidad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la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calidad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6955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12445" marR="97155" indent="-40894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los</a:t>
                      </a:r>
                      <a:r>
                        <a:rPr sz="900" b="1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Recursos  Humanos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14160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9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los 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RR.HH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EBF0DE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408940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Adquirir el Equipo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del  Proyecto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8255" marR="24193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Desarrollar el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Equipo</a:t>
                      </a:r>
                      <a:r>
                        <a:rPr sz="9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del  Proyecto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895" indent="-41275">
                        <a:lnSpc>
                          <a:spcPts val="1010"/>
                        </a:lnSpc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Dirigir el Equipo del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Proyecto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EBF0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340994">
                <a:tc>
                  <a:txBody>
                    <a:bodyPr/>
                    <a:lstStyle/>
                    <a:p>
                      <a:pPr marL="314325" marR="309245" indent="685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de las 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Comunicaciones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10985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las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Comunicaciones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48260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Gestionar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las  comunicaciones del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Proyecto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71056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las  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uni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io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12422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 los</a:t>
                      </a: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Riesgos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3206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Riesgos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Identificar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Riesgos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Realizar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Análisis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Cualitativo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620">
                        <a:lnSpc>
                          <a:spcPct val="100000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9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Riesgos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620" marR="12700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Realizar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Análisis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Cuantitativo  de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Riesgos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620" marR="4889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Respuesta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los  Riesgos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los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Riesgos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82028"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de</a:t>
                      </a:r>
                      <a:r>
                        <a:rPr sz="9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82905">
                        <a:lnSpc>
                          <a:spcPts val="1015"/>
                        </a:lnSpc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Adquisiciones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 indent="-412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 de</a:t>
                      </a:r>
                      <a:r>
                        <a:rPr sz="9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las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620">
                        <a:lnSpc>
                          <a:spcPts val="990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Adquisiciones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Efectuar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las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Adquisiciones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las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Adquisiciones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 marL="49530" indent="-412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5016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Cerrar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las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Adquisiciones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</a:tr>
              <a:tr h="28203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los</a:t>
                      </a:r>
                      <a:r>
                        <a:rPr sz="9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Interesados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1755" marB="0">
                    <a:lnT w="6350">
                      <a:solidFill>
                        <a:srgbClr val="7E7E7E"/>
                      </a:solidFill>
                      <a:prstDash val="solid"/>
                    </a:lnT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Identificar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 los</a:t>
                      </a:r>
                      <a:r>
                        <a:rPr sz="9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Interesados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F79546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7620" marR="167640">
                        <a:lnSpc>
                          <a:spcPct val="100000"/>
                        </a:lnSpc>
                        <a:spcBef>
                          <a:spcPts val="50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9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los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interesados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F79546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13335">
                        <a:lnSpc>
                          <a:spcPct val="100000"/>
                        </a:lnSpc>
                        <a:spcBef>
                          <a:spcPts val="50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Gestionar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participación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 los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interesados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F79546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69850">
                        <a:lnSpc>
                          <a:spcPct val="100000"/>
                        </a:lnSpc>
                        <a:spcBef>
                          <a:spcPts val="50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participación</a:t>
                      </a:r>
                      <a:r>
                        <a:rPr sz="9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 los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interesados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F79546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F7954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1034" y="231470"/>
            <a:ext cx="1743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</a:t>
            </a:r>
            <a:r>
              <a:rPr sz="4400" spc="-45" dirty="0"/>
              <a:t>g</a:t>
            </a:r>
            <a:r>
              <a:rPr sz="4400" dirty="0"/>
              <a:t>enda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891436"/>
            <a:ext cx="3374390" cy="59702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300" b="1" spc="-10" dirty="0">
                <a:latin typeface="Calibri"/>
                <a:cs typeface="Calibri"/>
              </a:rPr>
              <a:t>GRUPO </a:t>
            </a:r>
            <a:r>
              <a:rPr sz="1300" b="1" spc="-5" dirty="0">
                <a:latin typeface="Calibri"/>
                <a:cs typeface="Calibri"/>
              </a:rPr>
              <a:t>DE </a:t>
            </a:r>
            <a:r>
              <a:rPr sz="1300" b="1" spc="-10" dirty="0">
                <a:latin typeface="Calibri"/>
                <a:cs typeface="Calibri"/>
              </a:rPr>
              <a:t>PROCESOS </a:t>
            </a:r>
            <a:r>
              <a:rPr sz="1300" b="1" spc="-5" dirty="0">
                <a:latin typeface="Calibri"/>
                <a:cs typeface="Calibri"/>
              </a:rPr>
              <a:t>DE</a:t>
            </a:r>
            <a:r>
              <a:rPr sz="1300" b="1" spc="6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PLANIFICACION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b="1" spc="-5" dirty="0">
                <a:latin typeface="Calibri"/>
                <a:cs typeface="Calibri"/>
              </a:rPr>
              <a:t>Planificar la </a:t>
            </a:r>
            <a:r>
              <a:rPr sz="1300" b="1" spc="-10" dirty="0">
                <a:latin typeface="Calibri"/>
                <a:cs typeface="Calibri"/>
              </a:rPr>
              <a:t>gestión </a:t>
            </a:r>
            <a:r>
              <a:rPr sz="1300" b="1" spc="-5" dirty="0">
                <a:latin typeface="Calibri"/>
                <a:cs typeface="Calibri"/>
              </a:rPr>
              <a:t>del</a:t>
            </a:r>
            <a:r>
              <a:rPr sz="1300" b="1" spc="50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Cronograma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10" dirty="0">
                <a:latin typeface="Calibri"/>
                <a:cs typeface="Calibri"/>
              </a:rPr>
              <a:t>Definir </a:t>
            </a:r>
            <a:r>
              <a:rPr sz="1300" spc="-5" dirty="0">
                <a:latin typeface="Calibri"/>
                <a:cs typeface="Calibri"/>
              </a:rPr>
              <a:t>las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Secuenciar las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Estimar los </a:t>
            </a:r>
            <a:r>
              <a:rPr sz="1300" spc="-10" dirty="0">
                <a:latin typeface="Calibri"/>
                <a:cs typeface="Calibri"/>
              </a:rPr>
              <a:t>Recursos </a:t>
            </a:r>
            <a:r>
              <a:rPr sz="1300" spc="-5" dirty="0">
                <a:latin typeface="Calibri"/>
                <a:cs typeface="Calibri"/>
              </a:rPr>
              <a:t>de las</a:t>
            </a:r>
            <a:r>
              <a:rPr sz="1300" spc="5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Estimar la </a:t>
            </a:r>
            <a:r>
              <a:rPr sz="1300" spc="-10" dirty="0">
                <a:latin typeface="Calibri"/>
                <a:cs typeface="Calibri"/>
              </a:rPr>
              <a:t>Duración </a:t>
            </a:r>
            <a:r>
              <a:rPr sz="1300" spc="-5" dirty="0">
                <a:latin typeface="Calibri"/>
                <a:cs typeface="Calibri"/>
              </a:rPr>
              <a:t>de las</a:t>
            </a:r>
            <a:r>
              <a:rPr sz="1300" spc="7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10" dirty="0">
                <a:latin typeface="Calibri"/>
                <a:cs typeface="Calibri"/>
              </a:rPr>
              <a:t>Desarrollar </a:t>
            </a:r>
            <a:r>
              <a:rPr sz="1300" spc="-5" dirty="0">
                <a:latin typeface="Calibri"/>
                <a:cs typeface="Calibri"/>
              </a:rPr>
              <a:t>el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Cronograma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4713" y="126619"/>
            <a:ext cx="5354955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6350" marR="5080" indent="-1264285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Planificar </a:t>
            </a:r>
            <a:r>
              <a:rPr sz="4400" dirty="0"/>
              <a:t>la </a:t>
            </a:r>
            <a:r>
              <a:rPr sz="4400" spc="-5" dirty="0"/>
              <a:t>Gestión</a:t>
            </a:r>
            <a:r>
              <a:rPr sz="4400" spc="-45" dirty="0"/>
              <a:t> </a:t>
            </a:r>
            <a:r>
              <a:rPr sz="4400" spc="-5" dirty="0"/>
              <a:t>del  </a:t>
            </a:r>
            <a:r>
              <a:rPr sz="4400" spc="-15" dirty="0"/>
              <a:t>Cronograma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82292"/>
            <a:ext cx="4735195" cy="39516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Calibri"/>
                <a:cs typeface="Calibri"/>
              </a:rPr>
              <a:t>Es el </a:t>
            </a:r>
            <a:r>
              <a:rPr sz="2800" spc="-15" dirty="0">
                <a:latin typeface="Calibri"/>
                <a:cs typeface="Calibri"/>
              </a:rPr>
              <a:t>proceso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establecer </a:t>
            </a:r>
            <a:r>
              <a:rPr sz="2800" spc="-5" dirty="0">
                <a:latin typeface="Calibri"/>
                <a:cs typeface="Calibri"/>
              </a:rPr>
              <a:t>las  </a:t>
            </a:r>
            <a:r>
              <a:rPr sz="2800" spc="-10" dirty="0">
                <a:latin typeface="Calibri"/>
                <a:cs typeface="Calibri"/>
              </a:rPr>
              <a:t>políticas, </a:t>
            </a:r>
            <a:r>
              <a:rPr sz="2800" spc="-15" dirty="0">
                <a:latin typeface="Calibri"/>
                <a:cs typeface="Calibri"/>
              </a:rPr>
              <a:t>procedimientos </a:t>
            </a:r>
            <a:r>
              <a:rPr sz="2800" spc="-5" dirty="0">
                <a:latin typeface="Calibri"/>
                <a:cs typeface="Calibri"/>
              </a:rPr>
              <a:t>y  </a:t>
            </a:r>
            <a:r>
              <a:rPr sz="2800" spc="-10" dirty="0">
                <a:latin typeface="Calibri"/>
                <a:cs typeface="Calibri"/>
              </a:rPr>
              <a:t>documentación </a:t>
            </a:r>
            <a:r>
              <a:rPr sz="2800" spc="-25" dirty="0">
                <a:latin typeface="Calibri"/>
                <a:cs typeface="Calibri"/>
              </a:rPr>
              <a:t>para </a:t>
            </a:r>
            <a:r>
              <a:rPr sz="2800" spc="-35" dirty="0">
                <a:latin typeface="Calibri"/>
                <a:cs typeface="Calibri"/>
              </a:rPr>
              <a:t>planear,  desarrollar, administrar,  ejecutar, </a:t>
            </a:r>
            <a:r>
              <a:rPr sz="2800" spc="-5" dirty="0">
                <a:latin typeface="Calibri"/>
                <a:cs typeface="Calibri"/>
              </a:rPr>
              <a:t>y </a:t>
            </a:r>
            <a:r>
              <a:rPr sz="2800" spc="-20" dirty="0">
                <a:latin typeface="Calibri"/>
                <a:cs typeface="Calibri"/>
              </a:rPr>
              <a:t>controlar </a:t>
            </a:r>
            <a:r>
              <a:rPr sz="2800" spc="-5" dirty="0">
                <a:latin typeface="Calibri"/>
                <a:cs typeface="Calibri"/>
              </a:rPr>
              <a:t>el  </a:t>
            </a:r>
            <a:r>
              <a:rPr sz="2800" spc="-15" dirty="0">
                <a:latin typeface="Calibri"/>
                <a:cs typeface="Calibri"/>
              </a:rPr>
              <a:t>cronograma </a:t>
            </a:r>
            <a:r>
              <a:rPr sz="2800" spc="-5" dirty="0">
                <a:latin typeface="Calibri"/>
                <a:cs typeface="Calibri"/>
              </a:rPr>
              <a:t>del </a:t>
            </a:r>
            <a:r>
              <a:rPr sz="2800" spc="-20" dirty="0">
                <a:latin typeface="Calibri"/>
                <a:cs typeface="Calibri"/>
              </a:rPr>
              <a:t>proyecto.</a:t>
            </a:r>
            <a:endParaRPr sz="2800">
              <a:latin typeface="Calibri"/>
              <a:cs typeface="Calibri"/>
            </a:endParaRPr>
          </a:p>
          <a:p>
            <a:pPr marL="355600" marR="283210" indent="-34353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2800" spc="-15" dirty="0">
                <a:latin typeface="Calibri"/>
                <a:cs typeface="Calibri"/>
              </a:rPr>
              <a:t>Proporciona </a:t>
            </a:r>
            <a:r>
              <a:rPr sz="2800" spc="-5" dirty="0">
                <a:latin typeface="Calibri"/>
                <a:cs typeface="Calibri"/>
              </a:rPr>
              <a:t>guía y </a:t>
            </a:r>
            <a:r>
              <a:rPr sz="2800" spc="-10" dirty="0">
                <a:latin typeface="Calibri"/>
                <a:cs typeface="Calibri"/>
              </a:rPr>
              <a:t>dirección  </a:t>
            </a:r>
            <a:r>
              <a:rPr sz="2800" spc="-15" dirty="0">
                <a:latin typeface="Calibri"/>
                <a:cs typeface="Calibri"/>
              </a:rPr>
              <a:t>sobre </a:t>
            </a:r>
            <a:r>
              <a:rPr sz="2800" spc="-10" dirty="0">
                <a:latin typeface="Calibri"/>
                <a:cs typeface="Calibri"/>
              </a:rPr>
              <a:t>cómo </a:t>
            </a:r>
            <a:r>
              <a:rPr sz="2800" spc="-5" dirty="0">
                <a:latin typeface="Calibri"/>
                <a:cs typeface="Calibri"/>
              </a:rPr>
              <a:t>se </a:t>
            </a:r>
            <a:r>
              <a:rPr sz="2800" spc="-20" dirty="0">
                <a:latin typeface="Calibri"/>
                <a:cs typeface="Calibri"/>
              </a:rPr>
              <a:t>gestionará </a:t>
            </a:r>
            <a:r>
              <a:rPr sz="2800" spc="-5" dirty="0">
                <a:latin typeface="Calibri"/>
                <a:cs typeface="Calibri"/>
              </a:rPr>
              <a:t>el  </a:t>
            </a:r>
            <a:r>
              <a:rPr sz="2800" spc="-15" dirty="0">
                <a:latin typeface="Calibri"/>
                <a:cs typeface="Calibri"/>
              </a:rPr>
              <a:t>cronograma </a:t>
            </a:r>
            <a:r>
              <a:rPr sz="2800" spc="-5" dirty="0">
                <a:latin typeface="Calibri"/>
                <a:cs typeface="Calibri"/>
              </a:rPr>
              <a:t>del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proyecto.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52647" y="2497839"/>
            <a:ext cx="3802372" cy="19400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4713" y="126619"/>
            <a:ext cx="5354955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" marR="5080" indent="-41275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Planificar </a:t>
            </a:r>
            <a:r>
              <a:rPr sz="4400" dirty="0"/>
              <a:t>la </a:t>
            </a:r>
            <a:r>
              <a:rPr sz="4400" spc="-5" dirty="0"/>
              <a:t>Gestión</a:t>
            </a:r>
            <a:r>
              <a:rPr sz="4400" spc="-45" dirty="0"/>
              <a:t> </a:t>
            </a:r>
            <a:r>
              <a:rPr sz="4400" spc="-5" dirty="0"/>
              <a:t>del  </a:t>
            </a:r>
            <a:r>
              <a:rPr sz="4400" spc="-15" dirty="0"/>
              <a:t>Cronograma </a:t>
            </a:r>
            <a:r>
              <a:rPr sz="4400" dirty="0"/>
              <a:t>-</a:t>
            </a:r>
            <a:r>
              <a:rPr sz="4400" spc="-30" dirty="0"/>
              <a:t> </a:t>
            </a:r>
            <a:r>
              <a:rPr sz="4400" b="1" spc="-20" dirty="0">
                <a:latin typeface="Calibri"/>
                <a:cs typeface="Calibri"/>
              </a:rPr>
              <a:t>Entradas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11020"/>
            <a:ext cx="7645400" cy="236664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1. </a:t>
            </a:r>
            <a:r>
              <a:rPr sz="3200" dirty="0">
                <a:latin typeface="Calibri"/>
                <a:cs typeface="Calibri"/>
              </a:rPr>
              <a:t>Plan </a:t>
            </a:r>
            <a:r>
              <a:rPr sz="3200" spc="-5" dirty="0">
                <a:latin typeface="Calibri"/>
                <a:cs typeface="Calibri"/>
              </a:rPr>
              <a:t>de </a:t>
            </a:r>
            <a:r>
              <a:rPr sz="3200" spc="-10" dirty="0">
                <a:latin typeface="Calibri"/>
                <a:cs typeface="Calibri"/>
              </a:rPr>
              <a:t>Gestión </a:t>
            </a:r>
            <a:r>
              <a:rPr sz="3200" spc="-5" dirty="0">
                <a:latin typeface="Calibri"/>
                <a:cs typeface="Calibri"/>
              </a:rPr>
              <a:t>del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Proyecto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2. </a:t>
            </a:r>
            <a:r>
              <a:rPr sz="3200" spc="-15" dirty="0">
                <a:latin typeface="Calibri"/>
                <a:cs typeface="Calibri"/>
              </a:rPr>
              <a:t>Acta </a:t>
            </a:r>
            <a:r>
              <a:rPr sz="3200" spc="-5" dirty="0">
                <a:latin typeface="Calibri"/>
                <a:cs typeface="Calibri"/>
              </a:rPr>
              <a:t>de </a:t>
            </a:r>
            <a:r>
              <a:rPr sz="3200" spc="-10" dirty="0">
                <a:latin typeface="Calibri"/>
                <a:cs typeface="Calibri"/>
              </a:rPr>
              <a:t>Constitución </a:t>
            </a:r>
            <a:r>
              <a:rPr sz="3200" spc="-5" dirty="0">
                <a:latin typeface="Calibri"/>
                <a:cs typeface="Calibri"/>
              </a:rPr>
              <a:t>del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Proyecto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3. </a:t>
            </a:r>
            <a:r>
              <a:rPr sz="3200" spc="-20" dirty="0">
                <a:latin typeface="Calibri"/>
                <a:cs typeface="Calibri"/>
              </a:rPr>
              <a:t>Factores </a:t>
            </a:r>
            <a:r>
              <a:rPr sz="3200" spc="-10" dirty="0">
                <a:latin typeface="Calibri"/>
                <a:cs typeface="Calibri"/>
              </a:rPr>
              <a:t>Ambientales </a:t>
            </a:r>
            <a:r>
              <a:rPr sz="3200" spc="-5" dirty="0">
                <a:latin typeface="Calibri"/>
                <a:cs typeface="Calibri"/>
              </a:rPr>
              <a:t>de la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Empresa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4. </a:t>
            </a:r>
            <a:r>
              <a:rPr sz="3200" spc="-5" dirty="0">
                <a:latin typeface="Calibri"/>
                <a:cs typeface="Calibri"/>
              </a:rPr>
              <a:t>Activos de </a:t>
            </a:r>
            <a:r>
              <a:rPr sz="3200" dirty="0">
                <a:latin typeface="Calibri"/>
                <a:cs typeface="Calibri"/>
              </a:rPr>
              <a:t>los </a:t>
            </a:r>
            <a:r>
              <a:rPr sz="3200" spc="-10" dirty="0">
                <a:latin typeface="Calibri"/>
                <a:cs typeface="Calibri"/>
              </a:rPr>
              <a:t>procesos </a:t>
            </a:r>
            <a:r>
              <a:rPr sz="3200" spc="-5" dirty="0">
                <a:latin typeface="Calibri"/>
                <a:cs typeface="Calibri"/>
              </a:rPr>
              <a:t>de la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organización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Planificar </a:t>
            </a:r>
            <a:r>
              <a:rPr spc="-15" dirty="0"/>
              <a:t>la </a:t>
            </a:r>
            <a:r>
              <a:rPr spc="-10" dirty="0"/>
              <a:t>Gestión </a:t>
            </a:r>
            <a:r>
              <a:rPr spc="-5" dirty="0"/>
              <a:t>del</a:t>
            </a:r>
            <a:r>
              <a:rPr spc="-15" dirty="0"/>
              <a:t> Cronograma–</a:t>
            </a:r>
          </a:p>
          <a:p>
            <a:pPr marL="1270" algn="ctr">
              <a:lnSpc>
                <a:spcPct val="100000"/>
              </a:lnSpc>
            </a:pP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</a:t>
            </a:r>
            <a:r>
              <a:rPr b="1" spc="60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6130"/>
            <a:ext cx="5244465" cy="3653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i="1" spc="-5" dirty="0">
                <a:latin typeface="Calibri"/>
                <a:cs typeface="Calibri"/>
              </a:rPr>
              <a:t>1. Juicio</a:t>
            </a:r>
            <a:r>
              <a:rPr sz="2200" b="1" i="1" spc="-10" dirty="0">
                <a:latin typeface="Calibri"/>
                <a:cs typeface="Calibri"/>
              </a:rPr>
              <a:t> Experto</a:t>
            </a:r>
            <a:endParaRPr sz="2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i="1" spc="-5" dirty="0">
                <a:latin typeface="Calibri"/>
                <a:cs typeface="Calibri"/>
              </a:rPr>
              <a:t>2. </a:t>
            </a:r>
            <a:r>
              <a:rPr sz="2200" b="1" i="1" spc="-30" dirty="0">
                <a:latin typeface="Calibri"/>
                <a:cs typeface="Calibri"/>
              </a:rPr>
              <a:t>Técnicas</a:t>
            </a:r>
            <a:r>
              <a:rPr sz="2200" b="1" i="1" spc="-20" dirty="0">
                <a:latin typeface="Calibri"/>
                <a:cs typeface="Calibri"/>
              </a:rPr>
              <a:t> </a:t>
            </a:r>
            <a:r>
              <a:rPr sz="2200" b="1" i="1" spc="-5" dirty="0">
                <a:latin typeface="Calibri"/>
                <a:cs typeface="Calibri"/>
              </a:rPr>
              <a:t>analíticas</a:t>
            </a:r>
            <a:endParaRPr sz="2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000" i="1" spc="-5" dirty="0">
                <a:latin typeface="Calibri"/>
                <a:cs typeface="Calibri"/>
              </a:rPr>
              <a:t>Metodología </a:t>
            </a:r>
            <a:r>
              <a:rPr sz="2000" i="1" dirty="0">
                <a:latin typeface="Calibri"/>
                <a:cs typeface="Calibri"/>
              </a:rPr>
              <a:t>de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planificación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000" i="1" spc="-10" dirty="0">
                <a:latin typeface="Calibri"/>
                <a:cs typeface="Calibri"/>
              </a:rPr>
              <a:t>Herramientas </a:t>
            </a:r>
            <a:r>
              <a:rPr sz="2000" i="1" dirty="0">
                <a:latin typeface="Calibri"/>
                <a:cs typeface="Calibri"/>
              </a:rPr>
              <a:t>y </a:t>
            </a:r>
            <a:r>
              <a:rPr sz="2000" i="1" spc="-25" dirty="0">
                <a:latin typeface="Calibri"/>
                <a:cs typeface="Calibri"/>
              </a:rPr>
              <a:t>Técnicas </a:t>
            </a:r>
            <a:r>
              <a:rPr sz="2000" i="1" dirty="0">
                <a:latin typeface="Calibri"/>
                <a:cs typeface="Calibri"/>
              </a:rPr>
              <a:t>de </a:t>
            </a:r>
            <a:r>
              <a:rPr sz="2000" i="1" spc="-10" dirty="0">
                <a:latin typeface="Calibri"/>
                <a:cs typeface="Calibri"/>
              </a:rPr>
              <a:t>planificación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000" i="1" spc="-5" dirty="0">
                <a:latin typeface="Calibri"/>
                <a:cs typeface="Calibri"/>
              </a:rPr>
              <a:t>Enfoques </a:t>
            </a:r>
            <a:r>
              <a:rPr sz="2000" i="1" dirty="0">
                <a:latin typeface="Calibri"/>
                <a:cs typeface="Calibri"/>
              </a:rPr>
              <a:t>de</a:t>
            </a:r>
            <a:r>
              <a:rPr sz="2000" i="1" spc="-6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estimación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000" i="1" spc="-10" dirty="0">
                <a:latin typeface="Calibri"/>
                <a:cs typeface="Calibri"/>
              </a:rPr>
              <a:t>Formatos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000" i="1" spc="-5" dirty="0">
                <a:latin typeface="Calibri"/>
                <a:cs typeface="Calibri"/>
              </a:rPr>
              <a:t>Software </a:t>
            </a:r>
            <a:r>
              <a:rPr sz="2000" i="1" dirty="0">
                <a:latin typeface="Calibri"/>
                <a:cs typeface="Calibri"/>
              </a:rPr>
              <a:t>de </a:t>
            </a:r>
            <a:r>
              <a:rPr sz="2000" i="1" spc="-5" dirty="0">
                <a:latin typeface="Calibri"/>
                <a:cs typeface="Calibri"/>
              </a:rPr>
              <a:t>gestión </a:t>
            </a:r>
            <a:r>
              <a:rPr sz="2000" i="1" dirty="0">
                <a:latin typeface="Calibri"/>
                <a:cs typeface="Calibri"/>
              </a:rPr>
              <a:t>de</a:t>
            </a:r>
            <a:r>
              <a:rPr sz="2000" i="1" spc="-10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proyectos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000" i="1" spc="-5" dirty="0">
                <a:latin typeface="Calibri"/>
                <a:cs typeface="Calibri"/>
              </a:rPr>
              <a:t>Crashing </a:t>
            </a:r>
            <a:r>
              <a:rPr sz="2000" i="1" dirty="0">
                <a:latin typeface="Calibri"/>
                <a:cs typeface="Calibri"/>
              </a:rPr>
              <a:t>y </a:t>
            </a:r>
            <a:r>
              <a:rPr sz="2000" i="1" spc="-15" dirty="0">
                <a:latin typeface="Calibri"/>
                <a:cs typeface="Calibri"/>
              </a:rPr>
              <a:t>Fast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spc="-15" dirty="0">
                <a:latin typeface="Calibri"/>
                <a:cs typeface="Calibri"/>
              </a:rPr>
              <a:t>Tracking</a:t>
            </a:r>
            <a:endParaRPr sz="200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ts val="1920"/>
              </a:lnSpc>
              <a:spcBef>
                <a:spcPts val="465"/>
              </a:spcBef>
              <a:buFont typeface="Arial"/>
              <a:buChar char="•"/>
              <a:tabLst>
                <a:tab pos="756920" algn="l"/>
              </a:tabLst>
            </a:pPr>
            <a:r>
              <a:rPr sz="2000" i="1" spc="-5" dirty="0">
                <a:latin typeface="Calibri"/>
                <a:cs typeface="Calibri"/>
              </a:rPr>
              <a:t>Planicicación gradual, </a:t>
            </a:r>
            <a:r>
              <a:rPr sz="2000" i="1" spc="-10" dirty="0">
                <a:latin typeface="Calibri"/>
                <a:cs typeface="Calibri"/>
              </a:rPr>
              <a:t>Adelantos </a:t>
            </a:r>
            <a:r>
              <a:rPr sz="2000" i="1" dirty="0">
                <a:latin typeface="Calibri"/>
                <a:cs typeface="Calibri"/>
              </a:rPr>
              <a:t>y </a:t>
            </a:r>
            <a:r>
              <a:rPr sz="2000" i="1" spc="-10" dirty="0">
                <a:latin typeface="Calibri"/>
                <a:cs typeface="Calibri"/>
              </a:rPr>
              <a:t>esperas,  </a:t>
            </a:r>
            <a:r>
              <a:rPr sz="2000" i="1" spc="-5" dirty="0">
                <a:latin typeface="Calibri"/>
                <a:cs typeface="Calibri"/>
              </a:rPr>
              <a:t>análisis </a:t>
            </a:r>
            <a:r>
              <a:rPr sz="2000" i="1" spc="-10" dirty="0">
                <a:latin typeface="Calibri"/>
                <a:cs typeface="Calibri"/>
              </a:rPr>
              <a:t>de </a:t>
            </a:r>
            <a:r>
              <a:rPr sz="2000" i="1" spc="-5" dirty="0">
                <a:latin typeface="Calibri"/>
                <a:cs typeface="Calibri"/>
              </a:rPr>
              <a:t>alternativas, métodos </a:t>
            </a:r>
            <a:r>
              <a:rPr sz="2000" i="1" dirty="0">
                <a:latin typeface="Calibri"/>
                <a:cs typeface="Calibri"/>
              </a:rPr>
              <a:t>de  </a:t>
            </a:r>
            <a:r>
              <a:rPr sz="2000" i="1" spc="-5" dirty="0">
                <a:latin typeface="Calibri"/>
                <a:cs typeface="Calibri"/>
              </a:rPr>
              <a:t>revisión </a:t>
            </a:r>
            <a:r>
              <a:rPr sz="2000" i="1" dirty="0">
                <a:latin typeface="Calibri"/>
                <a:cs typeface="Calibri"/>
              </a:rPr>
              <a:t>del </a:t>
            </a:r>
            <a:r>
              <a:rPr sz="2000" i="1" spc="-5" dirty="0">
                <a:latin typeface="Calibri"/>
                <a:cs typeface="Calibri"/>
              </a:rPr>
              <a:t>desempeño </a:t>
            </a:r>
            <a:r>
              <a:rPr sz="2000" i="1" dirty="0">
                <a:latin typeface="Calibri"/>
                <a:cs typeface="Calibri"/>
              </a:rPr>
              <a:t>del</a:t>
            </a:r>
            <a:r>
              <a:rPr sz="2000" i="1" spc="-9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cronograma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i="1" spc="-5" dirty="0">
                <a:latin typeface="Calibri"/>
                <a:cs typeface="Calibri"/>
              </a:rPr>
              <a:t>3.</a:t>
            </a:r>
            <a:r>
              <a:rPr sz="2200" b="1" i="1" spc="-10" dirty="0">
                <a:latin typeface="Calibri"/>
                <a:cs typeface="Calibri"/>
              </a:rPr>
              <a:t> Reuniones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12179" y="2276855"/>
            <a:ext cx="2570987" cy="25153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4713" y="126619"/>
            <a:ext cx="5354955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470" marR="5080" indent="-192405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Planificar </a:t>
            </a:r>
            <a:r>
              <a:rPr sz="4400" dirty="0"/>
              <a:t>la </a:t>
            </a:r>
            <a:r>
              <a:rPr sz="4400" spc="-5" dirty="0"/>
              <a:t>Gestión</a:t>
            </a:r>
            <a:r>
              <a:rPr sz="4400" spc="-45" dirty="0"/>
              <a:t> </a:t>
            </a:r>
            <a:r>
              <a:rPr sz="4400" spc="-5" dirty="0"/>
              <a:t>del  </a:t>
            </a:r>
            <a:r>
              <a:rPr sz="4400" spc="-15" dirty="0"/>
              <a:t>Cronograma </a:t>
            </a:r>
            <a:r>
              <a:rPr sz="4400" dirty="0"/>
              <a:t>–</a:t>
            </a:r>
            <a:r>
              <a:rPr sz="4400" spc="-25" dirty="0"/>
              <a:t> </a:t>
            </a:r>
            <a:r>
              <a:rPr sz="4400" b="1" spc="-5" dirty="0">
                <a:latin typeface="Calibri"/>
                <a:cs typeface="Calibri"/>
              </a:rPr>
              <a:t>Salidas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500" b="1" i="1" spc="-10" dirty="0">
                <a:latin typeface="Calibri"/>
                <a:cs typeface="Calibri"/>
              </a:rPr>
              <a:t>1. Plan </a:t>
            </a:r>
            <a:r>
              <a:rPr sz="2500" b="1" i="1" spc="-5" dirty="0">
                <a:latin typeface="Calibri"/>
                <a:cs typeface="Calibri"/>
              </a:rPr>
              <a:t>de </a:t>
            </a:r>
            <a:r>
              <a:rPr sz="2500" b="1" i="1" spc="-10" dirty="0">
                <a:latin typeface="Calibri"/>
                <a:cs typeface="Calibri"/>
              </a:rPr>
              <a:t>Gestión </a:t>
            </a:r>
            <a:r>
              <a:rPr sz="2500" b="1" i="1" spc="-5" dirty="0">
                <a:latin typeface="Calibri"/>
                <a:cs typeface="Calibri"/>
              </a:rPr>
              <a:t>del</a:t>
            </a:r>
            <a:r>
              <a:rPr sz="2500" b="1" i="1" dirty="0">
                <a:latin typeface="Calibri"/>
                <a:cs typeface="Calibri"/>
              </a:rPr>
              <a:t> </a:t>
            </a:r>
            <a:r>
              <a:rPr sz="2500" b="1" i="1" spc="-5" dirty="0">
                <a:latin typeface="Calibri"/>
                <a:cs typeface="Calibri"/>
              </a:rPr>
              <a:t>Cronograma</a:t>
            </a:r>
            <a:endParaRPr sz="2500">
              <a:latin typeface="Calibri"/>
              <a:cs typeface="Calibri"/>
            </a:endParaRPr>
          </a:p>
          <a:p>
            <a:pPr marL="756285" marR="5715" lvl="1" indent="-287020">
              <a:lnSpc>
                <a:spcPts val="2110"/>
              </a:lnSpc>
              <a:spcBef>
                <a:spcPts val="525"/>
              </a:spcBef>
              <a:buFont typeface="Arial"/>
              <a:buChar char="•"/>
              <a:tabLst>
                <a:tab pos="756285" algn="l"/>
                <a:tab pos="756920" algn="l"/>
                <a:tab pos="2435860" algn="l"/>
                <a:tab pos="3298825" algn="l"/>
                <a:tab pos="4667250" algn="l"/>
              </a:tabLst>
            </a:pPr>
            <a:r>
              <a:rPr sz="2200" i="1" spc="-10" dirty="0">
                <a:latin typeface="Calibri"/>
                <a:cs typeface="Calibri"/>
              </a:rPr>
              <a:t>Desar</a:t>
            </a:r>
            <a:r>
              <a:rPr sz="2200" i="1" spc="-15" dirty="0">
                <a:latin typeface="Calibri"/>
                <a:cs typeface="Calibri"/>
              </a:rPr>
              <a:t>r</a:t>
            </a:r>
            <a:r>
              <a:rPr sz="2200" i="1" spc="-10" dirty="0">
                <a:latin typeface="Calibri"/>
                <a:cs typeface="Calibri"/>
              </a:rPr>
              <a:t>ol</a:t>
            </a:r>
            <a:r>
              <a:rPr sz="2200" i="1" spc="-20" dirty="0">
                <a:latin typeface="Calibri"/>
                <a:cs typeface="Calibri"/>
              </a:rPr>
              <a:t>l</a:t>
            </a:r>
            <a:r>
              <a:rPr sz="2200" i="1" spc="-5" dirty="0">
                <a:latin typeface="Calibri"/>
                <a:cs typeface="Calibri"/>
              </a:rPr>
              <a:t>o</a:t>
            </a:r>
            <a:r>
              <a:rPr sz="2200" i="1" dirty="0">
                <a:latin typeface="Calibri"/>
                <a:cs typeface="Calibri"/>
              </a:rPr>
              <a:t>	</a:t>
            </a:r>
            <a:r>
              <a:rPr sz="2200" i="1" spc="-10" dirty="0">
                <a:latin typeface="Calibri"/>
                <a:cs typeface="Calibri"/>
              </a:rPr>
              <a:t>de</a:t>
            </a:r>
            <a:r>
              <a:rPr sz="2200" i="1" spc="-5" dirty="0">
                <a:latin typeface="Calibri"/>
                <a:cs typeface="Calibri"/>
              </a:rPr>
              <a:t>l</a:t>
            </a:r>
            <a:r>
              <a:rPr sz="2200" i="1" dirty="0">
                <a:latin typeface="Calibri"/>
                <a:cs typeface="Calibri"/>
              </a:rPr>
              <a:t>	</a:t>
            </a:r>
            <a:r>
              <a:rPr sz="2200" i="1" spc="-5" dirty="0">
                <a:latin typeface="Calibri"/>
                <a:cs typeface="Calibri"/>
              </a:rPr>
              <a:t>modelo</a:t>
            </a:r>
            <a:r>
              <a:rPr sz="2200" i="1" dirty="0">
                <a:latin typeface="Calibri"/>
                <a:cs typeface="Calibri"/>
              </a:rPr>
              <a:t>	</a:t>
            </a:r>
            <a:r>
              <a:rPr sz="2200" i="1" spc="-10" dirty="0">
                <a:latin typeface="Calibri"/>
                <a:cs typeface="Calibri"/>
              </a:rPr>
              <a:t>de  programación </a:t>
            </a:r>
            <a:r>
              <a:rPr sz="2200" i="1" spc="-5" dirty="0">
                <a:latin typeface="Calibri"/>
                <a:cs typeface="Calibri"/>
              </a:rPr>
              <a:t>del</a:t>
            </a:r>
            <a:r>
              <a:rPr sz="2200" i="1" spc="-35" dirty="0">
                <a:latin typeface="Calibri"/>
                <a:cs typeface="Calibri"/>
              </a:rPr>
              <a:t> </a:t>
            </a:r>
            <a:r>
              <a:rPr sz="2200" i="1" spc="-15" dirty="0">
                <a:latin typeface="Calibri"/>
                <a:cs typeface="Calibri"/>
              </a:rPr>
              <a:t>proyecto</a:t>
            </a:r>
            <a:endParaRPr sz="2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200" i="1" spc="-5" dirty="0">
                <a:latin typeface="Calibri"/>
                <a:cs typeface="Calibri"/>
              </a:rPr>
              <a:t>Nivel de</a:t>
            </a:r>
            <a:r>
              <a:rPr sz="2200" i="1" spc="-20" dirty="0">
                <a:latin typeface="Calibri"/>
                <a:cs typeface="Calibri"/>
              </a:rPr>
              <a:t> exactitud</a:t>
            </a:r>
            <a:endParaRPr sz="2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200" i="1" spc="-10" dirty="0">
                <a:latin typeface="Calibri"/>
                <a:cs typeface="Calibri"/>
              </a:rPr>
              <a:t>Unidades </a:t>
            </a:r>
            <a:r>
              <a:rPr sz="2200" i="1" spc="-5" dirty="0">
                <a:latin typeface="Calibri"/>
                <a:cs typeface="Calibri"/>
              </a:rPr>
              <a:t>de</a:t>
            </a:r>
            <a:r>
              <a:rPr sz="2200" i="1" dirty="0">
                <a:latin typeface="Calibri"/>
                <a:cs typeface="Calibri"/>
              </a:rPr>
              <a:t> </a:t>
            </a:r>
            <a:r>
              <a:rPr sz="2200" i="1" spc="-5" dirty="0">
                <a:latin typeface="Calibri"/>
                <a:cs typeface="Calibri"/>
              </a:rPr>
              <a:t>medida</a:t>
            </a:r>
            <a:endParaRPr sz="2200">
              <a:latin typeface="Calibri"/>
              <a:cs typeface="Calibri"/>
            </a:endParaRPr>
          </a:p>
          <a:p>
            <a:pPr marL="756285" marR="5080" lvl="1" indent="-287020">
              <a:lnSpc>
                <a:spcPts val="2110"/>
              </a:lnSpc>
              <a:spcBef>
                <a:spcPts val="509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200" i="1" spc="-15" dirty="0">
                <a:latin typeface="Calibri"/>
                <a:cs typeface="Calibri"/>
              </a:rPr>
              <a:t>Enlaces con </a:t>
            </a:r>
            <a:r>
              <a:rPr sz="2200" i="1" spc="-5" dirty="0">
                <a:latin typeface="Calibri"/>
                <a:cs typeface="Calibri"/>
              </a:rPr>
              <a:t>los </a:t>
            </a:r>
            <a:r>
              <a:rPr sz="2200" i="1" spc="-15" dirty="0">
                <a:latin typeface="Calibri"/>
                <a:cs typeface="Calibri"/>
              </a:rPr>
              <a:t>procedimientos </a:t>
            </a:r>
            <a:r>
              <a:rPr sz="2200" i="1" dirty="0">
                <a:latin typeface="Calibri"/>
                <a:cs typeface="Calibri"/>
              </a:rPr>
              <a:t>de </a:t>
            </a:r>
            <a:r>
              <a:rPr sz="2200" i="1" spc="-5" dirty="0">
                <a:latin typeface="Calibri"/>
                <a:cs typeface="Calibri"/>
              </a:rPr>
              <a:t>la  </a:t>
            </a:r>
            <a:r>
              <a:rPr sz="2200" i="1" spc="-10" dirty="0">
                <a:latin typeface="Calibri"/>
                <a:cs typeface="Calibri"/>
              </a:rPr>
              <a:t>organización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444" y="3805504"/>
            <a:ext cx="26396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  <a:tab pos="299720" algn="l"/>
                <a:tab pos="2286635" algn="l"/>
              </a:tabLst>
            </a:pPr>
            <a:r>
              <a:rPr sz="2200" i="1" spc="-15" dirty="0">
                <a:latin typeface="Calibri"/>
                <a:cs typeface="Calibri"/>
              </a:rPr>
              <a:t>M</a:t>
            </a:r>
            <a:r>
              <a:rPr sz="2200" i="1" spc="-10" dirty="0">
                <a:latin typeface="Calibri"/>
                <a:cs typeface="Calibri"/>
              </a:rPr>
              <a:t>a</a:t>
            </a:r>
            <a:r>
              <a:rPr sz="2200" i="1" spc="-35" dirty="0">
                <a:latin typeface="Calibri"/>
                <a:cs typeface="Calibri"/>
              </a:rPr>
              <a:t>nt</a:t>
            </a:r>
            <a:r>
              <a:rPr sz="2200" i="1" spc="-15" dirty="0">
                <a:latin typeface="Calibri"/>
                <a:cs typeface="Calibri"/>
              </a:rPr>
              <a:t>e</a:t>
            </a:r>
            <a:r>
              <a:rPr sz="2200" i="1" spc="-10" dirty="0">
                <a:latin typeface="Calibri"/>
                <a:cs typeface="Calibri"/>
              </a:rPr>
              <a:t>nimi</a:t>
            </a:r>
            <a:r>
              <a:rPr sz="2200" i="1" spc="-20" dirty="0">
                <a:latin typeface="Calibri"/>
                <a:cs typeface="Calibri"/>
              </a:rPr>
              <a:t>e</a:t>
            </a:r>
            <a:r>
              <a:rPr sz="2200" i="1" spc="-35" dirty="0">
                <a:latin typeface="Calibri"/>
                <a:cs typeface="Calibri"/>
              </a:rPr>
              <a:t>nt</a:t>
            </a:r>
            <a:r>
              <a:rPr sz="2200" i="1" spc="-5" dirty="0">
                <a:latin typeface="Calibri"/>
                <a:cs typeface="Calibri"/>
              </a:rPr>
              <a:t>o</a:t>
            </a:r>
            <a:r>
              <a:rPr sz="2200" i="1" dirty="0">
                <a:latin typeface="Calibri"/>
                <a:cs typeface="Calibri"/>
              </a:rPr>
              <a:t>	</a:t>
            </a:r>
            <a:r>
              <a:rPr sz="2200" i="1" spc="-10" dirty="0">
                <a:latin typeface="Calibri"/>
                <a:cs typeface="Calibri"/>
              </a:rPr>
              <a:t>d</a:t>
            </a:r>
            <a:r>
              <a:rPr sz="2200" i="1" spc="-15" dirty="0">
                <a:latin typeface="Calibri"/>
                <a:cs typeface="Calibri"/>
              </a:rPr>
              <a:t>e</a:t>
            </a:r>
            <a:r>
              <a:rPr sz="2200" i="1" spc="-5" dirty="0">
                <a:latin typeface="Calibri"/>
                <a:cs typeface="Calibri"/>
              </a:rPr>
              <a:t>l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98163" y="3805504"/>
            <a:ext cx="13963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06805" algn="l"/>
              </a:tabLst>
            </a:pPr>
            <a:r>
              <a:rPr sz="2200" i="1" spc="5" dirty="0">
                <a:latin typeface="Calibri"/>
                <a:cs typeface="Calibri"/>
              </a:rPr>
              <a:t>m</a:t>
            </a:r>
            <a:r>
              <a:rPr sz="2200" i="1" spc="-10" dirty="0">
                <a:latin typeface="Calibri"/>
                <a:cs typeface="Calibri"/>
              </a:rPr>
              <a:t>od</a:t>
            </a:r>
            <a:r>
              <a:rPr sz="2200" i="1" spc="-15" dirty="0">
                <a:latin typeface="Calibri"/>
                <a:cs typeface="Calibri"/>
              </a:rPr>
              <a:t>e</a:t>
            </a:r>
            <a:r>
              <a:rPr sz="2200" i="1" spc="-5" dirty="0">
                <a:latin typeface="Calibri"/>
                <a:cs typeface="Calibri"/>
              </a:rPr>
              <a:t>lo</a:t>
            </a:r>
            <a:r>
              <a:rPr sz="2200" i="1" dirty="0">
                <a:latin typeface="Calibri"/>
                <a:cs typeface="Calibri"/>
              </a:rPr>
              <a:t>	</a:t>
            </a:r>
            <a:r>
              <a:rPr sz="2200" i="1" spc="-10" dirty="0">
                <a:latin typeface="Calibri"/>
                <a:cs typeface="Calibri"/>
              </a:rPr>
              <a:t>de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444" y="4074414"/>
            <a:ext cx="4501515" cy="1969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95"/>
              </a:spcBef>
            </a:pPr>
            <a:r>
              <a:rPr sz="2200" i="1" spc="-10" dirty="0">
                <a:latin typeface="Calibri"/>
                <a:cs typeface="Calibri"/>
              </a:rPr>
              <a:t>programación </a:t>
            </a:r>
            <a:r>
              <a:rPr sz="2200" i="1" spc="-5" dirty="0">
                <a:latin typeface="Calibri"/>
                <a:cs typeface="Calibri"/>
              </a:rPr>
              <a:t>del</a:t>
            </a:r>
            <a:r>
              <a:rPr sz="2200" i="1" spc="-35" dirty="0">
                <a:latin typeface="Calibri"/>
                <a:cs typeface="Calibri"/>
              </a:rPr>
              <a:t> </a:t>
            </a:r>
            <a:r>
              <a:rPr sz="2200" i="1" spc="-15" dirty="0">
                <a:latin typeface="Calibri"/>
                <a:cs typeface="Calibri"/>
              </a:rPr>
              <a:t>proyecto</a:t>
            </a:r>
            <a:endParaRPr sz="22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200" i="1" spc="-5" dirty="0">
                <a:latin typeface="Calibri"/>
                <a:cs typeface="Calibri"/>
              </a:rPr>
              <a:t>Umbrales de</a:t>
            </a:r>
            <a:r>
              <a:rPr sz="2200" i="1" spc="-10" dirty="0">
                <a:latin typeface="Calibri"/>
                <a:cs typeface="Calibri"/>
              </a:rPr>
              <a:t> </a:t>
            </a:r>
            <a:r>
              <a:rPr sz="2200" i="1" spc="-15" dirty="0">
                <a:latin typeface="Calibri"/>
                <a:cs typeface="Calibri"/>
              </a:rPr>
              <a:t>control</a:t>
            </a:r>
            <a:endParaRPr sz="2200">
              <a:latin typeface="Calibri"/>
              <a:cs typeface="Calibri"/>
            </a:endParaRPr>
          </a:p>
          <a:p>
            <a:pPr marL="299085" indent="-287020">
              <a:lnSpc>
                <a:spcPts val="2375"/>
              </a:lnSpc>
              <a:buFont typeface="Arial"/>
              <a:buChar char="•"/>
              <a:tabLst>
                <a:tab pos="299085" algn="l"/>
                <a:tab pos="299720" algn="l"/>
                <a:tab pos="1373505" algn="l"/>
                <a:tab pos="2236470" algn="l"/>
                <a:tab pos="2780030" algn="l"/>
                <a:tab pos="4147820" algn="l"/>
              </a:tabLst>
            </a:pPr>
            <a:r>
              <a:rPr sz="2200" i="1" spc="-45" dirty="0">
                <a:latin typeface="Calibri"/>
                <a:cs typeface="Calibri"/>
              </a:rPr>
              <a:t>R</a:t>
            </a:r>
            <a:r>
              <a:rPr sz="2200" i="1" spc="-5" dirty="0">
                <a:latin typeface="Calibri"/>
                <a:cs typeface="Calibri"/>
              </a:rPr>
              <a:t>eg</a:t>
            </a:r>
            <a:r>
              <a:rPr sz="2200" i="1" spc="-15" dirty="0">
                <a:latin typeface="Calibri"/>
                <a:cs typeface="Calibri"/>
              </a:rPr>
              <a:t>l</a:t>
            </a:r>
            <a:r>
              <a:rPr sz="2200" i="1" spc="-10" dirty="0">
                <a:latin typeface="Calibri"/>
                <a:cs typeface="Calibri"/>
              </a:rPr>
              <a:t>a</a:t>
            </a:r>
            <a:r>
              <a:rPr sz="2200" i="1" spc="-5" dirty="0">
                <a:latin typeface="Calibri"/>
                <a:cs typeface="Calibri"/>
              </a:rPr>
              <a:t>s</a:t>
            </a:r>
            <a:r>
              <a:rPr sz="2200" i="1" dirty="0">
                <a:latin typeface="Calibri"/>
                <a:cs typeface="Calibri"/>
              </a:rPr>
              <a:t>	</a:t>
            </a:r>
            <a:r>
              <a:rPr sz="2200" i="1" spc="-10" dirty="0">
                <a:latin typeface="Calibri"/>
                <a:cs typeface="Calibri"/>
              </a:rPr>
              <a:t>par</a:t>
            </a:r>
            <a:r>
              <a:rPr sz="2200" i="1" spc="-5" dirty="0">
                <a:latin typeface="Calibri"/>
                <a:cs typeface="Calibri"/>
              </a:rPr>
              <a:t>a</a:t>
            </a:r>
            <a:r>
              <a:rPr sz="2200" i="1" dirty="0">
                <a:latin typeface="Calibri"/>
                <a:cs typeface="Calibri"/>
              </a:rPr>
              <a:t>	</a:t>
            </a:r>
            <a:r>
              <a:rPr sz="2200" i="1" spc="-5" dirty="0">
                <a:latin typeface="Calibri"/>
                <a:cs typeface="Calibri"/>
              </a:rPr>
              <a:t>la</a:t>
            </a:r>
            <a:r>
              <a:rPr sz="2200" i="1" dirty="0">
                <a:latin typeface="Calibri"/>
                <a:cs typeface="Calibri"/>
              </a:rPr>
              <a:t>	</a:t>
            </a:r>
            <a:r>
              <a:rPr sz="2200" i="1" spc="5" dirty="0">
                <a:latin typeface="Calibri"/>
                <a:cs typeface="Calibri"/>
              </a:rPr>
              <a:t>m</a:t>
            </a:r>
            <a:r>
              <a:rPr sz="2200" i="1" spc="-5" dirty="0">
                <a:latin typeface="Calibri"/>
                <a:cs typeface="Calibri"/>
              </a:rPr>
              <a:t>edición</a:t>
            </a:r>
            <a:r>
              <a:rPr sz="2200" i="1" dirty="0">
                <a:latin typeface="Calibri"/>
                <a:cs typeface="Calibri"/>
              </a:rPr>
              <a:t>	</a:t>
            </a:r>
            <a:r>
              <a:rPr sz="2200" i="1" spc="-10" dirty="0">
                <a:latin typeface="Calibri"/>
                <a:cs typeface="Calibri"/>
              </a:rPr>
              <a:t>del</a:t>
            </a:r>
            <a:endParaRPr sz="2200">
              <a:latin typeface="Calibri"/>
              <a:cs typeface="Calibri"/>
            </a:endParaRPr>
          </a:p>
          <a:p>
            <a:pPr marL="299085">
              <a:lnSpc>
                <a:spcPts val="2375"/>
              </a:lnSpc>
            </a:pPr>
            <a:r>
              <a:rPr sz="2200" i="1" spc="-10" dirty="0">
                <a:latin typeface="Calibri"/>
                <a:cs typeface="Calibri"/>
              </a:rPr>
              <a:t>desempeño</a:t>
            </a:r>
            <a:endParaRPr sz="22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200" i="1" spc="-15" dirty="0">
                <a:latin typeface="Calibri"/>
                <a:cs typeface="Calibri"/>
              </a:rPr>
              <a:t>Formatos </a:t>
            </a:r>
            <a:r>
              <a:rPr sz="2200" i="1" spc="-5" dirty="0">
                <a:latin typeface="Calibri"/>
                <a:cs typeface="Calibri"/>
              </a:rPr>
              <a:t>de los</a:t>
            </a:r>
            <a:r>
              <a:rPr sz="2200" i="1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informes</a:t>
            </a:r>
            <a:endParaRPr sz="22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200" i="1" spc="-10" dirty="0">
                <a:latin typeface="Calibri"/>
                <a:cs typeface="Calibri"/>
              </a:rPr>
              <a:t>Descripciones </a:t>
            </a:r>
            <a:r>
              <a:rPr sz="2200" i="1" spc="-5" dirty="0">
                <a:latin typeface="Calibri"/>
                <a:cs typeface="Calibri"/>
              </a:rPr>
              <a:t>de los</a:t>
            </a:r>
            <a:r>
              <a:rPr sz="2200" i="1" spc="-15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procesos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40552" y="2348055"/>
            <a:ext cx="2857500" cy="21519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1034" y="231470"/>
            <a:ext cx="1743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</a:t>
            </a:r>
            <a:r>
              <a:rPr sz="4400" spc="-45" dirty="0"/>
              <a:t>g</a:t>
            </a:r>
            <a:r>
              <a:rPr sz="4400" dirty="0"/>
              <a:t>enda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891436"/>
            <a:ext cx="3374390" cy="59702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300" b="1" spc="-10" dirty="0">
                <a:latin typeface="Calibri"/>
                <a:cs typeface="Calibri"/>
              </a:rPr>
              <a:t>GRUPO </a:t>
            </a:r>
            <a:r>
              <a:rPr sz="1300" b="1" spc="-5" dirty="0">
                <a:latin typeface="Calibri"/>
                <a:cs typeface="Calibri"/>
              </a:rPr>
              <a:t>DE </a:t>
            </a:r>
            <a:r>
              <a:rPr sz="1300" b="1" spc="-10" dirty="0">
                <a:latin typeface="Calibri"/>
                <a:cs typeface="Calibri"/>
              </a:rPr>
              <a:t>PROCESOS </a:t>
            </a:r>
            <a:r>
              <a:rPr sz="1300" b="1" spc="-5" dirty="0">
                <a:latin typeface="Calibri"/>
                <a:cs typeface="Calibri"/>
              </a:rPr>
              <a:t>DE</a:t>
            </a:r>
            <a:r>
              <a:rPr sz="1300" b="1" spc="6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PLANIFICACION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Planificar la gestión del</a:t>
            </a:r>
            <a:r>
              <a:rPr sz="1300" spc="5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Cronograma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b="1" spc="-10" dirty="0">
                <a:latin typeface="Calibri"/>
                <a:cs typeface="Calibri"/>
              </a:rPr>
              <a:t>Definir </a:t>
            </a:r>
            <a:r>
              <a:rPr sz="1300" b="1" spc="-5" dirty="0">
                <a:latin typeface="Calibri"/>
                <a:cs typeface="Calibri"/>
              </a:rPr>
              <a:t>las</a:t>
            </a:r>
            <a:r>
              <a:rPr sz="1300" b="1" spc="30" dirty="0">
                <a:latin typeface="Calibri"/>
                <a:cs typeface="Calibri"/>
              </a:rPr>
              <a:t> </a:t>
            </a:r>
            <a:r>
              <a:rPr sz="1300" b="1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Secuenciar las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Estimar los </a:t>
            </a:r>
            <a:r>
              <a:rPr sz="1300" spc="-10" dirty="0">
                <a:latin typeface="Calibri"/>
                <a:cs typeface="Calibri"/>
              </a:rPr>
              <a:t>Recursos </a:t>
            </a:r>
            <a:r>
              <a:rPr sz="1300" spc="-5" dirty="0">
                <a:latin typeface="Calibri"/>
                <a:cs typeface="Calibri"/>
              </a:rPr>
              <a:t>de las</a:t>
            </a:r>
            <a:r>
              <a:rPr sz="1300" spc="5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Estimar la </a:t>
            </a:r>
            <a:r>
              <a:rPr sz="1300" spc="-10" dirty="0">
                <a:latin typeface="Calibri"/>
                <a:cs typeface="Calibri"/>
              </a:rPr>
              <a:t>Duración </a:t>
            </a:r>
            <a:r>
              <a:rPr sz="1300" spc="-5" dirty="0">
                <a:latin typeface="Calibri"/>
                <a:cs typeface="Calibri"/>
              </a:rPr>
              <a:t>de las</a:t>
            </a:r>
            <a:r>
              <a:rPr sz="1300" spc="7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10" dirty="0">
                <a:latin typeface="Calibri"/>
                <a:cs typeface="Calibri"/>
              </a:rPr>
              <a:t>Desarrollar </a:t>
            </a:r>
            <a:r>
              <a:rPr sz="1300" spc="-5" dirty="0">
                <a:latin typeface="Calibri"/>
                <a:cs typeface="Calibri"/>
              </a:rPr>
              <a:t>el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Cronograma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1685" y="461899"/>
            <a:ext cx="50387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Definir </a:t>
            </a:r>
            <a:r>
              <a:rPr sz="4400" dirty="0"/>
              <a:t>las</a:t>
            </a:r>
            <a:r>
              <a:rPr sz="4400" spc="-60" dirty="0"/>
              <a:t> </a:t>
            </a:r>
            <a:r>
              <a:rPr sz="4400" dirty="0"/>
              <a:t>Actividades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82292"/>
            <a:ext cx="1263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  <a:tab pos="1000125" algn="l"/>
              </a:tabLst>
            </a:pPr>
            <a:r>
              <a:rPr sz="2800" spc="-5" dirty="0">
                <a:latin typeface="Calibri"/>
                <a:cs typeface="Calibri"/>
              </a:rPr>
              <a:t>Es	</a:t>
            </a:r>
            <a:r>
              <a:rPr sz="2800" spc="-15" dirty="0">
                <a:latin typeface="Calibri"/>
                <a:cs typeface="Calibri"/>
              </a:rPr>
              <a:t>la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144" y="2008708"/>
            <a:ext cx="36353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65655" algn="l"/>
              </a:tabLst>
            </a:pPr>
            <a:r>
              <a:rPr sz="2800" spc="-5" dirty="0">
                <a:latin typeface="Calibri"/>
                <a:cs typeface="Calibri"/>
              </a:rPr>
              <a:t>ac</a:t>
            </a:r>
            <a:r>
              <a:rPr sz="2800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es</a:t>
            </a:r>
            <a:r>
              <a:rPr sz="2800" spc="-15" dirty="0">
                <a:latin typeface="Calibri"/>
                <a:cs typeface="Calibri"/>
              </a:rPr>
              <a:t>p</a:t>
            </a:r>
            <a:r>
              <a:rPr sz="2800" spc="-5" dirty="0">
                <a:latin typeface="Calibri"/>
                <a:cs typeface="Calibri"/>
              </a:rPr>
              <a:t>ecif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25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as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07438" y="1582292"/>
            <a:ext cx="338582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  <a:tabLst>
                <a:tab pos="2273935" algn="l"/>
                <a:tab pos="2969260" algn="l"/>
              </a:tabLst>
            </a:pPr>
            <a:r>
              <a:rPr sz="2800" spc="-5" dirty="0">
                <a:latin typeface="Calibri"/>
                <a:cs typeface="Calibri"/>
              </a:rPr>
              <a:t>ide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ti</a:t>
            </a:r>
            <a:r>
              <a:rPr sz="2800" spc="-15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spc="-30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ión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las</a:t>
            </a:r>
            <a:endParaRPr sz="2800">
              <a:latin typeface="Calibri"/>
              <a:cs typeface="Calibri"/>
            </a:endParaRPr>
          </a:p>
          <a:p>
            <a:pPr marL="2962275" marR="6350" indent="238760" algn="r">
              <a:lnSpc>
                <a:spcPct val="100000"/>
              </a:lnSpc>
            </a:pPr>
            <a:r>
              <a:rPr sz="2800" spc="-5" dirty="0">
                <a:latin typeface="Calibri"/>
                <a:cs typeface="Calibri"/>
              </a:rPr>
              <a:t>a  los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144" y="2436113"/>
            <a:ext cx="3951604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821814" algn="l"/>
                <a:tab pos="2717800" algn="l"/>
              </a:tabLst>
            </a:pPr>
            <a:r>
              <a:rPr sz="2800" spc="-10" dirty="0">
                <a:latin typeface="Calibri"/>
                <a:cs typeface="Calibri"/>
              </a:rPr>
              <a:t>desar</a:t>
            </a:r>
            <a:r>
              <a:rPr sz="2800" spc="-65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olla</a:t>
            </a:r>
            <a:r>
              <a:rPr sz="2800" spc="-5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pa</a:t>
            </a:r>
            <a:r>
              <a:rPr sz="2800" spc="-7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</a:t>
            </a:r>
            <a:r>
              <a:rPr sz="2800" spc="-55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d</a:t>
            </a:r>
            <a:r>
              <a:rPr sz="2800" spc="-10" dirty="0">
                <a:latin typeface="Calibri"/>
                <a:cs typeface="Calibri"/>
              </a:rPr>
              <a:t>ucir  </a:t>
            </a:r>
            <a:r>
              <a:rPr sz="2800" spc="-15" dirty="0">
                <a:latin typeface="Calibri"/>
                <a:cs typeface="Calibri"/>
              </a:rPr>
              <a:t>entregables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3374593"/>
            <a:ext cx="4682490" cy="267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06375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  <a:tab pos="2190750" algn="l"/>
              </a:tabLst>
            </a:pPr>
            <a:r>
              <a:rPr sz="2800" spc="-5" dirty="0">
                <a:latin typeface="Calibri"/>
                <a:cs typeface="Calibri"/>
              </a:rPr>
              <a:t>Se </a:t>
            </a:r>
            <a:r>
              <a:rPr sz="2800" spc="-10" dirty="0">
                <a:latin typeface="Calibri"/>
                <a:cs typeface="Calibri"/>
              </a:rPr>
              <a:t>toman </a:t>
            </a:r>
            <a:r>
              <a:rPr sz="2800" spc="-5" dirty="0">
                <a:latin typeface="Calibri"/>
                <a:cs typeface="Calibri"/>
              </a:rPr>
              <a:t>los </a:t>
            </a:r>
            <a:r>
              <a:rPr sz="2800" spc="-15" dirty="0">
                <a:latin typeface="Calibri"/>
                <a:cs typeface="Calibri"/>
              </a:rPr>
              <a:t>paquetes </a:t>
            </a:r>
            <a:r>
              <a:rPr sz="2800" spc="-10" dirty="0">
                <a:latin typeface="Calibri"/>
                <a:cs typeface="Calibri"/>
              </a:rPr>
              <a:t>de  </a:t>
            </a:r>
            <a:r>
              <a:rPr sz="2800" spc="-15" dirty="0">
                <a:latin typeface="Calibri"/>
                <a:cs typeface="Calibri"/>
              </a:rPr>
              <a:t>trabajo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y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se	</a:t>
            </a:r>
            <a:r>
              <a:rPr sz="2800" spc="-15" dirty="0">
                <a:latin typeface="Calibri"/>
                <a:cs typeface="Calibri"/>
              </a:rPr>
              <a:t>desagregan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aun  más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(Actividades).</a:t>
            </a:r>
            <a:endParaRPr sz="280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Dependiendo </a:t>
            </a:r>
            <a:r>
              <a:rPr sz="2800" spc="-5" dirty="0">
                <a:latin typeface="Calibri"/>
                <a:cs typeface="Calibri"/>
              </a:rPr>
              <a:t>del </a:t>
            </a:r>
            <a:r>
              <a:rPr sz="2800" spc="-25" dirty="0">
                <a:latin typeface="Calibri"/>
                <a:cs typeface="Calibri"/>
              </a:rPr>
              <a:t>proyecto, </a:t>
            </a:r>
            <a:r>
              <a:rPr sz="2800" spc="-10" dirty="0">
                <a:latin typeface="Calibri"/>
                <a:cs typeface="Calibri"/>
              </a:rPr>
              <a:t>se  puede hacer </a:t>
            </a:r>
            <a:r>
              <a:rPr sz="2800" dirty="0">
                <a:latin typeface="Calibri"/>
                <a:cs typeface="Calibri"/>
              </a:rPr>
              <a:t>al </a:t>
            </a:r>
            <a:r>
              <a:rPr sz="2800" spc="-10" dirty="0">
                <a:latin typeface="Calibri"/>
                <a:cs typeface="Calibri"/>
              </a:rPr>
              <a:t>mismo tiempo  que </a:t>
            </a:r>
            <a:r>
              <a:rPr sz="2800" spc="-5" dirty="0">
                <a:latin typeface="Calibri"/>
                <a:cs typeface="Calibri"/>
              </a:rPr>
              <a:t>la </a:t>
            </a:r>
            <a:r>
              <a:rPr sz="2800" spc="-10" dirty="0">
                <a:latin typeface="Calibri"/>
                <a:cs typeface="Calibri"/>
              </a:rPr>
              <a:t>Definición </a:t>
            </a:r>
            <a:r>
              <a:rPr sz="2800" spc="-5" dirty="0">
                <a:latin typeface="Calibri"/>
                <a:cs typeface="Calibri"/>
              </a:rPr>
              <a:t>del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Alcance.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44184" y="2429255"/>
            <a:ext cx="2770482" cy="2543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7938" y="461899"/>
            <a:ext cx="74898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Definir </a:t>
            </a:r>
            <a:r>
              <a:rPr sz="4400" dirty="0"/>
              <a:t>las Actividades -</a:t>
            </a:r>
            <a:r>
              <a:rPr sz="4400" spc="-5" dirty="0"/>
              <a:t> </a:t>
            </a:r>
            <a:r>
              <a:rPr sz="4400" b="1" spc="-20" dirty="0">
                <a:latin typeface="Calibri"/>
                <a:cs typeface="Calibri"/>
              </a:rPr>
              <a:t>Entradas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11020"/>
            <a:ext cx="7624445" cy="390334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1. Plan </a:t>
            </a:r>
            <a:r>
              <a:rPr sz="3200" b="1" i="1" dirty="0">
                <a:latin typeface="Calibri"/>
                <a:cs typeface="Calibri"/>
              </a:rPr>
              <a:t>de </a:t>
            </a:r>
            <a:r>
              <a:rPr sz="3200" b="1" i="1" spc="-5" dirty="0">
                <a:latin typeface="Calibri"/>
                <a:cs typeface="Calibri"/>
              </a:rPr>
              <a:t>Gestión </a:t>
            </a:r>
            <a:r>
              <a:rPr sz="3200" b="1" i="1" dirty="0">
                <a:latin typeface="Calibri"/>
                <a:cs typeface="Calibri"/>
              </a:rPr>
              <a:t>del</a:t>
            </a:r>
            <a:r>
              <a:rPr sz="3200" b="1" i="1" spc="-4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Cronograma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2. </a:t>
            </a:r>
            <a:r>
              <a:rPr sz="3200" b="1" i="1" dirty="0">
                <a:latin typeface="Calibri"/>
                <a:cs typeface="Calibri"/>
              </a:rPr>
              <a:t>Línea Base del</a:t>
            </a:r>
            <a:r>
              <a:rPr sz="3200" b="1" i="1" spc="-25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Alcance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Enunciado </a:t>
            </a:r>
            <a:r>
              <a:rPr sz="2800" spc="-5" dirty="0">
                <a:latin typeface="Calibri"/>
                <a:cs typeface="Calibri"/>
              </a:rPr>
              <a:t>del </a:t>
            </a:r>
            <a:r>
              <a:rPr sz="2800" spc="-10" dirty="0">
                <a:latin typeface="Calibri"/>
                <a:cs typeface="Calibri"/>
              </a:rPr>
              <a:t>Alcance </a:t>
            </a:r>
            <a:r>
              <a:rPr sz="2800" spc="-5" dirty="0">
                <a:latin typeface="Calibri"/>
                <a:cs typeface="Calibri"/>
              </a:rPr>
              <a:t>del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Trabajo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EDT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Diccionario </a:t>
            </a:r>
            <a:r>
              <a:rPr sz="2800" spc="-10" dirty="0">
                <a:latin typeface="Calibri"/>
                <a:cs typeface="Calibri"/>
              </a:rPr>
              <a:t>de la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EDT</a:t>
            </a:r>
            <a:endParaRPr sz="28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3. </a:t>
            </a:r>
            <a:r>
              <a:rPr sz="3200" b="1" i="1" spc="-10" dirty="0">
                <a:latin typeface="Calibri"/>
                <a:cs typeface="Calibri"/>
              </a:rPr>
              <a:t>Factores </a:t>
            </a:r>
            <a:r>
              <a:rPr sz="3200" b="1" i="1" spc="-5" dirty="0">
                <a:latin typeface="Calibri"/>
                <a:cs typeface="Calibri"/>
              </a:rPr>
              <a:t>Ambientales </a:t>
            </a:r>
            <a:r>
              <a:rPr sz="3200" b="1" i="1" dirty="0">
                <a:latin typeface="Calibri"/>
                <a:cs typeface="Calibri"/>
              </a:rPr>
              <a:t>de la</a:t>
            </a:r>
            <a:r>
              <a:rPr sz="3200" b="1" i="1" spc="-45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Empresa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4. </a:t>
            </a:r>
            <a:r>
              <a:rPr sz="3200" b="1" i="1" dirty="0">
                <a:latin typeface="Calibri"/>
                <a:cs typeface="Calibri"/>
              </a:rPr>
              <a:t>Activos de los </a:t>
            </a:r>
            <a:r>
              <a:rPr sz="3200" b="1" i="1" spc="-5" dirty="0">
                <a:latin typeface="Calibri"/>
                <a:cs typeface="Calibri"/>
              </a:rPr>
              <a:t>Procesos</a:t>
            </a:r>
            <a:r>
              <a:rPr sz="3200" b="1" i="1" spc="-100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Organizacionales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64130" marR="5080" indent="-212979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Definir </a:t>
            </a:r>
            <a:r>
              <a:rPr spc="-5" dirty="0"/>
              <a:t>las Actividades – </a:t>
            </a: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  </a:t>
            </a:r>
            <a:r>
              <a:rPr b="1" spc="-15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5462"/>
            <a:ext cx="5244465" cy="29165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marR="5080" indent="-343535" algn="just">
              <a:lnSpc>
                <a:spcPct val="80000"/>
              </a:lnSpc>
              <a:spcBef>
                <a:spcPts val="695"/>
              </a:spcBef>
              <a:buFont typeface="Arial"/>
              <a:buChar char="•"/>
              <a:tabLst>
                <a:tab pos="356235" algn="l"/>
              </a:tabLst>
            </a:pPr>
            <a:r>
              <a:rPr sz="2500" b="1" i="1" spc="-10" dirty="0">
                <a:latin typeface="Calibri"/>
                <a:cs typeface="Calibri"/>
              </a:rPr>
              <a:t>1. Descomposición: </a:t>
            </a:r>
            <a:r>
              <a:rPr sz="2500" spc="-5" dirty="0">
                <a:latin typeface="Calibri"/>
                <a:cs typeface="Calibri"/>
              </a:rPr>
              <a:t>Basado </a:t>
            </a:r>
            <a:r>
              <a:rPr sz="2500" dirty="0">
                <a:latin typeface="Calibri"/>
                <a:cs typeface="Calibri"/>
              </a:rPr>
              <a:t>en </a:t>
            </a:r>
            <a:r>
              <a:rPr sz="2500" spc="-5" dirty="0">
                <a:latin typeface="Calibri"/>
                <a:cs typeface="Calibri"/>
              </a:rPr>
              <a:t>la  misma </a:t>
            </a:r>
            <a:r>
              <a:rPr sz="2500" spc="-10" dirty="0">
                <a:latin typeface="Calibri"/>
                <a:cs typeface="Calibri"/>
              </a:rPr>
              <a:t>dinámica que </a:t>
            </a:r>
            <a:r>
              <a:rPr sz="2500" spc="-5" dirty="0">
                <a:latin typeface="Calibri"/>
                <a:cs typeface="Calibri"/>
              </a:rPr>
              <a:t>la  </a:t>
            </a:r>
            <a:r>
              <a:rPr sz="2500" spc="-10" dirty="0">
                <a:latin typeface="Calibri"/>
                <a:cs typeface="Calibri"/>
              </a:rPr>
              <a:t>descomposición </a:t>
            </a:r>
            <a:r>
              <a:rPr sz="2500" spc="-5" dirty="0">
                <a:latin typeface="Calibri"/>
                <a:cs typeface="Calibri"/>
              </a:rPr>
              <a:t>de la </a:t>
            </a:r>
            <a:r>
              <a:rPr sz="2500" spc="-75" dirty="0">
                <a:latin typeface="Calibri"/>
                <a:cs typeface="Calibri"/>
              </a:rPr>
              <a:t>EDT, </a:t>
            </a:r>
            <a:r>
              <a:rPr sz="2500" spc="-15" dirty="0">
                <a:latin typeface="Calibri"/>
                <a:cs typeface="Calibri"/>
              </a:rPr>
              <a:t>pero  focalizado</a:t>
            </a:r>
            <a:r>
              <a:rPr sz="2500" spc="53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ahora </a:t>
            </a:r>
            <a:r>
              <a:rPr sz="2500" spc="-5" dirty="0">
                <a:latin typeface="Calibri"/>
                <a:cs typeface="Calibri"/>
              </a:rPr>
              <a:t>en Actividades en  </a:t>
            </a:r>
            <a:r>
              <a:rPr sz="2500" spc="-20" dirty="0">
                <a:latin typeface="Calibri"/>
                <a:cs typeface="Calibri"/>
              </a:rPr>
              <a:t>vez </a:t>
            </a:r>
            <a:r>
              <a:rPr sz="2500" spc="-5" dirty="0">
                <a:latin typeface="Calibri"/>
                <a:cs typeface="Calibri"/>
              </a:rPr>
              <a:t>de </a:t>
            </a:r>
            <a:r>
              <a:rPr sz="2500" spc="-15" dirty="0">
                <a:latin typeface="Calibri"/>
                <a:cs typeface="Calibri"/>
              </a:rPr>
              <a:t>Paquetes </a:t>
            </a:r>
            <a:r>
              <a:rPr sz="2500" spc="-5" dirty="0">
                <a:latin typeface="Calibri"/>
                <a:cs typeface="Calibri"/>
              </a:rPr>
              <a:t>de</a:t>
            </a:r>
            <a:r>
              <a:rPr sz="2500" spc="35" dirty="0">
                <a:latin typeface="Calibri"/>
                <a:cs typeface="Calibri"/>
              </a:rPr>
              <a:t> </a:t>
            </a:r>
            <a:r>
              <a:rPr sz="2500" spc="-30" dirty="0">
                <a:latin typeface="Calibri"/>
                <a:cs typeface="Calibri"/>
              </a:rPr>
              <a:t>Trabajo.</a:t>
            </a:r>
            <a:endParaRPr sz="2500">
              <a:latin typeface="Calibri"/>
              <a:cs typeface="Calibri"/>
            </a:endParaRPr>
          </a:p>
          <a:p>
            <a:pPr marL="355600" marR="6350" indent="-343535" algn="just">
              <a:lnSpc>
                <a:spcPct val="80000"/>
              </a:lnSpc>
              <a:spcBef>
                <a:spcPts val="600"/>
              </a:spcBef>
              <a:buFont typeface="Arial"/>
              <a:buChar char="•"/>
              <a:tabLst>
                <a:tab pos="356235" algn="l"/>
              </a:tabLst>
            </a:pPr>
            <a:r>
              <a:rPr sz="2500" b="1" i="1" spc="-10" dirty="0">
                <a:latin typeface="Calibri"/>
                <a:cs typeface="Calibri"/>
              </a:rPr>
              <a:t>2. </a:t>
            </a:r>
            <a:r>
              <a:rPr sz="2500" b="1" i="1" spc="-15" dirty="0">
                <a:latin typeface="Calibri"/>
                <a:cs typeface="Calibri"/>
              </a:rPr>
              <a:t>Rolling</a:t>
            </a:r>
            <a:r>
              <a:rPr sz="2500" b="1" i="1" spc="535" dirty="0">
                <a:latin typeface="Calibri"/>
                <a:cs typeface="Calibri"/>
              </a:rPr>
              <a:t> </a:t>
            </a:r>
            <a:r>
              <a:rPr sz="2500" b="1" i="1" spc="-25" dirty="0">
                <a:latin typeface="Calibri"/>
                <a:cs typeface="Calibri"/>
              </a:rPr>
              <a:t>Wave </a:t>
            </a:r>
            <a:r>
              <a:rPr sz="2500" b="1" i="1" spc="-5" dirty="0">
                <a:latin typeface="Calibri"/>
                <a:cs typeface="Calibri"/>
              </a:rPr>
              <a:t>Planning: </a:t>
            </a:r>
            <a:r>
              <a:rPr sz="2500" spc="-5" dirty="0">
                <a:latin typeface="Calibri"/>
                <a:cs typeface="Calibri"/>
              </a:rPr>
              <a:t>o  </a:t>
            </a:r>
            <a:r>
              <a:rPr sz="2500" spc="-10" dirty="0">
                <a:latin typeface="Calibri"/>
                <a:cs typeface="Calibri"/>
              </a:rPr>
              <a:t>Elaboración</a:t>
            </a:r>
            <a:r>
              <a:rPr sz="2500" spc="-15" dirty="0">
                <a:latin typeface="Calibri"/>
                <a:cs typeface="Calibri"/>
              </a:rPr>
              <a:t> Progresiva</a:t>
            </a:r>
            <a:endParaRPr sz="2500">
              <a:latin typeface="Calibri"/>
              <a:cs typeface="Calibri"/>
            </a:endParaRPr>
          </a:p>
          <a:p>
            <a:pPr marL="469900" algn="just">
              <a:lnSpc>
                <a:spcPts val="2380"/>
              </a:lnSpc>
              <a:spcBef>
                <a:spcPts val="10"/>
              </a:spcBef>
            </a:pPr>
            <a:r>
              <a:rPr sz="2200" spc="-5" dirty="0">
                <a:latin typeface="Arial"/>
                <a:cs typeface="Arial"/>
              </a:rPr>
              <a:t>– </a:t>
            </a:r>
            <a:r>
              <a:rPr sz="2200" spc="-5" dirty="0">
                <a:latin typeface="Calibri"/>
                <a:cs typeface="Calibri"/>
              </a:rPr>
              <a:t>Se </a:t>
            </a:r>
            <a:r>
              <a:rPr sz="2200" spc="-10" dirty="0">
                <a:latin typeface="Calibri"/>
                <a:cs typeface="Calibri"/>
              </a:rPr>
              <a:t>detalla </a:t>
            </a:r>
            <a:r>
              <a:rPr sz="2200" spc="-5" dirty="0">
                <a:latin typeface="Calibri"/>
                <a:cs typeface="Calibri"/>
              </a:rPr>
              <a:t>lo que </a:t>
            </a:r>
            <a:r>
              <a:rPr sz="2200" spc="-15" dirty="0">
                <a:latin typeface="Calibri"/>
                <a:cs typeface="Calibri"/>
              </a:rPr>
              <a:t>está </a:t>
            </a:r>
            <a:r>
              <a:rPr sz="2200" spc="-5" dirty="0">
                <a:latin typeface="Calibri"/>
                <a:cs typeface="Calibri"/>
              </a:rPr>
              <a:t>más </a:t>
            </a:r>
            <a:r>
              <a:rPr sz="2200" spc="-15" dirty="0">
                <a:latin typeface="Calibri"/>
                <a:cs typeface="Calibri"/>
              </a:rPr>
              <a:t>cerca</a:t>
            </a:r>
            <a:r>
              <a:rPr sz="2200" spc="36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y</a:t>
            </a:r>
            <a:endParaRPr sz="2200">
              <a:latin typeface="Calibri"/>
              <a:cs typeface="Calibri"/>
            </a:endParaRPr>
          </a:p>
          <a:p>
            <a:pPr marL="756285" algn="just">
              <a:lnSpc>
                <a:spcPts val="2380"/>
              </a:lnSpc>
            </a:pPr>
            <a:r>
              <a:rPr sz="2200" spc="-10" dirty="0">
                <a:latin typeface="Calibri"/>
                <a:cs typeface="Calibri"/>
              </a:rPr>
              <a:t>queda </a:t>
            </a:r>
            <a:r>
              <a:rPr sz="2200" spc="-15" dirty="0">
                <a:latin typeface="Calibri"/>
                <a:cs typeface="Calibri"/>
              </a:rPr>
              <a:t>general </a:t>
            </a:r>
            <a:r>
              <a:rPr sz="2200" spc="-5" dirty="0">
                <a:latin typeface="Calibri"/>
                <a:cs typeface="Calibri"/>
              </a:rPr>
              <a:t>lo </a:t>
            </a:r>
            <a:r>
              <a:rPr sz="2200" spc="-10" dirty="0">
                <a:latin typeface="Calibri"/>
                <a:cs typeface="Calibri"/>
              </a:rPr>
              <a:t>que </a:t>
            </a:r>
            <a:r>
              <a:rPr sz="2200" spc="-15" dirty="0">
                <a:latin typeface="Calibri"/>
                <a:cs typeface="Calibri"/>
              </a:rPr>
              <a:t>está </a:t>
            </a:r>
            <a:r>
              <a:rPr sz="2200" spc="-5" dirty="0">
                <a:latin typeface="Calibri"/>
                <a:cs typeface="Calibri"/>
              </a:rPr>
              <a:t>más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lejos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435602"/>
            <a:ext cx="61341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500" b="1" i="1" spc="-15" dirty="0">
                <a:latin typeface="Calibri"/>
                <a:cs typeface="Calibri"/>
              </a:rPr>
              <a:t>3</a:t>
            </a:r>
            <a:r>
              <a:rPr sz="2500" b="1" i="1" spc="-5" dirty="0"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4958" y="4435602"/>
            <a:ext cx="44627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8369" algn="l"/>
                <a:tab pos="2214880" algn="l"/>
                <a:tab pos="2759075" algn="l"/>
                <a:tab pos="3964940" algn="l"/>
              </a:tabLst>
            </a:pPr>
            <a:r>
              <a:rPr sz="2500" b="1" i="1" spc="-10" dirty="0">
                <a:latin typeface="Calibri"/>
                <a:cs typeface="Calibri"/>
              </a:rPr>
              <a:t>Ju</a:t>
            </a:r>
            <a:r>
              <a:rPr sz="2500" b="1" i="1" spc="-15" dirty="0">
                <a:latin typeface="Calibri"/>
                <a:cs typeface="Calibri"/>
              </a:rPr>
              <a:t>i</a:t>
            </a:r>
            <a:r>
              <a:rPr sz="2500" b="1" i="1" spc="-5" dirty="0">
                <a:latin typeface="Calibri"/>
                <a:cs typeface="Calibri"/>
              </a:rPr>
              <a:t>cio</a:t>
            </a:r>
            <a:r>
              <a:rPr sz="2500" b="1" i="1" dirty="0">
                <a:latin typeface="Calibri"/>
                <a:cs typeface="Calibri"/>
              </a:rPr>
              <a:t>	</a:t>
            </a:r>
            <a:r>
              <a:rPr sz="2500" b="1" i="1" spc="-5" dirty="0">
                <a:latin typeface="Calibri"/>
                <a:cs typeface="Calibri"/>
              </a:rPr>
              <a:t>Exper</a:t>
            </a:r>
            <a:r>
              <a:rPr sz="2500" b="1" i="1" spc="-35" dirty="0">
                <a:latin typeface="Calibri"/>
                <a:cs typeface="Calibri"/>
              </a:rPr>
              <a:t>t</a:t>
            </a:r>
            <a:r>
              <a:rPr sz="2500" b="1" i="1" spc="-5" dirty="0">
                <a:latin typeface="Calibri"/>
                <a:cs typeface="Calibri"/>
              </a:rPr>
              <a:t>o:</a:t>
            </a:r>
            <a:r>
              <a:rPr sz="2500" b="1" i="1" dirty="0">
                <a:latin typeface="Calibri"/>
                <a:cs typeface="Calibri"/>
              </a:rPr>
              <a:t>	</a:t>
            </a:r>
            <a:r>
              <a:rPr sz="2500" spc="-5" dirty="0">
                <a:latin typeface="Calibri"/>
                <a:cs typeface="Calibri"/>
              </a:rPr>
              <a:t>De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quie</a:t>
            </a:r>
            <a:r>
              <a:rPr sz="2500" dirty="0">
                <a:latin typeface="Calibri"/>
                <a:cs typeface="Calibri"/>
              </a:rPr>
              <a:t>n</a:t>
            </a:r>
            <a:r>
              <a:rPr sz="2500" spc="-5" dirty="0">
                <a:latin typeface="Calibri"/>
                <a:cs typeface="Calibri"/>
              </a:rPr>
              <a:t>es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han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144" y="4740402"/>
            <a:ext cx="4900295" cy="10160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algn="just">
              <a:lnSpc>
                <a:spcPts val="2400"/>
              </a:lnSpc>
              <a:spcBef>
                <a:spcPts val="675"/>
              </a:spcBef>
            </a:pPr>
            <a:r>
              <a:rPr sz="2500" spc="-10" dirty="0">
                <a:latin typeface="Calibri"/>
                <a:cs typeface="Calibri"/>
              </a:rPr>
              <a:t>hecho </a:t>
            </a:r>
            <a:r>
              <a:rPr sz="2500" dirty="0">
                <a:latin typeface="Calibri"/>
                <a:cs typeface="Calibri"/>
              </a:rPr>
              <a:t>un </a:t>
            </a:r>
            <a:r>
              <a:rPr sz="2500" spc="-10" dirty="0">
                <a:latin typeface="Calibri"/>
                <a:cs typeface="Calibri"/>
              </a:rPr>
              <a:t>trabajo similar </a:t>
            </a:r>
            <a:r>
              <a:rPr sz="2500" spc="-5" dirty="0">
                <a:latin typeface="Calibri"/>
                <a:cs typeface="Calibri"/>
              </a:rPr>
              <a:t>quienes  pueden aportar </a:t>
            </a:r>
            <a:r>
              <a:rPr sz="2500" spc="-15" dirty="0">
                <a:latin typeface="Calibri"/>
                <a:cs typeface="Calibri"/>
              </a:rPr>
              <a:t>sobre</a:t>
            </a:r>
            <a:r>
              <a:rPr sz="2500" spc="53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duraciones </a:t>
            </a:r>
            <a:r>
              <a:rPr sz="2500" spc="-5" dirty="0">
                <a:latin typeface="Calibri"/>
                <a:cs typeface="Calibri"/>
              </a:rPr>
              <a:t>y  estimaciones de los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proyectos.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29884" y="1848611"/>
            <a:ext cx="2929127" cy="3866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86628" y="1857755"/>
            <a:ext cx="3154679" cy="3744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0338" y="461899"/>
            <a:ext cx="71850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Definir </a:t>
            </a:r>
            <a:r>
              <a:rPr sz="4400" dirty="0"/>
              <a:t>las Actividades –</a:t>
            </a:r>
            <a:r>
              <a:rPr sz="4400" spc="-25" dirty="0"/>
              <a:t> </a:t>
            </a:r>
            <a:r>
              <a:rPr sz="4400" b="1" spc="-5" dirty="0">
                <a:latin typeface="Calibri"/>
                <a:cs typeface="Calibri"/>
              </a:rPr>
              <a:t>Salidas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5600" marR="5715" indent="-343535" algn="just">
              <a:lnSpc>
                <a:spcPts val="2110"/>
              </a:lnSpc>
              <a:spcBef>
                <a:spcPts val="605"/>
              </a:spcBef>
              <a:buFont typeface="Arial"/>
              <a:buChar char="•"/>
              <a:tabLst>
                <a:tab pos="356235" algn="l"/>
              </a:tabLst>
            </a:pPr>
            <a:r>
              <a:rPr b="1" i="1" spc="-5" dirty="0">
                <a:latin typeface="Calibri"/>
                <a:cs typeface="Calibri"/>
              </a:rPr>
              <a:t>1. </a:t>
            </a:r>
            <a:r>
              <a:rPr b="1" i="1" spc="-15" dirty="0">
                <a:latin typeface="Calibri"/>
                <a:cs typeface="Calibri"/>
              </a:rPr>
              <a:t>Lista </a:t>
            </a:r>
            <a:r>
              <a:rPr b="1" i="1" spc="-5" dirty="0">
                <a:latin typeface="Calibri"/>
                <a:cs typeface="Calibri"/>
              </a:rPr>
              <a:t>de Actividades: </a:t>
            </a:r>
            <a:r>
              <a:rPr spc="-45" dirty="0"/>
              <a:t>Todas </a:t>
            </a:r>
            <a:r>
              <a:rPr spc="-5" dirty="0"/>
              <a:t>las  </a:t>
            </a:r>
            <a:r>
              <a:rPr spc="-10" dirty="0"/>
              <a:t>actividades que </a:t>
            </a:r>
            <a:r>
              <a:rPr spc="5" dirty="0"/>
              <a:t>se </a:t>
            </a:r>
            <a:r>
              <a:rPr spc="-10" dirty="0"/>
              <a:t>necesita realizar </a:t>
            </a:r>
            <a:r>
              <a:rPr spc="-20" dirty="0"/>
              <a:t>para  </a:t>
            </a:r>
            <a:r>
              <a:rPr spc="-10" dirty="0"/>
              <a:t>ejecutar </a:t>
            </a:r>
            <a:r>
              <a:rPr spc="-5" dirty="0"/>
              <a:t>el</a:t>
            </a:r>
            <a:r>
              <a:rPr spc="15" dirty="0"/>
              <a:t> </a:t>
            </a:r>
            <a:r>
              <a:rPr spc="-15" dirty="0"/>
              <a:t>proyecto.</a:t>
            </a:r>
          </a:p>
          <a:p>
            <a:pPr marL="756285" lvl="1" indent="-287020" algn="just">
              <a:lnSpc>
                <a:spcPts val="2160"/>
              </a:lnSpc>
              <a:spcBef>
                <a:spcPts val="30"/>
              </a:spcBef>
              <a:buFont typeface="Arial"/>
              <a:buChar char="–"/>
              <a:tabLst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Se </a:t>
            </a:r>
            <a:r>
              <a:rPr sz="2000" spc="-15" dirty="0">
                <a:latin typeface="Calibri"/>
                <a:cs typeface="Calibri"/>
              </a:rPr>
              <a:t>organizan </a:t>
            </a:r>
            <a:r>
              <a:rPr sz="2000" spc="-10" dirty="0">
                <a:latin typeface="Calibri"/>
                <a:cs typeface="Calibri"/>
              </a:rPr>
              <a:t>como </a:t>
            </a:r>
            <a:r>
              <a:rPr sz="2000" dirty="0">
                <a:latin typeface="Calibri"/>
                <a:cs typeface="Calibri"/>
              </a:rPr>
              <a:t>una </a:t>
            </a:r>
            <a:r>
              <a:rPr sz="2000" spc="-10" dirty="0">
                <a:latin typeface="Calibri"/>
                <a:cs typeface="Calibri"/>
              </a:rPr>
              <a:t>extensión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la</a:t>
            </a:r>
            <a:endParaRPr sz="2000">
              <a:latin typeface="Calibri"/>
              <a:cs typeface="Calibri"/>
            </a:endParaRPr>
          </a:p>
          <a:p>
            <a:pPr marL="756285">
              <a:lnSpc>
                <a:spcPts val="2160"/>
              </a:lnSpc>
            </a:pPr>
            <a:r>
              <a:rPr sz="2000" spc="-5" dirty="0"/>
              <a:t>EDT</a:t>
            </a:r>
            <a:endParaRPr sz="2000"/>
          </a:p>
          <a:p>
            <a:pPr marL="756285" marR="5080" lvl="1" indent="-287020" algn="just">
              <a:lnSpc>
                <a:spcPts val="1920"/>
              </a:lnSpc>
              <a:spcBef>
                <a:spcPts val="465"/>
              </a:spcBef>
              <a:buFont typeface="Arial"/>
              <a:buChar char="–"/>
              <a:tabLst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Incluye </a:t>
            </a:r>
            <a:r>
              <a:rPr sz="2000" dirty="0">
                <a:latin typeface="Calibri"/>
                <a:cs typeface="Calibri"/>
              </a:rPr>
              <a:t>una descripción </a:t>
            </a:r>
            <a:r>
              <a:rPr sz="2000" spc="-10" dirty="0">
                <a:latin typeface="Calibri"/>
                <a:cs typeface="Calibri"/>
              </a:rPr>
              <a:t>detallada </a:t>
            </a:r>
            <a:r>
              <a:rPr sz="2000" spc="-15" dirty="0">
                <a:latin typeface="Calibri"/>
                <a:cs typeface="Calibri"/>
              </a:rPr>
              <a:t>para  </a:t>
            </a:r>
            <a:r>
              <a:rPr sz="2000" dirty="0">
                <a:latin typeface="Calibri"/>
                <a:cs typeface="Calibri"/>
              </a:rPr>
              <a:t>que los </a:t>
            </a:r>
            <a:r>
              <a:rPr sz="2000" spc="-5" dirty="0">
                <a:latin typeface="Calibri"/>
                <a:cs typeface="Calibri"/>
              </a:rPr>
              <a:t>Miembros del Equipo </a:t>
            </a:r>
            <a:r>
              <a:rPr sz="2000" dirty="0">
                <a:latin typeface="Calibri"/>
                <a:cs typeface="Calibri"/>
              </a:rPr>
              <a:t>de  </a:t>
            </a:r>
            <a:r>
              <a:rPr sz="2000" spc="-15" dirty="0">
                <a:latin typeface="Calibri"/>
                <a:cs typeface="Calibri"/>
              </a:rPr>
              <a:t>Proyecto </a:t>
            </a:r>
            <a:r>
              <a:rPr sz="2000" spc="-5" dirty="0">
                <a:latin typeface="Calibri"/>
                <a:cs typeface="Calibri"/>
              </a:rPr>
              <a:t>sepan lo </a:t>
            </a:r>
            <a:r>
              <a:rPr sz="2000" dirty="0">
                <a:latin typeface="Calibri"/>
                <a:cs typeface="Calibri"/>
              </a:rPr>
              <a:t>que </a:t>
            </a:r>
            <a:r>
              <a:rPr sz="2000" spc="-15" dirty="0">
                <a:latin typeface="Calibri"/>
                <a:cs typeface="Calibri"/>
              </a:rPr>
              <a:t>hay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hacer.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768928"/>
            <a:ext cx="5854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i="1" spc="-5" dirty="0">
                <a:latin typeface="Calibri"/>
                <a:cs typeface="Calibri"/>
              </a:rPr>
              <a:t>2.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6669" y="3768928"/>
            <a:ext cx="41960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83335" algn="l"/>
                <a:tab pos="1769745" algn="l"/>
                <a:tab pos="2297430" algn="l"/>
                <a:tab pos="3912870" algn="l"/>
              </a:tabLst>
            </a:pPr>
            <a:r>
              <a:rPr sz="2200" b="1" i="1" spc="-80" dirty="0">
                <a:latin typeface="Calibri"/>
                <a:cs typeface="Calibri"/>
              </a:rPr>
              <a:t>A</a:t>
            </a:r>
            <a:r>
              <a:rPr sz="2200" b="1" i="1" spc="-5" dirty="0">
                <a:latin typeface="Calibri"/>
                <a:cs typeface="Calibri"/>
              </a:rPr>
              <a:t>trib</a:t>
            </a:r>
            <a:r>
              <a:rPr sz="2200" b="1" i="1" dirty="0">
                <a:latin typeface="Calibri"/>
                <a:cs typeface="Calibri"/>
              </a:rPr>
              <a:t>u</a:t>
            </a:r>
            <a:r>
              <a:rPr sz="2200" b="1" i="1" spc="-40" dirty="0">
                <a:latin typeface="Calibri"/>
                <a:cs typeface="Calibri"/>
              </a:rPr>
              <a:t>t</a:t>
            </a:r>
            <a:r>
              <a:rPr sz="2200" b="1" i="1" spc="-10" dirty="0">
                <a:latin typeface="Calibri"/>
                <a:cs typeface="Calibri"/>
              </a:rPr>
              <a:t>o</a:t>
            </a:r>
            <a:r>
              <a:rPr sz="2200" b="1" i="1" spc="-5" dirty="0">
                <a:latin typeface="Calibri"/>
                <a:cs typeface="Calibri"/>
              </a:rPr>
              <a:t>s</a:t>
            </a:r>
            <a:r>
              <a:rPr sz="2200" b="1" i="1" dirty="0">
                <a:latin typeface="Calibri"/>
                <a:cs typeface="Calibri"/>
              </a:rPr>
              <a:t>	d</a:t>
            </a:r>
            <a:r>
              <a:rPr sz="2200" b="1" i="1" spc="-5" dirty="0">
                <a:latin typeface="Calibri"/>
                <a:cs typeface="Calibri"/>
              </a:rPr>
              <a:t>e</a:t>
            </a:r>
            <a:r>
              <a:rPr sz="2200" b="1" i="1" dirty="0">
                <a:latin typeface="Calibri"/>
                <a:cs typeface="Calibri"/>
              </a:rPr>
              <a:t>	</a:t>
            </a:r>
            <a:r>
              <a:rPr sz="2200" b="1" i="1" spc="-5" dirty="0">
                <a:latin typeface="Calibri"/>
                <a:cs typeface="Calibri"/>
              </a:rPr>
              <a:t>las</a:t>
            </a:r>
            <a:r>
              <a:rPr sz="2200" b="1" i="1" dirty="0">
                <a:latin typeface="Calibri"/>
                <a:cs typeface="Calibri"/>
              </a:rPr>
              <a:t>	</a:t>
            </a:r>
            <a:r>
              <a:rPr sz="2200" b="1" i="1" spc="-5" dirty="0">
                <a:latin typeface="Calibri"/>
                <a:cs typeface="Calibri"/>
              </a:rPr>
              <a:t>Ac</a:t>
            </a:r>
            <a:r>
              <a:rPr sz="2200" b="1" i="1" spc="-20" dirty="0">
                <a:latin typeface="Calibri"/>
                <a:cs typeface="Calibri"/>
              </a:rPr>
              <a:t>t</a:t>
            </a:r>
            <a:r>
              <a:rPr sz="2200" b="1" i="1" spc="-5" dirty="0">
                <a:latin typeface="Calibri"/>
                <a:cs typeface="Calibri"/>
              </a:rPr>
              <a:t>ivida</a:t>
            </a:r>
            <a:r>
              <a:rPr sz="2200" b="1" i="1" dirty="0">
                <a:latin typeface="Calibri"/>
                <a:cs typeface="Calibri"/>
              </a:rPr>
              <a:t>d</a:t>
            </a:r>
            <a:r>
              <a:rPr sz="2200" b="1" i="1" spc="-10" dirty="0">
                <a:latin typeface="Calibri"/>
                <a:cs typeface="Calibri"/>
              </a:rPr>
              <a:t>e</a:t>
            </a:r>
            <a:r>
              <a:rPr sz="2200" b="1" i="1" spc="-5" dirty="0">
                <a:latin typeface="Calibri"/>
                <a:cs typeface="Calibri"/>
              </a:rPr>
              <a:t>s:</a:t>
            </a:r>
            <a:r>
              <a:rPr sz="2200" b="1" i="1" dirty="0">
                <a:latin typeface="Calibri"/>
                <a:cs typeface="Calibri"/>
              </a:rPr>
              <a:t>	</a:t>
            </a:r>
            <a:r>
              <a:rPr sz="2200" dirty="0">
                <a:latin typeface="Calibri"/>
                <a:cs typeface="Calibri"/>
              </a:rPr>
              <a:t>Se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9144" y="4037838"/>
            <a:ext cx="4617085" cy="181737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marR="10160">
              <a:lnSpc>
                <a:spcPts val="2110"/>
              </a:lnSpc>
              <a:spcBef>
                <a:spcPts val="605"/>
              </a:spcBef>
              <a:tabLst>
                <a:tab pos="940435" algn="l"/>
                <a:tab pos="1879600" algn="l"/>
                <a:tab pos="2504440" algn="l"/>
                <a:tab pos="2861310" algn="l"/>
                <a:tab pos="4313555" algn="l"/>
              </a:tabLst>
            </a:pPr>
            <a:r>
              <a:rPr sz="2200" spc="-10" dirty="0">
                <a:latin typeface="Calibri"/>
                <a:cs typeface="Calibri"/>
              </a:rPr>
              <a:t>d</a:t>
            </a: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35" dirty="0">
                <a:latin typeface="Calibri"/>
                <a:cs typeface="Calibri"/>
              </a:rPr>
              <a:t>t</a:t>
            </a:r>
            <a:r>
              <a:rPr sz="2200" spc="-5" dirty="0">
                <a:latin typeface="Calibri"/>
                <a:cs typeface="Calibri"/>
              </a:rPr>
              <a:t>alla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mu</a:t>
            </a:r>
            <a:r>
              <a:rPr sz="2200" spc="-15" dirty="0">
                <a:latin typeface="Calibri"/>
                <a:cs typeface="Calibri"/>
              </a:rPr>
              <a:t>c</a:t>
            </a:r>
            <a:r>
              <a:rPr sz="2200" spc="-10" dirty="0">
                <a:latin typeface="Calibri"/>
                <a:cs typeface="Calibri"/>
              </a:rPr>
              <a:t>h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más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la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descrip</a:t>
            </a:r>
            <a:r>
              <a:rPr sz="2200" spc="-15" dirty="0">
                <a:latin typeface="Calibri"/>
                <a:cs typeface="Calibri"/>
              </a:rPr>
              <a:t>c</a:t>
            </a:r>
            <a:r>
              <a:rPr sz="2200" spc="-5" dirty="0">
                <a:latin typeface="Calibri"/>
                <a:cs typeface="Calibri"/>
              </a:rPr>
              <a:t>ión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de  cada</a:t>
            </a:r>
            <a:r>
              <a:rPr sz="2200" spc="-5" dirty="0">
                <a:latin typeface="Calibri"/>
                <a:cs typeface="Calibri"/>
              </a:rPr>
              <a:t> actividad</a:t>
            </a:r>
            <a:endParaRPr sz="2200">
              <a:latin typeface="Calibri"/>
              <a:cs typeface="Calibri"/>
            </a:endParaRPr>
          </a:p>
          <a:p>
            <a:pPr marL="413384" indent="-287020">
              <a:lnSpc>
                <a:spcPct val="100000"/>
              </a:lnSpc>
              <a:spcBef>
                <a:spcPts val="30"/>
              </a:spcBef>
              <a:buFont typeface="Arial"/>
              <a:buChar char="–"/>
              <a:tabLst>
                <a:tab pos="413384" algn="l"/>
                <a:tab pos="414020" algn="l"/>
              </a:tabLst>
            </a:pPr>
            <a:r>
              <a:rPr sz="2000" spc="-10" dirty="0">
                <a:latin typeface="Calibri"/>
                <a:cs typeface="Calibri"/>
              </a:rPr>
              <a:t>Atributos</a:t>
            </a:r>
            <a:endParaRPr sz="2000">
              <a:latin typeface="Calibri"/>
              <a:cs typeface="Calibri"/>
            </a:endParaRPr>
          </a:p>
          <a:p>
            <a:pPr marL="812165" marR="5080" lvl="1" indent="-228600" algn="just">
              <a:lnSpc>
                <a:spcPct val="80000"/>
              </a:lnSpc>
              <a:spcBef>
                <a:spcPts val="420"/>
              </a:spcBef>
              <a:buFont typeface="Arial"/>
              <a:buChar char="•"/>
              <a:tabLst>
                <a:tab pos="812800" algn="l"/>
                <a:tab pos="2680970" algn="l"/>
                <a:tab pos="4236085" algn="l"/>
              </a:tabLst>
            </a:pPr>
            <a:r>
              <a:rPr sz="1700" spc="-15" dirty="0">
                <a:latin typeface="Calibri"/>
                <a:cs typeface="Calibri"/>
              </a:rPr>
              <a:t>Identificador, </a:t>
            </a:r>
            <a:r>
              <a:rPr sz="1700" spc="-10" dirty="0">
                <a:latin typeface="Calibri"/>
                <a:cs typeface="Calibri"/>
              </a:rPr>
              <a:t>Código, </a:t>
            </a:r>
            <a:r>
              <a:rPr sz="1700" dirty="0">
                <a:latin typeface="Calibri"/>
                <a:cs typeface="Calibri"/>
              </a:rPr>
              <a:t>Descripción,  </a:t>
            </a:r>
            <a:r>
              <a:rPr sz="1700" spc="-10" dirty="0">
                <a:latin typeface="Calibri"/>
                <a:cs typeface="Calibri"/>
              </a:rPr>
              <a:t>p</a:t>
            </a:r>
            <a:r>
              <a:rPr sz="1700" spc="-20" dirty="0">
                <a:latin typeface="Calibri"/>
                <a:cs typeface="Calibri"/>
              </a:rPr>
              <a:t>r</a:t>
            </a:r>
            <a:r>
              <a:rPr sz="1700" spc="-10" dirty="0">
                <a:latin typeface="Calibri"/>
                <a:cs typeface="Calibri"/>
              </a:rPr>
              <a:t>e</a:t>
            </a:r>
            <a:r>
              <a:rPr sz="1700" spc="-5" dirty="0">
                <a:latin typeface="Calibri"/>
                <a:cs typeface="Calibri"/>
              </a:rPr>
              <a:t>d</a:t>
            </a:r>
            <a:r>
              <a:rPr sz="1700" dirty="0">
                <a:latin typeface="Calibri"/>
                <a:cs typeface="Calibri"/>
              </a:rPr>
              <a:t>ec</a:t>
            </a:r>
            <a:r>
              <a:rPr sz="1700" spc="-15" dirty="0">
                <a:latin typeface="Calibri"/>
                <a:cs typeface="Calibri"/>
              </a:rPr>
              <a:t>e</a:t>
            </a:r>
            <a:r>
              <a:rPr sz="1700" spc="-5" dirty="0">
                <a:latin typeface="Calibri"/>
                <a:cs typeface="Calibri"/>
              </a:rPr>
              <a:t>s</a:t>
            </a:r>
            <a:r>
              <a:rPr sz="1700" spc="-10" dirty="0">
                <a:latin typeface="Calibri"/>
                <a:cs typeface="Calibri"/>
              </a:rPr>
              <a:t>o</a:t>
            </a:r>
            <a:r>
              <a:rPr sz="1700" spc="-35" dirty="0">
                <a:latin typeface="Calibri"/>
                <a:cs typeface="Calibri"/>
              </a:rPr>
              <a:t>r</a:t>
            </a:r>
            <a:r>
              <a:rPr sz="1700" spc="-15" dirty="0">
                <a:latin typeface="Calibri"/>
                <a:cs typeface="Calibri"/>
              </a:rPr>
              <a:t>a</a:t>
            </a:r>
            <a:r>
              <a:rPr sz="1700" spc="-5" dirty="0">
                <a:latin typeface="Calibri"/>
                <a:cs typeface="Calibri"/>
              </a:rPr>
              <a:t>s</a:t>
            </a:r>
            <a:r>
              <a:rPr sz="1700" dirty="0">
                <a:latin typeface="Calibri"/>
                <a:cs typeface="Calibri"/>
              </a:rPr>
              <a:t>,	</a:t>
            </a:r>
            <a:r>
              <a:rPr sz="1700" spc="-5" dirty="0">
                <a:latin typeface="Calibri"/>
                <a:cs typeface="Calibri"/>
              </a:rPr>
              <a:t>s</a:t>
            </a:r>
            <a:r>
              <a:rPr sz="1700" spc="5" dirty="0">
                <a:latin typeface="Calibri"/>
                <a:cs typeface="Calibri"/>
              </a:rPr>
              <a:t>u</a:t>
            </a:r>
            <a:r>
              <a:rPr sz="1700" dirty="0">
                <a:latin typeface="Calibri"/>
                <a:cs typeface="Calibri"/>
              </a:rPr>
              <a:t>c</a:t>
            </a:r>
            <a:r>
              <a:rPr sz="1700" spc="-15" dirty="0">
                <a:latin typeface="Calibri"/>
                <a:cs typeface="Calibri"/>
              </a:rPr>
              <a:t>e</a:t>
            </a:r>
            <a:r>
              <a:rPr sz="1700" spc="-5" dirty="0">
                <a:latin typeface="Calibri"/>
                <a:cs typeface="Calibri"/>
              </a:rPr>
              <a:t>s</a:t>
            </a:r>
            <a:r>
              <a:rPr sz="1700" spc="-10" dirty="0">
                <a:latin typeface="Calibri"/>
                <a:cs typeface="Calibri"/>
              </a:rPr>
              <a:t>o</a:t>
            </a:r>
            <a:r>
              <a:rPr sz="1700" spc="-35" dirty="0">
                <a:latin typeface="Calibri"/>
                <a:cs typeface="Calibri"/>
              </a:rPr>
              <a:t>r</a:t>
            </a:r>
            <a:r>
              <a:rPr sz="1700" spc="-15" dirty="0">
                <a:latin typeface="Calibri"/>
                <a:cs typeface="Calibri"/>
              </a:rPr>
              <a:t>a</a:t>
            </a:r>
            <a:r>
              <a:rPr sz="1700" spc="-5" dirty="0">
                <a:latin typeface="Calibri"/>
                <a:cs typeface="Calibri"/>
              </a:rPr>
              <a:t>s</a:t>
            </a:r>
            <a:r>
              <a:rPr sz="1700" dirty="0">
                <a:latin typeface="Calibri"/>
                <a:cs typeface="Calibri"/>
              </a:rPr>
              <a:t>,	e</a:t>
            </a:r>
            <a:r>
              <a:rPr sz="1700" spc="-20" dirty="0">
                <a:latin typeface="Calibri"/>
                <a:cs typeface="Calibri"/>
              </a:rPr>
              <a:t>s</a:t>
            </a:r>
            <a:r>
              <a:rPr sz="1700" spc="-25" dirty="0">
                <a:latin typeface="Calibri"/>
                <a:cs typeface="Calibri"/>
              </a:rPr>
              <a:t>t</a:t>
            </a:r>
            <a:r>
              <a:rPr sz="1700" dirty="0">
                <a:latin typeface="Calibri"/>
                <a:cs typeface="Calibri"/>
              </a:rPr>
              <a:t>á  </a:t>
            </a:r>
            <a:r>
              <a:rPr sz="1700" spc="-10" dirty="0">
                <a:latin typeface="Calibri"/>
                <a:cs typeface="Calibri"/>
              </a:rPr>
              <a:t>adelantada/atrasada, recursos </a:t>
            </a:r>
            <a:r>
              <a:rPr sz="1700" spc="-5" dirty="0">
                <a:latin typeface="Calibri"/>
                <a:cs typeface="Calibri"/>
              </a:rPr>
              <a:t>necesarios,  </a:t>
            </a:r>
            <a:r>
              <a:rPr sz="1700" spc="-10" dirty="0">
                <a:latin typeface="Calibri"/>
                <a:cs typeface="Calibri"/>
              </a:rPr>
              <a:t>fechas </a:t>
            </a:r>
            <a:r>
              <a:rPr sz="1700" spc="-5" dirty="0">
                <a:latin typeface="Calibri"/>
                <a:cs typeface="Calibri"/>
              </a:rPr>
              <a:t>fijas, restricciones,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suposiciones.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0338" y="461899"/>
            <a:ext cx="71850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Definir </a:t>
            </a:r>
            <a:r>
              <a:rPr sz="4400" dirty="0"/>
              <a:t>las Actividades –</a:t>
            </a:r>
            <a:r>
              <a:rPr sz="4400" spc="-25" dirty="0"/>
              <a:t> </a:t>
            </a:r>
            <a:r>
              <a:rPr sz="4400" b="1" spc="-5" dirty="0">
                <a:latin typeface="Calibri"/>
                <a:cs typeface="Calibri"/>
              </a:rPr>
              <a:t>Salidas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18615"/>
            <a:ext cx="8102600" cy="166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350" indent="-34353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6235" algn="l"/>
              </a:tabLst>
            </a:pPr>
            <a:r>
              <a:rPr sz="1800" b="1" i="1" spc="-5" dirty="0">
                <a:latin typeface="Calibri"/>
                <a:cs typeface="Calibri"/>
              </a:rPr>
              <a:t>3. </a:t>
            </a:r>
            <a:r>
              <a:rPr sz="1800" b="1" i="1" spc="-15" dirty="0">
                <a:latin typeface="Calibri"/>
                <a:cs typeface="Calibri"/>
              </a:rPr>
              <a:t>Lista </a:t>
            </a:r>
            <a:r>
              <a:rPr sz="1800" b="1" i="1" spc="-5" dirty="0">
                <a:latin typeface="Calibri"/>
                <a:cs typeface="Calibri"/>
              </a:rPr>
              <a:t>de Hitos: </a:t>
            </a:r>
            <a:r>
              <a:rPr sz="1800" spc="-5" dirty="0">
                <a:latin typeface="Calibri"/>
                <a:cs typeface="Calibri"/>
              </a:rPr>
              <a:t>Puntos </a:t>
            </a:r>
            <a:r>
              <a:rPr sz="1800" dirty="0">
                <a:latin typeface="Calibri"/>
                <a:cs typeface="Calibri"/>
              </a:rPr>
              <a:t>del </a:t>
            </a:r>
            <a:r>
              <a:rPr sz="1800" spc="-15" dirty="0">
                <a:latin typeface="Calibri"/>
                <a:cs typeface="Calibri"/>
              </a:rPr>
              <a:t>Proyecto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cumplimiento </a:t>
            </a:r>
            <a:r>
              <a:rPr sz="1800" spc="-10" dirty="0">
                <a:latin typeface="Calibri"/>
                <a:cs typeface="Calibri"/>
              </a:rPr>
              <a:t>obligatorio </a:t>
            </a:r>
            <a:r>
              <a:rPr sz="1800" spc="-15" dirty="0">
                <a:latin typeface="Calibri"/>
                <a:cs typeface="Calibri"/>
              </a:rPr>
              <a:t>(contrato) </a:t>
            </a:r>
            <a:r>
              <a:rPr sz="1800" dirty="0">
                <a:latin typeface="Calibri"/>
                <a:cs typeface="Calibri"/>
              </a:rPr>
              <a:t>u  </a:t>
            </a:r>
            <a:r>
              <a:rPr sz="1800" spc="-5" dirty="0">
                <a:latin typeface="Calibri"/>
                <a:cs typeface="Calibri"/>
              </a:rPr>
              <a:t>opcionales </a:t>
            </a:r>
            <a:r>
              <a:rPr sz="1800" dirty="0">
                <a:latin typeface="Calibri"/>
                <a:cs typeface="Calibri"/>
              </a:rPr>
              <a:t>que se </a:t>
            </a:r>
            <a:r>
              <a:rPr sz="1800" spc="-10" dirty="0">
                <a:latin typeface="Calibri"/>
                <a:cs typeface="Calibri"/>
              </a:rPr>
              <a:t>requieren </a:t>
            </a:r>
            <a:r>
              <a:rPr sz="1800" dirty="0">
                <a:latin typeface="Calibri"/>
                <a:cs typeface="Calibri"/>
              </a:rPr>
              <a:t>desde el </a:t>
            </a:r>
            <a:r>
              <a:rPr sz="1800" spc="-5" dirty="0">
                <a:latin typeface="Calibri"/>
                <a:cs typeface="Calibri"/>
              </a:rPr>
              <a:t>punto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5" dirty="0">
                <a:latin typeface="Calibri"/>
                <a:cs typeface="Calibri"/>
              </a:rPr>
              <a:t>vista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entregar </a:t>
            </a:r>
            <a:r>
              <a:rPr sz="1800" dirty="0">
                <a:latin typeface="Calibri"/>
                <a:cs typeface="Calibri"/>
              </a:rPr>
              <a:t>una </a:t>
            </a:r>
            <a:r>
              <a:rPr sz="1800" spc="-5" dirty="0">
                <a:latin typeface="Calibri"/>
                <a:cs typeface="Calibri"/>
              </a:rPr>
              <a:t>salida </a:t>
            </a:r>
            <a:r>
              <a:rPr sz="1800" dirty="0">
                <a:latin typeface="Calibri"/>
                <a:cs typeface="Calibri"/>
              </a:rPr>
              <a:t>(un  </a:t>
            </a:r>
            <a:r>
              <a:rPr sz="1800" spc="-10" dirty="0">
                <a:latin typeface="Calibri"/>
                <a:cs typeface="Calibri"/>
              </a:rPr>
              <a:t>entregable </a:t>
            </a:r>
            <a:r>
              <a:rPr sz="1800" spc="-5" dirty="0">
                <a:latin typeface="Calibri"/>
                <a:cs typeface="Calibri"/>
              </a:rPr>
              <a:t>principal </a:t>
            </a:r>
            <a:r>
              <a:rPr sz="1800" spc="-10" dirty="0">
                <a:latin typeface="Calibri"/>
                <a:cs typeface="Calibri"/>
              </a:rPr>
              <a:t>dentro </a:t>
            </a:r>
            <a:r>
              <a:rPr sz="1800" dirty="0">
                <a:latin typeface="Calibri"/>
                <a:cs typeface="Calibri"/>
              </a:rPr>
              <a:t>del </a:t>
            </a:r>
            <a:r>
              <a:rPr sz="1800" spc="-10" dirty="0">
                <a:latin typeface="Calibri"/>
                <a:cs typeface="Calibri"/>
              </a:rPr>
              <a:t>proyecto). </a:t>
            </a:r>
            <a:r>
              <a:rPr sz="1800" dirty="0">
                <a:latin typeface="Calibri"/>
                <a:cs typeface="Calibri"/>
              </a:rPr>
              <a:t>Son de </a:t>
            </a:r>
            <a:r>
              <a:rPr sz="1800" spc="-10" dirty="0">
                <a:latin typeface="Calibri"/>
                <a:cs typeface="Calibri"/>
              </a:rPr>
              <a:t>cero duración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sirven </a:t>
            </a:r>
            <a:r>
              <a:rPr sz="1800" spc="-10" dirty="0">
                <a:latin typeface="Calibri"/>
                <a:cs typeface="Calibri"/>
              </a:rPr>
              <a:t>para  revisar </a:t>
            </a:r>
            <a:r>
              <a:rPr sz="1800" dirty="0">
                <a:latin typeface="Calibri"/>
                <a:cs typeface="Calibri"/>
              </a:rPr>
              <a:t>un </a:t>
            </a:r>
            <a:r>
              <a:rPr sz="1800" spc="-10" dirty="0">
                <a:latin typeface="Calibri"/>
                <a:cs typeface="Calibri"/>
              </a:rPr>
              <a:t>punto importante dentro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8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proyecto.</a:t>
            </a:r>
            <a:endParaRPr sz="1800">
              <a:latin typeface="Calibri"/>
              <a:cs typeface="Calibri"/>
            </a:endParaRPr>
          </a:p>
          <a:p>
            <a:pPr marL="469900" algn="just">
              <a:lnSpc>
                <a:spcPct val="100000"/>
              </a:lnSpc>
              <a:spcBef>
                <a:spcPts val="405"/>
              </a:spcBef>
            </a:pPr>
            <a:r>
              <a:rPr sz="1600" spc="-5" dirty="0">
                <a:latin typeface="Arial"/>
                <a:cs typeface="Arial"/>
              </a:rPr>
              <a:t>– </a:t>
            </a:r>
            <a:r>
              <a:rPr sz="1600" spc="-5" dirty="0">
                <a:latin typeface="Calibri"/>
                <a:cs typeface="Calibri"/>
              </a:rPr>
              <a:t>Se utilizan los </a:t>
            </a:r>
            <a:r>
              <a:rPr sz="1600" spc="-10" dirty="0">
                <a:latin typeface="Calibri"/>
                <a:cs typeface="Calibri"/>
              </a:rPr>
              <a:t>Diagramas </a:t>
            </a:r>
            <a:r>
              <a:rPr sz="1600" spc="-5" dirty="0">
                <a:latin typeface="Calibri"/>
                <a:cs typeface="Calibri"/>
              </a:rPr>
              <a:t>de Hitos </a:t>
            </a:r>
            <a:r>
              <a:rPr sz="1600" spc="-10" dirty="0">
                <a:latin typeface="Calibri"/>
                <a:cs typeface="Calibri"/>
              </a:rPr>
              <a:t>como </a:t>
            </a:r>
            <a:r>
              <a:rPr sz="1600" spc="-5" dirty="0">
                <a:latin typeface="Calibri"/>
                <a:cs typeface="Calibri"/>
              </a:rPr>
              <a:t>un mecanismo </a:t>
            </a:r>
            <a:r>
              <a:rPr sz="1600" dirty="0">
                <a:latin typeface="Calibri"/>
                <a:cs typeface="Calibri"/>
              </a:rPr>
              <a:t>de </a:t>
            </a:r>
            <a:r>
              <a:rPr sz="1600" spc="-5" dirty="0">
                <a:latin typeface="Calibri"/>
                <a:cs typeface="Calibri"/>
              </a:rPr>
              <a:t>comunicación </a:t>
            </a:r>
            <a:r>
              <a:rPr sz="1600" spc="-10" dirty="0">
                <a:latin typeface="Calibri"/>
                <a:cs typeface="Calibri"/>
              </a:rPr>
              <a:t>con </a:t>
            </a:r>
            <a:r>
              <a:rPr sz="1600" dirty="0">
                <a:latin typeface="Calibri"/>
                <a:cs typeface="Calibri"/>
              </a:rPr>
              <a:t>la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Alta</a:t>
            </a:r>
            <a:endParaRPr sz="16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Gerencia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65695" y="3357371"/>
            <a:ext cx="5878688" cy="3253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1034" y="231470"/>
            <a:ext cx="1743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</a:t>
            </a:r>
            <a:r>
              <a:rPr sz="4400" spc="-45" dirty="0"/>
              <a:t>g</a:t>
            </a:r>
            <a:r>
              <a:rPr sz="4400" dirty="0"/>
              <a:t>enda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891436"/>
            <a:ext cx="3374390" cy="59702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300" b="1" spc="-10" dirty="0">
                <a:latin typeface="Calibri"/>
                <a:cs typeface="Calibri"/>
              </a:rPr>
              <a:t>GRUPO </a:t>
            </a:r>
            <a:r>
              <a:rPr sz="1300" b="1" spc="-5" dirty="0">
                <a:latin typeface="Calibri"/>
                <a:cs typeface="Calibri"/>
              </a:rPr>
              <a:t>DE </a:t>
            </a:r>
            <a:r>
              <a:rPr sz="1300" b="1" spc="-10" dirty="0">
                <a:latin typeface="Calibri"/>
                <a:cs typeface="Calibri"/>
              </a:rPr>
              <a:t>PROCESOS </a:t>
            </a:r>
            <a:r>
              <a:rPr sz="1300" b="1" spc="-5" dirty="0">
                <a:latin typeface="Calibri"/>
                <a:cs typeface="Calibri"/>
              </a:rPr>
              <a:t>DE</a:t>
            </a:r>
            <a:r>
              <a:rPr sz="1300" b="1" spc="6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PLANIFICACION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Planificar la gestión del</a:t>
            </a:r>
            <a:r>
              <a:rPr sz="1300" spc="5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Cronograma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10" dirty="0">
                <a:latin typeface="Calibri"/>
                <a:cs typeface="Calibri"/>
              </a:rPr>
              <a:t>Definir </a:t>
            </a:r>
            <a:r>
              <a:rPr sz="1300" spc="-5" dirty="0">
                <a:latin typeface="Calibri"/>
                <a:cs typeface="Calibri"/>
              </a:rPr>
              <a:t>las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b="1" spc="-5" dirty="0">
                <a:latin typeface="Calibri"/>
                <a:cs typeface="Calibri"/>
              </a:rPr>
              <a:t>Secuenciar las</a:t>
            </a:r>
            <a:r>
              <a:rPr sz="1300" b="1" spc="30" dirty="0">
                <a:latin typeface="Calibri"/>
                <a:cs typeface="Calibri"/>
              </a:rPr>
              <a:t> </a:t>
            </a:r>
            <a:r>
              <a:rPr sz="1300" b="1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Estimar los </a:t>
            </a:r>
            <a:r>
              <a:rPr sz="1300" spc="-10" dirty="0">
                <a:latin typeface="Calibri"/>
                <a:cs typeface="Calibri"/>
              </a:rPr>
              <a:t>Recursos </a:t>
            </a:r>
            <a:r>
              <a:rPr sz="1300" spc="-5" dirty="0">
                <a:latin typeface="Calibri"/>
                <a:cs typeface="Calibri"/>
              </a:rPr>
              <a:t>de las</a:t>
            </a:r>
            <a:r>
              <a:rPr sz="1300" spc="5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Estimar la </a:t>
            </a:r>
            <a:r>
              <a:rPr sz="1300" spc="-10" dirty="0">
                <a:latin typeface="Calibri"/>
                <a:cs typeface="Calibri"/>
              </a:rPr>
              <a:t>Duración </a:t>
            </a:r>
            <a:r>
              <a:rPr sz="1300" spc="-5" dirty="0">
                <a:latin typeface="Calibri"/>
                <a:cs typeface="Calibri"/>
              </a:rPr>
              <a:t>de las</a:t>
            </a:r>
            <a:r>
              <a:rPr sz="1300" spc="7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10" dirty="0">
                <a:latin typeface="Calibri"/>
                <a:cs typeface="Calibri"/>
              </a:rPr>
              <a:t>Desarrollar </a:t>
            </a:r>
            <a:r>
              <a:rPr sz="1300" spc="-5" dirty="0">
                <a:latin typeface="Calibri"/>
                <a:cs typeface="Calibri"/>
              </a:rPr>
              <a:t>el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Cronograma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5341" y="461899"/>
            <a:ext cx="59683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Secuenciar las</a:t>
            </a:r>
            <a:r>
              <a:rPr sz="4400" spc="-65" dirty="0"/>
              <a:t> </a:t>
            </a:r>
            <a:r>
              <a:rPr sz="4400" spc="-5" dirty="0"/>
              <a:t>Actividades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8074659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  <a:tab pos="980440" algn="l"/>
                <a:tab pos="2919095" algn="l"/>
                <a:tab pos="3373120" algn="l"/>
                <a:tab pos="5659755" algn="l"/>
                <a:tab pos="6377940" algn="l"/>
              </a:tabLst>
            </a:pPr>
            <a:r>
              <a:rPr sz="3200" spc="-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s	ide</a:t>
            </a:r>
            <a:r>
              <a:rPr sz="3200" spc="-35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tifi</a:t>
            </a:r>
            <a:r>
              <a:rPr sz="3200" spc="-35" dirty="0">
                <a:latin typeface="Calibri"/>
                <a:cs typeface="Calibri"/>
              </a:rPr>
              <a:t>c</a:t>
            </a:r>
            <a:r>
              <a:rPr sz="3200" dirty="0">
                <a:latin typeface="Calibri"/>
                <a:cs typeface="Calibri"/>
              </a:rPr>
              <a:t>ar	y	</a:t>
            </a:r>
            <a:r>
              <a:rPr sz="3200" spc="-5" dirty="0">
                <a:latin typeface="Calibri"/>
                <a:cs typeface="Calibri"/>
              </a:rPr>
              <a:t>docume</a:t>
            </a:r>
            <a:r>
              <a:rPr sz="3200" spc="-35" dirty="0">
                <a:latin typeface="Calibri"/>
                <a:cs typeface="Calibri"/>
              </a:rPr>
              <a:t>n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ar	l</a:t>
            </a:r>
            <a:r>
              <a:rPr sz="3200" spc="10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s	</a:t>
            </a:r>
            <a:r>
              <a:rPr sz="3200" spc="-55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elaciones  </a:t>
            </a:r>
            <a:r>
              <a:rPr sz="3200" spc="-15" dirty="0">
                <a:latin typeface="Calibri"/>
                <a:cs typeface="Calibri"/>
              </a:rPr>
              <a:t>entre </a:t>
            </a:r>
            <a:r>
              <a:rPr sz="3200" dirty="0">
                <a:latin typeface="Calibri"/>
                <a:cs typeface="Calibri"/>
              </a:rPr>
              <a:t>las actividades </a:t>
            </a:r>
            <a:r>
              <a:rPr sz="3200" spc="-5" dirty="0">
                <a:latin typeface="Calibri"/>
                <a:cs typeface="Calibri"/>
              </a:rPr>
              <a:t>del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proyecto.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20330" y="2811287"/>
            <a:ext cx="4745198" cy="15493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26959" y="4949229"/>
            <a:ext cx="4725073" cy="1532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44517" y="4501134"/>
            <a:ext cx="500380" cy="358140"/>
          </a:xfrm>
          <a:custGeom>
            <a:avLst/>
            <a:gdLst/>
            <a:ahLst/>
            <a:cxnLst/>
            <a:rect l="l" t="t" r="r" b="b"/>
            <a:pathLst>
              <a:path w="500379" h="358139">
                <a:moveTo>
                  <a:pt x="0" y="179070"/>
                </a:moveTo>
                <a:lnTo>
                  <a:pt x="124968" y="179070"/>
                </a:lnTo>
                <a:lnTo>
                  <a:pt x="124968" y="0"/>
                </a:lnTo>
                <a:lnTo>
                  <a:pt x="374904" y="0"/>
                </a:lnTo>
                <a:lnTo>
                  <a:pt x="374904" y="179070"/>
                </a:lnTo>
                <a:lnTo>
                  <a:pt x="499872" y="179070"/>
                </a:lnTo>
                <a:lnTo>
                  <a:pt x="249936" y="358140"/>
                </a:lnTo>
                <a:lnTo>
                  <a:pt x="0" y="17907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6018" y="496950"/>
            <a:ext cx="77336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Secuenciar </a:t>
            </a:r>
            <a:r>
              <a:rPr dirty="0"/>
              <a:t>las </a:t>
            </a:r>
            <a:r>
              <a:rPr spc="-5" dirty="0"/>
              <a:t>Actividades –</a:t>
            </a:r>
            <a:r>
              <a:rPr spc="-50" dirty="0"/>
              <a:t> </a:t>
            </a:r>
            <a:r>
              <a:rPr b="1" spc="-20" dirty="0">
                <a:latin typeface="Calibri"/>
                <a:cs typeface="Calibri"/>
              </a:rPr>
              <a:t>Entradas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0891"/>
            <a:ext cx="4740275" cy="4196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b="1" i="1" dirty="0">
                <a:latin typeface="Calibri"/>
                <a:cs typeface="Calibri"/>
              </a:rPr>
              <a:t>1. </a:t>
            </a:r>
            <a:r>
              <a:rPr sz="2400" b="1" i="1" spc="-5" dirty="0">
                <a:latin typeface="Calibri"/>
                <a:cs typeface="Calibri"/>
              </a:rPr>
              <a:t>Plan </a:t>
            </a:r>
            <a:r>
              <a:rPr sz="2400" b="1" i="1" dirty="0">
                <a:latin typeface="Calibri"/>
                <a:cs typeface="Calibri"/>
              </a:rPr>
              <a:t>de </a:t>
            </a:r>
            <a:r>
              <a:rPr sz="2400" b="1" i="1" spc="-10" dirty="0">
                <a:latin typeface="Calibri"/>
                <a:cs typeface="Calibri"/>
              </a:rPr>
              <a:t>Gestión </a:t>
            </a:r>
            <a:r>
              <a:rPr sz="2400" b="1" i="1" dirty="0">
                <a:latin typeface="Calibri"/>
                <a:cs typeface="Calibri"/>
              </a:rPr>
              <a:t>del</a:t>
            </a:r>
            <a:r>
              <a:rPr sz="2400" b="1" i="1" spc="-100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Cronograma</a:t>
            </a:r>
            <a:endParaRPr sz="24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b="1" i="1" dirty="0">
                <a:latin typeface="Calibri"/>
                <a:cs typeface="Calibri"/>
              </a:rPr>
              <a:t>2. </a:t>
            </a:r>
            <a:r>
              <a:rPr sz="2400" b="1" i="1" spc="-15" dirty="0">
                <a:latin typeface="Calibri"/>
                <a:cs typeface="Calibri"/>
              </a:rPr>
              <a:t>Lista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Actividades</a:t>
            </a:r>
            <a:endParaRPr sz="24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b="1" i="1" spc="-5" dirty="0">
                <a:latin typeface="Calibri"/>
                <a:cs typeface="Calibri"/>
              </a:rPr>
              <a:t>3. </a:t>
            </a:r>
            <a:r>
              <a:rPr sz="2400" b="1" i="1" spc="-15" dirty="0">
                <a:latin typeface="Calibri"/>
                <a:cs typeface="Calibri"/>
              </a:rPr>
              <a:t>Atributos </a:t>
            </a:r>
            <a:r>
              <a:rPr sz="2400" b="1" i="1" dirty="0">
                <a:latin typeface="Calibri"/>
                <a:cs typeface="Calibri"/>
              </a:rPr>
              <a:t>de las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Actividades</a:t>
            </a:r>
            <a:endParaRPr sz="24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b="1" i="1" spc="-5" dirty="0">
                <a:latin typeface="Calibri"/>
                <a:cs typeface="Calibri"/>
              </a:rPr>
              <a:t>4. </a:t>
            </a:r>
            <a:r>
              <a:rPr sz="2400" b="1" i="1" spc="-15" dirty="0">
                <a:latin typeface="Calibri"/>
                <a:cs typeface="Calibri"/>
              </a:rPr>
              <a:t>Lista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Hitos</a:t>
            </a:r>
            <a:endParaRPr sz="2400">
              <a:latin typeface="Calibri"/>
              <a:cs typeface="Calibri"/>
            </a:endParaRPr>
          </a:p>
          <a:p>
            <a:pPr marL="355600" marR="81153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b="1" i="1" spc="-5" dirty="0">
                <a:latin typeface="Calibri"/>
                <a:cs typeface="Calibri"/>
              </a:rPr>
              <a:t>5. </a:t>
            </a:r>
            <a:r>
              <a:rPr sz="2400" b="1" i="1" spc="-10" dirty="0">
                <a:latin typeface="Calibri"/>
                <a:cs typeface="Calibri"/>
              </a:rPr>
              <a:t>Enunciado </a:t>
            </a:r>
            <a:r>
              <a:rPr sz="2400" b="1" i="1" dirty="0">
                <a:latin typeface="Calibri"/>
                <a:cs typeface="Calibri"/>
              </a:rPr>
              <a:t>del </a:t>
            </a:r>
            <a:r>
              <a:rPr sz="2400" b="1" i="1" spc="-10" dirty="0">
                <a:latin typeface="Calibri"/>
                <a:cs typeface="Calibri"/>
              </a:rPr>
              <a:t>Alcance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del  </a:t>
            </a:r>
            <a:r>
              <a:rPr sz="2400" b="1" i="1" spc="-15" dirty="0">
                <a:latin typeface="Calibri"/>
                <a:cs typeface="Calibri"/>
              </a:rPr>
              <a:t>Proyecto</a:t>
            </a:r>
            <a:endParaRPr sz="2400">
              <a:latin typeface="Calibri"/>
              <a:cs typeface="Calibri"/>
            </a:endParaRPr>
          </a:p>
          <a:p>
            <a:pPr marL="355600" marR="704215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b="1" i="1" dirty="0">
                <a:latin typeface="Calibri"/>
                <a:cs typeface="Calibri"/>
              </a:rPr>
              <a:t>6. </a:t>
            </a:r>
            <a:r>
              <a:rPr sz="2400" b="1" i="1" spc="-10" dirty="0">
                <a:latin typeface="Calibri"/>
                <a:cs typeface="Calibri"/>
              </a:rPr>
              <a:t>Factores ambientales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8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la  </a:t>
            </a:r>
            <a:r>
              <a:rPr sz="2400" b="1" i="1" spc="-5" dirty="0">
                <a:latin typeface="Calibri"/>
                <a:cs typeface="Calibri"/>
              </a:rPr>
              <a:t>empresa</a:t>
            </a:r>
            <a:endParaRPr sz="24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b="1" i="1" dirty="0">
                <a:latin typeface="Calibri"/>
                <a:cs typeface="Calibri"/>
              </a:rPr>
              <a:t>7. </a:t>
            </a:r>
            <a:r>
              <a:rPr sz="2400" b="1" i="1" spc="-10" dirty="0">
                <a:latin typeface="Calibri"/>
                <a:cs typeface="Calibri"/>
              </a:rPr>
              <a:t>Activos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Procesos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b="1" i="1" spc="-10" dirty="0">
                <a:latin typeface="Calibri"/>
                <a:cs typeface="Calibri"/>
              </a:rPr>
              <a:t>Organizacionales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0" y="1495044"/>
            <a:ext cx="1429511" cy="1696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86350" y="3928871"/>
            <a:ext cx="2193897" cy="12146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64130" marR="5080" indent="-255206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Secuenciar </a:t>
            </a:r>
            <a:r>
              <a:rPr dirty="0"/>
              <a:t>las Actividades </a:t>
            </a:r>
            <a:r>
              <a:rPr spc="-5" dirty="0"/>
              <a:t>– </a:t>
            </a: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  </a:t>
            </a:r>
            <a:r>
              <a:rPr b="1" spc="-15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5052"/>
            <a:ext cx="8072120" cy="231140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1. </a:t>
            </a:r>
            <a:r>
              <a:rPr sz="2000" b="1" i="1" spc="-10" dirty="0">
                <a:latin typeface="Calibri"/>
                <a:cs typeface="Calibri"/>
              </a:rPr>
              <a:t>Método </a:t>
            </a:r>
            <a:r>
              <a:rPr sz="2000" b="1" i="1" spc="-5" dirty="0">
                <a:latin typeface="Calibri"/>
                <a:cs typeface="Calibri"/>
              </a:rPr>
              <a:t>de Diagramas de Precedencias</a:t>
            </a:r>
            <a:r>
              <a:rPr sz="2000" b="1" i="1" spc="-9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(PDM)</a:t>
            </a:r>
            <a:endParaRPr sz="200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ts val="1939"/>
              </a:lnSpc>
              <a:spcBef>
                <a:spcPts val="475"/>
              </a:spcBef>
              <a:buFont typeface="Arial"/>
              <a:buChar char="–"/>
              <a:tabLst>
                <a:tab pos="756920" algn="l"/>
              </a:tabLst>
            </a:pPr>
            <a:r>
              <a:rPr sz="1800" dirty="0">
                <a:latin typeface="Calibri"/>
                <a:cs typeface="Calibri"/>
              </a:rPr>
              <a:t>Se </a:t>
            </a:r>
            <a:r>
              <a:rPr sz="1800" spc="-10" dirty="0">
                <a:latin typeface="Calibri"/>
                <a:cs typeface="Calibri"/>
              </a:rPr>
              <a:t>utilizan </a:t>
            </a:r>
            <a:r>
              <a:rPr sz="1800" spc="-15" dirty="0">
                <a:latin typeface="Calibri"/>
                <a:cs typeface="Calibri"/>
              </a:rPr>
              <a:t>para </a:t>
            </a:r>
            <a:r>
              <a:rPr sz="1800" spc="-10" dirty="0">
                <a:latin typeface="Calibri"/>
                <a:cs typeface="Calibri"/>
              </a:rPr>
              <a:t>obtener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5" dirty="0">
                <a:latin typeface="Calibri"/>
                <a:cs typeface="Calibri"/>
              </a:rPr>
              <a:t>Método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la </a:t>
            </a:r>
            <a:r>
              <a:rPr sz="1800" spc="-10" dirty="0">
                <a:latin typeface="Calibri"/>
                <a:cs typeface="Calibri"/>
              </a:rPr>
              <a:t>Ruta </a:t>
            </a:r>
            <a:r>
              <a:rPr sz="1800" spc="-5" dirty="0">
                <a:latin typeface="Calibri"/>
                <a:cs typeface="Calibri"/>
              </a:rPr>
              <a:t>Crítica (CPM) </a:t>
            </a:r>
            <a:r>
              <a:rPr sz="1800" spc="-15" dirty="0">
                <a:latin typeface="Calibri"/>
                <a:cs typeface="Calibri"/>
              </a:rPr>
              <a:t>para </a:t>
            </a:r>
            <a:r>
              <a:rPr sz="1800" spc="-10" dirty="0">
                <a:latin typeface="Calibri"/>
                <a:cs typeface="Calibri"/>
              </a:rPr>
              <a:t>construir </a:t>
            </a:r>
            <a:r>
              <a:rPr sz="1800" dirty="0">
                <a:latin typeface="Calibri"/>
                <a:cs typeface="Calibri"/>
              </a:rPr>
              <a:t>el  </a:t>
            </a:r>
            <a:r>
              <a:rPr sz="1800" spc="-10" dirty="0">
                <a:latin typeface="Calibri"/>
                <a:cs typeface="Calibri"/>
              </a:rPr>
              <a:t>Diagrama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Red </a:t>
            </a:r>
            <a:r>
              <a:rPr sz="1800" dirty="0">
                <a:latin typeface="Calibri"/>
                <a:cs typeface="Calibri"/>
              </a:rPr>
              <a:t>del </a:t>
            </a:r>
            <a:r>
              <a:rPr sz="1800" spc="-15" dirty="0">
                <a:latin typeface="Calibri"/>
                <a:cs typeface="Calibri"/>
              </a:rPr>
              <a:t>Proyecto </a:t>
            </a:r>
            <a:r>
              <a:rPr sz="1800" spc="-10" dirty="0">
                <a:latin typeface="Calibri"/>
                <a:cs typeface="Calibri"/>
              </a:rPr>
              <a:t>(herramienta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comunicación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planificación 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tiempos). Hace </a:t>
            </a:r>
            <a:r>
              <a:rPr sz="1800" spc="-10" dirty="0">
                <a:latin typeface="Calibri"/>
                <a:cs typeface="Calibri"/>
              </a:rPr>
              <a:t>parte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los </a:t>
            </a:r>
            <a:r>
              <a:rPr sz="1800" spc="-10" dirty="0">
                <a:latin typeface="Calibri"/>
                <a:cs typeface="Calibri"/>
              </a:rPr>
              <a:t>documentos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1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Proyecto.</a:t>
            </a:r>
            <a:endParaRPr sz="1800">
              <a:latin typeface="Calibri"/>
              <a:cs typeface="Calibri"/>
            </a:endParaRPr>
          </a:p>
          <a:p>
            <a:pPr marL="756285" lvl="1" indent="-287020" algn="just">
              <a:lnSpc>
                <a:spcPts val="2055"/>
              </a:lnSpc>
              <a:spcBef>
                <a:spcPts val="195"/>
              </a:spcBef>
              <a:buFont typeface="Arial"/>
              <a:buChar char="–"/>
              <a:tabLst>
                <a:tab pos="756920" algn="l"/>
              </a:tabLst>
            </a:pPr>
            <a:r>
              <a:rPr sz="1800" spc="-10" dirty="0">
                <a:latin typeface="Calibri"/>
                <a:cs typeface="Calibri"/>
              </a:rPr>
              <a:t>Utiliza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10" dirty="0">
                <a:latin typeface="Calibri"/>
                <a:cs typeface="Calibri"/>
              </a:rPr>
              <a:t>método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Actividad </a:t>
            </a:r>
            <a:r>
              <a:rPr sz="1800" dirty="0">
                <a:latin typeface="Calibri"/>
                <a:cs typeface="Calibri"/>
              </a:rPr>
              <a:t>en el Nodo </a:t>
            </a:r>
            <a:r>
              <a:rPr sz="1800" spc="-10" dirty="0">
                <a:latin typeface="Calibri"/>
                <a:cs typeface="Calibri"/>
              </a:rPr>
              <a:t>(AON)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líneas con </a:t>
            </a:r>
            <a:r>
              <a:rPr sz="1800" spc="-10" dirty="0">
                <a:latin typeface="Calibri"/>
                <a:cs typeface="Calibri"/>
              </a:rPr>
              <a:t>fecha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para</a:t>
            </a:r>
            <a:endParaRPr sz="1800">
              <a:latin typeface="Calibri"/>
              <a:cs typeface="Calibri"/>
            </a:endParaRPr>
          </a:p>
          <a:p>
            <a:pPr marL="756285" algn="just">
              <a:lnSpc>
                <a:spcPts val="2055"/>
              </a:lnSpc>
            </a:pPr>
            <a:r>
              <a:rPr sz="1800" spc="-10" dirty="0">
                <a:latin typeface="Calibri"/>
                <a:cs typeface="Calibri"/>
              </a:rPr>
              <a:t>mostrar </a:t>
            </a:r>
            <a:r>
              <a:rPr sz="1800" spc="-5" dirty="0">
                <a:latin typeface="Calibri"/>
                <a:cs typeface="Calibri"/>
              </a:rPr>
              <a:t>las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dependencias</a:t>
            </a:r>
            <a:endParaRPr sz="1800"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215"/>
              </a:spcBef>
              <a:buFont typeface="Arial"/>
              <a:buChar char="–"/>
              <a:tabLst>
                <a:tab pos="756920" algn="l"/>
              </a:tabLst>
            </a:pPr>
            <a:r>
              <a:rPr sz="1800" dirty="0">
                <a:latin typeface="Calibri"/>
                <a:cs typeface="Calibri"/>
              </a:rPr>
              <a:t>Una </a:t>
            </a:r>
            <a:r>
              <a:rPr sz="1800" spc="-5" dirty="0">
                <a:latin typeface="Calibri"/>
                <a:cs typeface="Calibri"/>
              </a:rPr>
              <a:t>Actividad tiene </a:t>
            </a:r>
            <a:r>
              <a:rPr sz="1800" dirty="0">
                <a:latin typeface="Calibri"/>
                <a:cs typeface="Calibri"/>
              </a:rPr>
              <a:t>una </a:t>
            </a:r>
            <a:r>
              <a:rPr sz="1800" spc="-10" dirty="0">
                <a:latin typeface="Calibri"/>
                <a:cs typeface="Calibri"/>
              </a:rPr>
              <a:t>duración </a:t>
            </a:r>
            <a:r>
              <a:rPr sz="1800" dirty="0">
                <a:latin typeface="Calibri"/>
                <a:cs typeface="Calibri"/>
              </a:rPr>
              <a:t>y una </a:t>
            </a:r>
            <a:r>
              <a:rPr sz="1800" spc="-5" dirty="0">
                <a:latin typeface="Calibri"/>
                <a:cs typeface="Calibri"/>
              </a:rPr>
              <a:t>asignación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recursos.</a:t>
            </a:r>
            <a:endParaRPr sz="1800"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215"/>
              </a:spcBef>
              <a:buFont typeface="Arial"/>
              <a:buChar char="–"/>
              <a:tabLst>
                <a:tab pos="756920" algn="l"/>
              </a:tabLst>
            </a:pPr>
            <a:r>
              <a:rPr sz="1800" dirty="0">
                <a:latin typeface="Calibri"/>
                <a:cs typeface="Calibri"/>
              </a:rPr>
              <a:t>Se </a:t>
            </a:r>
            <a:r>
              <a:rPr sz="1800" spc="-10" dirty="0">
                <a:latin typeface="Calibri"/>
                <a:cs typeface="Calibri"/>
              </a:rPr>
              <a:t>genera </a:t>
            </a:r>
            <a:r>
              <a:rPr sz="1800" spc="-5" dirty="0">
                <a:latin typeface="Calibri"/>
                <a:cs typeface="Calibri"/>
              </a:rPr>
              <a:t>la </a:t>
            </a:r>
            <a:r>
              <a:rPr sz="1800" spc="-15" dirty="0">
                <a:latin typeface="Calibri"/>
                <a:cs typeface="Calibri"/>
              </a:rPr>
              <a:t>Red </a:t>
            </a:r>
            <a:r>
              <a:rPr sz="1800" dirty="0">
                <a:latin typeface="Calibri"/>
                <a:cs typeface="Calibri"/>
              </a:rPr>
              <a:t>del </a:t>
            </a:r>
            <a:r>
              <a:rPr sz="1800" spc="-15" dirty="0">
                <a:latin typeface="Calibri"/>
                <a:cs typeface="Calibri"/>
              </a:rPr>
              <a:t>Proyecto </a:t>
            </a:r>
            <a:r>
              <a:rPr sz="1800" spc="-10" dirty="0">
                <a:latin typeface="Calibri"/>
                <a:cs typeface="Calibri"/>
              </a:rPr>
              <a:t>sobre </a:t>
            </a:r>
            <a:r>
              <a:rPr sz="1800" spc="-5" dirty="0">
                <a:latin typeface="Calibri"/>
                <a:cs typeface="Calibri"/>
              </a:rPr>
              <a:t>la cual </a:t>
            </a:r>
            <a:r>
              <a:rPr sz="1800" dirty="0">
                <a:latin typeface="Calibri"/>
                <a:cs typeface="Calibri"/>
              </a:rPr>
              <a:t>se </a:t>
            </a:r>
            <a:r>
              <a:rPr sz="1800" spc="-10" dirty="0">
                <a:latin typeface="Calibri"/>
                <a:cs typeface="Calibri"/>
              </a:rPr>
              <a:t>calcula </a:t>
            </a:r>
            <a:r>
              <a:rPr sz="1800" spc="-5" dirty="0">
                <a:latin typeface="Calibri"/>
                <a:cs typeface="Calibri"/>
              </a:rPr>
              <a:t>la </a:t>
            </a:r>
            <a:r>
              <a:rPr sz="1800" spc="-10" dirty="0">
                <a:latin typeface="Calibri"/>
                <a:cs typeface="Calibri"/>
              </a:rPr>
              <a:t>Ruta</a:t>
            </a:r>
            <a:r>
              <a:rPr sz="1800" spc="2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Crítica.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00371" y="4497795"/>
            <a:ext cx="4287012" cy="880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6615" y="4215384"/>
            <a:ext cx="3751817" cy="13990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79093" y="5802274"/>
            <a:ext cx="2794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Actividad en el nodo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(AON)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23128" y="5814771"/>
            <a:ext cx="271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Actividad en la flecha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AOA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64130" marR="5080" indent="-255206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Secuenciar </a:t>
            </a:r>
            <a:r>
              <a:rPr dirty="0"/>
              <a:t>las Actividades </a:t>
            </a:r>
            <a:r>
              <a:rPr spc="-5" dirty="0"/>
              <a:t>– </a:t>
            </a: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  </a:t>
            </a:r>
            <a:r>
              <a:rPr b="1" spc="-15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537386"/>
            <a:ext cx="6521450" cy="19348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10" dirty="0">
                <a:latin typeface="Calibri"/>
                <a:cs typeface="Calibri"/>
              </a:rPr>
              <a:t>Existen </a:t>
            </a:r>
            <a:r>
              <a:rPr sz="2400" dirty="0">
                <a:latin typeface="Calibri"/>
                <a:cs typeface="Calibri"/>
              </a:rPr>
              <a:t>4 tipos </a:t>
            </a:r>
            <a:r>
              <a:rPr sz="2400" spc="-5" dirty="0">
                <a:latin typeface="Calibri"/>
                <a:cs typeface="Calibri"/>
              </a:rPr>
              <a:t>de dependencias </a:t>
            </a:r>
            <a:r>
              <a:rPr sz="2400" dirty="0">
                <a:latin typeface="Calibri"/>
                <a:cs typeface="Calibri"/>
              </a:rPr>
              <a:t>o </a:t>
            </a:r>
            <a:r>
              <a:rPr sz="2400" spc="-5" dirty="0">
                <a:latin typeface="Calibri"/>
                <a:cs typeface="Calibri"/>
              </a:rPr>
              <a:t>relaciones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lógicas:</a:t>
            </a:r>
            <a:endParaRPr sz="2400">
              <a:latin typeface="Calibri"/>
              <a:cs typeface="Calibri"/>
            </a:endParaRPr>
          </a:p>
          <a:p>
            <a:pPr marL="697865" indent="-22923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Calibri"/>
                <a:cs typeface="Calibri"/>
              </a:rPr>
              <a:t>Final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Inicio</a:t>
            </a:r>
            <a:endParaRPr sz="2000">
              <a:latin typeface="Calibri"/>
              <a:cs typeface="Calibri"/>
            </a:endParaRPr>
          </a:p>
          <a:p>
            <a:pPr marL="697865" indent="-22923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Calibri"/>
                <a:cs typeface="Calibri"/>
              </a:rPr>
              <a:t>Final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Final</a:t>
            </a:r>
            <a:endParaRPr sz="2000">
              <a:latin typeface="Calibri"/>
              <a:cs typeface="Calibri"/>
            </a:endParaRPr>
          </a:p>
          <a:p>
            <a:pPr marL="697865" indent="-22923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Inicio 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Inicio</a:t>
            </a:r>
            <a:endParaRPr sz="2000">
              <a:latin typeface="Calibri"/>
              <a:cs typeface="Calibri"/>
            </a:endParaRPr>
          </a:p>
          <a:p>
            <a:pPr marL="697865" indent="-22923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Inicio 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Final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48811" y="3643884"/>
            <a:ext cx="2122932" cy="23103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64130" marR="5080" indent="-255206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Secuenciar </a:t>
            </a:r>
            <a:r>
              <a:rPr dirty="0"/>
              <a:t>las Actividades </a:t>
            </a:r>
            <a:r>
              <a:rPr spc="-5" dirty="0"/>
              <a:t>– </a:t>
            </a: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  </a:t>
            </a:r>
            <a:r>
              <a:rPr b="1" spc="-15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90522"/>
            <a:ext cx="67551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527685" algn="l"/>
                <a:tab pos="528320" algn="l"/>
              </a:tabLst>
            </a:pPr>
            <a:r>
              <a:rPr sz="3200" spc="-5" dirty="0">
                <a:latin typeface="Calibri"/>
                <a:cs typeface="Calibri"/>
              </a:rPr>
              <a:t>Ejemplo de </a:t>
            </a:r>
            <a:r>
              <a:rPr sz="3200" spc="-10" dirty="0">
                <a:latin typeface="Calibri"/>
                <a:cs typeface="Calibri"/>
              </a:rPr>
              <a:t>diagrama </a:t>
            </a:r>
            <a:r>
              <a:rPr sz="3200" spc="-5" dirty="0">
                <a:latin typeface="Calibri"/>
                <a:cs typeface="Calibri"/>
              </a:rPr>
              <a:t>de precedencia: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1284" y="2944096"/>
            <a:ext cx="7092971" cy="26194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64130" marR="5080" indent="-255206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Secuenciar </a:t>
            </a:r>
            <a:r>
              <a:rPr dirty="0"/>
              <a:t>las Actividades </a:t>
            </a:r>
            <a:r>
              <a:rPr spc="-5" dirty="0"/>
              <a:t>– </a:t>
            </a: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  </a:t>
            </a:r>
            <a:r>
              <a:rPr b="1" spc="-15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5462"/>
            <a:ext cx="4958080" cy="3905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500" b="1" i="1" spc="-10" dirty="0">
                <a:latin typeface="Calibri"/>
                <a:cs typeface="Calibri"/>
              </a:rPr>
              <a:t>2. Determinación </a:t>
            </a:r>
            <a:r>
              <a:rPr sz="2500" b="1" i="1" spc="-5" dirty="0">
                <a:latin typeface="Calibri"/>
                <a:cs typeface="Calibri"/>
              </a:rPr>
              <a:t>de</a:t>
            </a:r>
            <a:r>
              <a:rPr sz="2500" b="1" i="1" spc="-50" dirty="0">
                <a:latin typeface="Calibri"/>
                <a:cs typeface="Calibri"/>
              </a:rPr>
              <a:t> </a:t>
            </a:r>
            <a:r>
              <a:rPr sz="2500" b="1" i="1" spc="-5" dirty="0">
                <a:latin typeface="Calibri"/>
                <a:cs typeface="Calibri"/>
              </a:rPr>
              <a:t>Dependencias</a:t>
            </a:r>
            <a:endParaRPr sz="2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b="1" i="1" spc="-10" dirty="0">
                <a:latin typeface="Calibri"/>
                <a:cs typeface="Calibri"/>
              </a:rPr>
              <a:t>Obligatorias </a:t>
            </a:r>
            <a:r>
              <a:rPr sz="2200" b="1" i="1" spc="-5" dirty="0">
                <a:latin typeface="Calibri"/>
                <a:cs typeface="Calibri"/>
              </a:rPr>
              <a:t>o de Lógica</a:t>
            </a:r>
            <a:r>
              <a:rPr sz="2200" b="1" i="1" spc="3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Dura</a:t>
            </a:r>
            <a:endParaRPr sz="2200">
              <a:latin typeface="Calibri"/>
              <a:cs typeface="Calibri"/>
            </a:endParaRPr>
          </a:p>
          <a:p>
            <a:pPr marL="1155700" marR="6985" lvl="2" indent="-228600" algn="just">
              <a:lnSpc>
                <a:spcPct val="80000"/>
              </a:lnSpc>
              <a:spcBef>
                <a:spcPts val="470"/>
              </a:spcBef>
              <a:buFont typeface="Arial"/>
              <a:buChar char="•"/>
              <a:tabLst>
                <a:tab pos="1156335" algn="l"/>
              </a:tabLst>
            </a:pPr>
            <a:r>
              <a:rPr sz="1900" spc="-5" dirty="0">
                <a:latin typeface="Calibri"/>
                <a:cs typeface="Calibri"/>
              </a:rPr>
              <a:t>Son las </a:t>
            </a:r>
            <a:r>
              <a:rPr sz="1900" spc="-10" dirty="0">
                <a:latin typeface="Calibri"/>
                <a:cs typeface="Calibri"/>
              </a:rPr>
              <a:t>que por situación contractual </a:t>
            </a:r>
            <a:r>
              <a:rPr sz="1900" spc="-5" dirty="0">
                <a:latin typeface="Calibri"/>
                <a:cs typeface="Calibri"/>
              </a:rPr>
              <a:t>o  </a:t>
            </a:r>
            <a:r>
              <a:rPr sz="1900" spc="-10" dirty="0">
                <a:latin typeface="Calibri"/>
                <a:cs typeface="Calibri"/>
              </a:rPr>
              <a:t>inherente </a:t>
            </a:r>
            <a:r>
              <a:rPr sz="1900" spc="-5" dirty="0">
                <a:latin typeface="Calibri"/>
                <a:cs typeface="Calibri"/>
              </a:rPr>
              <a:t>al </a:t>
            </a:r>
            <a:r>
              <a:rPr sz="1900" spc="-10" dirty="0">
                <a:latin typeface="Calibri"/>
                <a:cs typeface="Calibri"/>
              </a:rPr>
              <a:t>trabajo </a:t>
            </a:r>
            <a:r>
              <a:rPr sz="1900" spc="-20" dirty="0">
                <a:latin typeface="Calibri"/>
                <a:cs typeface="Calibri"/>
              </a:rPr>
              <a:t>hay </a:t>
            </a:r>
            <a:r>
              <a:rPr sz="1900" spc="-10" dirty="0">
                <a:latin typeface="Calibri"/>
                <a:cs typeface="Calibri"/>
              </a:rPr>
              <a:t>que </a:t>
            </a:r>
            <a:r>
              <a:rPr sz="1900" spc="-5" dirty="0">
                <a:latin typeface="Calibri"/>
                <a:cs typeface="Calibri"/>
              </a:rPr>
              <a:t>hacerlas  en ese </a:t>
            </a:r>
            <a:r>
              <a:rPr sz="1900" spc="-10" dirty="0">
                <a:latin typeface="Calibri"/>
                <a:cs typeface="Calibri"/>
              </a:rPr>
              <a:t>orden. </a:t>
            </a:r>
            <a:r>
              <a:rPr sz="1900" spc="-65" dirty="0">
                <a:latin typeface="Calibri"/>
                <a:cs typeface="Calibri"/>
              </a:rPr>
              <a:t>P.E. </a:t>
            </a:r>
            <a:r>
              <a:rPr sz="1900" spc="-5" dirty="0">
                <a:latin typeface="Calibri"/>
                <a:cs typeface="Calibri"/>
              </a:rPr>
              <a:t>la </a:t>
            </a:r>
            <a:r>
              <a:rPr sz="1900" spc="-10" dirty="0">
                <a:latin typeface="Calibri"/>
                <a:cs typeface="Calibri"/>
              </a:rPr>
              <a:t>construcción de  </a:t>
            </a:r>
            <a:r>
              <a:rPr sz="1900" spc="-5" dirty="0">
                <a:latin typeface="Calibri"/>
                <a:cs typeface="Calibri"/>
              </a:rPr>
              <a:t>un </a:t>
            </a:r>
            <a:r>
              <a:rPr sz="1900" spc="-10" dirty="0">
                <a:latin typeface="Calibri"/>
                <a:cs typeface="Calibri"/>
              </a:rPr>
              <a:t>piso </a:t>
            </a:r>
            <a:r>
              <a:rPr sz="1900" spc="-5" dirty="0">
                <a:latin typeface="Calibri"/>
                <a:cs typeface="Calibri"/>
              </a:rPr>
              <a:t>en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concreto</a:t>
            </a:r>
            <a:endParaRPr sz="1900">
              <a:latin typeface="Calibri"/>
              <a:cs typeface="Calibri"/>
            </a:endParaRPr>
          </a:p>
          <a:p>
            <a:pPr marL="756285" lvl="1" indent="-287020">
              <a:lnSpc>
                <a:spcPts val="263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b="1" i="1" spc="-5" dirty="0">
                <a:latin typeface="Calibri"/>
                <a:cs typeface="Calibri"/>
              </a:rPr>
              <a:t>Discrecionales o de Lógica</a:t>
            </a:r>
            <a:r>
              <a:rPr sz="2200" b="1" i="1" spc="-15" dirty="0">
                <a:latin typeface="Calibri"/>
                <a:cs typeface="Calibri"/>
              </a:rPr>
              <a:t> </a:t>
            </a:r>
            <a:r>
              <a:rPr sz="2200" b="1" i="1" spc="-5" dirty="0">
                <a:latin typeface="Calibri"/>
                <a:cs typeface="Calibri"/>
              </a:rPr>
              <a:t>Blanda</a:t>
            </a:r>
            <a:endParaRPr sz="2200">
              <a:latin typeface="Calibri"/>
              <a:cs typeface="Calibri"/>
            </a:endParaRPr>
          </a:p>
          <a:p>
            <a:pPr marL="1155700" marR="6985" lvl="2" indent="-228600" algn="just">
              <a:lnSpc>
                <a:spcPct val="80100"/>
              </a:lnSpc>
              <a:spcBef>
                <a:spcPts val="465"/>
              </a:spcBef>
              <a:buFont typeface="Arial"/>
              <a:buChar char="•"/>
              <a:tabLst>
                <a:tab pos="1156335" algn="l"/>
              </a:tabLst>
            </a:pPr>
            <a:r>
              <a:rPr sz="1900" spc="-5" dirty="0">
                <a:latin typeface="Calibri"/>
                <a:cs typeface="Calibri"/>
              </a:rPr>
              <a:t>Dependen de la experiencia </a:t>
            </a:r>
            <a:r>
              <a:rPr sz="1900" spc="-10" dirty="0">
                <a:latin typeface="Calibri"/>
                <a:cs typeface="Calibri"/>
              </a:rPr>
              <a:t>del  Equipo </a:t>
            </a:r>
            <a:r>
              <a:rPr sz="1900" spc="-5" dirty="0">
                <a:latin typeface="Calibri"/>
                <a:cs typeface="Calibri"/>
              </a:rPr>
              <a:t>del </a:t>
            </a:r>
            <a:r>
              <a:rPr sz="1900" spc="-15" dirty="0">
                <a:latin typeface="Calibri"/>
                <a:cs typeface="Calibri"/>
              </a:rPr>
              <a:t>Proyecto, </a:t>
            </a:r>
            <a:r>
              <a:rPr sz="1900" spc="-5" dirty="0">
                <a:latin typeface="Calibri"/>
                <a:cs typeface="Calibri"/>
              </a:rPr>
              <a:t>son deseables  </a:t>
            </a:r>
            <a:r>
              <a:rPr sz="1900" spc="-15" dirty="0">
                <a:latin typeface="Calibri"/>
                <a:cs typeface="Calibri"/>
              </a:rPr>
              <a:t>pero </a:t>
            </a:r>
            <a:r>
              <a:rPr sz="1900" spc="-5" dirty="0">
                <a:latin typeface="Calibri"/>
                <a:cs typeface="Calibri"/>
              </a:rPr>
              <a:t>no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obligatorias.</a:t>
            </a:r>
            <a:endParaRPr sz="1900">
              <a:latin typeface="Calibri"/>
              <a:cs typeface="Calibri"/>
            </a:endParaRPr>
          </a:p>
          <a:p>
            <a:pPr marL="756285" lvl="1" indent="-287020">
              <a:lnSpc>
                <a:spcPts val="263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b="1" i="1" spc="-10" dirty="0">
                <a:latin typeface="Calibri"/>
                <a:cs typeface="Calibri"/>
              </a:rPr>
              <a:t>Externas</a:t>
            </a:r>
            <a:endParaRPr sz="2200">
              <a:latin typeface="Calibri"/>
              <a:cs typeface="Calibri"/>
            </a:endParaRPr>
          </a:p>
          <a:p>
            <a:pPr marL="1155700" marR="5080" lvl="2" indent="-228600" algn="just">
              <a:lnSpc>
                <a:spcPct val="80000"/>
              </a:lnSpc>
              <a:spcBef>
                <a:spcPts val="470"/>
              </a:spcBef>
              <a:buFont typeface="Arial"/>
              <a:buChar char="•"/>
              <a:tabLst>
                <a:tab pos="1156335" algn="l"/>
              </a:tabLst>
            </a:pPr>
            <a:r>
              <a:rPr sz="1900" spc="-5" dirty="0">
                <a:latin typeface="Calibri"/>
                <a:cs typeface="Calibri"/>
              </a:rPr>
              <a:t>Son las </a:t>
            </a:r>
            <a:r>
              <a:rPr sz="1900" spc="-10" dirty="0">
                <a:latin typeface="Calibri"/>
                <a:cs typeface="Calibri"/>
              </a:rPr>
              <a:t>que </a:t>
            </a:r>
            <a:r>
              <a:rPr sz="1900" spc="-5" dirty="0">
                <a:latin typeface="Calibri"/>
                <a:cs typeface="Calibri"/>
              </a:rPr>
              <a:t>se basan en necesidades  </a:t>
            </a:r>
            <a:r>
              <a:rPr sz="1900" spc="-10" dirty="0">
                <a:latin typeface="Calibri"/>
                <a:cs typeface="Calibri"/>
              </a:rPr>
              <a:t>por </a:t>
            </a:r>
            <a:r>
              <a:rPr sz="1900" spc="-15" dirty="0">
                <a:latin typeface="Calibri"/>
                <a:cs typeface="Calibri"/>
              </a:rPr>
              <a:t>fuera </a:t>
            </a:r>
            <a:r>
              <a:rPr sz="1900" dirty="0">
                <a:latin typeface="Calibri"/>
                <a:cs typeface="Calibri"/>
              </a:rPr>
              <a:t>del </a:t>
            </a:r>
            <a:r>
              <a:rPr sz="1900" spc="-15" dirty="0">
                <a:latin typeface="Calibri"/>
                <a:cs typeface="Calibri"/>
              </a:rPr>
              <a:t>proyecto. </a:t>
            </a:r>
            <a:r>
              <a:rPr sz="1900" spc="-65" dirty="0">
                <a:latin typeface="Calibri"/>
                <a:cs typeface="Calibri"/>
              </a:rPr>
              <a:t>P.E. </a:t>
            </a:r>
            <a:r>
              <a:rPr sz="1900" spc="-10" dirty="0">
                <a:latin typeface="Calibri"/>
                <a:cs typeface="Calibri"/>
              </a:rPr>
              <a:t>un  </a:t>
            </a:r>
            <a:r>
              <a:rPr sz="1900" spc="-35" dirty="0">
                <a:latin typeface="Calibri"/>
                <a:cs typeface="Calibri"/>
              </a:rPr>
              <a:t>proveedor.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69820" y="2340237"/>
            <a:ext cx="2983722" cy="26253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64130" marR="5080" indent="-255206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Secuenciar </a:t>
            </a:r>
            <a:r>
              <a:rPr dirty="0"/>
              <a:t>las Actividades </a:t>
            </a:r>
            <a:r>
              <a:rPr spc="-5" dirty="0"/>
              <a:t>– </a:t>
            </a: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  </a:t>
            </a:r>
            <a:r>
              <a:rPr b="1" spc="-15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7355"/>
            <a:ext cx="8074659" cy="420179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3. Aplicación </a:t>
            </a:r>
            <a:r>
              <a:rPr sz="3200" b="1" i="1" dirty="0">
                <a:latin typeface="Calibri"/>
                <a:cs typeface="Calibri"/>
              </a:rPr>
              <a:t>de </a:t>
            </a:r>
            <a:r>
              <a:rPr sz="3200" b="1" i="1" spc="-5" dirty="0">
                <a:latin typeface="Calibri"/>
                <a:cs typeface="Calibri"/>
              </a:rPr>
              <a:t>Adelantos </a:t>
            </a:r>
            <a:r>
              <a:rPr sz="3200" b="1" i="1" dirty="0">
                <a:latin typeface="Calibri"/>
                <a:cs typeface="Calibri"/>
              </a:rPr>
              <a:t>y</a:t>
            </a:r>
            <a:r>
              <a:rPr sz="3200" b="1" i="1" spc="-6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Esperas</a:t>
            </a:r>
            <a:endParaRPr sz="3200">
              <a:latin typeface="Calibri"/>
              <a:cs typeface="Calibri"/>
            </a:endParaRPr>
          </a:p>
          <a:p>
            <a:pPr marL="756285" marR="6985" lvl="1" indent="-287020" algn="just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920" algn="l"/>
              </a:tabLst>
            </a:pPr>
            <a:r>
              <a:rPr sz="2800" b="1" i="1" spc="-10" dirty="0">
                <a:latin typeface="Calibri"/>
                <a:cs typeface="Calibri"/>
              </a:rPr>
              <a:t>Adelanto </a:t>
            </a:r>
            <a:r>
              <a:rPr sz="2800" b="1" i="1" spc="-5" dirty="0">
                <a:latin typeface="Calibri"/>
                <a:cs typeface="Calibri"/>
              </a:rPr>
              <a:t>(leads): </a:t>
            </a:r>
            <a:r>
              <a:rPr sz="2800" spc="-20" dirty="0">
                <a:latin typeface="Calibri"/>
                <a:cs typeface="Calibri"/>
              </a:rPr>
              <a:t>Permite </a:t>
            </a:r>
            <a:r>
              <a:rPr sz="2800" spc="-10" dirty="0">
                <a:latin typeface="Calibri"/>
                <a:cs typeface="Calibri"/>
              </a:rPr>
              <a:t>la aceleración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spc="-15" dirty="0">
                <a:latin typeface="Calibri"/>
                <a:cs typeface="Calibri"/>
              </a:rPr>
              <a:t>la  </a:t>
            </a:r>
            <a:r>
              <a:rPr sz="2800" spc="-5" dirty="0">
                <a:latin typeface="Calibri"/>
                <a:cs typeface="Calibri"/>
              </a:rPr>
              <a:t>actividad </a:t>
            </a:r>
            <a:r>
              <a:rPr sz="2800" spc="-10" dirty="0">
                <a:latin typeface="Calibri"/>
                <a:cs typeface="Calibri"/>
              </a:rPr>
              <a:t>sucesora. </a:t>
            </a:r>
            <a:r>
              <a:rPr sz="2800" spc="-95" dirty="0">
                <a:latin typeface="Calibri"/>
                <a:cs typeface="Calibri"/>
              </a:rPr>
              <a:t>P.E. </a:t>
            </a:r>
            <a:r>
              <a:rPr sz="2800" spc="-5" dirty="0">
                <a:latin typeface="Calibri"/>
                <a:cs typeface="Calibri"/>
              </a:rPr>
              <a:t>La </a:t>
            </a:r>
            <a:r>
              <a:rPr sz="2800" spc="-20" dirty="0">
                <a:latin typeface="Calibri"/>
                <a:cs typeface="Calibri"/>
              </a:rPr>
              <a:t>compra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un </a:t>
            </a:r>
            <a:r>
              <a:rPr sz="2800" spc="-5" dirty="0">
                <a:latin typeface="Calibri"/>
                <a:cs typeface="Calibri"/>
              </a:rPr>
              <a:t>servidor y  </a:t>
            </a:r>
            <a:r>
              <a:rPr sz="2800" spc="-10" dirty="0">
                <a:latin typeface="Calibri"/>
                <a:cs typeface="Calibri"/>
              </a:rPr>
              <a:t>la </a:t>
            </a:r>
            <a:r>
              <a:rPr sz="2800" spc="-15" dirty="0">
                <a:latin typeface="Calibri"/>
                <a:cs typeface="Calibri"/>
              </a:rPr>
              <a:t>preparación </a:t>
            </a:r>
            <a:r>
              <a:rPr sz="2800" spc="-5" dirty="0">
                <a:latin typeface="Calibri"/>
                <a:cs typeface="Calibri"/>
              </a:rPr>
              <a:t>anticipada de </a:t>
            </a:r>
            <a:r>
              <a:rPr sz="2800" spc="-10" dirty="0">
                <a:latin typeface="Calibri"/>
                <a:cs typeface="Calibri"/>
              </a:rPr>
              <a:t>la </a:t>
            </a:r>
            <a:r>
              <a:rPr sz="2800" spc="-15" dirty="0">
                <a:latin typeface="Calibri"/>
                <a:cs typeface="Calibri"/>
              </a:rPr>
              <a:t>infraestructura  </a:t>
            </a:r>
            <a:r>
              <a:rPr sz="2800" spc="-25" dirty="0">
                <a:latin typeface="Calibri"/>
                <a:cs typeface="Calibri"/>
              </a:rPr>
              <a:t>para </a:t>
            </a:r>
            <a:r>
              <a:rPr sz="2800" spc="-5" dirty="0">
                <a:latin typeface="Calibri"/>
                <a:cs typeface="Calibri"/>
              </a:rPr>
              <a:t>su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instalación.</a:t>
            </a:r>
            <a:endParaRPr sz="280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b="1" spc="-10" dirty="0">
                <a:latin typeface="Calibri"/>
                <a:cs typeface="Calibri"/>
              </a:rPr>
              <a:t>Esperas(lags): </a:t>
            </a:r>
            <a:r>
              <a:rPr sz="2800" spc="-10" dirty="0">
                <a:latin typeface="Calibri"/>
                <a:cs typeface="Calibri"/>
              </a:rPr>
              <a:t>Ocasiona una </a:t>
            </a:r>
            <a:r>
              <a:rPr sz="2800" spc="-20" dirty="0">
                <a:latin typeface="Calibri"/>
                <a:cs typeface="Calibri"/>
              </a:rPr>
              <a:t>demora </a:t>
            </a:r>
            <a:r>
              <a:rPr sz="2800" spc="-5" dirty="0">
                <a:latin typeface="Calibri"/>
                <a:cs typeface="Calibri"/>
              </a:rPr>
              <a:t>en </a:t>
            </a:r>
            <a:r>
              <a:rPr sz="2800" spc="-15" dirty="0">
                <a:latin typeface="Calibri"/>
                <a:cs typeface="Calibri"/>
              </a:rPr>
              <a:t>la  </a:t>
            </a:r>
            <a:r>
              <a:rPr sz="2800" spc="-5" dirty="0">
                <a:latin typeface="Calibri"/>
                <a:cs typeface="Calibri"/>
              </a:rPr>
              <a:t>actividad </a:t>
            </a:r>
            <a:r>
              <a:rPr sz="2800" spc="-10" dirty="0">
                <a:latin typeface="Calibri"/>
                <a:cs typeface="Calibri"/>
              </a:rPr>
              <a:t>sucesora. </a:t>
            </a:r>
            <a:r>
              <a:rPr sz="2800" spc="-95" dirty="0">
                <a:latin typeface="Calibri"/>
                <a:cs typeface="Calibri"/>
              </a:rPr>
              <a:t>P.E. </a:t>
            </a:r>
            <a:r>
              <a:rPr sz="2800" spc="-5" dirty="0">
                <a:latin typeface="Calibri"/>
                <a:cs typeface="Calibri"/>
              </a:rPr>
              <a:t>La </a:t>
            </a:r>
            <a:r>
              <a:rPr sz="2800" spc="-15" dirty="0">
                <a:latin typeface="Calibri"/>
                <a:cs typeface="Calibri"/>
              </a:rPr>
              <a:t>espera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que </a:t>
            </a:r>
            <a:r>
              <a:rPr sz="2800" spc="-15" dirty="0">
                <a:latin typeface="Calibri"/>
                <a:cs typeface="Calibri"/>
              </a:rPr>
              <a:t>fragüe </a:t>
            </a:r>
            <a:r>
              <a:rPr sz="2800" spc="-5" dirty="0">
                <a:latin typeface="Calibri"/>
                <a:cs typeface="Calibri"/>
              </a:rPr>
              <a:t>el  </a:t>
            </a:r>
            <a:r>
              <a:rPr sz="2800" spc="-15" dirty="0">
                <a:latin typeface="Calibri"/>
                <a:cs typeface="Calibri"/>
              </a:rPr>
              <a:t>cemento </a:t>
            </a:r>
            <a:r>
              <a:rPr sz="2800" spc="-25" dirty="0">
                <a:latin typeface="Calibri"/>
                <a:cs typeface="Calibri"/>
              </a:rPr>
              <a:t>para </a:t>
            </a:r>
            <a:r>
              <a:rPr sz="2800" spc="-10" dirty="0">
                <a:latin typeface="Calibri"/>
                <a:cs typeface="Calibri"/>
              </a:rPr>
              <a:t>la </a:t>
            </a:r>
            <a:r>
              <a:rPr sz="2800" spc="-5" dirty="0">
                <a:latin typeface="Calibri"/>
                <a:cs typeface="Calibri"/>
              </a:rPr>
              <a:t>construcción </a:t>
            </a:r>
            <a:r>
              <a:rPr sz="2800" spc="-10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un </a:t>
            </a:r>
            <a:r>
              <a:rPr sz="2800" spc="-5" dirty="0">
                <a:latin typeface="Calibri"/>
                <a:cs typeface="Calibri"/>
              </a:rPr>
              <a:t>piso  </a:t>
            </a:r>
            <a:r>
              <a:rPr sz="2800" spc="-15" dirty="0">
                <a:latin typeface="Calibri"/>
                <a:cs typeface="Calibri"/>
              </a:rPr>
              <a:t>siguiente.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946" y="496950"/>
            <a:ext cx="73615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Secuenciar </a:t>
            </a:r>
            <a:r>
              <a:rPr dirty="0"/>
              <a:t>las </a:t>
            </a:r>
            <a:r>
              <a:rPr spc="-5" dirty="0"/>
              <a:t>Actividades –</a:t>
            </a:r>
            <a:r>
              <a:rPr spc="-50" dirty="0"/>
              <a:t> </a:t>
            </a:r>
            <a:r>
              <a:rPr b="1" spc="-5" dirty="0">
                <a:latin typeface="Calibri"/>
                <a:cs typeface="Calibri"/>
              </a:rPr>
              <a:t>Salidas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4042"/>
            <a:ext cx="2916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b="1" i="1" spc="-5" dirty="0">
                <a:latin typeface="Calibri"/>
                <a:cs typeface="Calibri"/>
              </a:rPr>
              <a:t>1. Diagramas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110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red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15511" y="1714500"/>
            <a:ext cx="4977644" cy="1859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73011" y="4215384"/>
            <a:ext cx="2214372" cy="1478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8916" y="4257802"/>
            <a:ext cx="55587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  <a:tab pos="749935" algn="l"/>
                <a:tab pos="2591435" algn="l"/>
                <a:tab pos="2913380" algn="l"/>
                <a:tab pos="3426460" algn="l"/>
                <a:tab pos="5160010" algn="l"/>
              </a:tabLst>
            </a:pPr>
            <a:r>
              <a:rPr sz="2400" b="1" i="1" spc="-5" dirty="0">
                <a:latin typeface="Calibri"/>
                <a:cs typeface="Calibri"/>
              </a:rPr>
              <a:t>2</a:t>
            </a:r>
            <a:r>
              <a:rPr sz="2400" b="1" i="1" dirty="0">
                <a:latin typeface="Calibri"/>
                <a:cs typeface="Calibri"/>
              </a:rPr>
              <a:t>.	Ac</a:t>
            </a:r>
            <a:r>
              <a:rPr sz="2400" b="1" i="1" spc="-10" dirty="0">
                <a:latin typeface="Calibri"/>
                <a:cs typeface="Calibri"/>
              </a:rPr>
              <a:t>t</a:t>
            </a:r>
            <a:r>
              <a:rPr sz="2400" b="1" i="1" spc="-5" dirty="0">
                <a:latin typeface="Calibri"/>
                <a:cs typeface="Calibri"/>
              </a:rPr>
              <a:t>uali</a:t>
            </a:r>
            <a:r>
              <a:rPr sz="2400" b="1" i="1" spc="-50" dirty="0">
                <a:latin typeface="Calibri"/>
                <a:cs typeface="Calibri"/>
              </a:rPr>
              <a:t>z</a:t>
            </a:r>
            <a:r>
              <a:rPr sz="2400" b="1" i="1" spc="-10" dirty="0">
                <a:latin typeface="Calibri"/>
                <a:cs typeface="Calibri"/>
              </a:rPr>
              <a:t>a</a:t>
            </a:r>
            <a:r>
              <a:rPr sz="2400" b="1" i="1" dirty="0">
                <a:latin typeface="Calibri"/>
                <a:cs typeface="Calibri"/>
              </a:rPr>
              <a:t>c</a:t>
            </a:r>
            <a:r>
              <a:rPr sz="2400" b="1" i="1" spc="-10" dirty="0">
                <a:latin typeface="Calibri"/>
                <a:cs typeface="Calibri"/>
              </a:rPr>
              <a:t>i</a:t>
            </a:r>
            <a:r>
              <a:rPr sz="2400" b="1" i="1" spc="-5" dirty="0">
                <a:latin typeface="Calibri"/>
                <a:cs typeface="Calibri"/>
              </a:rPr>
              <a:t>ó</a:t>
            </a:r>
            <a:r>
              <a:rPr sz="2400" b="1" i="1" dirty="0">
                <a:latin typeface="Calibri"/>
                <a:cs typeface="Calibri"/>
              </a:rPr>
              <a:t>n	a	l</a:t>
            </a:r>
            <a:r>
              <a:rPr sz="2400" b="1" i="1" spc="-10" dirty="0">
                <a:latin typeface="Calibri"/>
                <a:cs typeface="Calibri"/>
              </a:rPr>
              <a:t>o</a:t>
            </a:r>
            <a:r>
              <a:rPr sz="2400" b="1" i="1" dirty="0">
                <a:latin typeface="Calibri"/>
                <a:cs typeface="Calibri"/>
              </a:rPr>
              <a:t>s	</a:t>
            </a:r>
            <a:r>
              <a:rPr sz="2400" b="1" i="1" spc="-5" dirty="0">
                <a:latin typeface="Calibri"/>
                <a:cs typeface="Calibri"/>
              </a:rPr>
              <a:t>Do</a:t>
            </a:r>
            <a:r>
              <a:rPr sz="2400" b="1" i="1" spc="-15" dirty="0">
                <a:latin typeface="Calibri"/>
                <a:cs typeface="Calibri"/>
              </a:rPr>
              <a:t>c</a:t>
            </a:r>
            <a:r>
              <a:rPr sz="2400" b="1" i="1" spc="-5" dirty="0">
                <a:latin typeface="Calibri"/>
                <a:cs typeface="Calibri"/>
              </a:rPr>
              <a:t>ume</a:t>
            </a:r>
            <a:r>
              <a:rPr sz="2400" b="1" i="1" spc="-35" dirty="0">
                <a:latin typeface="Calibri"/>
                <a:cs typeface="Calibri"/>
              </a:rPr>
              <a:t>n</a:t>
            </a:r>
            <a:r>
              <a:rPr sz="2400" b="1" i="1" spc="-30" dirty="0">
                <a:latin typeface="Calibri"/>
                <a:cs typeface="Calibri"/>
              </a:rPr>
              <a:t>t</a:t>
            </a:r>
            <a:r>
              <a:rPr sz="2400" b="1" i="1" spc="-5" dirty="0">
                <a:latin typeface="Calibri"/>
                <a:cs typeface="Calibri"/>
              </a:rPr>
              <a:t>o</a:t>
            </a:r>
            <a:r>
              <a:rPr sz="2400" b="1" i="1" dirty="0">
                <a:latin typeface="Calibri"/>
                <a:cs typeface="Calibri"/>
              </a:rPr>
              <a:t>s	del  </a:t>
            </a:r>
            <a:r>
              <a:rPr sz="2400" b="1" i="1" spc="-15" dirty="0">
                <a:latin typeface="Calibri"/>
                <a:cs typeface="Calibri"/>
              </a:rPr>
              <a:t>Proyecto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11117" y="461899"/>
            <a:ext cx="19208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latin typeface="Calibri"/>
                <a:cs typeface="Calibri"/>
              </a:rPr>
              <a:t>Eje</a:t>
            </a:r>
            <a:r>
              <a:rPr sz="4400" spc="-60" dirty="0">
                <a:latin typeface="Calibri"/>
                <a:cs typeface="Calibri"/>
              </a:rPr>
              <a:t>r</a:t>
            </a:r>
            <a:r>
              <a:rPr sz="4400" dirty="0">
                <a:latin typeface="Calibri"/>
                <a:cs typeface="Calibri"/>
              </a:rPr>
              <a:t>cic</a:t>
            </a:r>
            <a:r>
              <a:rPr sz="4400" spc="-20" dirty="0">
                <a:latin typeface="Calibri"/>
                <a:cs typeface="Calibri"/>
              </a:rPr>
              <a:t>i</a:t>
            </a:r>
            <a:r>
              <a:rPr sz="4400" dirty="0">
                <a:latin typeface="Calibri"/>
                <a:cs typeface="Calibri"/>
              </a:rPr>
              <a:t>o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9144" y="1614042"/>
            <a:ext cx="77292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4545330" algn="l"/>
              </a:tabLst>
            </a:pPr>
            <a:r>
              <a:rPr sz="2400" spc="-10" dirty="0">
                <a:latin typeface="Calibri"/>
                <a:cs typeface="Calibri"/>
              </a:rPr>
              <a:t>Desarrollar  </a:t>
            </a:r>
            <a:r>
              <a:rPr sz="2400" dirty="0">
                <a:latin typeface="Calibri"/>
                <a:cs typeface="Calibri"/>
              </a:rPr>
              <a:t>el  </a:t>
            </a:r>
            <a:r>
              <a:rPr sz="2400" spc="-10" dirty="0">
                <a:latin typeface="Calibri"/>
                <a:cs typeface="Calibri"/>
              </a:rPr>
              <a:t>diagrama 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red</a:t>
            </a:r>
            <a:r>
              <a:rPr sz="2400" spc="4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	acuerdo </a:t>
            </a:r>
            <a:r>
              <a:rPr sz="2400" spc="-10" dirty="0">
                <a:latin typeface="Calibri"/>
                <a:cs typeface="Calibri"/>
              </a:rPr>
              <a:t>con </a:t>
            </a:r>
            <a:r>
              <a:rPr sz="2400" dirty="0">
                <a:latin typeface="Calibri"/>
                <a:cs typeface="Calibri"/>
              </a:rPr>
              <a:t>la </a:t>
            </a:r>
            <a:r>
              <a:rPr sz="2400" spc="-10" dirty="0">
                <a:latin typeface="Calibri"/>
                <a:cs typeface="Calibri"/>
              </a:rPr>
              <a:t>siguiente  información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29255" y="2500883"/>
            <a:ext cx="4200144" cy="38850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1034" y="231470"/>
            <a:ext cx="1743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</a:t>
            </a:r>
            <a:r>
              <a:rPr sz="4400" spc="-45" dirty="0"/>
              <a:t>g</a:t>
            </a:r>
            <a:r>
              <a:rPr sz="4400" dirty="0"/>
              <a:t>enda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891436"/>
            <a:ext cx="3428365" cy="59702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300" b="1" spc="-10" dirty="0">
                <a:latin typeface="Calibri"/>
                <a:cs typeface="Calibri"/>
              </a:rPr>
              <a:t>GRUPO </a:t>
            </a:r>
            <a:r>
              <a:rPr sz="1300" b="1" spc="-5" dirty="0">
                <a:latin typeface="Calibri"/>
                <a:cs typeface="Calibri"/>
              </a:rPr>
              <a:t>DE </a:t>
            </a:r>
            <a:r>
              <a:rPr sz="1300" b="1" spc="-10" dirty="0">
                <a:latin typeface="Calibri"/>
                <a:cs typeface="Calibri"/>
              </a:rPr>
              <a:t>PROCESOS </a:t>
            </a:r>
            <a:r>
              <a:rPr sz="1300" b="1" spc="-5" dirty="0">
                <a:latin typeface="Calibri"/>
                <a:cs typeface="Calibri"/>
              </a:rPr>
              <a:t>DE</a:t>
            </a:r>
            <a:r>
              <a:rPr sz="1300" b="1" spc="6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PLANIFICACION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Planificar la gestión del</a:t>
            </a:r>
            <a:r>
              <a:rPr sz="1300" spc="5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Cronograma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10" dirty="0">
                <a:latin typeface="Calibri"/>
                <a:cs typeface="Calibri"/>
              </a:rPr>
              <a:t>Definir </a:t>
            </a:r>
            <a:r>
              <a:rPr sz="1300" spc="-5" dirty="0">
                <a:latin typeface="Calibri"/>
                <a:cs typeface="Calibri"/>
              </a:rPr>
              <a:t>las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Secuenciar las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b="1" spc="-10" dirty="0">
                <a:latin typeface="Calibri"/>
                <a:cs typeface="Calibri"/>
              </a:rPr>
              <a:t>Estimar </a:t>
            </a:r>
            <a:r>
              <a:rPr sz="1300" b="1" spc="-5" dirty="0">
                <a:latin typeface="Calibri"/>
                <a:cs typeface="Calibri"/>
              </a:rPr>
              <a:t>los </a:t>
            </a:r>
            <a:r>
              <a:rPr sz="1300" b="1" spc="-10" dirty="0">
                <a:latin typeface="Calibri"/>
                <a:cs typeface="Calibri"/>
              </a:rPr>
              <a:t>Recursos </a:t>
            </a:r>
            <a:r>
              <a:rPr sz="1300" b="1" spc="-5" dirty="0">
                <a:latin typeface="Calibri"/>
                <a:cs typeface="Calibri"/>
              </a:rPr>
              <a:t>de las</a:t>
            </a:r>
            <a:r>
              <a:rPr sz="1300" b="1" spc="45" dirty="0">
                <a:latin typeface="Calibri"/>
                <a:cs typeface="Calibri"/>
              </a:rPr>
              <a:t> </a:t>
            </a:r>
            <a:r>
              <a:rPr sz="1300" b="1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Estimar la </a:t>
            </a:r>
            <a:r>
              <a:rPr sz="1300" spc="-10" dirty="0">
                <a:latin typeface="Calibri"/>
                <a:cs typeface="Calibri"/>
              </a:rPr>
              <a:t>Duración </a:t>
            </a:r>
            <a:r>
              <a:rPr sz="1300" spc="-5" dirty="0">
                <a:latin typeface="Calibri"/>
                <a:cs typeface="Calibri"/>
              </a:rPr>
              <a:t>de las</a:t>
            </a:r>
            <a:r>
              <a:rPr sz="1300" spc="7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10" dirty="0">
                <a:latin typeface="Calibri"/>
                <a:cs typeface="Calibri"/>
              </a:rPr>
              <a:t>Desarrollar </a:t>
            </a:r>
            <a:r>
              <a:rPr sz="1300" spc="-5" dirty="0">
                <a:latin typeface="Calibri"/>
                <a:cs typeface="Calibri"/>
              </a:rPr>
              <a:t>el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Cronograma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5810" y="496950"/>
            <a:ext cx="80149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Estimar </a:t>
            </a:r>
            <a:r>
              <a:rPr spc="-5" dirty="0"/>
              <a:t>los </a:t>
            </a:r>
            <a:r>
              <a:rPr spc="-25" dirty="0"/>
              <a:t>Recursos </a:t>
            </a:r>
            <a:r>
              <a:rPr spc="-5" dirty="0"/>
              <a:t>de </a:t>
            </a:r>
            <a:r>
              <a:rPr spc="-10" dirty="0"/>
              <a:t>las</a:t>
            </a:r>
            <a:r>
              <a:rPr spc="25" dirty="0"/>
              <a:t> </a:t>
            </a:r>
            <a:r>
              <a:rPr spc="-5" dirty="0"/>
              <a:t>Actividades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9178"/>
            <a:ext cx="8073390" cy="44430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marR="5080" indent="-343535" algn="just">
              <a:lnSpc>
                <a:spcPts val="2020"/>
              </a:lnSpc>
              <a:spcBef>
                <a:spcPts val="580"/>
              </a:spcBef>
              <a:buFont typeface="Arial"/>
              <a:buChar char="•"/>
              <a:tabLst>
                <a:tab pos="356235" algn="l"/>
              </a:tabLst>
            </a:pPr>
            <a:r>
              <a:rPr sz="2100" spc="-5" dirty="0">
                <a:latin typeface="Calibri"/>
                <a:cs typeface="Calibri"/>
              </a:rPr>
              <a:t>Se </a:t>
            </a:r>
            <a:r>
              <a:rPr sz="2100" spc="-20" dirty="0">
                <a:latin typeface="Calibri"/>
                <a:cs typeface="Calibri"/>
              </a:rPr>
              <a:t>trata </a:t>
            </a:r>
            <a:r>
              <a:rPr sz="2100" dirty="0">
                <a:latin typeface="Calibri"/>
                <a:cs typeface="Calibri"/>
              </a:rPr>
              <a:t>de </a:t>
            </a:r>
            <a:r>
              <a:rPr sz="2100" spc="-5" dirty="0">
                <a:latin typeface="Calibri"/>
                <a:cs typeface="Calibri"/>
              </a:rPr>
              <a:t>identificar </a:t>
            </a:r>
            <a:r>
              <a:rPr sz="2100" dirty="0">
                <a:latin typeface="Calibri"/>
                <a:cs typeface="Calibri"/>
              </a:rPr>
              <a:t>las </a:t>
            </a:r>
            <a:r>
              <a:rPr sz="2100" spc="-10" dirty="0">
                <a:latin typeface="Calibri"/>
                <a:cs typeface="Calibri"/>
              </a:rPr>
              <a:t>cantidades </a:t>
            </a:r>
            <a:r>
              <a:rPr sz="2100" dirty="0">
                <a:latin typeface="Calibri"/>
                <a:cs typeface="Calibri"/>
              </a:rPr>
              <a:t>y </a:t>
            </a:r>
            <a:r>
              <a:rPr sz="2100" spc="5" dirty="0">
                <a:latin typeface="Calibri"/>
                <a:cs typeface="Calibri"/>
              </a:rPr>
              <a:t>los </a:t>
            </a:r>
            <a:r>
              <a:rPr sz="2100" spc="-10" dirty="0">
                <a:latin typeface="Calibri"/>
                <a:cs typeface="Calibri"/>
              </a:rPr>
              <a:t>recursos (humanos,  </a:t>
            </a:r>
            <a:r>
              <a:rPr sz="2100" spc="-5" dirty="0">
                <a:latin typeface="Calibri"/>
                <a:cs typeface="Calibri"/>
              </a:rPr>
              <a:t>materiales </a:t>
            </a:r>
            <a:r>
              <a:rPr sz="2100" dirty="0">
                <a:latin typeface="Calibri"/>
                <a:cs typeface="Calibri"/>
              </a:rPr>
              <a:t>y de </a:t>
            </a:r>
            <a:r>
              <a:rPr sz="2100" spc="-5" dirty="0">
                <a:latin typeface="Calibri"/>
                <a:cs typeface="Calibri"/>
              </a:rPr>
              <a:t>equipamiento </a:t>
            </a:r>
            <a:r>
              <a:rPr sz="2100" dirty="0">
                <a:latin typeface="Calibri"/>
                <a:cs typeface="Calibri"/>
              </a:rPr>
              <a:t>o </a:t>
            </a:r>
            <a:r>
              <a:rPr sz="2100" spc="-10" dirty="0">
                <a:latin typeface="Calibri"/>
                <a:cs typeface="Calibri"/>
              </a:rPr>
              <a:t>suministros) </a:t>
            </a:r>
            <a:r>
              <a:rPr sz="2100" spc="-5" dirty="0">
                <a:latin typeface="Calibri"/>
                <a:cs typeface="Calibri"/>
              </a:rPr>
              <a:t>disponibles </a:t>
            </a:r>
            <a:r>
              <a:rPr sz="2100" spc="-15" dirty="0">
                <a:latin typeface="Calibri"/>
                <a:cs typeface="Calibri"/>
              </a:rPr>
              <a:t>para </a:t>
            </a:r>
            <a:r>
              <a:rPr sz="2100" spc="-5" dirty="0">
                <a:latin typeface="Calibri"/>
                <a:cs typeface="Calibri"/>
              </a:rPr>
              <a:t>el  </a:t>
            </a:r>
            <a:r>
              <a:rPr sz="2100" spc="-15" dirty="0">
                <a:latin typeface="Calibri"/>
                <a:cs typeface="Calibri"/>
              </a:rPr>
              <a:t>proyecto </a:t>
            </a:r>
            <a:r>
              <a:rPr sz="2100" dirty="0">
                <a:latin typeface="Calibri"/>
                <a:cs typeface="Calibri"/>
              </a:rPr>
              <a:t>y </a:t>
            </a:r>
            <a:r>
              <a:rPr sz="2100" spc="-5" dirty="0">
                <a:latin typeface="Calibri"/>
                <a:cs typeface="Calibri"/>
              </a:rPr>
              <a:t>requeridos </a:t>
            </a:r>
            <a:r>
              <a:rPr sz="2100" spc="-15" dirty="0">
                <a:latin typeface="Calibri"/>
                <a:cs typeface="Calibri"/>
              </a:rPr>
              <a:t>para </a:t>
            </a:r>
            <a:r>
              <a:rPr sz="2100" spc="-5" dirty="0">
                <a:latin typeface="Calibri"/>
                <a:cs typeface="Calibri"/>
              </a:rPr>
              <a:t>ejecutar </a:t>
            </a:r>
            <a:r>
              <a:rPr sz="2100" spc="-10" dirty="0">
                <a:latin typeface="Calibri"/>
                <a:cs typeface="Calibri"/>
              </a:rPr>
              <a:t>cada </a:t>
            </a:r>
            <a:r>
              <a:rPr sz="2100" spc="-5" dirty="0">
                <a:latin typeface="Calibri"/>
                <a:cs typeface="Calibri"/>
              </a:rPr>
              <a:t>actividad. </a:t>
            </a:r>
            <a:r>
              <a:rPr sz="2100" spc="-10" dirty="0">
                <a:latin typeface="Calibri"/>
                <a:cs typeface="Calibri"/>
              </a:rPr>
              <a:t>Se </a:t>
            </a:r>
            <a:r>
              <a:rPr sz="2100" spc="-5" dirty="0">
                <a:latin typeface="Calibri"/>
                <a:cs typeface="Calibri"/>
              </a:rPr>
              <a:t>suelen </a:t>
            </a:r>
            <a:r>
              <a:rPr sz="2100" spc="-10" dirty="0">
                <a:latin typeface="Calibri"/>
                <a:cs typeface="Calibri"/>
              </a:rPr>
              <a:t>realizar  </a:t>
            </a:r>
            <a:r>
              <a:rPr sz="2100" spc="-5" dirty="0">
                <a:latin typeface="Calibri"/>
                <a:cs typeface="Calibri"/>
              </a:rPr>
              <a:t>calendarios </a:t>
            </a:r>
            <a:r>
              <a:rPr sz="2100" spc="5" dirty="0">
                <a:latin typeface="Calibri"/>
                <a:cs typeface="Calibri"/>
              </a:rPr>
              <a:t>de </a:t>
            </a:r>
            <a:r>
              <a:rPr sz="2100" spc="-10" dirty="0">
                <a:latin typeface="Calibri"/>
                <a:cs typeface="Calibri"/>
              </a:rPr>
              <a:t>recursos </a:t>
            </a:r>
            <a:r>
              <a:rPr sz="2100" dirty="0">
                <a:latin typeface="Calibri"/>
                <a:cs typeface="Calibri"/>
              </a:rPr>
              <a:t>que </a:t>
            </a:r>
            <a:r>
              <a:rPr sz="2100" spc="-5" dirty="0">
                <a:latin typeface="Calibri"/>
                <a:cs typeface="Calibri"/>
              </a:rPr>
              <a:t>especifiquen </a:t>
            </a:r>
            <a:r>
              <a:rPr sz="2100" spc="-10" dirty="0">
                <a:latin typeface="Calibri"/>
                <a:cs typeface="Calibri"/>
              </a:rPr>
              <a:t>claramente </a:t>
            </a:r>
            <a:r>
              <a:rPr sz="2100" dirty="0">
                <a:latin typeface="Calibri"/>
                <a:cs typeface="Calibri"/>
              </a:rPr>
              <a:t>cuando y </a:t>
            </a:r>
            <a:r>
              <a:rPr sz="2100" spc="-5" dirty="0">
                <a:latin typeface="Calibri"/>
                <a:cs typeface="Calibri"/>
              </a:rPr>
              <a:t>por  </a:t>
            </a:r>
            <a:r>
              <a:rPr sz="2100" spc="-10" dirty="0">
                <a:latin typeface="Calibri"/>
                <a:cs typeface="Calibri"/>
              </a:rPr>
              <a:t>cuanto </a:t>
            </a:r>
            <a:r>
              <a:rPr sz="2100" dirty="0">
                <a:latin typeface="Calibri"/>
                <a:cs typeface="Calibri"/>
              </a:rPr>
              <a:t>tiempo </a:t>
            </a:r>
            <a:r>
              <a:rPr sz="2100" spc="-20" dirty="0">
                <a:latin typeface="Calibri"/>
                <a:cs typeface="Calibri"/>
              </a:rPr>
              <a:t>estará </a:t>
            </a:r>
            <a:r>
              <a:rPr sz="2100" spc="-5" dirty="0">
                <a:latin typeface="Calibri"/>
                <a:cs typeface="Calibri"/>
              </a:rPr>
              <a:t>disponible </a:t>
            </a:r>
            <a:r>
              <a:rPr sz="2100" spc="-15" dirty="0">
                <a:latin typeface="Calibri"/>
                <a:cs typeface="Calibri"/>
              </a:rPr>
              <a:t>para </a:t>
            </a:r>
            <a:r>
              <a:rPr sz="2100" spc="-5" dirty="0">
                <a:latin typeface="Calibri"/>
                <a:cs typeface="Calibri"/>
              </a:rPr>
              <a:t>el </a:t>
            </a:r>
            <a:r>
              <a:rPr sz="2100" spc="-15" dirty="0">
                <a:latin typeface="Calibri"/>
                <a:cs typeface="Calibri"/>
              </a:rPr>
              <a:t>proyecto </a:t>
            </a:r>
            <a:r>
              <a:rPr sz="2100" spc="-5" dirty="0">
                <a:latin typeface="Calibri"/>
                <a:cs typeface="Calibri"/>
              </a:rPr>
              <a:t>cada</a:t>
            </a:r>
            <a:r>
              <a:rPr sz="2100" spc="70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recurso.</a:t>
            </a:r>
            <a:endParaRPr sz="2100">
              <a:latin typeface="Calibri"/>
              <a:cs typeface="Calibri"/>
            </a:endParaRPr>
          </a:p>
          <a:p>
            <a:pPr marL="355600" marR="8255" indent="-343535" algn="just">
              <a:lnSpc>
                <a:spcPts val="2020"/>
              </a:lnSpc>
              <a:spcBef>
                <a:spcPts val="490"/>
              </a:spcBef>
              <a:buFont typeface="Arial"/>
              <a:buChar char="•"/>
              <a:tabLst>
                <a:tab pos="356235" algn="l"/>
              </a:tabLst>
            </a:pPr>
            <a:r>
              <a:rPr sz="2100" spc="-15" dirty="0">
                <a:latin typeface="Calibri"/>
                <a:cs typeface="Calibri"/>
              </a:rPr>
              <a:t>Está </a:t>
            </a:r>
            <a:r>
              <a:rPr sz="2100" dirty="0">
                <a:latin typeface="Calibri"/>
                <a:cs typeface="Calibri"/>
              </a:rPr>
              <a:t>muy </a:t>
            </a:r>
            <a:r>
              <a:rPr sz="2100" spc="-20" dirty="0">
                <a:latin typeface="Calibri"/>
                <a:cs typeface="Calibri"/>
              </a:rPr>
              <a:t>atada </a:t>
            </a:r>
            <a:r>
              <a:rPr sz="2100" dirty="0">
                <a:latin typeface="Calibri"/>
                <a:cs typeface="Calibri"/>
              </a:rPr>
              <a:t>a </a:t>
            </a:r>
            <a:r>
              <a:rPr sz="2100" spc="-5" dirty="0">
                <a:latin typeface="Calibri"/>
                <a:cs typeface="Calibri"/>
              </a:rPr>
              <a:t>los </a:t>
            </a:r>
            <a:r>
              <a:rPr sz="2100" spc="-10" dirty="0">
                <a:latin typeface="Calibri"/>
                <a:cs typeface="Calibri"/>
              </a:rPr>
              <a:t>costos </a:t>
            </a:r>
            <a:r>
              <a:rPr sz="2100" spc="-5" dirty="0">
                <a:latin typeface="Calibri"/>
                <a:cs typeface="Calibri"/>
              </a:rPr>
              <a:t>estimados, </a:t>
            </a:r>
            <a:r>
              <a:rPr sz="2100" dirty="0">
                <a:latin typeface="Calibri"/>
                <a:cs typeface="Calibri"/>
              </a:rPr>
              <a:t>por eso </a:t>
            </a:r>
            <a:r>
              <a:rPr sz="2100" spc="-5" dirty="0">
                <a:latin typeface="Calibri"/>
                <a:cs typeface="Calibri"/>
              </a:rPr>
              <a:t>se determinan </a:t>
            </a:r>
            <a:r>
              <a:rPr sz="2100" spc="-10" dirty="0">
                <a:latin typeface="Calibri"/>
                <a:cs typeface="Calibri"/>
              </a:rPr>
              <a:t>primero  </a:t>
            </a:r>
            <a:r>
              <a:rPr sz="2100" spc="-5" dirty="0">
                <a:latin typeface="Calibri"/>
                <a:cs typeface="Calibri"/>
              </a:rPr>
              <a:t>los </a:t>
            </a:r>
            <a:r>
              <a:rPr sz="2100" spc="-10" dirty="0">
                <a:latin typeface="Calibri"/>
                <a:cs typeface="Calibri"/>
              </a:rPr>
              <a:t>recursos </a:t>
            </a:r>
            <a:r>
              <a:rPr sz="2100" dirty="0">
                <a:latin typeface="Calibri"/>
                <a:cs typeface="Calibri"/>
              </a:rPr>
              <a:t>y </a:t>
            </a:r>
            <a:r>
              <a:rPr sz="2100" spc="-5" dirty="0">
                <a:latin typeface="Calibri"/>
                <a:cs typeface="Calibri"/>
              </a:rPr>
              <a:t>luego la </a:t>
            </a:r>
            <a:r>
              <a:rPr sz="2100" spc="-10" dirty="0">
                <a:latin typeface="Calibri"/>
                <a:cs typeface="Calibri"/>
              </a:rPr>
              <a:t>duración </a:t>
            </a:r>
            <a:r>
              <a:rPr sz="2100" dirty="0">
                <a:latin typeface="Calibri"/>
                <a:cs typeface="Calibri"/>
              </a:rPr>
              <a:t>de las</a:t>
            </a:r>
            <a:r>
              <a:rPr sz="2100" spc="8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actividades.</a:t>
            </a:r>
            <a:endParaRPr sz="210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515"/>
              </a:spcBef>
              <a:buFont typeface="Arial"/>
              <a:buChar char="•"/>
              <a:tabLst>
                <a:tab pos="417195" algn="l"/>
              </a:tabLst>
            </a:pPr>
            <a:r>
              <a:rPr dirty="0"/>
              <a:t>	</a:t>
            </a:r>
            <a:r>
              <a:rPr sz="2100" spc="-5" dirty="0">
                <a:latin typeface="Calibri"/>
                <a:cs typeface="Calibri"/>
              </a:rPr>
              <a:t>Los calendarios </a:t>
            </a:r>
            <a:r>
              <a:rPr sz="2100" dirty="0">
                <a:latin typeface="Calibri"/>
                <a:cs typeface="Calibri"/>
              </a:rPr>
              <a:t>de </a:t>
            </a:r>
            <a:r>
              <a:rPr sz="2100" spc="-10" dirty="0">
                <a:latin typeface="Calibri"/>
                <a:cs typeface="Calibri"/>
              </a:rPr>
              <a:t>recursos </a:t>
            </a:r>
            <a:r>
              <a:rPr sz="2100" spc="-5" dirty="0">
                <a:latin typeface="Calibri"/>
                <a:cs typeface="Calibri"/>
              </a:rPr>
              <a:t>deben </a:t>
            </a:r>
            <a:r>
              <a:rPr sz="2100" dirty="0">
                <a:latin typeface="Calibri"/>
                <a:cs typeface="Calibri"/>
              </a:rPr>
              <a:t>incluir no sólo </a:t>
            </a:r>
            <a:r>
              <a:rPr sz="2100" spc="-5" dirty="0">
                <a:latin typeface="Calibri"/>
                <a:cs typeface="Calibri"/>
              </a:rPr>
              <a:t>la disponibilidad,  sino </a:t>
            </a:r>
            <a:r>
              <a:rPr sz="2100" spc="-10" dirty="0">
                <a:latin typeface="Calibri"/>
                <a:cs typeface="Calibri"/>
              </a:rPr>
              <a:t>también </a:t>
            </a:r>
            <a:r>
              <a:rPr sz="2100" dirty="0">
                <a:latin typeface="Calibri"/>
                <a:cs typeface="Calibri"/>
              </a:rPr>
              <a:t>las </a:t>
            </a:r>
            <a:r>
              <a:rPr sz="2100" spc="-5" dirty="0">
                <a:latin typeface="Calibri"/>
                <a:cs typeface="Calibri"/>
              </a:rPr>
              <a:t>capacidades </a:t>
            </a:r>
            <a:r>
              <a:rPr sz="2100" dirty="0">
                <a:latin typeface="Calibri"/>
                <a:cs typeface="Calibri"/>
              </a:rPr>
              <a:t>y </a:t>
            </a:r>
            <a:r>
              <a:rPr sz="2100" spc="-5" dirty="0">
                <a:latin typeface="Calibri"/>
                <a:cs typeface="Calibri"/>
              </a:rPr>
              <a:t>conocimientos </a:t>
            </a:r>
            <a:r>
              <a:rPr sz="2100" dirty="0">
                <a:latin typeface="Calibri"/>
                <a:cs typeface="Calibri"/>
              </a:rPr>
              <a:t>de los </a:t>
            </a:r>
            <a:r>
              <a:rPr sz="2100" spc="-10" dirty="0">
                <a:latin typeface="Calibri"/>
                <a:cs typeface="Calibri"/>
              </a:rPr>
              <a:t>recursos  </a:t>
            </a:r>
            <a:r>
              <a:rPr sz="2100" spc="-5" dirty="0">
                <a:latin typeface="Calibri"/>
                <a:cs typeface="Calibri"/>
              </a:rPr>
              <a:t>humanos (por </a:t>
            </a:r>
            <a:r>
              <a:rPr sz="2100" spc="-10" dirty="0">
                <a:latin typeface="Calibri"/>
                <a:cs typeface="Calibri"/>
              </a:rPr>
              <a:t>ejemplo, </a:t>
            </a:r>
            <a:r>
              <a:rPr sz="2100" spc="-5" dirty="0">
                <a:latin typeface="Calibri"/>
                <a:cs typeface="Calibri"/>
              </a:rPr>
              <a:t>ingenieros senior </a:t>
            </a:r>
            <a:r>
              <a:rPr sz="2100" dirty="0">
                <a:latin typeface="Calibri"/>
                <a:cs typeface="Calibri"/>
              </a:rPr>
              <a:t>o </a:t>
            </a:r>
            <a:r>
              <a:rPr sz="2100" spc="-30" dirty="0">
                <a:latin typeface="Calibri"/>
                <a:cs typeface="Calibri"/>
              </a:rPr>
              <a:t>junior, </a:t>
            </a:r>
            <a:r>
              <a:rPr sz="2100" spc="-10" dirty="0">
                <a:latin typeface="Calibri"/>
                <a:cs typeface="Calibri"/>
              </a:rPr>
              <a:t>recursos </a:t>
            </a:r>
            <a:r>
              <a:rPr sz="2100" spc="-5" dirty="0">
                <a:latin typeface="Calibri"/>
                <a:cs typeface="Calibri"/>
              </a:rPr>
              <a:t>de  </a:t>
            </a:r>
            <a:r>
              <a:rPr sz="2100" spc="-10" dirty="0">
                <a:latin typeface="Calibri"/>
                <a:cs typeface="Calibri"/>
              </a:rPr>
              <a:t>desarrollo </a:t>
            </a:r>
            <a:r>
              <a:rPr sz="2100" dirty="0">
                <a:latin typeface="Calibri"/>
                <a:cs typeface="Calibri"/>
              </a:rPr>
              <a:t>o de </a:t>
            </a:r>
            <a:r>
              <a:rPr sz="2100" spc="-15" dirty="0">
                <a:latin typeface="Calibri"/>
                <a:cs typeface="Calibri"/>
              </a:rPr>
              <a:t>test, </a:t>
            </a:r>
            <a:r>
              <a:rPr sz="2100" spc="-10" dirty="0">
                <a:latin typeface="Calibri"/>
                <a:cs typeface="Calibri"/>
              </a:rPr>
              <a:t>etc.) </a:t>
            </a:r>
            <a:r>
              <a:rPr sz="2100" dirty="0">
                <a:latin typeface="Calibri"/>
                <a:cs typeface="Calibri"/>
              </a:rPr>
              <a:t>y las </a:t>
            </a:r>
            <a:r>
              <a:rPr sz="2100" spc="-5" dirty="0">
                <a:latin typeface="Calibri"/>
                <a:cs typeface="Calibri"/>
              </a:rPr>
              <a:t>especificaciones </a:t>
            </a:r>
            <a:r>
              <a:rPr sz="2100" spc="5" dirty="0">
                <a:latin typeface="Calibri"/>
                <a:cs typeface="Calibri"/>
              </a:rPr>
              <a:t>de </a:t>
            </a:r>
            <a:r>
              <a:rPr sz="2100" dirty="0">
                <a:latin typeface="Calibri"/>
                <a:cs typeface="Calibri"/>
              </a:rPr>
              <a:t>los </a:t>
            </a:r>
            <a:r>
              <a:rPr sz="2100" spc="-10" dirty="0">
                <a:latin typeface="Calibri"/>
                <a:cs typeface="Calibri"/>
              </a:rPr>
              <a:t>recursos  </a:t>
            </a:r>
            <a:r>
              <a:rPr sz="2100" spc="-5" dirty="0">
                <a:latin typeface="Calibri"/>
                <a:cs typeface="Calibri"/>
              </a:rPr>
              <a:t>materiales. Se pueden </a:t>
            </a:r>
            <a:r>
              <a:rPr sz="2100" spc="-10" dirty="0">
                <a:latin typeface="Calibri"/>
                <a:cs typeface="Calibri"/>
              </a:rPr>
              <a:t>utilizar </a:t>
            </a:r>
            <a:r>
              <a:rPr sz="2100" spc="-15" dirty="0">
                <a:latin typeface="Calibri"/>
                <a:cs typeface="Calibri"/>
              </a:rPr>
              <a:t>categorías </a:t>
            </a:r>
            <a:r>
              <a:rPr sz="2100" dirty="0">
                <a:latin typeface="Calibri"/>
                <a:cs typeface="Calibri"/>
              </a:rPr>
              <a:t>(más o menos </a:t>
            </a:r>
            <a:r>
              <a:rPr sz="2100" spc="-10" dirty="0">
                <a:latin typeface="Calibri"/>
                <a:cs typeface="Calibri"/>
              </a:rPr>
              <a:t>estándar) </a:t>
            </a:r>
            <a:r>
              <a:rPr sz="2100" spc="-20" dirty="0">
                <a:latin typeface="Calibri"/>
                <a:cs typeface="Calibri"/>
              </a:rPr>
              <a:t>para  </a:t>
            </a:r>
            <a:r>
              <a:rPr sz="2100" spc="-5" dirty="0">
                <a:latin typeface="Calibri"/>
                <a:cs typeface="Calibri"/>
              </a:rPr>
              <a:t>clasificar </a:t>
            </a:r>
            <a:r>
              <a:rPr sz="2100" dirty="0">
                <a:latin typeface="Calibri"/>
                <a:cs typeface="Calibri"/>
              </a:rPr>
              <a:t>a </a:t>
            </a:r>
            <a:r>
              <a:rPr sz="2100" spc="-5" dirty="0">
                <a:latin typeface="Calibri"/>
                <a:cs typeface="Calibri"/>
              </a:rPr>
              <a:t>los </a:t>
            </a:r>
            <a:r>
              <a:rPr sz="2100" spc="-10" dirty="0">
                <a:latin typeface="Calibri"/>
                <a:cs typeface="Calibri"/>
              </a:rPr>
              <a:t>recursos, como </a:t>
            </a:r>
            <a:r>
              <a:rPr sz="2100" spc="-5" dirty="0">
                <a:latin typeface="Calibri"/>
                <a:cs typeface="Calibri"/>
              </a:rPr>
              <a:t>por</a:t>
            </a:r>
            <a:r>
              <a:rPr sz="2100" spc="9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ejemplo:</a:t>
            </a:r>
            <a:endParaRPr sz="2100">
              <a:latin typeface="Calibri"/>
              <a:cs typeface="Calibri"/>
            </a:endParaRPr>
          </a:p>
          <a:p>
            <a:pPr marL="901065" lvl="1" indent="-514350" algn="just">
              <a:lnSpc>
                <a:spcPts val="2270"/>
              </a:lnSpc>
              <a:buFont typeface="Arial"/>
              <a:buChar char="–"/>
              <a:tabLst>
                <a:tab pos="901700" algn="l"/>
              </a:tabLst>
            </a:pPr>
            <a:r>
              <a:rPr sz="2100" spc="-15" dirty="0">
                <a:latin typeface="Calibri"/>
                <a:cs typeface="Calibri"/>
              </a:rPr>
              <a:t>Categoría </a:t>
            </a:r>
            <a:r>
              <a:rPr sz="2100" spc="-5" dirty="0">
                <a:latin typeface="Calibri"/>
                <a:cs typeface="Calibri"/>
              </a:rPr>
              <a:t>de </a:t>
            </a:r>
            <a:r>
              <a:rPr sz="2100" spc="-15" dirty="0">
                <a:latin typeface="Calibri"/>
                <a:cs typeface="Calibri"/>
              </a:rPr>
              <a:t>recurso: </a:t>
            </a:r>
            <a:r>
              <a:rPr sz="2100" dirty="0">
                <a:latin typeface="Calibri"/>
                <a:cs typeface="Calibri"/>
              </a:rPr>
              <a:t>Mano </a:t>
            </a:r>
            <a:r>
              <a:rPr sz="2100" spc="-5" dirty="0">
                <a:latin typeface="Calibri"/>
                <a:cs typeface="Calibri"/>
              </a:rPr>
              <a:t>de </a:t>
            </a:r>
            <a:r>
              <a:rPr sz="2100" spc="-20" dirty="0">
                <a:latin typeface="Calibri"/>
                <a:cs typeface="Calibri"/>
              </a:rPr>
              <a:t>obra </a:t>
            </a:r>
            <a:r>
              <a:rPr sz="2100" dirty="0">
                <a:latin typeface="Calibri"/>
                <a:cs typeface="Calibri"/>
              </a:rPr>
              <a:t>/ </a:t>
            </a:r>
            <a:r>
              <a:rPr sz="2100" spc="-10" dirty="0">
                <a:latin typeface="Calibri"/>
                <a:cs typeface="Calibri"/>
              </a:rPr>
              <a:t>material, </a:t>
            </a:r>
            <a:r>
              <a:rPr sz="2100" dirty="0">
                <a:latin typeface="Calibri"/>
                <a:cs typeface="Calibri"/>
              </a:rPr>
              <a:t>/</a:t>
            </a:r>
            <a:r>
              <a:rPr sz="2100" spc="15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equipamiento,</a:t>
            </a:r>
            <a:endParaRPr sz="2100">
              <a:latin typeface="Calibri"/>
              <a:cs typeface="Calibri"/>
            </a:endParaRPr>
          </a:p>
          <a:p>
            <a:pPr marL="901065">
              <a:lnSpc>
                <a:spcPts val="2270"/>
              </a:lnSpc>
            </a:pPr>
            <a:r>
              <a:rPr sz="2100" spc="-10" dirty="0">
                <a:latin typeface="Calibri"/>
                <a:cs typeface="Calibri"/>
              </a:rPr>
              <a:t>etc.</a:t>
            </a:r>
            <a:endParaRPr sz="2100">
              <a:latin typeface="Calibri"/>
              <a:cs typeface="Calibri"/>
            </a:endParaRPr>
          </a:p>
          <a:p>
            <a:pPr marL="901065" lvl="1" indent="-514350">
              <a:lnSpc>
                <a:spcPct val="100000"/>
              </a:lnSpc>
              <a:buFont typeface="Arial"/>
              <a:buChar char="–"/>
              <a:tabLst>
                <a:tab pos="901065" algn="l"/>
                <a:tab pos="901700" algn="l"/>
              </a:tabLst>
            </a:pPr>
            <a:r>
              <a:rPr sz="2100" spc="-5" dirty="0">
                <a:latin typeface="Calibri"/>
                <a:cs typeface="Calibri"/>
              </a:rPr>
              <a:t>Tipo de </a:t>
            </a:r>
            <a:r>
              <a:rPr sz="2100" spc="-10" dirty="0">
                <a:latin typeface="Calibri"/>
                <a:cs typeface="Calibri"/>
              </a:rPr>
              <a:t>recurso: Nivel profesional, </a:t>
            </a:r>
            <a:r>
              <a:rPr sz="2100" spc="-5" dirty="0">
                <a:latin typeface="Calibri"/>
                <a:cs typeface="Calibri"/>
              </a:rPr>
              <a:t>calidad del </a:t>
            </a:r>
            <a:r>
              <a:rPr sz="2100" spc="-10" dirty="0">
                <a:latin typeface="Calibri"/>
                <a:cs typeface="Calibri"/>
              </a:rPr>
              <a:t>material,</a:t>
            </a:r>
            <a:r>
              <a:rPr sz="2100" spc="10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etc.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320" y="192150"/>
            <a:ext cx="553021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8955" marR="5080" indent="-51689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Estimar </a:t>
            </a:r>
            <a:r>
              <a:rPr spc="-5" dirty="0"/>
              <a:t>los </a:t>
            </a:r>
            <a:r>
              <a:rPr spc="-25" dirty="0"/>
              <a:t>Recursos </a:t>
            </a:r>
            <a:r>
              <a:rPr spc="-5" dirty="0"/>
              <a:t>de </a:t>
            </a:r>
            <a:r>
              <a:rPr spc="-10" dirty="0"/>
              <a:t>las  </a:t>
            </a:r>
            <a:r>
              <a:rPr spc="-5" dirty="0"/>
              <a:t>Actividades-</a:t>
            </a:r>
            <a:r>
              <a:rPr spc="-30" dirty="0"/>
              <a:t> </a:t>
            </a:r>
            <a:r>
              <a:rPr b="1" spc="-25" dirty="0">
                <a:latin typeface="Calibri"/>
                <a:cs typeface="Calibri"/>
              </a:rPr>
              <a:t>Entradas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2226"/>
            <a:ext cx="6602730" cy="4111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1. </a:t>
            </a:r>
            <a:r>
              <a:rPr sz="2000" b="1" i="1" spc="-5" dirty="0">
                <a:latin typeface="Calibri"/>
                <a:cs typeface="Calibri"/>
              </a:rPr>
              <a:t>Plan de Gestión </a:t>
            </a:r>
            <a:r>
              <a:rPr sz="2000" b="1" i="1" dirty="0">
                <a:latin typeface="Calibri"/>
                <a:cs typeface="Calibri"/>
              </a:rPr>
              <a:t>del</a:t>
            </a:r>
            <a:r>
              <a:rPr sz="2000" b="1" i="1" spc="-80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Cronograma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2. </a:t>
            </a:r>
            <a:r>
              <a:rPr sz="2000" b="1" i="1" spc="-10" dirty="0">
                <a:latin typeface="Calibri"/>
                <a:cs typeface="Calibri"/>
              </a:rPr>
              <a:t>Lista </a:t>
            </a:r>
            <a:r>
              <a:rPr sz="2000" b="1" i="1" spc="-5" dirty="0">
                <a:latin typeface="Calibri"/>
                <a:cs typeface="Calibri"/>
              </a:rPr>
              <a:t>de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Actividades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3. </a:t>
            </a:r>
            <a:r>
              <a:rPr sz="2000" b="1" i="1" spc="-15" dirty="0">
                <a:latin typeface="Calibri"/>
                <a:cs typeface="Calibri"/>
              </a:rPr>
              <a:t>Atributos </a:t>
            </a:r>
            <a:r>
              <a:rPr sz="2000" b="1" i="1" spc="-5" dirty="0">
                <a:latin typeface="Calibri"/>
                <a:cs typeface="Calibri"/>
              </a:rPr>
              <a:t>de </a:t>
            </a:r>
            <a:r>
              <a:rPr sz="2000" b="1" i="1" dirty="0">
                <a:latin typeface="Calibri"/>
                <a:cs typeface="Calibri"/>
              </a:rPr>
              <a:t>las</a:t>
            </a:r>
            <a:r>
              <a:rPr sz="2000" b="1" i="1" spc="-6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Actividades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4. Calendario </a:t>
            </a:r>
            <a:r>
              <a:rPr sz="2000" b="1" i="1" spc="-5" dirty="0">
                <a:latin typeface="Calibri"/>
                <a:cs typeface="Calibri"/>
              </a:rPr>
              <a:t>de</a:t>
            </a:r>
            <a:r>
              <a:rPr sz="2000" b="1" i="1" spc="-7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Recursos</a:t>
            </a:r>
            <a:endParaRPr sz="200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ct val="80000"/>
              </a:lnSpc>
              <a:spcBef>
                <a:spcPts val="439"/>
              </a:spcBef>
              <a:buFont typeface="Arial"/>
              <a:buChar char="–"/>
              <a:tabLst>
                <a:tab pos="756920" algn="l"/>
              </a:tabLst>
            </a:pPr>
            <a:r>
              <a:rPr sz="1800" spc="-5" dirty="0">
                <a:latin typeface="Calibri"/>
                <a:cs typeface="Calibri"/>
              </a:rPr>
              <a:t>El PMI supone </a:t>
            </a:r>
            <a:r>
              <a:rPr sz="1800" dirty="0">
                <a:latin typeface="Calibri"/>
                <a:cs typeface="Calibri"/>
              </a:rPr>
              <a:t>que se </a:t>
            </a:r>
            <a:r>
              <a:rPr sz="1800" spc="-10" dirty="0">
                <a:latin typeface="Calibri"/>
                <a:cs typeface="Calibri"/>
              </a:rPr>
              <a:t>trabaja </a:t>
            </a:r>
            <a:r>
              <a:rPr sz="1800" dirty="0">
                <a:latin typeface="Calibri"/>
                <a:cs typeface="Calibri"/>
              </a:rPr>
              <a:t>en una </a:t>
            </a:r>
            <a:r>
              <a:rPr sz="1800" spc="-5" dirty="0">
                <a:latin typeface="Calibri"/>
                <a:cs typeface="Calibri"/>
              </a:rPr>
              <a:t>Compañía Multinacional 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por </a:t>
            </a:r>
            <a:r>
              <a:rPr sz="1800" dirty="0">
                <a:latin typeface="Calibri"/>
                <a:cs typeface="Calibri"/>
              </a:rPr>
              <a:t>eso </a:t>
            </a:r>
            <a:r>
              <a:rPr sz="1800" spc="-5" dirty="0">
                <a:latin typeface="Calibri"/>
                <a:cs typeface="Calibri"/>
              </a:rPr>
              <a:t>son </a:t>
            </a:r>
            <a:r>
              <a:rPr sz="1800" spc="-10" dirty="0">
                <a:latin typeface="Calibri"/>
                <a:cs typeface="Calibri"/>
              </a:rPr>
              <a:t>tan importantes </a:t>
            </a:r>
            <a:r>
              <a:rPr sz="1800" dirty="0">
                <a:latin typeface="Calibri"/>
                <a:cs typeface="Calibri"/>
              </a:rPr>
              <a:t>los </a:t>
            </a:r>
            <a:r>
              <a:rPr sz="1800" spc="-5" dirty="0">
                <a:latin typeface="Calibri"/>
                <a:cs typeface="Calibri"/>
              </a:rPr>
              <a:t>calendarios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los </a:t>
            </a:r>
            <a:r>
              <a:rPr sz="1800" spc="-10" dirty="0">
                <a:latin typeface="Calibri"/>
                <a:cs typeface="Calibri"/>
              </a:rPr>
              <a:t>recursos,  </a:t>
            </a:r>
            <a:r>
              <a:rPr sz="1800" dirty="0">
                <a:latin typeface="Calibri"/>
                <a:cs typeface="Calibri"/>
              </a:rPr>
              <a:t>no </a:t>
            </a:r>
            <a:r>
              <a:rPr sz="1800" spc="-5" dirty="0">
                <a:latin typeface="Calibri"/>
                <a:cs typeface="Calibri"/>
              </a:rPr>
              <a:t>solo </a:t>
            </a:r>
            <a:r>
              <a:rPr sz="1800" spc="-10" dirty="0">
                <a:latin typeface="Calibri"/>
                <a:cs typeface="Calibri"/>
              </a:rPr>
              <a:t>porque </a:t>
            </a:r>
            <a:r>
              <a:rPr sz="1800" dirty="0">
                <a:latin typeface="Calibri"/>
                <a:cs typeface="Calibri"/>
              </a:rPr>
              <a:t>se </a:t>
            </a:r>
            <a:r>
              <a:rPr sz="1800" spc="-5" dirty="0">
                <a:latin typeface="Calibri"/>
                <a:cs typeface="Calibri"/>
              </a:rPr>
              <a:t>define cuándo </a:t>
            </a:r>
            <a:r>
              <a:rPr sz="1800" dirty="0">
                <a:latin typeface="Calibri"/>
                <a:cs typeface="Calibri"/>
              </a:rPr>
              <a:t>se </a:t>
            </a:r>
            <a:r>
              <a:rPr sz="1800" spc="-10" dirty="0">
                <a:latin typeface="Calibri"/>
                <a:cs typeface="Calibri"/>
              </a:rPr>
              <a:t>utilizan </a:t>
            </a:r>
            <a:r>
              <a:rPr sz="1800" spc="-5" dirty="0">
                <a:latin typeface="Calibri"/>
                <a:cs typeface="Calibri"/>
              </a:rPr>
              <a:t>los </a:t>
            </a:r>
            <a:r>
              <a:rPr sz="1800" spc="-10" dirty="0">
                <a:latin typeface="Calibri"/>
                <a:cs typeface="Calibri"/>
              </a:rPr>
              <a:t>recursos </a:t>
            </a:r>
            <a:r>
              <a:rPr sz="1800" spc="-5" dirty="0">
                <a:latin typeface="Calibri"/>
                <a:cs typeface="Calibri"/>
              </a:rPr>
              <a:t>sino  también </a:t>
            </a:r>
            <a:r>
              <a:rPr sz="1800" dirty="0">
                <a:latin typeface="Calibri"/>
                <a:cs typeface="Calibri"/>
              </a:rPr>
              <a:t>se </a:t>
            </a:r>
            <a:r>
              <a:rPr sz="1800" spc="-5" dirty="0">
                <a:latin typeface="Calibri"/>
                <a:cs typeface="Calibri"/>
              </a:rPr>
              <a:t>identifican cuándo </a:t>
            </a:r>
            <a:r>
              <a:rPr sz="1800" spc="-15" dirty="0">
                <a:latin typeface="Calibri"/>
                <a:cs typeface="Calibri"/>
              </a:rPr>
              <a:t>existen festivos </a:t>
            </a:r>
            <a:r>
              <a:rPr sz="1800" dirty="0">
                <a:latin typeface="Calibri"/>
                <a:cs typeface="Calibri"/>
              </a:rPr>
              <a:t>o </a:t>
            </a:r>
            <a:r>
              <a:rPr sz="1800" spc="-10" dirty="0">
                <a:latin typeface="Calibri"/>
                <a:cs typeface="Calibri"/>
              </a:rPr>
              <a:t>eventos  </a:t>
            </a:r>
            <a:r>
              <a:rPr sz="1800" spc="-5" dirty="0">
                <a:latin typeface="Calibri"/>
                <a:cs typeface="Calibri"/>
              </a:rPr>
              <a:t>donde </a:t>
            </a:r>
            <a:r>
              <a:rPr sz="1800" dirty="0">
                <a:latin typeface="Calibri"/>
                <a:cs typeface="Calibri"/>
              </a:rPr>
              <a:t>no se pueden </a:t>
            </a:r>
            <a:r>
              <a:rPr sz="1800" spc="-10" dirty="0">
                <a:latin typeface="Calibri"/>
                <a:cs typeface="Calibri"/>
              </a:rPr>
              <a:t>utilizar </a:t>
            </a:r>
            <a:r>
              <a:rPr sz="1800" spc="-5" dirty="0">
                <a:latin typeface="Calibri"/>
                <a:cs typeface="Calibri"/>
              </a:rPr>
              <a:t>los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recursos.</a:t>
            </a:r>
            <a:endParaRPr sz="1800">
              <a:latin typeface="Calibri"/>
              <a:cs typeface="Calibri"/>
            </a:endParaRPr>
          </a:p>
          <a:p>
            <a:pPr marL="756285" lvl="1" indent="-287020" algn="just">
              <a:lnSpc>
                <a:spcPts val="1945"/>
              </a:lnSpc>
              <a:buFont typeface="Arial"/>
              <a:buChar char="–"/>
              <a:tabLst>
                <a:tab pos="756920" algn="l"/>
              </a:tabLst>
            </a:pP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actualiza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7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contratación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equipo</a:t>
            </a:r>
            <a:r>
              <a:rPr sz="1800" spc="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con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gestión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marL="756285" algn="just">
              <a:lnSpc>
                <a:spcPts val="1939"/>
              </a:lnSpc>
            </a:pPr>
            <a:r>
              <a:rPr sz="1800" spc="-5" dirty="0">
                <a:latin typeface="Calibri"/>
                <a:cs typeface="Calibri"/>
              </a:rPr>
              <a:t>las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adquisiciones.</a:t>
            </a:r>
            <a:endParaRPr sz="1800">
              <a:latin typeface="Calibri"/>
              <a:cs typeface="Calibri"/>
            </a:endParaRPr>
          </a:p>
          <a:p>
            <a:pPr marL="355600" indent="-343535">
              <a:lnSpc>
                <a:spcPts val="2395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5. </a:t>
            </a:r>
            <a:r>
              <a:rPr sz="2000" b="1" i="1" spc="-10" dirty="0">
                <a:latin typeface="Calibri"/>
                <a:cs typeface="Calibri"/>
              </a:rPr>
              <a:t>Registro </a:t>
            </a:r>
            <a:r>
              <a:rPr sz="2000" b="1" i="1" spc="-5" dirty="0">
                <a:latin typeface="Calibri"/>
                <a:cs typeface="Calibri"/>
              </a:rPr>
              <a:t>de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Riesgos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6. </a:t>
            </a:r>
            <a:r>
              <a:rPr sz="2000" b="1" i="1" spc="-5" dirty="0">
                <a:latin typeface="Calibri"/>
                <a:cs typeface="Calibri"/>
              </a:rPr>
              <a:t>Estimados de </a:t>
            </a:r>
            <a:r>
              <a:rPr sz="2000" b="1" i="1" spc="-10" dirty="0">
                <a:latin typeface="Calibri"/>
                <a:cs typeface="Calibri"/>
              </a:rPr>
              <a:t>Costo </a:t>
            </a:r>
            <a:r>
              <a:rPr sz="2000" b="1" i="1" spc="-5" dirty="0">
                <a:latin typeface="Calibri"/>
                <a:cs typeface="Calibri"/>
              </a:rPr>
              <a:t>de</a:t>
            </a:r>
            <a:r>
              <a:rPr sz="2000" b="1" i="1" spc="-8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Actividades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7. </a:t>
            </a:r>
            <a:r>
              <a:rPr sz="2000" b="1" i="1" spc="-10" dirty="0">
                <a:latin typeface="Calibri"/>
                <a:cs typeface="Calibri"/>
              </a:rPr>
              <a:t>Factores </a:t>
            </a:r>
            <a:r>
              <a:rPr sz="2000" b="1" i="1" spc="-5" dirty="0">
                <a:latin typeface="Calibri"/>
                <a:cs typeface="Calibri"/>
              </a:rPr>
              <a:t>Ambientales </a:t>
            </a:r>
            <a:r>
              <a:rPr sz="2000" b="1" i="1" dirty="0">
                <a:latin typeface="Calibri"/>
                <a:cs typeface="Calibri"/>
              </a:rPr>
              <a:t>de la</a:t>
            </a:r>
            <a:r>
              <a:rPr sz="2000" b="1" i="1" spc="-90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Empresa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8. </a:t>
            </a:r>
            <a:r>
              <a:rPr sz="2000" b="1" i="1" spc="-5" dirty="0">
                <a:latin typeface="Calibri"/>
                <a:cs typeface="Calibri"/>
              </a:rPr>
              <a:t>Activos de los Procesos</a:t>
            </a:r>
            <a:r>
              <a:rPr sz="2000" b="1" i="1" spc="-90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Organizacionales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86243" y="2001011"/>
            <a:ext cx="1429511" cy="1696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429500" y="4287011"/>
            <a:ext cx="1493520" cy="14340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6018" y="192150"/>
            <a:ext cx="773303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9982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Estimar </a:t>
            </a:r>
            <a:r>
              <a:rPr spc="-5" dirty="0"/>
              <a:t>los </a:t>
            </a:r>
            <a:r>
              <a:rPr spc="-25" dirty="0"/>
              <a:t>Recursos </a:t>
            </a:r>
            <a:r>
              <a:rPr spc="-5" dirty="0"/>
              <a:t>de </a:t>
            </a:r>
            <a:r>
              <a:rPr spc="-10" dirty="0"/>
              <a:t>las  </a:t>
            </a:r>
            <a:r>
              <a:rPr spc="-5" dirty="0"/>
              <a:t>Actividades- </a:t>
            </a: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</a:t>
            </a:r>
            <a:r>
              <a:rPr b="1" spc="20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6130"/>
            <a:ext cx="8074025" cy="3959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i="1" spc="-5" dirty="0">
                <a:latin typeface="Calibri"/>
                <a:cs typeface="Calibri"/>
              </a:rPr>
              <a:t>1. Juicio</a:t>
            </a:r>
            <a:r>
              <a:rPr sz="2200" b="1" i="1" spc="-10" dirty="0">
                <a:latin typeface="Calibri"/>
                <a:cs typeface="Calibri"/>
              </a:rPr>
              <a:t> Experto</a:t>
            </a:r>
            <a:endParaRPr sz="2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i="1" spc="-5" dirty="0">
                <a:latin typeface="Calibri"/>
                <a:cs typeface="Calibri"/>
              </a:rPr>
              <a:t>2. Análisis de</a:t>
            </a:r>
            <a:r>
              <a:rPr sz="2200" b="1" i="1" spc="-10" dirty="0">
                <a:latin typeface="Calibri"/>
                <a:cs typeface="Calibri"/>
              </a:rPr>
              <a:t> </a:t>
            </a:r>
            <a:r>
              <a:rPr sz="2200" b="1" i="1" spc="-5" dirty="0">
                <a:latin typeface="Calibri"/>
                <a:cs typeface="Calibri"/>
              </a:rPr>
              <a:t>Alternativas</a:t>
            </a:r>
            <a:endParaRPr sz="2200">
              <a:latin typeface="Calibri"/>
              <a:cs typeface="Calibri"/>
            </a:endParaRPr>
          </a:p>
          <a:p>
            <a:pPr marL="756285" marR="5715" lvl="1" indent="-287020">
              <a:lnSpc>
                <a:spcPts val="1920"/>
              </a:lnSpc>
              <a:spcBef>
                <a:spcPts val="47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Se </a:t>
            </a:r>
            <a:r>
              <a:rPr sz="2000" spc="-5" dirty="0">
                <a:latin typeface="Calibri"/>
                <a:cs typeface="Calibri"/>
              </a:rPr>
              <a:t>identifican </a:t>
            </a:r>
            <a:r>
              <a:rPr sz="2000" dirty="0">
                <a:latin typeface="Calibri"/>
                <a:cs typeface="Calibri"/>
              </a:rPr>
              <a:t>qué tipo de </a:t>
            </a:r>
            <a:r>
              <a:rPr sz="2000" spc="-5" dirty="0">
                <a:latin typeface="Calibri"/>
                <a:cs typeface="Calibri"/>
              </a:rPr>
              <a:t>habilidades </a:t>
            </a:r>
            <a:r>
              <a:rPr sz="2000" dirty="0">
                <a:latin typeface="Calibri"/>
                <a:cs typeface="Calibri"/>
              </a:rPr>
              <a:t>tienen los </a:t>
            </a:r>
            <a:r>
              <a:rPr sz="2000" spc="-10" dirty="0">
                <a:latin typeface="Calibri"/>
                <a:cs typeface="Calibri"/>
              </a:rPr>
              <a:t>recursos, </a:t>
            </a:r>
            <a:r>
              <a:rPr sz="2000" spc="-5" dirty="0">
                <a:latin typeface="Calibri"/>
                <a:cs typeface="Calibri"/>
              </a:rPr>
              <a:t>qué </a:t>
            </a:r>
            <a:r>
              <a:rPr sz="2000" dirty="0">
                <a:latin typeface="Calibri"/>
                <a:cs typeface="Calibri"/>
              </a:rPr>
              <a:t>tipo </a:t>
            </a:r>
            <a:r>
              <a:rPr sz="2000" spc="-10" dirty="0">
                <a:latin typeface="Calibri"/>
                <a:cs typeface="Calibri"/>
              </a:rPr>
              <a:t>de  </a:t>
            </a:r>
            <a:r>
              <a:rPr sz="2000" spc="-5" dirty="0">
                <a:latin typeface="Calibri"/>
                <a:cs typeface="Calibri"/>
              </a:rPr>
              <a:t>tamaño (las </a:t>
            </a:r>
            <a:r>
              <a:rPr sz="2000" dirty="0">
                <a:latin typeface="Calibri"/>
                <a:cs typeface="Calibri"/>
              </a:rPr>
              <a:t>máquinas) o </a:t>
            </a:r>
            <a:r>
              <a:rPr sz="2000" spc="-5" dirty="0">
                <a:latin typeface="Calibri"/>
                <a:cs typeface="Calibri"/>
              </a:rPr>
              <a:t>decisiones si se </a:t>
            </a:r>
            <a:r>
              <a:rPr sz="2000" dirty="0">
                <a:latin typeface="Calibri"/>
                <a:cs typeface="Calibri"/>
              </a:rPr>
              <a:t>hace </a:t>
            </a:r>
            <a:r>
              <a:rPr sz="2000" spc="-10" dirty="0">
                <a:latin typeface="Calibri"/>
                <a:cs typeface="Calibri"/>
              </a:rPr>
              <a:t>interna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externamente.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i="1" spc="-5" dirty="0">
                <a:latin typeface="Calibri"/>
                <a:cs typeface="Calibri"/>
              </a:rPr>
              <a:t>3. </a:t>
            </a:r>
            <a:r>
              <a:rPr sz="2200" b="1" i="1" spc="-10" dirty="0">
                <a:latin typeface="Calibri"/>
                <a:cs typeface="Calibri"/>
              </a:rPr>
              <a:t>Datos </a:t>
            </a:r>
            <a:r>
              <a:rPr sz="2200" b="1" i="1" spc="-5" dirty="0">
                <a:latin typeface="Calibri"/>
                <a:cs typeface="Calibri"/>
              </a:rPr>
              <a:t>de </a:t>
            </a:r>
            <a:r>
              <a:rPr sz="2200" b="1" i="1" spc="-10" dirty="0">
                <a:latin typeface="Calibri"/>
                <a:cs typeface="Calibri"/>
              </a:rPr>
              <a:t>Estimación</a:t>
            </a:r>
            <a:r>
              <a:rPr sz="2200" b="1" i="1" spc="45" dirty="0">
                <a:latin typeface="Calibri"/>
                <a:cs typeface="Calibri"/>
              </a:rPr>
              <a:t> </a:t>
            </a:r>
            <a:r>
              <a:rPr sz="2200" b="1" i="1" spc="-5" dirty="0">
                <a:latin typeface="Calibri"/>
                <a:cs typeface="Calibri"/>
              </a:rPr>
              <a:t>Publicados</a:t>
            </a:r>
            <a:endParaRPr sz="2200">
              <a:latin typeface="Calibri"/>
              <a:cs typeface="Calibri"/>
            </a:endParaRPr>
          </a:p>
          <a:p>
            <a:pPr marL="756285" lvl="1" indent="-287020">
              <a:lnSpc>
                <a:spcPts val="2395"/>
              </a:lnSpc>
              <a:spcBef>
                <a:spcPts val="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Costos </a:t>
            </a:r>
            <a:r>
              <a:rPr sz="2000" spc="-5" dirty="0">
                <a:latin typeface="Calibri"/>
                <a:cs typeface="Calibri"/>
              </a:rPr>
              <a:t>unitarios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recursos </a:t>
            </a:r>
            <a:r>
              <a:rPr sz="2000" dirty="0">
                <a:latin typeface="Calibri"/>
                <a:cs typeface="Calibri"/>
              </a:rPr>
              <a:t>y </a:t>
            </a:r>
            <a:r>
              <a:rPr sz="2000" spc="-5" dirty="0">
                <a:latin typeface="Calibri"/>
                <a:cs typeface="Calibri"/>
              </a:rPr>
              <a:t>tasas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producción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ts val="2635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i="1" spc="-5" dirty="0">
                <a:latin typeface="Calibri"/>
                <a:cs typeface="Calibri"/>
              </a:rPr>
              <a:t>4. </a:t>
            </a:r>
            <a:r>
              <a:rPr sz="2200" b="1" i="1" spc="-10" dirty="0">
                <a:latin typeface="Calibri"/>
                <a:cs typeface="Calibri"/>
              </a:rPr>
              <a:t>Estimativos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15" dirty="0">
                <a:latin typeface="Calibri"/>
                <a:cs typeface="Calibri"/>
              </a:rPr>
              <a:t> </a:t>
            </a:r>
            <a:r>
              <a:rPr sz="2200" b="1" i="1" spc="-5" dirty="0">
                <a:latin typeface="Calibri"/>
                <a:cs typeface="Calibri"/>
              </a:rPr>
              <a:t>Abajo-Arriba</a:t>
            </a:r>
            <a:endParaRPr sz="2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Es </a:t>
            </a:r>
            <a:r>
              <a:rPr sz="2000" spc="-5" dirty="0">
                <a:latin typeface="Calibri"/>
                <a:cs typeface="Calibri"/>
              </a:rPr>
              <a:t>la </a:t>
            </a:r>
            <a:r>
              <a:rPr sz="2000" spc="-10" dirty="0">
                <a:latin typeface="Calibri"/>
                <a:cs typeface="Calibri"/>
              </a:rPr>
              <a:t>forma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agregar </a:t>
            </a:r>
            <a:r>
              <a:rPr sz="2000" dirty="0">
                <a:latin typeface="Calibri"/>
                <a:cs typeface="Calibri"/>
              </a:rPr>
              <a:t>los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recursos</a:t>
            </a:r>
            <a:endParaRPr sz="2000">
              <a:latin typeface="Calibri"/>
              <a:cs typeface="Calibri"/>
            </a:endParaRPr>
          </a:p>
          <a:p>
            <a:pPr marL="756285" marR="5080" lvl="1" indent="-287020">
              <a:lnSpc>
                <a:spcPct val="80000"/>
              </a:lnSpc>
              <a:spcBef>
                <a:spcPts val="484"/>
              </a:spcBef>
              <a:buFont typeface="Arial"/>
              <a:buChar char="–"/>
              <a:tabLst>
                <a:tab pos="756285" algn="l"/>
                <a:tab pos="756920" algn="l"/>
                <a:tab pos="1503045" algn="l"/>
                <a:tab pos="2071370" algn="l"/>
                <a:tab pos="3429635" algn="l"/>
                <a:tab pos="3943350" algn="l"/>
                <a:tab pos="4799965" algn="l"/>
                <a:tab pos="5167630" algn="l"/>
                <a:tab pos="6383655" algn="l"/>
                <a:tab pos="6710045" algn="l"/>
                <a:tab pos="7365365" algn="l"/>
                <a:tab pos="7767955" algn="l"/>
              </a:tabLst>
            </a:pPr>
            <a:r>
              <a:rPr sz="2000" spc="-5" dirty="0">
                <a:latin typeface="Calibri"/>
                <a:cs typeface="Calibri"/>
              </a:rPr>
              <a:t>Com</a:t>
            </a:r>
            <a:r>
              <a:rPr sz="2000" dirty="0">
                <a:latin typeface="Calibri"/>
                <a:cs typeface="Calibri"/>
              </a:rPr>
              <a:t>o	e</a:t>
            </a:r>
            <a:r>
              <a:rPr sz="2000" spc="-30" dirty="0">
                <a:latin typeface="Calibri"/>
                <a:cs typeface="Calibri"/>
              </a:rPr>
              <a:t>s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á	</a:t>
            </a:r>
            <a:r>
              <a:rPr sz="2000" spc="-25" dirty="0">
                <a:latin typeface="Calibri"/>
                <a:cs typeface="Calibri"/>
              </a:rPr>
              <a:t>r</a:t>
            </a:r>
            <a:r>
              <a:rPr sz="2000" spc="1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5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io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d</a:t>
            </a:r>
            <a:r>
              <a:rPr sz="2000" dirty="0">
                <a:latin typeface="Calibri"/>
                <a:cs typeface="Calibri"/>
              </a:rPr>
              <a:t>o	</a:t>
            </a: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spc="-1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n	</a:t>
            </a:r>
            <a:r>
              <a:rPr sz="2000" spc="-20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-30" dirty="0">
                <a:latin typeface="Calibri"/>
                <a:cs typeface="Calibri"/>
              </a:rPr>
              <a:t>s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os</a:t>
            </a:r>
            <a:r>
              <a:rPr sz="2000" dirty="0">
                <a:latin typeface="Calibri"/>
                <a:cs typeface="Calibri"/>
              </a:rPr>
              <a:t>,	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e	</a:t>
            </a:r>
            <a:r>
              <a:rPr sz="2000" spc="-5" dirty="0">
                <a:latin typeface="Calibri"/>
                <a:cs typeface="Calibri"/>
              </a:rPr>
              <a:t>d</a:t>
            </a:r>
            <a:r>
              <a:rPr sz="2000" spc="-15" dirty="0">
                <a:latin typeface="Calibri"/>
                <a:cs typeface="Calibri"/>
              </a:rPr>
              <a:t>e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10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ina	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l	</a:t>
            </a:r>
            <a:r>
              <a:rPr sz="2000" spc="-30" dirty="0">
                <a:latin typeface="Calibri"/>
                <a:cs typeface="Calibri"/>
              </a:rPr>
              <a:t>v</a:t>
            </a:r>
            <a:r>
              <a:rPr sz="2000" dirty="0">
                <a:latin typeface="Calibri"/>
                <a:cs typeface="Calibri"/>
              </a:rPr>
              <a:t>alor	de	los  </a:t>
            </a:r>
            <a:r>
              <a:rPr sz="2000" spc="-10" dirty="0">
                <a:latin typeface="Calibri"/>
                <a:cs typeface="Calibri"/>
              </a:rPr>
              <a:t>recursos.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ts val="263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i="1" spc="-5" dirty="0">
                <a:latin typeface="Calibri"/>
                <a:cs typeface="Calibri"/>
              </a:rPr>
              <a:t>5. Software de Gestión de</a:t>
            </a:r>
            <a:r>
              <a:rPr sz="2200" b="1" i="1" spc="20" dirty="0">
                <a:latin typeface="Calibri"/>
                <a:cs typeface="Calibri"/>
              </a:rPr>
              <a:t> </a:t>
            </a:r>
            <a:r>
              <a:rPr sz="2200" b="1" i="1" spc="-15" dirty="0">
                <a:latin typeface="Calibri"/>
                <a:cs typeface="Calibri"/>
              </a:rPr>
              <a:t>Proyectos</a:t>
            </a:r>
            <a:endParaRPr sz="2200">
              <a:latin typeface="Calibri"/>
              <a:cs typeface="Calibri"/>
            </a:endParaRPr>
          </a:p>
          <a:p>
            <a:pPr marL="756285" lvl="1" indent="-287020">
              <a:lnSpc>
                <a:spcPts val="2160"/>
              </a:lnSpc>
              <a:spcBef>
                <a:spcPts val="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Ayuda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automatizar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el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manejo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del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pool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recursos,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calendario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endParaRPr sz="2000">
              <a:latin typeface="Calibri"/>
              <a:cs typeface="Calibri"/>
            </a:endParaRPr>
          </a:p>
          <a:p>
            <a:pPr marL="756285">
              <a:lnSpc>
                <a:spcPts val="2160"/>
              </a:lnSpc>
            </a:pPr>
            <a:r>
              <a:rPr sz="2000" spc="-10" dirty="0">
                <a:latin typeface="Calibri"/>
                <a:cs typeface="Calibri"/>
              </a:rPr>
              <a:t>recursos, </a:t>
            </a:r>
            <a:r>
              <a:rPr sz="2000" spc="-5" dirty="0">
                <a:latin typeface="Calibri"/>
                <a:cs typeface="Calibri"/>
              </a:rPr>
              <a:t>tasas </a:t>
            </a:r>
            <a:r>
              <a:rPr sz="2000" dirty="0">
                <a:latin typeface="Calibri"/>
                <a:cs typeface="Calibri"/>
              </a:rPr>
              <a:t>y </a:t>
            </a:r>
            <a:r>
              <a:rPr sz="2000" spc="-5" dirty="0">
                <a:latin typeface="Calibri"/>
                <a:cs typeface="Calibri"/>
              </a:rPr>
              <a:t>perfiles </a:t>
            </a:r>
            <a:r>
              <a:rPr sz="2000" dirty="0">
                <a:latin typeface="Calibri"/>
                <a:cs typeface="Calibri"/>
              </a:rPr>
              <a:t>de los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recursos.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320" y="192150"/>
            <a:ext cx="553021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5645" marR="5080" indent="-70294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Estimar </a:t>
            </a:r>
            <a:r>
              <a:rPr spc="-5" dirty="0"/>
              <a:t>los </a:t>
            </a:r>
            <a:r>
              <a:rPr spc="-25" dirty="0"/>
              <a:t>Recursos </a:t>
            </a:r>
            <a:r>
              <a:rPr spc="-5" dirty="0"/>
              <a:t>de </a:t>
            </a:r>
            <a:r>
              <a:rPr spc="-10" dirty="0"/>
              <a:t>las  </a:t>
            </a:r>
            <a:r>
              <a:rPr spc="-5" dirty="0"/>
              <a:t>Actividades-</a:t>
            </a:r>
            <a:r>
              <a:rPr spc="-30" dirty="0"/>
              <a:t> </a:t>
            </a:r>
            <a:r>
              <a:rPr b="1" spc="-5" dirty="0">
                <a:latin typeface="Calibri"/>
                <a:cs typeface="Calibri"/>
              </a:rPr>
              <a:t>Salidas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2226"/>
            <a:ext cx="4673600" cy="326453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55600" marR="5080" indent="-343535" algn="just">
              <a:lnSpc>
                <a:spcPts val="1920"/>
              </a:lnSpc>
              <a:spcBef>
                <a:spcPts val="565"/>
              </a:spcBef>
              <a:buFont typeface="Arial"/>
              <a:buChar char="•"/>
              <a:tabLst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1. </a:t>
            </a:r>
            <a:r>
              <a:rPr sz="2000" b="1" i="1" spc="-10" dirty="0">
                <a:latin typeface="Calibri"/>
                <a:cs typeface="Calibri"/>
              </a:rPr>
              <a:t>Requerimientos </a:t>
            </a:r>
            <a:r>
              <a:rPr sz="2000" b="1" i="1" spc="-5" dirty="0">
                <a:latin typeface="Calibri"/>
                <a:cs typeface="Calibri"/>
              </a:rPr>
              <a:t>de </a:t>
            </a:r>
            <a:r>
              <a:rPr sz="2000" b="1" i="1" spc="-10" dirty="0">
                <a:latin typeface="Calibri"/>
                <a:cs typeface="Calibri"/>
              </a:rPr>
              <a:t>Recursos </a:t>
            </a:r>
            <a:r>
              <a:rPr sz="2000" b="1" i="1" spc="-5" dirty="0">
                <a:latin typeface="Calibri"/>
                <a:cs typeface="Calibri"/>
              </a:rPr>
              <a:t>de </a:t>
            </a:r>
            <a:r>
              <a:rPr sz="2000" b="1" i="1" spc="-10" dirty="0">
                <a:latin typeface="Calibri"/>
                <a:cs typeface="Calibri"/>
              </a:rPr>
              <a:t>las  </a:t>
            </a:r>
            <a:r>
              <a:rPr sz="2000" b="1" i="1" dirty="0">
                <a:latin typeface="Calibri"/>
                <a:cs typeface="Calibri"/>
              </a:rPr>
              <a:t>Actividades</a:t>
            </a:r>
            <a:endParaRPr sz="2000">
              <a:latin typeface="Calibri"/>
              <a:cs typeface="Calibri"/>
            </a:endParaRPr>
          </a:p>
          <a:p>
            <a:pPr marL="756285" marR="8255" lvl="1" indent="-287020" algn="just">
              <a:lnSpc>
                <a:spcPct val="80000"/>
              </a:lnSpc>
              <a:spcBef>
                <a:spcPts val="455"/>
              </a:spcBef>
              <a:buFont typeface="Arial"/>
              <a:buChar char="–"/>
              <a:tabLst>
                <a:tab pos="756920" algn="l"/>
              </a:tabLst>
            </a:pPr>
            <a:r>
              <a:rPr sz="1800" dirty="0">
                <a:latin typeface="Calibri"/>
                <a:cs typeface="Calibri"/>
              </a:rPr>
              <a:t>Se </a:t>
            </a:r>
            <a:r>
              <a:rPr sz="1800" spc="-5" dirty="0">
                <a:latin typeface="Calibri"/>
                <a:cs typeface="Calibri"/>
              </a:rPr>
              <a:t>identifican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describen las cantidades 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recursos </a:t>
            </a:r>
            <a:r>
              <a:rPr sz="1800" dirty="0">
                <a:latin typeface="Calibri"/>
                <a:cs typeface="Calibri"/>
              </a:rPr>
              <a:t>que </a:t>
            </a:r>
            <a:r>
              <a:rPr sz="1800" spc="-10" dirty="0">
                <a:latin typeface="Calibri"/>
                <a:cs typeface="Calibri"/>
              </a:rPr>
              <a:t>requiere </a:t>
            </a:r>
            <a:r>
              <a:rPr sz="1800" spc="-5" dirty="0">
                <a:latin typeface="Calibri"/>
                <a:cs typeface="Calibri"/>
              </a:rPr>
              <a:t>cada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actividad</a:t>
            </a:r>
            <a:endParaRPr sz="1800">
              <a:latin typeface="Calibri"/>
              <a:cs typeface="Calibri"/>
            </a:endParaRPr>
          </a:p>
          <a:p>
            <a:pPr marL="756285" marR="5715" lvl="1" indent="-287020" algn="just">
              <a:lnSpc>
                <a:spcPct val="80000"/>
              </a:lnSpc>
              <a:spcBef>
                <a:spcPts val="434"/>
              </a:spcBef>
              <a:buFont typeface="Arial"/>
              <a:buChar char="–"/>
              <a:tabLst>
                <a:tab pos="756920" algn="l"/>
              </a:tabLst>
            </a:pPr>
            <a:r>
              <a:rPr sz="1800" spc="-5" dirty="0">
                <a:latin typeface="Calibri"/>
                <a:cs typeface="Calibri"/>
              </a:rPr>
              <a:t>Como </a:t>
            </a:r>
            <a:r>
              <a:rPr sz="1800" dirty="0">
                <a:latin typeface="Calibri"/>
                <a:cs typeface="Calibri"/>
              </a:rPr>
              <a:t>se </a:t>
            </a:r>
            <a:r>
              <a:rPr sz="1800" spc="-10" dirty="0">
                <a:latin typeface="Calibri"/>
                <a:cs typeface="Calibri"/>
              </a:rPr>
              <a:t>utiliza </a:t>
            </a:r>
            <a:r>
              <a:rPr sz="1800" spc="-15" dirty="0">
                <a:latin typeface="Calibri"/>
                <a:cs typeface="Calibri"/>
              </a:rPr>
              <a:t>“elaboración </a:t>
            </a:r>
            <a:r>
              <a:rPr sz="1800" spc="-10" dirty="0">
                <a:latin typeface="Calibri"/>
                <a:cs typeface="Calibri"/>
              </a:rPr>
              <a:t>progresiva”  </a:t>
            </a:r>
            <a:r>
              <a:rPr sz="1800" dirty="0">
                <a:latin typeface="Calibri"/>
                <a:cs typeface="Calibri"/>
              </a:rPr>
              <a:t>se </a:t>
            </a:r>
            <a:r>
              <a:rPr sz="1800" spc="-15" dirty="0">
                <a:latin typeface="Calibri"/>
                <a:cs typeface="Calibri"/>
              </a:rPr>
              <a:t>está </a:t>
            </a:r>
            <a:r>
              <a:rPr sz="1800" spc="-5" dirty="0">
                <a:latin typeface="Calibri"/>
                <a:cs typeface="Calibri"/>
              </a:rPr>
              <a:t>estimando las </a:t>
            </a:r>
            <a:r>
              <a:rPr sz="1800" spc="-15" dirty="0">
                <a:latin typeface="Calibri"/>
                <a:cs typeface="Calibri"/>
              </a:rPr>
              <a:t>diferentes  </a:t>
            </a:r>
            <a:r>
              <a:rPr sz="1800" spc="-10" dirty="0">
                <a:latin typeface="Calibri"/>
                <a:cs typeface="Calibri"/>
              </a:rPr>
              <a:t>alternativas </a:t>
            </a:r>
            <a:r>
              <a:rPr sz="1800" dirty="0">
                <a:latin typeface="Calibri"/>
                <a:cs typeface="Calibri"/>
              </a:rPr>
              <a:t>que se pueden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tener.</a:t>
            </a:r>
            <a:endParaRPr sz="180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470"/>
              </a:spcBef>
              <a:buFont typeface="Arial"/>
              <a:buChar char="•"/>
              <a:tabLst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2. </a:t>
            </a:r>
            <a:r>
              <a:rPr sz="2000" b="1" i="1" spc="-10" dirty="0">
                <a:latin typeface="Calibri"/>
                <a:cs typeface="Calibri"/>
              </a:rPr>
              <a:t>Estructura </a:t>
            </a:r>
            <a:r>
              <a:rPr sz="2000" b="1" i="1" spc="-5" dirty="0">
                <a:latin typeface="Calibri"/>
                <a:cs typeface="Calibri"/>
              </a:rPr>
              <a:t>de Desglose </a:t>
            </a:r>
            <a:r>
              <a:rPr sz="2000" b="1" i="1" spc="-10" dirty="0">
                <a:latin typeface="Calibri"/>
                <a:cs typeface="Calibri"/>
              </a:rPr>
              <a:t>de Recursos </a:t>
            </a:r>
            <a:r>
              <a:rPr sz="2000" b="1" i="1" dirty="0">
                <a:latin typeface="Calibri"/>
                <a:cs typeface="Calibri"/>
              </a:rPr>
              <a:t>-  RBS </a:t>
            </a:r>
            <a:r>
              <a:rPr sz="2000" b="1" i="1" spc="-5" dirty="0">
                <a:latin typeface="Calibri"/>
                <a:cs typeface="Calibri"/>
              </a:rPr>
              <a:t>(Resource </a:t>
            </a:r>
            <a:r>
              <a:rPr sz="2000" b="1" i="1" spc="-10" dirty="0">
                <a:latin typeface="Calibri"/>
                <a:cs typeface="Calibri"/>
              </a:rPr>
              <a:t>Breakdown</a:t>
            </a:r>
            <a:r>
              <a:rPr sz="2000" b="1" i="1" spc="-10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Structure)</a:t>
            </a:r>
            <a:endParaRPr sz="2000">
              <a:latin typeface="Calibri"/>
              <a:cs typeface="Calibri"/>
            </a:endParaRPr>
          </a:p>
          <a:p>
            <a:pPr marL="756285" marR="5715" lvl="1" indent="-287020" algn="just">
              <a:lnSpc>
                <a:spcPct val="80000"/>
              </a:lnSpc>
              <a:spcBef>
                <a:spcPts val="440"/>
              </a:spcBef>
              <a:buFont typeface="Arial"/>
              <a:buChar char="–"/>
              <a:tabLst>
                <a:tab pos="756920" algn="l"/>
              </a:tabLst>
            </a:pPr>
            <a:r>
              <a:rPr sz="1800" spc="-10" dirty="0">
                <a:latin typeface="Calibri"/>
                <a:cs typeface="Calibri"/>
              </a:rPr>
              <a:t>Proporciona </a:t>
            </a:r>
            <a:r>
              <a:rPr sz="1800" spc="-5" dirty="0">
                <a:latin typeface="Calibri"/>
                <a:cs typeface="Calibri"/>
              </a:rPr>
              <a:t>la </a:t>
            </a:r>
            <a:r>
              <a:rPr sz="1800" spc="-10" dirty="0">
                <a:latin typeface="Calibri"/>
                <a:cs typeface="Calibri"/>
              </a:rPr>
              <a:t>estructura jerárquica </a:t>
            </a:r>
            <a:r>
              <a:rPr sz="1800" spc="-5" dirty="0">
                <a:latin typeface="Calibri"/>
                <a:cs typeface="Calibri"/>
              </a:rPr>
              <a:t>por  </a:t>
            </a:r>
            <a:r>
              <a:rPr sz="1800" spc="-10" dirty="0">
                <a:latin typeface="Calibri"/>
                <a:cs typeface="Calibri"/>
              </a:rPr>
              <a:t>categoría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recursos </a:t>
            </a:r>
            <a:r>
              <a:rPr sz="1800" spc="-5" dirty="0">
                <a:latin typeface="Calibri"/>
                <a:cs typeface="Calibri"/>
              </a:rPr>
              <a:t>(máquinas,  </a:t>
            </a:r>
            <a:r>
              <a:rPr sz="1800" spc="-10" dirty="0">
                <a:latin typeface="Calibri"/>
                <a:cs typeface="Calibri"/>
              </a:rPr>
              <a:t>materias </a:t>
            </a:r>
            <a:r>
              <a:rPr sz="1800" spc="-5" dirty="0">
                <a:latin typeface="Calibri"/>
                <a:cs typeface="Calibri"/>
              </a:rPr>
              <a:t>primas, </a:t>
            </a:r>
            <a:r>
              <a:rPr sz="1800" spc="-10" dirty="0">
                <a:latin typeface="Calibri"/>
                <a:cs typeface="Calibri"/>
              </a:rPr>
              <a:t>provisiones, etc.)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tipos 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recursos.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799838"/>
            <a:ext cx="5664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3.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1430" y="4799838"/>
            <a:ext cx="39281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6075" algn="l"/>
                <a:tab pos="2078989" algn="l"/>
                <a:tab pos="3592829" algn="l"/>
              </a:tabLst>
            </a:pPr>
            <a:r>
              <a:rPr sz="2000" b="1" i="1" spc="-15" dirty="0">
                <a:latin typeface="Calibri"/>
                <a:cs typeface="Calibri"/>
              </a:rPr>
              <a:t>A</a:t>
            </a:r>
            <a:r>
              <a:rPr sz="2000" b="1" i="1" dirty="0">
                <a:latin typeface="Calibri"/>
                <a:cs typeface="Calibri"/>
              </a:rPr>
              <a:t>c</a:t>
            </a:r>
            <a:r>
              <a:rPr sz="2000" b="1" i="1" spc="-10" dirty="0">
                <a:latin typeface="Calibri"/>
                <a:cs typeface="Calibri"/>
              </a:rPr>
              <a:t>t</a:t>
            </a:r>
            <a:r>
              <a:rPr sz="2000" b="1" i="1" spc="-5" dirty="0">
                <a:latin typeface="Calibri"/>
                <a:cs typeface="Calibri"/>
              </a:rPr>
              <a:t>u</a:t>
            </a:r>
            <a:r>
              <a:rPr sz="2000" b="1" i="1" spc="-15" dirty="0">
                <a:latin typeface="Calibri"/>
                <a:cs typeface="Calibri"/>
              </a:rPr>
              <a:t>a</a:t>
            </a:r>
            <a:r>
              <a:rPr sz="2000" b="1" i="1" dirty="0">
                <a:latin typeface="Calibri"/>
                <a:cs typeface="Calibri"/>
              </a:rPr>
              <a:t>li</a:t>
            </a:r>
            <a:r>
              <a:rPr sz="2000" b="1" i="1" spc="-45" dirty="0">
                <a:latin typeface="Calibri"/>
                <a:cs typeface="Calibri"/>
              </a:rPr>
              <a:t>z</a:t>
            </a:r>
            <a:r>
              <a:rPr sz="2000" b="1" i="1" dirty="0">
                <a:latin typeface="Calibri"/>
                <a:cs typeface="Calibri"/>
              </a:rPr>
              <a:t>ac</a:t>
            </a:r>
            <a:r>
              <a:rPr sz="2000" b="1" i="1" spc="-15" dirty="0">
                <a:latin typeface="Calibri"/>
                <a:cs typeface="Calibri"/>
              </a:rPr>
              <a:t>i</a:t>
            </a:r>
            <a:r>
              <a:rPr sz="2000" b="1" i="1" spc="-5" dirty="0">
                <a:latin typeface="Calibri"/>
                <a:cs typeface="Calibri"/>
              </a:rPr>
              <a:t>ó</a:t>
            </a:r>
            <a:r>
              <a:rPr sz="2000" b="1" i="1" dirty="0">
                <a:latin typeface="Calibri"/>
                <a:cs typeface="Calibri"/>
              </a:rPr>
              <a:t>n	</a:t>
            </a:r>
            <a:r>
              <a:rPr sz="2000" b="1" i="1" spc="-5" dirty="0">
                <a:latin typeface="Calibri"/>
                <a:cs typeface="Calibri"/>
              </a:rPr>
              <a:t>d</a:t>
            </a:r>
            <a:r>
              <a:rPr sz="2000" b="1" i="1" dirty="0">
                <a:latin typeface="Calibri"/>
                <a:cs typeface="Calibri"/>
              </a:rPr>
              <a:t>e	</a:t>
            </a:r>
            <a:r>
              <a:rPr sz="2000" b="1" i="1" spc="-15" dirty="0">
                <a:latin typeface="Calibri"/>
                <a:cs typeface="Calibri"/>
              </a:rPr>
              <a:t>D</a:t>
            </a:r>
            <a:r>
              <a:rPr sz="2000" b="1" i="1" spc="-5" dirty="0">
                <a:latin typeface="Calibri"/>
                <a:cs typeface="Calibri"/>
              </a:rPr>
              <a:t>oc</a:t>
            </a:r>
            <a:r>
              <a:rPr sz="2000" b="1" i="1" spc="-15" dirty="0">
                <a:latin typeface="Calibri"/>
                <a:cs typeface="Calibri"/>
              </a:rPr>
              <a:t>u</a:t>
            </a:r>
            <a:r>
              <a:rPr sz="2000" b="1" i="1" dirty="0">
                <a:latin typeface="Calibri"/>
                <a:cs typeface="Calibri"/>
              </a:rPr>
              <a:t>me</a:t>
            </a:r>
            <a:r>
              <a:rPr sz="2000" b="1" i="1" spc="-30" dirty="0">
                <a:latin typeface="Calibri"/>
                <a:cs typeface="Calibri"/>
              </a:rPr>
              <a:t>n</a:t>
            </a:r>
            <a:r>
              <a:rPr sz="2000" b="1" i="1" spc="-25" dirty="0">
                <a:latin typeface="Calibri"/>
                <a:cs typeface="Calibri"/>
              </a:rPr>
              <a:t>t</a:t>
            </a:r>
            <a:r>
              <a:rPr sz="2000" b="1" i="1" spc="-5" dirty="0">
                <a:latin typeface="Calibri"/>
                <a:cs typeface="Calibri"/>
              </a:rPr>
              <a:t>o</a:t>
            </a:r>
            <a:r>
              <a:rPr sz="2000" b="1" i="1" dirty="0">
                <a:latin typeface="Calibri"/>
                <a:cs typeface="Calibri"/>
              </a:rPr>
              <a:t>s	del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144" y="5043373"/>
            <a:ext cx="4328160" cy="826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5" dirty="0">
                <a:latin typeface="Calibri"/>
                <a:cs typeface="Calibri"/>
              </a:rPr>
              <a:t>Proyecto</a:t>
            </a:r>
            <a:endParaRPr sz="2000">
              <a:latin typeface="Calibri"/>
              <a:cs typeface="Calibri"/>
            </a:endParaRPr>
          </a:p>
          <a:p>
            <a:pPr marL="413384" marR="5080" indent="-287020">
              <a:lnSpc>
                <a:spcPct val="80000"/>
              </a:lnSpc>
              <a:spcBef>
                <a:spcPts val="440"/>
              </a:spcBef>
              <a:tabLst>
                <a:tab pos="413384" algn="l"/>
              </a:tabLst>
            </a:pPr>
            <a:r>
              <a:rPr sz="1800" dirty="0">
                <a:latin typeface="Arial"/>
                <a:cs typeface="Arial"/>
              </a:rPr>
              <a:t>–	</a:t>
            </a:r>
            <a:r>
              <a:rPr sz="1800" dirty="0">
                <a:latin typeface="Calibri"/>
                <a:cs typeface="Calibri"/>
              </a:rPr>
              <a:t>Se </a:t>
            </a:r>
            <a:r>
              <a:rPr sz="1800" spc="-10" dirty="0">
                <a:latin typeface="Calibri"/>
                <a:cs typeface="Calibri"/>
              </a:rPr>
              <a:t>actualizan </a:t>
            </a:r>
            <a:r>
              <a:rPr sz="1800" spc="-5" dirty="0">
                <a:latin typeface="Calibri"/>
                <a:cs typeface="Calibri"/>
              </a:rPr>
              <a:t>la </a:t>
            </a:r>
            <a:r>
              <a:rPr sz="1800" spc="-15" dirty="0">
                <a:latin typeface="Calibri"/>
                <a:cs typeface="Calibri"/>
              </a:rPr>
              <a:t>lista </a:t>
            </a:r>
            <a:r>
              <a:rPr sz="1800" dirty="0">
                <a:latin typeface="Calibri"/>
                <a:cs typeface="Calibri"/>
              </a:rPr>
              <a:t>de actividades, </a:t>
            </a:r>
            <a:r>
              <a:rPr sz="1800" spc="-5" dirty="0">
                <a:latin typeface="Calibri"/>
                <a:cs typeface="Calibri"/>
              </a:rPr>
              <a:t>los  </a:t>
            </a:r>
            <a:r>
              <a:rPr sz="1800" spc="-10" dirty="0">
                <a:latin typeface="Calibri"/>
                <a:cs typeface="Calibri"/>
              </a:rPr>
              <a:t>atributos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los calendarios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recursos.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07152" y="2500883"/>
            <a:ext cx="3546348" cy="27142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1034" y="231470"/>
            <a:ext cx="1743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</a:t>
            </a:r>
            <a:r>
              <a:rPr sz="4400" spc="-45" dirty="0"/>
              <a:t>g</a:t>
            </a:r>
            <a:r>
              <a:rPr sz="4400" dirty="0"/>
              <a:t>enda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891436"/>
            <a:ext cx="3374390" cy="59702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300" b="1" spc="-10" dirty="0">
                <a:latin typeface="Calibri"/>
                <a:cs typeface="Calibri"/>
              </a:rPr>
              <a:t>GRUPO </a:t>
            </a:r>
            <a:r>
              <a:rPr sz="1300" b="1" spc="-5" dirty="0">
                <a:latin typeface="Calibri"/>
                <a:cs typeface="Calibri"/>
              </a:rPr>
              <a:t>DE </a:t>
            </a:r>
            <a:r>
              <a:rPr sz="1300" b="1" spc="-10" dirty="0">
                <a:latin typeface="Calibri"/>
                <a:cs typeface="Calibri"/>
              </a:rPr>
              <a:t>PROCESOS </a:t>
            </a:r>
            <a:r>
              <a:rPr sz="1300" b="1" spc="-5" dirty="0">
                <a:latin typeface="Calibri"/>
                <a:cs typeface="Calibri"/>
              </a:rPr>
              <a:t>DE</a:t>
            </a:r>
            <a:r>
              <a:rPr sz="1300" b="1" spc="6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PLANIFICACION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Planificar la gestión del</a:t>
            </a:r>
            <a:r>
              <a:rPr sz="1300" spc="5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Cronograma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10" dirty="0">
                <a:latin typeface="Calibri"/>
                <a:cs typeface="Calibri"/>
              </a:rPr>
              <a:t>Definir </a:t>
            </a:r>
            <a:r>
              <a:rPr sz="1300" spc="-5" dirty="0">
                <a:latin typeface="Calibri"/>
                <a:cs typeface="Calibri"/>
              </a:rPr>
              <a:t>las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Secuenciar las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Estimar los </a:t>
            </a:r>
            <a:r>
              <a:rPr sz="1300" spc="-10" dirty="0">
                <a:latin typeface="Calibri"/>
                <a:cs typeface="Calibri"/>
              </a:rPr>
              <a:t>Recursos </a:t>
            </a:r>
            <a:r>
              <a:rPr sz="1300" spc="-5" dirty="0">
                <a:latin typeface="Calibri"/>
                <a:cs typeface="Calibri"/>
              </a:rPr>
              <a:t>de las</a:t>
            </a:r>
            <a:r>
              <a:rPr sz="1300" spc="5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b="1" spc="-10" dirty="0">
                <a:latin typeface="Calibri"/>
                <a:cs typeface="Calibri"/>
              </a:rPr>
              <a:t>Estimar </a:t>
            </a:r>
            <a:r>
              <a:rPr sz="1300" b="1" spc="-5" dirty="0">
                <a:latin typeface="Calibri"/>
                <a:cs typeface="Calibri"/>
              </a:rPr>
              <a:t>la </a:t>
            </a:r>
            <a:r>
              <a:rPr sz="1300" b="1" spc="-10" dirty="0">
                <a:latin typeface="Calibri"/>
                <a:cs typeface="Calibri"/>
              </a:rPr>
              <a:t>Duración </a:t>
            </a:r>
            <a:r>
              <a:rPr sz="1300" b="1" spc="-5" dirty="0">
                <a:latin typeface="Calibri"/>
                <a:cs typeface="Calibri"/>
              </a:rPr>
              <a:t>de las</a:t>
            </a:r>
            <a:r>
              <a:rPr sz="1300" b="1" spc="55" dirty="0">
                <a:latin typeface="Calibri"/>
                <a:cs typeface="Calibri"/>
              </a:rPr>
              <a:t> </a:t>
            </a:r>
            <a:r>
              <a:rPr sz="1300" b="1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10" dirty="0">
                <a:latin typeface="Calibri"/>
                <a:cs typeface="Calibri"/>
              </a:rPr>
              <a:t>Desarrollar </a:t>
            </a:r>
            <a:r>
              <a:rPr sz="1300" spc="-5" dirty="0">
                <a:latin typeface="Calibri"/>
                <a:cs typeface="Calibri"/>
              </a:rPr>
              <a:t>el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Cronograma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613" y="496950"/>
            <a:ext cx="78200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Estimar </a:t>
            </a:r>
            <a:r>
              <a:rPr spc="-5" dirty="0"/>
              <a:t>la </a:t>
            </a:r>
            <a:r>
              <a:rPr spc="-15" dirty="0"/>
              <a:t>Duración </a:t>
            </a:r>
            <a:r>
              <a:rPr dirty="0"/>
              <a:t>de </a:t>
            </a:r>
            <a:r>
              <a:rPr spc="-5" dirty="0"/>
              <a:t>las</a:t>
            </a:r>
            <a:r>
              <a:rPr spc="20" dirty="0"/>
              <a:t> </a:t>
            </a:r>
            <a:r>
              <a:rPr spc="-5" dirty="0"/>
              <a:t>Actividades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7090"/>
            <a:ext cx="6134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Calibri"/>
                <a:cs typeface="Calibri"/>
              </a:rPr>
              <a:t>Se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1430" y="1617090"/>
            <a:ext cx="44964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53795" algn="l"/>
                <a:tab pos="1703070" algn="l"/>
                <a:tab pos="3254375" algn="l"/>
                <a:tab pos="3673475" algn="l"/>
              </a:tabLst>
            </a:pPr>
            <a:r>
              <a:rPr sz="2000" dirty="0">
                <a:latin typeface="Calibri"/>
                <a:cs typeface="Calibri"/>
              </a:rPr>
              <a:t>e</a:t>
            </a:r>
            <a:r>
              <a:rPr sz="2000" spc="-30" dirty="0">
                <a:latin typeface="Calibri"/>
                <a:cs typeface="Calibri"/>
              </a:rPr>
              <a:t>s</a:t>
            </a:r>
            <a:r>
              <a:rPr sz="2000" spc="-15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ablece	una	ap</a:t>
            </a:r>
            <a:r>
              <a:rPr sz="2000" spc="-50" dirty="0">
                <a:latin typeface="Calibri"/>
                <a:cs typeface="Calibri"/>
              </a:rPr>
              <a:t>r</a:t>
            </a:r>
            <a:r>
              <a:rPr sz="2000" spc="-40" dirty="0">
                <a:latin typeface="Calibri"/>
                <a:cs typeface="Calibri"/>
              </a:rPr>
              <a:t>o</a:t>
            </a:r>
            <a:r>
              <a:rPr sz="2000" spc="-5" dirty="0">
                <a:latin typeface="Calibri"/>
                <a:cs typeface="Calibri"/>
              </a:rPr>
              <a:t>x</a:t>
            </a: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mación	de	c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á</a:t>
            </a:r>
            <a:r>
              <a:rPr sz="2000" spc="-35" dirty="0">
                <a:latin typeface="Calibri"/>
                <a:cs typeface="Calibri"/>
              </a:rPr>
              <a:t>n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os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921891"/>
            <a:ext cx="5245100" cy="3257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algn="just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libri"/>
                <a:cs typeface="Calibri"/>
              </a:rPr>
              <a:t>periodos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trabajo </a:t>
            </a:r>
            <a:r>
              <a:rPr sz="2000" spc="-5" dirty="0">
                <a:latin typeface="Calibri"/>
                <a:cs typeface="Calibri"/>
              </a:rPr>
              <a:t>son necesarios con </a:t>
            </a:r>
            <a:r>
              <a:rPr sz="2000" dirty="0">
                <a:latin typeface="Calibri"/>
                <a:cs typeface="Calibri"/>
              </a:rPr>
              <a:t>los  </a:t>
            </a:r>
            <a:r>
              <a:rPr sz="2000" spc="-10" dirty="0">
                <a:latin typeface="Calibri"/>
                <a:cs typeface="Calibri"/>
              </a:rPr>
              <a:t>recursos </a:t>
            </a:r>
            <a:r>
              <a:rPr sz="2000" dirty="0">
                <a:latin typeface="Calibri"/>
                <a:cs typeface="Calibri"/>
              </a:rPr>
              <a:t>que </a:t>
            </a:r>
            <a:r>
              <a:rPr sz="2000" spc="-5" dirty="0">
                <a:latin typeface="Calibri"/>
                <a:cs typeface="Calibri"/>
              </a:rPr>
              <a:t>se estimaron en el </a:t>
            </a:r>
            <a:r>
              <a:rPr sz="2000" spc="-10" dirty="0">
                <a:latin typeface="Calibri"/>
                <a:cs typeface="Calibri"/>
              </a:rPr>
              <a:t>proceso  </a:t>
            </a:r>
            <a:r>
              <a:rPr sz="2000" spc="-5" dirty="0">
                <a:latin typeface="Calibri"/>
                <a:cs typeface="Calibri"/>
              </a:rPr>
              <a:t>“Estimar </a:t>
            </a:r>
            <a:r>
              <a:rPr sz="2000" dirty="0">
                <a:latin typeface="Calibri"/>
                <a:cs typeface="Calibri"/>
              </a:rPr>
              <a:t>los </a:t>
            </a:r>
            <a:r>
              <a:rPr sz="2000" spc="-10" dirty="0">
                <a:latin typeface="Calibri"/>
                <a:cs typeface="Calibri"/>
              </a:rPr>
              <a:t>Recursos </a:t>
            </a:r>
            <a:r>
              <a:rPr sz="2000" dirty="0">
                <a:latin typeface="Calibri"/>
                <a:cs typeface="Calibri"/>
              </a:rPr>
              <a:t>de las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Actividades”.</a:t>
            </a:r>
            <a:endParaRPr sz="2000">
              <a:latin typeface="Calibri"/>
              <a:cs typeface="Calibri"/>
            </a:endParaRPr>
          </a:p>
          <a:p>
            <a:pPr marL="355600" marR="6985" indent="-343535" algn="just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6235" algn="l"/>
              </a:tabLst>
            </a:pPr>
            <a:r>
              <a:rPr sz="2000" spc="-5" dirty="0">
                <a:latin typeface="Calibri"/>
                <a:cs typeface="Calibri"/>
              </a:rPr>
              <a:t>Son </a:t>
            </a:r>
            <a:r>
              <a:rPr sz="2000" dirty="0">
                <a:latin typeface="Calibri"/>
                <a:cs typeface="Calibri"/>
              </a:rPr>
              <a:t>las </a:t>
            </a:r>
            <a:r>
              <a:rPr sz="2000" spc="-10" dirty="0">
                <a:latin typeface="Calibri"/>
                <a:cs typeface="Calibri"/>
              </a:rPr>
              <a:t>personas </a:t>
            </a:r>
            <a:r>
              <a:rPr sz="2000" dirty="0">
                <a:latin typeface="Calibri"/>
                <a:cs typeface="Calibri"/>
              </a:rPr>
              <a:t>más </a:t>
            </a:r>
            <a:r>
              <a:rPr sz="2000" spc="-5" dirty="0">
                <a:latin typeface="Calibri"/>
                <a:cs typeface="Calibri"/>
              </a:rPr>
              <a:t>familiarizadas con el </a:t>
            </a:r>
            <a:r>
              <a:rPr sz="2000" dirty="0">
                <a:latin typeface="Calibri"/>
                <a:cs typeface="Calibri"/>
              </a:rPr>
              <a:t>tipo  de </a:t>
            </a:r>
            <a:r>
              <a:rPr sz="2000" spc="-10" dirty="0">
                <a:latin typeface="Calibri"/>
                <a:cs typeface="Calibri"/>
              </a:rPr>
              <a:t>trabajo </a:t>
            </a:r>
            <a:r>
              <a:rPr sz="2000" spc="-5" dirty="0">
                <a:latin typeface="Calibri"/>
                <a:cs typeface="Calibri"/>
              </a:rPr>
              <a:t>que </a:t>
            </a:r>
            <a:r>
              <a:rPr sz="2000" spc="-15" dirty="0">
                <a:latin typeface="Calibri"/>
                <a:cs typeface="Calibri"/>
              </a:rPr>
              <a:t>hay </a:t>
            </a:r>
            <a:r>
              <a:rPr sz="2000" spc="-5" dirty="0">
                <a:latin typeface="Calibri"/>
                <a:cs typeface="Calibri"/>
              </a:rPr>
              <a:t>que hacer quienes deben  </a:t>
            </a:r>
            <a:r>
              <a:rPr sz="2000" dirty="0">
                <a:latin typeface="Calibri"/>
                <a:cs typeface="Calibri"/>
              </a:rPr>
              <a:t>hacer los </a:t>
            </a:r>
            <a:r>
              <a:rPr sz="2000" spc="-10" dirty="0">
                <a:latin typeface="Calibri"/>
                <a:cs typeface="Calibri"/>
              </a:rPr>
              <a:t>estimativos </a:t>
            </a:r>
            <a:r>
              <a:rPr sz="2000" dirty="0">
                <a:latin typeface="Calibri"/>
                <a:cs typeface="Calibri"/>
              </a:rPr>
              <a:t>(no </a:t>
            </a:r>
            <a:r>
              <a:rPr sz="2000" spc="-5" dirty="0">
                <a:latin typeface="Calibri"/>
                <a:cs typeface="Calibri"/>
              </a:rPr>
              <a:t>es el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GP).</a:t>
            </a:r>
            <a:endParaRPr sz="2000">
              <a:latin typeface="Calibri"/>
              <a:cs typeface="Calibri"/>
            </a:endParaRPr>
          </a:p>
          <a:p>
            <a:pPr marL="355600" indent="-343535" algn="just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6235" algn="l"/>
              </a:tabLst>
            </a:pPr>
            <a:r>
              <a:rPr sz="2000" dirty="0">
                <a:latin typeface="Calibri"/>
                <a:cs typeface="Calibri"/>
              </a:rPr>
              <a:t>Se </a:t>
            </a:r>
            <a:r>
              <a:rPr sz="2000" spc="-5" dirty="0">
                <a:latin typeface="Calibri"/>
                <a:cs typeface="Calibri"/>
              </a:rPr>
              <a:t>hace</a:t>
            </a:r>
            <a:r>
              <a:rPr sz="2000" spc="-10" dirty="0">
                <a:latin typeface="Calibri"/>
                <a:cs typeface="Calibri"/>
              </a:rPr>
              <a:t> progresivamente</a:t>
            </a:r>
            <a:endParaRPr sz="200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56235" algn="l"/>
              </a:tabLst>
            </a:pPr>
            <a:r>
              <a:rPr sz="2000" spc="-10" dirty="0">
                <a:latin typeface="Calibri"/>
                <a:cs typeface="Calibri"/>
              </a:rPr>
              <a:t>Requiere </a:t>
            </a:r>
            <a:r>
              <a:rPr sz="2000" spc="-5" dirty="0">
                <a:latin typeface="Calibri"/>
                <a:cs typeface="Calibri"/>
              </a:rPr>
              <a:t>la cantidad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trabajo </a:t>
            </a:r>
            <a:r>
              <a:rPr sz="2000" spc="-15" dirty="0">
                <a:latin typeface="Calibri"/>
                <a:cs typeface="Calibri"/>
              </a:rPr>
              <a:t>para </a:t>
            </a:r>
            <a:r>
              <a:rPr sz="2000" spc="-10" dirty="0">
                <a:latin typeface="Calibri"/>
                <a:cs typeface="Calibri"/>
              </a:rPr>
              <a:t>cada </a:t>
            </a:r>
            <a:r>
              <a:rPr sz="2000" spc="-5" dirty="0">
                <a:latin typeface="Calibri"/>
                <a:cs typeface="Calibri"/>
              </a:rPr>
              <a:t>uno  </a:t>
            </a:r>
            <a:r>
              <a:rPr sz="2000" dirty="0">
                <a:latin typeface="Calibri"/>
                <a:cs typeface="Calibri"/>
              </a:rPr>
              <a:t>de los </a:t>
            </a:r>
            <a:r>
              <a:rPr sz="2000" spc="-5" dirty="0">
                <a:latin typeface="Calibri"/>
                <a:cs typeface="Calibri"/>
              </a:rPr>
              <a:t>estimativos </a:t>
            </a:r>
            <a:r>
              <a:rPr sz="2000" dirty="0">
                <a:latin typeface="Calibri"/>
                <a:cs typeface="Calibri"/>
              </a:rPr>
              <a:t>y las </a:t>
            </a:r>
            <a:r>
              <a:rPr sz="2000" spc="-5" dirty="0">
                <a:latin typeface="Calibri"/>
                <a:cs typeface="Calibri"/>
              </a:rPr>
              <a:t>suposiciones </a:t>
            </a:r>
            <a:r>
              <a:rPr sz="2000" spc="-10" dirty="0">
                <a:latin typeface="Calibri"/>
                <a:cs typeface="Calibri"/>
              </a:rPr>
              <a:t>sobre </a:t>
            </a:r>
            <a:r>
              <a:rPr sz="2000" dirty="0">
                <a:latin typeface="Calibri"/>
                <a:cs typeface="Calibri"/>
              </a:rPr>
              <a:t>los  </a:t>
            </a:r>
            <a:r>
              <a:rPr sz="2000" spc="-10" dirty="0">
                <a:latin typeface="Calibri"/>
                <a:cs typeface="Calibri"/>
              </a:rPr>
              <a:t>recursos </a:t>
            </a:r>
            <a:r>
              <a:rPr sz="2000" dirty="0">
                <a:latin typeface="Calibri"/>
                <a:cs typeface="Calibri"/>
              </a:rPr>
              <a:t>que </a:t>
            </a:r>
            <a:r>
              <a:rPr sz="2000" spc="-5" dirty="0">
                <a:latin typeface="Calibri"/>
                <a:cs typeface="Calibri"/>
              </a:rPr>
              <a:t>se requieren </a:t>
            </a:r>
            <a:r>
              <a:rPr sz="2000" spc="-15" dirty="0">
                <a:latin typeface="Calibri"/>
                <a:cs typeface="Calibri"/>
              </a:rPr>
              <a:t>para </a:t>
            </a:r>
            <a:r>
              <a:rPr sz="2000" spc="-5" dirty="0">
                <a:latin typeface="Calibri"/>
                <a:cs typeface="Calibri"/>
              </a:rPr>
              <a:t>cada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actividad.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43371" y="2505455"/>
            <a:ext cx="3380231" cy="2066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Estimar </a:t>
            </a:r>
            <a:r>
              <a:rPr spc="-5" dirty="0"/>
              <a:t>la </a:t>
            </a:r>
            <a:r>
              <a:rPr spc="-15" dirty="0"/>
              <a:t>Duración </a:t>
            </a:r>
            <a:r>
              <a:rPr dirty="0"/>
              <a:t>de </a:t>
            </a:r>
            <a:r>
              <a:rPr spc="-5" dirty="0"/>
              <a:t>las</a:t>
            </a:r>
            <a:r>
              <a:rPr spc="20" dirty="0"/>
              <a:t> </a:t>
            </a:r>
            <a:r>
              <a:rPr spc="-5" dirty="0"/>
              <a:t>Actividades</a:t>
            </a:r>
          </a:p>
          <a:p>
            <a:pPr marL="10795" marR="2540" algn="ctr">
              <a:lnSpc>
                <a:spcPct val="100000"/>
              </a:lnSpc>
            </a:pPr>
            <a:r>
              <a:rPr spc="-5" dirty="0"/>
              <a:t>-</a:t>
            </a:r>
            <a:r>
              <a:rPr spc="-10" dirty="0"/>
              <a:t> </a:t>
            </a:r>
            <a:r>
              <a:rPr b="1" spc="-25" dirty="0">
                <a:latin typeface="Calibri"/>
                <a:cs typeface="Calibri"/>
              </a:rPr>
              <a:t>Entradas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9829"/>
            <a:ext cx="6028690" cy="4137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500" b="1" i="1" spc="-5" dirty="0">
                <a:latin typeface="Calibri"/>
                <a:cs typeface="Calibri"/>
              </a:rPr>
              <a:t>1. </a:t>
            </a:r>
            <a:r>
              <a:rPr sz="1500" b="1" i="1" dirty="0">
                <a:latin typeface="Calibri"/>
                <a:cs typeface="Calibri"/>
              </a:rPr>
              <a:t>Plan </a:t>
            </a:r>
            <a:r>
              <a:rPr sz="1500" b="1" i="1" spc="-5" dirty="0">
                <a:latin typeface="Calibri"/>
                <a:cs typeface="Calibri"/>
              </a:rPr>
              <a:t>de Gestión del</a:t>
            </a:r>
            <a:r>
              <a:rPr sz="1500" b="1" i="1" spc="-60" dirty="0">
                <a:latin typeface="Calibri"/>
                <a:cs typeface="Calibri"/>
              </a:rPr>
              <a:t> </a:t>
            </a:r>
            <a:r>
              <a:rPr sz="1500" b="1" i="1" dirty="0">
                <a:latin typeface="Calibri"/>
                <a:cs typeface="Calibri"/>
              </a:rPr>
              <a:t>Cronograma</a:t>
            </a:r>
            <a:endParaRPr sz="15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500" b="1" i="1" spc="-5" dirty="0">
                <a:latin typeface="Calibri"/>
                <a:cs typeface="Calibri"/>
              </a:rPr>
              <a:t>2. </a:t>
            </a:r>
            <a:r>
              <a:rPr sz="1500" b="1" i="1" spc="-10" dirty="0">
                <a:latin typeface="Calibri"/>
                <a:cs typeface="Calibri"/>
              </a:rPr>
              <a:t>Lista </a:t>
            </a:r>
            <a:r>
              <a:rPr sz="1500" b="1" i="1" dirty="0">
                <a:latin typeface="Calibri"/>
                <a:cs typeface="Calibri"/>
              </a:rPr>
              <a:t>de</a:t>
            </a:r>
            <a:r>
              <a:rPr sz="1500" b="1" i="1" spc="-20" dirty="0">
                <a:latin typeface="Calibri"/>
                <a:cs typeface="Calibri"/>
              </a:rPr>
              <a:t> </a:t>
            </a:r>
            <a:r>
              <a:rPr sz="1500" b="1" i="1" spc="-5" dirty="0">
                <a:latin typeface="Calibri"/>
                <a:cs typeface="Calibri"/>
              </a:rPr>
              <a:t>Actividades</a:t>
            </a:r>
            <a:endParaRPr sz="15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500" b="1" i="1" spc="-5" dirty="0">
                <a:latin typeface="Calibri"/>
                <a:cs typeface="Calibri"/>
              </a:rPr>
              <a:t>3. </a:t>
            </a:r>
            <a:r>
              <a:rPr sz="1500" b="1" i="1" spc="-10" dirty="0">
                <a:latin typeface="Calibri"/>
                <a:cs typeface="Calibri"/>
              </a:rPr>
              <a:t>Atributos </a:t>
            </a:r>
            <a:r>
              <a:rPr sz="1500" b="1" i="1" dirty="0">
                <a:latin typeface="Calibri"/>
                <a:cs typeface="Calibri"/>
              </a:rPr>
              <a:t>de las</a:t>
            </a:r>
            <a:r>
              <a:rPr sz="1500" b="1" i="1" spc="-35" dirty="0">
                <a:latin typeface="Calibri"/>
                <a:cs typeface="Calibri"/>
              </a:rPr>
              <a:t> </a:t>
            </a:r>
            <a:r>
              <a:rPr sz="1500" b="1" i="1" spc="-5" dirty="0">
                <a:latin typeface="Calibri"/>
                <a:cs typeface="Calibri"/>
              </a:rPr>
              <a:t>Actividades</a:t>
            </a:r>
            <a:endParaRPr sz="15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500" b="1" i="1" spc="-5" dirty="0">
                <a:latin typeface="Calibri"/>
                <a:cs typeface="Calibri"/>
              </a:rPr>
              <a:t>4. </a:t>
            </a:r>
            <a:r>
              <a:rPr sz="1500" b="1" i="1" spc="-10" dirty="0">
                <a:latin typeface="Calibri"/>
                <a:cs typeface="Calibri"/>
              </a:rPr>
              <a:t>Requerimientos </a:t>
            </a:r>
            <a:r>
              <a:rPr sz="1500" b="1" i="1" dirty="0">
                <a:latin typeface="Calibri"/>
                <a:cs typeface="Calibri"/>
              </a:rPr>
              <a:t>de </a:t>
            </a:r>
            <a:r>
              <a:rPr sz="1500" b="1" i="1" spc="-10" dirty="0">
                <a:latin typeface="Calibri"/>
                <a:cs typeface="Calibri"/>
              </a:rPr>
              <a:t>Recursos </a:t>
            </a:r>
            <a:r>
              <a:rPr sz="1500" b="1" i="1" dirty="0">
                <a:latin typeface="Calibri"/>
                <a:cs typeface="Calibri"/>
              </a:rPr>
              <a:t>de las</a:t>
            </a:r>
            <a:r>
              <a:rPr sz="1500" b="1" i="1" spc="-35" dirty="0">
                <a:latin typeface="Calibri"/>
                <a:cs typeface="Calibri"/>
              </a:rPr>
              <a:t> </a:t>
            </a:r>
            <a:r>
              <a:rPr sz="1500" b="1" i="1" spc="-5" dirty="0">
                <a:latin typeface="Calibri"/>
                <a:cs typeface="Calibri"/>
              </a:rPr>
              <a:t>Actividades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ts val="1555"/>
              </a:lnSpc>
              <a:spcBef>
                <a:spcPts val="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10" dirty="0">
                <a:latin typeface="Calibri"/>
                <a:cs typeface="Calibri"/>
              </a:rPr>
              <a:t>Recursos </a:t>
            </a:r>
            <a:r>
              <a:rPr sz="1300" spc="-5" dirty="0">
                <a:latin typeface="Calibri"/>
                <a:cs typeface="Calibri"/>
              </a:rPr>
              <a:t>asignados, calidad y</a:t>
            </a:r>
            <a:r>
              <a:rPr sz="1300" spc="7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oportunidad</a:t>
            </a:r>
            <a:endParaRPr sz="1300">
              <a:latin typeface="Calibri"/>
              <a:cs typeface="Calibri"/>
            </a:endParaRPr>
          </a:p>
          <a:p>
            <a:pPr marL="355600" indent="-343535">
              <a:lnSpc>
                <a:spcPts val="1795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500" b="1" i="1" spc="-5" dirty="0">
                <a:latin typeface="Calibri"/>
                <a:cs typeface="Calibri"/>
              </a:rPr>
              <a:t>5. Calendario </a:t>
            </a:r>
            <a:r>
              <a:rPr sz="1500" b="1" i="1" dirty="0">
                <a:latin typeface="Calibri"/>
                <a:cs typeface="Calibri"/>
              </a:rPr>
              <a:t>de</a:t>
            </a:r>
            <a:r>
              <a:rPr sz="1500" b="1" i="1" spc="-45" dirty="0">
                <a:latin typeface="Calibri"/>
                <a:cs typeface="Calibri"/>
              </a:rPr>
              <a:t> </a:t>
            </a:r>
            <a:r>
              <a:rPr sz="1500" b="1" i="1" spc="-10" dirty="0">
                <a:latin typeface="Calibri"/>
                <a:cs typeface="Calibri"/>
              </a:rPr>
              <a:t>Recursos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Salen actualizados del </a:t>
            </a:r>
            <a:r>
              <a:rPr sz="1300" spc="-10" dirty="0">
                <a:latin typeface="Calibri"/>
                <a:cs typeface="Calibri"/>
              </a:rPr>
              <a:t>proceso</a:t>
            </a:r>
            <a:r>
              <a:rPr sz="1300" spc="9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anterior</a:t>
            </a:r>
            <a:endParaRPr sz="1300">
              <a:latin typeface="Calibri"/>
              <a:cs typeface="Calibri"/>
            </a:endParaRPr>
          </a:p>
          <a:p>
            <a:pPr marL="756285" marR="5080" lvl="1" indent="-287020">
              <a:lnSpc>
                <a:spcPts val="1250"/>
              </a:lnSpc>
              <a:spcBef>
                <a:spcPts val="30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Calendarios con disponibilidades, </a:t>
            </a:r>
            <a:r>
              <a:rPr sz="1300" dirty="0">
                <a:latin typeface="Calibri"/>
                <a:cs typeface="Calibri"/>
              </a:rPr>
              <a:t>capacidades </a:t>
            </a:r>
            <a:r>
              <a:rPr sz="1300" spc="-5" dirty="0">
                <a:latin typeface="Calibri"/>
                <a:cs typeface="Calibri"/>
              </a:rPr>
              <a:t>y habilidades de </a:t>
            </a:r>
            <a:r>
              <a:rPr sz="1300" spc="5" dirty="0">
                <a:latin typeface="Calibri"/>
                <a:cs typeface="Calibri"/>
              </a:rPr>
              <a:t>los </a:t>
            </a:r>
            <a:r>
              <a:rPr sz="1300" spc="-10" dirty="0">
                <a:latin typeface="Calibri"/>
                <a:cs typeface="Calibri"/>
              </a:rPr>
              <a:t>recursos  </a:t>
            </a:r>
            <a:r>
              <a:rPr sz="1300" spc="-5" dirty="0">
                <a:latin typeface="Calibri"/>
                <a:cs typeface="Calibri"/>
              </a:rPr>
              <a:t>humanos</a:t>
            </a:r>
            <a:endParaRPr sz="1300">
              <a:latin typeface="Calibri"/>
              <a:cs typeface="Calibri"/>
            </a:endParaRPr>
          </a:p>
          <a:p>
            <a:pPr marL="756285" marR="5080" lvl="1" indent="-287020">
              <a:lnSpc>
                <a:spcPct val="80000"/>
              </a:lnSpc>
              <a:spcBef>
                <a:spcPts val="32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Calendarios </a:t>
            </a:r>
            <a:r>
              <a:rPr sz="1300" spc="-10" dirty="0">
                <a:latin typeface="Calibri"/>
                <a:cs typeface="Calibri"/>
              </a:rPr>
              <a:t>con </a:t>
            </a:r>
            <a:r>
              <a:rPr sz="1300" spc="-5" dirty="0">
                <a:latin typeface="Calibri"/>
                <a:cs typeface="Calibri"/>
              </a:rPr>
              <a:t>el tipo, cantidad, disponibilidad y capacidad de equipos y  </a:t>
            </a:r>
            <a:r>
              <a:rPr sz="1300" spc="-10" dirty="0">
                <a:latin typeface="Calibri"/>
                <a:cs typeface="Calibri"/>
              </a:rPr>
              <a:t>materia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prima.</a:t>
            </a:r>
            <a:endParaRPr sz="1300">
              <a:latin typeface="Calibri"/>
              <a:cs typeface="Calibri"/>
            </a:endParaRPr>
          </a:p>
          <a:p>
            <a:pPr marL="355600" indent="-343535">
              <a:lnSpc>
                <a:spcPts val="1789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500" b="1" i="1" spc="-5" dirty="0">
                <a:latin typeface="Calibri"/>
                <a:cs typeface="Calibri"/>
              </a:rPr>
              <a:t>6. </a:t>
            </a:r>
            <a:r>
              <a:rPr sz="1500" b="1" i="1" spc="-10" dirty="0">
                <a:latin typeface="Calibri"/>
                <a:cs typeface="Calibri"/>
              </a:rPr>
              <a:t>Enunciado </a:t>
            </a:r>
            <a:r>
              <a:rPr sz="1500" b="1" i="1" spc="-5" dirty="0">
                <a:latin typeface="Calibri"/>
                <a:cs typeface="Calibri"/>
              </a:rPr>
              <a:t>del </a:t>
            </a:r>
            <a:r>
              <a:rPr sz="1500" b="1" i="1" spc="-10" dirty="0">
                <a:latin typeface="Calibri"/>
                <a:cs typeface="Calibri"/>
              </a:rPr>
              <a:t>Alcance </a:t>
            </a:r>
            <a:r>
              <a:rPr sz="1500" b="1" i="1" spc="-5" dirty="0">
                <a:latin typeface="Calibri"/>
                <a:cs typeface="Calibri"/>
              </a:rPr>
              <a:t>del</a:t>
            </a:r>
            <a:r>
              <a:rPr sz="1500" b="1" i="1" spc="-30" dirty="0">
                <a:latin typeface="Calibri"/>
                <a:cs typeface="Calibri"/>
              </a:rPr>
              <a:t> </a:t>
            </a:r>
            <a:r>
              <a:rPr sz="1500" b="1" i="1" spc="-10" dirty="0">
                <a:latin typeface="Calibri"/>
                <a:cs typeface="Calibri"/>
              </a:rPr>
              <a:t>Proyecto</a:t>
            </a:r>
            <a:endParaRPr sz="15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500" b="1" i="1" spc="-5" dirty="0">
                <a:latin typeface="Calibri"/>
                <a:cs typeface="Calibri"/>
              </a:rPr>
              <a:t>7. </a:t>
            </a:r>
            <a:r>
              <a:rPr sz="1500" b="1" i="1" spc="-10" dirty="0">
                <a:latin typeface="Calibri"/>
                <a:cs typeface="Calibri"/>
              </a:rPr>
              <a:t>Registro </a:t>
            </a:r>
            <a:r>
              <a:rPr sz="1500" b="1" i="1" spc="-5" dirty="0">
                <a:latin typeface="Calibri"/>
                <a:cs typeface="Calibri"/>
              </a:rPr>
              <a:t>de Riesgos</a:t>
            </a:r>
            <a:endParaRPr sz="15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500" b="1" i="1" spc="-5" dirty="0">
                <a:latin typeface="Calibri"/>
                <a:cs typeface="Calibri"/>
              </a:rPr>
              <a:t>8. Estructura </a:t>
            </a:r>
            <a:r>
              <a:rPr sz="1500" b="1" i="1" dirty="0">
                <a:latin typeface="Calibri"/>
                <a:cs typeface="Calibri"/>
              </a:rPr>
              <a:t>de </a:t>
            </a:r>
            <a:r>
              <a:rPr sz="1500" b="1" i="1" spc="-5" dirty="0">
                <a:latin typeface="Calibri"/>
                <a:cs typeface="Calibri"/>
              </a:rPr>
              <a:t>Desglose </a:t>
            </a:r>
            <a:r>
              <a:rPr sz="1500" b="1" i="1" dirty="0">
                <a:latin typeface="Calibri"/>
                <a:cs typeface="Calibri"/>
              </a:rPr>
              <a:t>de </a:t>
            </a:r>
            <a:r>
              <a:rPr sz="1500" b="1" i="1" spc="-10" dirty="0">
                <a:latin typeface="Calibri"/>
                <a:cs typeface="Calibri"/>
              </a:rPr>
              <a:t>Recursos</a:t>
            </a:r>
            <a:r>
              <a:rPr sz="1500" b="1" i="1" spc="-25" dirty="0">
                <a:latin typeface="Calibri"/>
                <a:cs typeface="Calibri"/>
              </a:rPr>
              <a:t> </a:t>
            </a:r>
            <a:r>
              <a:rPr sz="1500" b="1" i="1" spc="-5" dirty="0">
                <a:latin typeface="Calibri"/>
                <a:cs typeface="Calibri"/>
              </a:rPr>
              <a:t>(RBS)</a:t>
            </a:r>
            <a:endParaRPr sz="15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500" b="1" i="1" spc="-5" dirty="0">
                <a:latin typeface="Calibri"/>
                <a:cs typeface="Calibri"/>
              </a:rPr>
              <a:t>9. </a:t>
            </a:r>
            <a:r>
              <a:rPr sz="1500" b="1" i="1" spc="-10" dirty="0">
                <a:latin typeface="Calibri"/>
                <a:cs typeface="Calibri"/>
              </a:rPr>
              <a:t>Factores </a:t>
            </a:r>
            <a:r>
              <a:rPr sz="1500" b="1" i="1" spc="-5" dirty="0">
                <a:latin typeface="Calibri"/>
                <a:cs typeface="Calibri"/>
              </a:rPr>
              <a:t>Ambientales </a:t>
            </a:r>
            <a:r>
              <a:rPr sz="1500" b="1" i="1" dirty="0">
                <a:latin typeface="Calibri"/>
                <a:cs typeface="Calibri"/>
              </a:rPr>
              <a:t>de la</a:t>
            </a:r>
            <a:r>
              <a:rPr sz="1500" b="1" i="1" spc="-40" dirty="0">
                <a:latin typeface="Calibri"/>
                <a:cs typeface="Calibri"/>
              </a:rPr>
              <a:t> </a:t>
            </a:r>
            <a:r>
              <a:rPr sz="1500" b="1" i="1" spc="-10" dirty="0">
                <a:latin typeface="Calibri"/>
                <a:cs typeface="Calibri"/>
              </a:rPr>
              <a:t>Empresa</a:t>
            </a:r>
            <a:endParaRPr sz="1500">
              <a:latin typeface="Calibri"/>
              <a:cs typeface="Calibri"/>
            </a:endParaRPr>
          </a:p>
          <a:p>
            <a:pPr marL="756285" marR="6350" lvl="1" indent="-287020">
              <a:lnSpc>
                <a:spcPct val="80000"/>
              </a:lnSpc>
              <a:spcBef>
                <a:spcPts val="32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dirty="0">
                <a:latin typeface="Calibri"/>
                <a:cs typeface="Calibri"/>
              </a:rPr>
              <a:t>Bases </a:t>
            </a:r>
            <a:r>
              <a:rPr sz="1300" spc="-5" dirty="0">
                <a:latin typeface="Calibri"/>
                <a:cs typeface="Calibri"/>
              </a:rPr>
              <a:t>de </a:t>
            </a:r>
            <a:r>
              <a:rPr sz="1300" spc="-10" dirty="0">
                <a:latin typeface="Calibri"/>
                <a:cs typeface="Calibri"/>
              </a:rPr>
              <a:t>Datos </a:t>
            </a:r>
            <a:r>
              <a:rPr sz="1300" spc="-5" dirty="0">
                <a:latin typeface="Calibri"/>
                <a:cs typeface="Calibri"/>
              </a:rPr>
              <a:t>de estimaciones, Métricas de productividad e Información  </a:t>
            </a:r>
            <a:r>
              <a:rPr sz="1300" spc="-10" dirty="0">
                <a:latin typeface="Calibri"/>
                <a:cs typeface="Calibri"/>
              </a:rPr>
              <a:t>Comercial</a:t>
            </a:r>
            <a:endParaRPr sz="1300">
              <a:latin typeface="Calibri"/>
              <a:cs typeface="Calibri"/>
            </a:endParaRPr>
          </a:p>
          <a:p>
            <a:pPr marL="355600" indent="-343535">
              <a:lnSpc>
                <a:spcPts val="1789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500" b="1" i="1" spc="-5" dirty="0">
                <a:latin typeface="Calibri"/>
                <a:cs typeface="Calibri"/>
              </a:rPr>
              <a:t>10. Activos </a:t>
            </a:r>
            <a:r>
              <a:rPr sz="1500" b="1" i="1" dirty="0">
                <a:latin typeface="Calibri"/>
                <a:cs typeface="Calibri"/>
              </a:rPr>
              <a:t>de los </a:t>
            </a:r>
            <a:r>
              <a:rPr sz="1500" b="1" i="1" spc="-10" dirty="0">
                <a:latin typeface="Calibri"/>
                <a:cs typeface="Calibri"/>
              </a:rPr>
              <a:t>Procesos</a:t>
            </a:r>
            <a:r>
              <a:rPr sz="1500" b="1" i="1" spc="-35" dirty="0">
                <a:latin typeface="Calibri"/>
                <a:cs typeface="Calibri"/>
              </a:rPr>
              <a:t> </a:t>
            </a:r>
            <a:r>
              <a:rPr sz="1500" b="1" i="1" spc="-10" dirty="0">
                <a:latin typeface="Calibri"/>
                <a:cs typeface="Calibri"/>
              </a:rPr>
              <a:t>Organizacionales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ts val="1405"/>
              </a:lnSpc>
              <a:spcBef>
                <a:spcPts val="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10" dirty="0">
                <a:latin typeface="Calibri"/>
                <a:cs typeface="Calibri"/>
              </a:rPr>
              <a:t>Información </a:t>
            </a:r>
            <a:r>
              <a:rPr sz="1300" spc="-5" dirty="0">
                <a:latin typeface="Calibri"/>
                <a:cs typeface="Calibri"/>
              </a:rPr>
              <a:t>histórica de duración de </a:t>
            </a:r>
            <a:r>
              <a:rPr sz="1300" dirty="0">
                <a:latin typeface="Calibri"/>
                <a:cs typeface="Calibri"/>
              </a:rPr>
              <a:t>los </a:t>
            </a:r>
            <a:r>
              <a:rPr sz="1300" spc="-10" dirty="0">
                <a:latin typeface="Calibri"/>
                <a:cs typeface="Calibri"/>
              </a:rPr>
              <a:t>proyectos, </a:t>
            </a:r>
            <a:r>
              <a:rPr sz="1300" spc="-5" dirty="0">
                <a:latin typeface="Calibri"/>
                <a:cs typeface="Calibri"/>
              </a:rPr>
              <a:t>Metodologías</a:t>
            </a:r>
            <a:r>
              <a:rPr sz="1300" spc="12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de</a:t>
            </a:r>
            <a:endParaRPr sz="1300">
              <a:latin typeface="Calibri"/>
              <a:cs typeface="Calibri"/>
            </a:endParaRPr>
          </a:p>
          <a:p>
            <a:pPr marL="756285">
              <a:lnSpc>
                <a:spcPts val="1405"/>
              </a:lnSpc>
            </a:pPr>
            <a:r>
              <a:rPr sz="1300" spc="-5" dirty="0">
                <a:latin typeface="Calibri"/>
                <a:cs typeface="Calibri"/>
              </a:rPr>
              <a:t>planificación de tiempos, lecciones</a:t>
            </a:r>
            <a:r>
              <a:rPr sz="1300" spc="12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aprendidas.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57871" y="2001011"/>
            <a:ext cx="999744" cy="11852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72756" y="3928871"/>
            <a:ext cx="1071372" cy="1028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Estimar </a:t>
            </a:r>
            <a:r>
              <a:rPr spc="-5" dirty="0"/>
              <a:t>la </a:t>
            </a:r>
            <a:r>
              <a:rPr spc="-15" dirty="0"/>
              <a:t>Duración </a:t>
            </a:r>
            <a:r>
              <a:rPr dirty="0"/>
              <a:t>de </a:t>
            </a:r>
            <a:r>
              <a:rPr spc="-5" dirty="0"/>
              <a:t>las</a:t>
            </a:r>
            <a:r>
              <a:rPr spc="10" dirty="0"/>
              <a:t> </a:t>
            </a:r>
            <a:r>
              <a:rPr spc="-10" dirty="0"/>
              <a:t>Actividades-</a:t>
            </a:r>
          </a:p>
          <a:p>
            <a:pPr marL="1270" algn="ctr">
              <a:lnSpc>
                <a:spcPct val="100000"/>
              </a:lnSpc>
            </a:pP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</a:t>
            </a:r>
            <a:r>
              <a:rPr b="1" spc="60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751"/>
            <a:ext cx="5173345" cy="447929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i="1" spc="-5" dirty="0">
                <a:latin typeface="Calibri"/>
                <a:cs typeface="Calibri"/>
              </a:rPr>
              <a:t>1. Juicio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Experto</a:t>
            </a:r>
            <a:endParaRPr sz="18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i="1" spc="-5" dirty="0">
                <a:latin typeface="Calibri"/>
                <a:cs typeface="Calibri"/>
              </a:rPr>
              <a:t>2. Estimación</a:t>
            </a:r>
            <a:r>
              <a:rPr sz="1800" b="1" i="1" dirty="0">
                <a:latin typeface="Calibri"/>
                <a:cs typeface="Calibri"/>
              </a:rPr>
              <a:t> Análoga</a:t>
            </a:r>
            <a:endParaRPr sz="1800">
              <a:latin typeface="Calibri"/>
              <a:cs typeface="Calibri"/>
            </a:endParaRPr>
          </a:p>
          <a:p>
            <a:pPr marL="756285" marR="6985" lvl="1" indent="-287020" algn="just">
              <a:lnSpc>
                <a:spcPct val="100000"/>
              </a:lnSpc>
              <a:spcBef>
                <a:spcPts val="405"/>
              </a:spcBef>
              <a:buFont typeface="Arial"/>
              <a:buChar char="–"/>
              <a:tabLst>
                <a:tab pos="756920" algn="l"/>
              </a:tabLst>
            </a:pPr>
            <a:r>
              <a:rPr sz="1600" spc="-5" dirty="0">
                <a:latin typeface="Calibri"/>
                <a:cs typeface="Calibri"/>
              </a:rPr>
              <a:t>Se </a:t>
            </a:r>
            <a:r>
              <a:rPr sz="1600" spc="-10" dirty="0">
                <a:latin typeface="Calibri"/>
                <a:cs typeface="Calibri"/>
              </a:rPr>
              <a:t>utilizan </a:t>
            </a:r>
            <a:r>
              <a:rPr sz="1600" spc="-15" dirty="0">
                <a:latin typeface="Calibri"/>
                <a:cs typeface="Calibri"/>
              </a:rPr>
              <a:t>proyectos </a:t>
            </a:r>
            <a:r>
              <a:rPr sz="1600" spc="-5" dirty="0">
                <a:latin typeface="Calibri"/>
                <a:cs typeface="Calibri"/>
              </a:rPr>
              <a:t>similares </a:t>
            </a:r>
            <a:r>
              <a:rPr sz="1600" spc="-15" dirty="0">
                <a:latin typeface="Calibri"/>
                <a:cs typeface="Calibri"/>
              </a:rPr>
              <a:t>para </a:t>
            </a:r>
            <a:r>
              <a:rPr sz="1600" spc="-5" dirty="0">
                <a:latin typeface="Calibri"/>
                <a:cs typeface="Calibri"/>
              </a:rPr>
              <a:t>hacer un  </a:t>
            </a:r>
            <a:r>
              <a:rPr sz="1600" spc="-10" dirty="0">
                <a:latin typeface="Calibri"/>
                <a:cs typeface="Calibri"/>
              </a:rPr>
              <a:t>estimativo</a:t>
            </a:r>
            <a:endParaRPr sz="1600"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756920" algn="l"/>
              </a:tabLst>
            </a:pPr>
            <a:r>
              <a:rPr sz="1600" spc="-5" dirty="0">
                <a:latin typeface="Calibri"/>
                <a:cs typeface="Calibri"/>
              </a:rPr>
              <a:t>Se </a:t>
            </a:r>
            <a:r>
              <a:rPr sz="1600" spc="-10" dirty="0">
                <a:latin typeface="Calibri"/>
                <a:cs typeface="Calibri"/>
              </a:rPr>
              <a:t>requiere Información Histórica </a:t>
            </a:r>
            <a:r>
              <a:rPr sz="1600" spc="-5" dirty="0">
                <a:latin typeface="Calibri"/>
                <a:cs typeface="Calibri"/>
              </a:rPr>
              <a:t>o Juicio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Experto</a:t>
            </a:r>
            <a:endParaRPr sz="160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756920" algn="l"/>
              </a:tabLst>
            </a:pPr>
            <a:r>
              <a:rPr sz="1600" spc="-5" dirty="0">
                <a:latin typeface="Calibri"/>
                <a:cs typeface="Calibri"/>
              </a:rPr>
              <a:t>La </a:t>
            </a:r>
            <a:r>
              <a:rPr sz="1600" spc="-10" dirty="0">
                <a:latin typeface="Calibri"/>
                <a:cs typeface="Calibri"/>
              </a:rPr>
              <a:t>estimación análoga, también </a:t>
            </a:r>
            <a:r>
              <a:rPr sz="1600" spc="-5" dirty="0">
                <a:latin typeface="Calibri"/>
                <a:cs typeface="Calibri"/>
              </a:rPr>
              <a:t>llamada </a:t>
            </a:r>
            <a:r>
              <a:rPr sz="1600" spc="-10" dirty="0">
                <a:latin typeface="Calibri"/>
                <a:cs typeface="Calibri"/>
              </a:rPr>
              <a:t>estimación  </a:t>
            </a:r>
            <a:r>
              <a:rPr sz="1600" spc="-5" dirty="0">
                <a:latin typeface="Calibri"/>
                <a:cs typeface="Calibri"/>
              </a:rPr>
              <a:t>de arriba </a:t>
            </a:r>
            <a:r>
              <a:rPr sz="1600" spc="-10" dirty="0">
                <a:latin typeface="Calibri"/>
                <a:cs typeface="Calibri"/>
              </a:rPr>
              <a:t>abajo, significa usar </a:t>
            </a:r>
            <a:r>
              <a:rPr sz="1600" dirty="0">
                <a:latin typeface="Calibri"/>
                <a:cs typeface="Calibri"/>
              </a:rPr>
              <a:t>la </a:t>
            </a:r>
            <a:r>
              <a:rPr sz="1600" spc="-10" dirty="0">
                <a:latin typeface="Calibri"/>
                <a:cs typeface="Calibri"/>
              </a:rPr>
              <a:t>duración </a:t>
            </a:r>
            <a:r>
              <a:rPr sz="1600" spc="-5" dirty="0">
                <a:latin typeface="Calibri"/>
                <a:cs typeface="Calibri"/>
              </a:rPr>
              <a:t>de una  actividad </a:t>
            </a:r>
            <a:r>
              <a:rPr sz="1600" spc="-10" dirty="0">
                <a:latin typeface="Calibri"/>
                <a:cs typeface="Calibri"/>
              </a:rPr>
              <a:t>previa </a:t>
            </a:r>
            <a:r>
              <a:rPr sz="1600" spc="-5" dirty="0">
                <a:latin typeface="Calibri"/>
                <a:cs typeface="Calibri"/>
              </a:rPr>
              <a:t>y </a:t>
            </a:r>
            <a:r>
              <a:rPr sz="1600" spc="-25" dirty="0">
                <a:latin typeface="Calibri"/>
                <a:cs typeface="Calibri"/>
              </a:rPr>
              <a:t>similar, </a:t>
            </a:r>
            <a:r>
              <a:rPr sz="1600" spc="-5" dirty="0">
                <a:latin typeface="Calibri"/>
                <a:cs typeface="Calibri"/>
              </a:rPr>
              <a:t>como base de </a:t>
            </a:r>
            <a:r>
              <a:rPr sz="1600" spc="-10" dirty="0">
                <a:latin typeface="Calibri"/>
                <a:cs typeface="Calibri"/>
              </a:rPr>
              <a:t>duración </a:t>
            </a:r>
            <a:r>
              <a:rPr sz="1600" spc="5" dirty="0">
                <a:latin typeface="Calibri"/>
                <a:cs typeface="Calibri"/>
              </a:rPr>
              <a:t>de  </a:t>
            </a:r>
            <a:r>
              <a:rPr sz="1600" spc="-5" dirty="0">
                <a:latin typeface="Calibri"/>
                <a:cs typeface="Calibri"/>
              </a:rPr>
              <a:t>una actividad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futura</a:t>
            </a:r>
            <a:endParaRPr sz="16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41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i="1" spc="-5" dirty="0">
                <a:latin typeface="Calibri"/>
                <a:cs typeface="Calibri"/>
              </a:rPr>
              <a:t>3. Estimación</a:t>
            </a:r>
            <a:r>
              <a:rPr sz="1800" b="1" i="1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Paramétrica</a:t>
            </a:r>
            <a:endParaRPr sz="1800">
              <a:latin typeface="Calibri"/>
              <a:cs typeface="Calibri"/>
            </a:endParaRPr>
          </a:p>
          <a:p>
            <a:pPr marL="756285" marR="8255" lvl="1" indent="-287020" algn="just">
              <a:lnSpc>
                <a:spcPct val="100000"/>
              </a:lnSpc>
              <a:spcBef>
                <a:spcPts val="405"/>
              </a:spcBef>
              <a:buFont typeface="Arial"/>
              <a:buChar char="–"/>
              <a:tabLst>
                <a:tab pos="756920" algn="l"/>
              </a:tabLst>
            </a:pPr>
            <a:r>
              <a:rPr sz="1600" spc="-5" dirty="0">
                <a:latin typeface="Calibri"/>
                <a:cs typeface="Calibri"/>
              </a:rPr>
              <a:t>Tiene que ver </a:t>
            </a:r>
            <a:r>
              <a:rPr sz="1600" dirty="0">
                <a:latin typeface="Calibri"/>
                <a:cs typeface="Calibri"/>
              </a:rPr>
              <a:t>con </a:t>
            </a:r>
            <a:r>
              <a:rPr sz="1600" spc="-5" dirty="0">
                <a:latin typeface="Calibri"/>
                <a:cs typeface="Calibri"/>
              </a:rPr>
              <a:t>relaciones </a:t>
            </a:r>
            <a:r>
              <a:rPr sz="1600" spc="-10" dirty="0">
                <a:latin typeface="Calibri"/>
                <a:cs typeface="Calibri"/>
              </a:rPr>
              <a:t>estadísticas, requiere  información histórica </a:t>
            </a:r>
            <a:r>
              <a:rPr sz="1600" spc="-5" dirty="0">
                <a:latin typeface="Calibri"/>
                <a:cs typeface="Calibri"/>
              </a:rPr>
              <a:t>y </a:t>
            </a:r>
            <a:r>
              <a:rPr sz="1600" spc="-15" dirty="0">
                <a:latin typeface="Calibri"/>
                <a:cs typeface="Calibri"/>
              </a:rPr>
              <a:t>otros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elementos.</a:t>
            </a:r>
            <a:endParaRPr sz="1600"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756920" algn="l"/>
              </a:tabLst>
            </a:pPr>
            <a:r>
              <a:rPr sz="1600" spc="-5" dirty="0">
                <a:latin typeface="Calibri"/>
                <a:cs typeface="Calibri"/>
              </a:rPr>
              <a:t>Se hace un modelo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matemático.</a:t>
            </a:r>
            <a:endParaRPr sz="1600">
              <a:latin typeface="Calibri"/>
              <a:cs typeface="Calibri"/>
            </a:endParaRPr>
          </a:p>
          <a:p>
            <a:pPr marL="756285" marR="5715" lvl="1" indent="-287020" algn="just">
              <a:lnSpc>
                <a:spcPct val="100000"/>
              </a:lnSpc>
              <a:spcBef>
                <a:spcPts val="384"/>
              </a:spcBef>
              <a:buFont typeface="Arial"/>
              <a:buChar char="–"/>
              <a:tabLst>
                <a:tab pos="756920" algn="l"/>
              </a:tabLst>
            </a:pPr>
            <a:r>
              <a:rPr sz="1600" spc="-10" dirty="0">
                <a:latin typeface="Calibri"/>
                <a:cs typeface="Calibri"/>
              </a:rPr>
              <a:t>Consiste </a:t>
            </a:r>
            <a:r>
              <a:rPr sz="1600" spc="-5" dirty="0">
                <a:latin typeface="Calibri"/>
                <a:cs typeface="Calibri"/>
              </a:rPr>
              <a:t>en </a:t>
            </a:r>
            <a:r>
              <a:rPr sz="1600" spc="-10" dirty="0">
                <a:latin typeface="Calibri"/>
                <a:cs typeface="Calibri"/>
              </a:rPr>
              <a:t>detectar </a:t>
            </a:r>
            <a:r>
              <a:rPr sz="1600" spc="-5" dirty="0">
                <a:latin typeface="Calibri"/>
                <a:cs typeface="Calibri"/>
              </a:rPr>
              <a:t>variables </a:t>
            </a:r>
            <a:r>
              <a:rPr sz="1600" spc="-15" dirty="0">
                <a:latin typeface="Calibri"/>
                <a:cs typeface="Calibri"/>
              </a:rPr>
              <a:t>clave </a:t>
            </a:r>
            <a:r>
              <a:rPr sz="1600" spc="-5" dirty="0">
                <a:latin typeface="Calibri"/>
                <a:cs typeface="Calibri"/>
              </a:rPr>
              <a:t>del </a:t>
            </a:r>
            <a:r>
              <a:rPr sz="1600" spc="-15" dirty="0">
                <a:latin typeface="Calibri"/>
                <a:cs typeface="Calibri"/>
              </a:rPr>
              <a:t>proyecto,  </a:t>
            </a:r>
            <a:r>
              <a:rPr sz="1600" spc="-10" dirty="0">
                <a:latin typeface="Calibri"/>
                <a:cs typeface="Calibri"/>
              </a:rPr>
              <a:t>indicadores, parámetros, </a:t>
            </a:r>
            <a:r>
              <a:rPr sz="1600" spc="-5" dirty="0">
                <a:latin typeface="Calibri"/>
                <a:cs typeface="Calibri"/>
              </a:rPr>
              <a:t>que </a:t>
            </a:r>
            <a:r>
              <a:rPr sz="1600" spc="-10" dirty="0">
                <a:latin typeface="Calibri"/>
                <a:cs typeface="Calibri"/>
              </a:rPr>
              <a:t>son </a:t>
            </a:r>
            <a:r>
              <a:rPr sz="1600" spc="-5" dirty="0">
                <a:latin typeface="Calibri"/>
                <a:cs typeface="Calibri"/>
              </a:rPr>
              <a:t>los </a:t>
            </a:r>
            <a:r>
              <a:rPr sz="1600" spc="-10" dirty="0">
                <a:latin typeface="Calibri"/>
                <a:cs typeface="Calibri"/>
              </a:rPr>
              <a:t>principales  determinantes </a:t>
            </a:r>
            <a:r>
              <a:rPr sz="1600" spc="-5" dirty="0">
                <a:latin typeface="Calibri"/>
                <a:cs typeface="Calibri"/>
              </a:rPr>
              <a:t>del </a:t>
            </a:r>
            <a:r>
              <a:rPr sz="1600" spc="-10" dirty="0">
                <a:latin typeface="Calibri"/>
                <a:cs typeface="Calibri"/>
              </a:rPr>
              <a:t>tamaño </a:t>
            </a:r>
            <a:r>
              <a:rPr sz="1600" spc="-5" dirty="0">
                <a:latin typeface="Calibri"/>
                <a:cs typeface="Calibri"/>
              </a:rPr>
              <a:t>del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proyecto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29755" y="4215384"/>
            <a:ext cx="2286000" cy="228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Estimar </a:t>
            </a:r>
            <a:r>
              <a:rPr spc="-5" dirty="0"/>
              <a:t>la </a:t>
            </a:r>
            <a:r>
              <a:rPr spc="-15" dirty="0"/>
              <a:t>Duración </a:t>
            </a:r>
            <a:r>
              <a:rPr dirty="0"/>
              <a:t>de </a:t>
            </a:r>
            <a:r>
              <a:rPr spc="-5" dirty="0"/>
              <a:t>las</a:t>
            </a:r>
            <a:r>
              <a:rPr spc="10" dirty="0"/>
              <a:t> </a:t>
            </a:r>
            <a:r>
              <a:rPr spc="-10" dirty="0"/>
              <a:t>Actividades-</a:t>
            </a:r>
          </a:p>
          <a:p>
            <a:pPr marL="1270" algn="ctr">
              <a:lnSpc>
                <a:spcPct val="100000"/>
              </a:lnSpc>
            </a:pP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</a:t>
            </a:r>
            <a:r>
              <a:rPr b="1" spc="60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7223"/>
            <a:ext cx="7102475" cy="214058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700" b="1" i="1" dirty="0">
                <a:latin typeface="Calibri"/>
                <a:cs typeface="Calibri"/>
              </a:rPr>
              <a:t>4. </a:t>
            </a:r>
            <a:r>
              <a:rPr sz="1700" b="1" i="1" spc="-5" dirty="0">
                <a:latin typeface="Calibri"/>
                <a:cs typeface="Calibri"/>
              </a:rPr>
              <a:t>Estimación Probabilística (Three </a:t>
            </a:r>
            <a:r>
              <a:rPr sz="1700" b="1" i="1" spc="-10" dirty="0">
                <a:latin typeface="Calibri"/>
                <a:cs typeface="Calibri"/>
              </a:rPr>
              <a:t>Point</a:t>
            </a:r>
            <a:r>
              <a:rPr sz="1700" b="1" i="1" spc="-55" dirty="0">
                <a:latin typeface="Calibri"/>
                <a:cs typeface="Calibri"/>
              </a:rPr>
              <a:t> </a:t>
            </a:r>
            <a:r>
              <a:rPr sz="1700" b="1" i="1" spc="-5" dirty="0">
                <a:latin typeface="Calibri"/>
                <a:cs typeface="Calibri"/>
              </a:rPr>
              <a:t>Estimates)</a:t>
            </a:r>
            <a:endParaRPr sz="17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9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El PERT fue eliminado, </a:t>
            </a:r>
            <a:r>
              <a:rPr sz="1500" spc="-10" dirty="0">
                <a:latin typeface="Calibri"/>
                <a:cs typeface="Calibri"/>
              </a:rPr>
              <a:t>pero </a:t>
            </a:r>
            <a:r>
              <a:rPr sz="1500" spc="-5" dirty="0">
                <a:latin typeface="Calibri"/>
                <a:cs typeface="Calibri"/>
              </a:rPr>
              <a:t>es similar </a:t>
            </a:r>
            <a:r>
              <a:rPr sz="1500" dirty="0">
                <a:latin typeface="Calibri"/>
                <a:cs typeface="Calibri"/>
              </a:rPr>
              <a:t>a la </a:t>
            </a:r>
            <a:r>
              <a:rPr sz="1500" spc="-5" dirty="0">
                <a:latin typeface="Calibri"/>
                <a:cs typeface="Calibri"/>
              </a:rPr>
              <a:t>Estimación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Probabilística.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8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PERT </a:t>
            </a:r>
            <a:r>
              <a:rPr sz="1500" dirty="0">
                <a:latin typeface="Calibri"/>
                <a:cs typeface="Calibri"/>
              </a:rPr>
              <a:t>se </a:t>
            </a:r>
            <a:r>
              <a:rPr sz="1500" spc="-5" dirty="0">
                <a:latin typeface="Calibri"/>
                <a:cs typeface="Calibri"/>
              </a:rPr>
              <a:t>usa </a:t>
            </a:r>
            <a:r>
              <a:rPr sz="1500" spc="-10" dirty="0">
                <a:latin typeface="Calibri"/>
                <a:cs typeface="Calibri"/>
              </a:rPr>
              <a:t>para </a:t>
            </a:r>
            <a:r>
              <a:rPr sz="1500" dirty="0">
                <a:latin typeface="Calibri"/>
                <a:cs typeface="Calibri"/>
              </a:rPr>
              <a:t>tiempos, la </a:t>
            </a:r>
            <a:r>
              <a:rPr sz="1500" spc="-5" dirty="0">
                <a:latin typeface="Calibri"/>
                <a:cs typeface="Calibri"/>
              </a:rPr>
              <a:t>Estimación Probabilística </a:t>
            </a:r>
            <a:r>
              <a:rPr sz="1500" dirty="0">
                <a:latin typeface="Calibri"/>
                <a:cs typeface="Calibri"/>
              </a:rPr>
              <a:t>se </a:t>
            </a:r>
            <a:r>
              <a:rPr sz="1500" spc="-5" dirty="0">
                <a:latin typeface="Calibri"/>
                <a:cs typeface="Calibri"/>
              </a:rPr>
              <a:t>usa también </a:t>
            </a:r>
            <a:r>
              <a:rPr sz="1500" spc="-10" dirty="0">
                <a:latin typeface="Calibri"/>
                <a:cs typeface="Calibri"/>
              </a:rPr>
              <a:t>para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costos.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8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Considera </a:t>
            </a:r>
            <a:r>
              <a:rPr sz="1500" dirty="0">
                <a:latin typeface="Calibri"/>
                <a:cs typeface="Calibri"/>
              </a:rPr>
              <a:t>los </a:t>
            </a:r>
            <a:r>
              <a:rPr sz="1500" spc="-5" dirty="0">
                <a:latin typeface="Calibri"/>
                <a:cs typeface="Calibri"/>
              </a:rPr>
              <a:t>riesgos (cálculo probable, optimista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pesimista)</a:t>
            </a:r>
            <a:endParaRPr sz="15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700" b="1" i="1" dirty="0">
                <a:latin typeface="Calibri"/>
                <a:cs typeface="Calibri"/>
              </a:rPr>
              <a:t>5. </a:t>
            </a:r>
            <a:r>
              <a:rPr sz="1700" b="1" i="1" spc="-25" dirty="0">
                <a:latin typeface="Calibri"/>
                <a:cs typeface="Calibri"/>
              </a:rPr>
              <a:t>Técnicas </a:t>
            </a:r>
            <a:r>
              <a:rPr sz="1700" b="1" i="1" dirty="0">
                <a:latin typeface="Calibri"/>
                <a:cs typeface="Calibri"/>
              </a:rPr>
              <a:t>de </a:t>
            </a:r>
            <a:r>
              <a:rPr sz="1700" b="1" i="1" spc="-5" dirty="0">
                <a:latin typeface="Calibri"/>
                <a:cs typeface="Calibri"/>
              </a:rPr>
              <a:t>Grupo </a:t>
            </a:r>
            <a:r>
              <a:rPr sz="1700" b="1" i="1" dirty="0">
                <a:latin typeface="Calibri"/>
                <a:cs typeface="Calibri"/>
              </a:rPr>
              <a:t>de</a:t>
            </a:r>
            <a:r>
              <a:rPr sz="1700" b="1" i="1" spc="25" dirty="0">
                <a:latin typeface="Calibri"/>
                <a:cs typeface="Calibri"/>
              </a:rPr>
              <a:t> </a:t>
            </a:r>
            <a:r>
              <a:rPr sz="1700" b="1" i="1" dirty="0">
                <a:latin typeface="Calibri"/>
                <a:cs typeface="Calibri"/>
              </a:rPr>
              <a:t>Decisión</a:t>
            </a:r>
            <a:endParaRPr sz="17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700" b="1" i="1" dirty="0">
                <a:latin typeface="Calibri"/>
                <a:cs typeface="Calibri"/>
              </a:rPr>
              <a:t>6. Análisis de las </a:t>
            </a:r>
            <a:r>
              <a:rPr sz="1700" b="1" i="1" spc="-5" dirty="0">
                <a:latin typeface="Calibri"/>
                <a:cs typeface="Calibri"/>
              </a:rPr>
              <a:t>Reservas (Reservas </a:t>
            </a:r>
            <a:r>
              <a:rPr sz="1700" b="1" i="1" dirty="0">
                <a:latin typeface="Calibri"/>
                <a:cs typeface="Calibri"/>
              </a:rPr>
              <a:t>de tiempo en </a:t>
            </a:r>
            <a:r>
              <a:rPr sz="1700" b="1" i="1" spc="-5" dirty="0">
                <a:latin typeface="Calibri"/>
                <a:cs typeface="Calibri"/>
              </a:rPr>
              <a:t>porcentaje </a:t>
            </a:r>
            <a:r>
              <a:rPr sz="1700" b="1" i="1" dirty="0">
                <a:latin typeface="Calibri"/>
                <a:cs typeface="Calibri"/>
              </a:rPr>
              <a:t>o</a:t>
            </a:r>
            <a:r>
              <a:rPr sz="1700" b="1" i="1" spc="25" dirty="0">
                <a:latin typeface="Calibri"/>
                <a:cs typeface="Calibri"/>
              </a:rPr>
              <a:t> </a:t>
            </a:r>
            <a:r>
              <a:rPr sz="1700" b="1" i="1" dirty="0">
                <a:latin typeface="Calibri"/>
                <a:cs typeface="Calibri"/>
              </a:rPr>
              <a:t>periodos)</a:t>
            </a:r>
            <a:endParaRPr sz="17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9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10" dirty="0">
                <a:latin typeface="Calibri"/>
                <a:cs typeface="Calibri"/>
              </a:rPr>
              <a:t>Reservas </a:t>
            </a:r>
            <a:r>
              <a:rPr sz="1500" dirty="0">
                <a:latin typeface="Calibri"/>
                <a:cs typeface="Calibri"/>
              </a:rPr>
              <a:t>de </a:t>
            </a:r>
            <a:r>
              <a:rPr sz="1500" spc="-5" dirty="0">
                <a:latin typeface="Calibri"/>
                <a:cs typeface="Calibri"/>
              </a:rPr>
              <a:t>Contingencia </a:t>
            </a:r>
            <a:r>
              <a:rPr sz="1500" spc="-10" dirty="0">
                <a:latin typeface="Calibri"/>
                <a:cs typeface="Calibri"/>
              </a:rPr>
              <a:t>(Están </a:t>
            </a:r>
            <a:r>
              <a:rPr sz="1500" spc="-5" dirty="0">
                <a:latin typeface="Calibri"/>
                <a:cs typeface="Calibri"/>
              </a:rPr>
              <a:t>dentro </a:t>
            </a:r>
            <a:r>
              <a:rPr sz="1500" dirty="0">
                <a:latin typeface="Calibri"/>
                <a:cs typeface="Calibri"/>
              </a:rPr>
              <a:t>del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presupuesto)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8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10" dirty="0">
                <a:latin typeface="Calibri"/>
                <a:cs typeface="Calibri"/>
              </a:rPr>
              <a:t>Reservas Administrativas </a:t>
            </a:r>
            <a:r>
              <a:rPr sz="1500" spc="-5" dirty="0">
                <a:latin typeface="Calibri"/>
                <a:cs typeface="Calibri"/>
              </a:rPr>
              <a:t>(No </a:t>
            </a:r>
            <a:r>
              <a:rPr sz="1500" spc="-10" dirty="0">
                <a:latin typeface="Calibri"/>
                <a:cs typeface="Calibri"/>
              </a:rPr>
              <a:t>están </a:t>
            </a:r>
            <a:r>
              <a:rPr sz="1500" spc="-5" dirty="0">
                <a:latin typeface="Calibri"/>
                <a:cs typeface="Calibri"/>
              </a:rPr>
              <a:t>dentro </a:t>
            </a:r>
            <a:r>
              <a:rPr sz="1500" dirty="0">
                <a:latin typeface="Calibri"/>
                <a:cs typeface="Calibri"/>
              </a:rPr>
              <a:t>del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presupuesto)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85384" y="3923947"/>
            <a:ext cx="5563703" cy="25823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Estimar </a:t>
            </a:r>
            <a:r>
              <a:rPr spc="-5" dirty="0"/>
              <a:t>la </a:t>
            </a:r>
            <a:r>
              <a:rPr spc="-15" dirty="0"/>
              <a:t>Duración </a:t>
            </a:r>
            <a:r>
              <a:rPr dirty="0"/>
              <a:t>de </a:t>
            </a:r>
            <a:r>
              <a:rPr spc="-5" dirty="0"/>
              <a:t>las</a:t>
            </a:r>
            <a:r>
              <a:rPr spc="10" dirty="0"/>
              <a:t> </a:t>
            </a:r>
            <a:r>
              <a:rPr spc="-10" dirty="0"/>
              <a:t>Actividades-</a:t>
            </a:r>
          </a:p>
          <a:p>
            <a:pPr marL="1270" algn="ctr">
              <a:lnSpc>
                <a:spcPct val="100000"/>
              </a:lnSpc>
            </a:pP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</a:t>
            </a:r>
            <a:r>
              <a:rPr b="1" spc="60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40" y="1537842"/>
            <a:ext cx="8099425" cy="4526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68300" algn="l"/>
                <a:tab pos="368935" algn="l"/>
              </a:tabLst>
            </a:pPr>
            <a:r>
              <a:rPr sz="2700" b="1" i="1" dirty="0">
                <a:latin typeface="Calibri"/>
                <a:cs typeface="Calibri"/>
              </a:rPr>
              <a:t>Cálculos de </a:t>
            </a:r>
            <a:r>
              <a:rPr sz="2700" b="1" i="1" spc="-5" dirty="0">
                <a:latin typeface="Calibri"/>
                <a:cs typeface="Calibri"/>
              </a:rPr>
              <a:t>Estimación</a:t>
            </a:r>
            <a:r>
              <a:rPr sz="2700" b="1" i="1" spc="-10" dirty="0">
                <a:latin typeface="Calibri"/>
                <a:cs typeface="Calibri"/>
              </a:rPr>
              <a:t> Probabilística</a:t>
            </a:r>
            <a:endParaRPr sz="2700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spcBef>
                <a:spcPts val="10"/>
              </a:spcBef>
              <a:buFont typeface="Arial"/>
              <a:buChar char="–"/>
              <a:tabLst>
                <a:tab pos="769620" algn="l"/>
              </a:tabLst>
            </a:pPr>
            <a:r>
              <a:rPr sz="2400" b="1" spc="-5" dirty="0">
                <a:latin typeface="Calibri"/>
                <a:cs typeface="Calibri"/>
              </a:rPr>
              <a:t>Tiempo </a:t>
            </a:r>
            <a:r>
              <a:rPr sz="2400" b="1" spc="-10" dirty="0">
                <a:latin typeface="Calibri"/>
                <a:cs typeface="Calibri"/>
              </a:rPr>
              <a:t>Esperado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50" dirty="0">
                <a:latin typeface="Calibri"/>
                <a:cs typeface="Calibri"/>
              </a:rPr>
              <a:t>(Tp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25" dirty="0">
                <a:latin typeface="Calibri"/>
                <a:cs typeface="Calibri"/>
              </a:rPr>
              <a:t>(4*Tm)+ </a:t>
            </a:r>
            <a:r>
              <a:rPr sz="2400" spc="-80" dirty="0">
                <a:latin typeface="Calibri"/>
                <a:cs typeface="Calibri"/>
              </a:rPr>
              <a:t>To) </a:t>
            </a:r>
            <a:r>
              <a:rPr sz="2400" dirty="0">
                <a:latin typeface="Calibri"/>
                <a:cs typeface="Calibri"/>
              </a:rPr>
              <a:t>/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buFont typeface="Arial"/>
              <a:buChar char="–"/>
              <a:tabLst>
                <a:tab pos="769620" algn="l"/>
              </a:tabLst>
            </a:pPr>
            <a:r>
              <a:rPr sz="2400" b="1" spc="-5" dirty="0">
                <a:latin typeface="Calibri"/>
                <a:cs typeface="Calibri"/>
              </a:rPr>
              <a:t>Desviación </a:t>
            </a:r>
            <a:r>
              <a:rPr sz="2400" b="1" spc="-10" dirty="0">
                <a:latin typeface="Calibri"/>
                <a:cs typeface="Calibri"/>
              </a:rPr>
              <a:t>Estándar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(Tp-To)/6</a:t>
            </a:r>
            <a:endParaRPr sz="2400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buFont typeface="Arial"/>
              <a:buChar char="–"/>
              <a:tabLst>
                <a:tab pos="769620" algn="l"/>
              </a:tabLst>
            </a:pPr>
            <a:r>
              <a:rPr sz="2400" b="1" spc="-25" dirty="0">
                <a:latin typeface="Calibri"/>
                <a:cs typeface="Calibri"/>
              </a:rPr>
              <a:t>Varianza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5" dirty="0">
                <a:latin typeface="Calibri"/>
                <a:cs typeface="Calibri"/>
              </a:rPr>
              <a:t>(Desviación Estándar)</a:t>
            </a:r>
            <a:r>
              <a:rPr sz="1950" spc="-7" baseline="25641" dirty="0">
                <a:latin typeface="Calibri"/>
                <a:cs typeface="Calibri"/>
              </a:rPr>
              <a:t>2</a:t>
            </a:r>
            <a:endParaRPr sz="1950" baseline="25641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769620" algn="l"/>
              </a:tabLst>
            </a:pPr>
            <a:r>
              <a:rPr sz="2400" b="1" spc="-10" dirty="0">
                <a:latin typeface="Calibri"/>
                <a:cs typeface="Calibri"/>
              </a:rPr>
              <a:t>Tips:</a:t>
            </a:r>
            <a:endParaRPr sz="2400">
              <a:latin typeface="Calibri"/>
              <a:cs typeface="Calibri"/>
            </a:endParaRPr>
          </a:p>
          <a:p>
            <a:pPr marL="1168400" marR="19050" lvl="2" indent="-228600" algn="just">
              <a:lnSpc>
                <a:spcPct val="80000"/>
              </a:lnSpc>
              <a:spcBef>
                <a:spcPts val="495"/>
              </a:spcBef>
              <a:buFont typeface="Arial"/>
              <a:buChar char="•"/>
              <a:tabLst>
                <a:tab pos="1169035" algn="l"/>
              </a:tabLst>
            </a:pPr>
            <a:r>
              <a:rPr sz="2000" dirty="0">
                <a:latin typeface="Calibri"/>
                <a:cs typeface="Calibri"/>
              </a:rPr>
              <a:t>No </a:t>
            </a:r>
            <a:r>
              <a:rPr sz="2000" spc="-5" dirty="0">
                <a:latin typeface="Calibri"/>
                <a:cs typeface="Calibri"/>
              </a:rPr>
              <a:t>se </a:t>
            </a:r>
            <a:r>
              <a:rPr sz="2000" dirty="0">
                <a:latin typeface="Calibri"/>
                <a:cs typeface="Calibri"/>
              </a:rPr>
              <a:t>pueden </a:t>
            </a:r>
            <a:r>
              <a:rPr sz="2000" spc="-5" dirty="0">
                <a:latin typeface="Calibri"/>
                <a:cs typeface="Calibri"/>
              </a:rPr>
              <a:t>sumar desviaciones </a:t>
            </a:r>
            <a:r>
              <a:rPr sz="2000" spc="-30" dirty="0">
                <a:latin typeface="Calibri"/>
                <a:cs typeface="Calibri"/>
              </a:rPr>
              <a:t>estándar. </a:t>
            </a:r>
            <a:r>
              <a:rPr sz="2000" dirty="0">
                <a:latin typeface="Calibri"/>
                <a:cs typeface="Calibri"/>
              </a:rPr>
              <a:t>Se </a:t>
            </a:r>
            <a:r>
              <a:rPr sz="2000" spc="-5" dirty="0">
                <a:latin typeface="Calibri"/>
                <a:cs typeface="Calibri"/>
              </a:rPr>
              <a:t>deben sumar </a:t>
            </a:r>
            <a:r>
              <a:rPr sz="2000" dirty="0">
                <a:latin typeface="Calibri"/>
                <a:cs typeface="Calibri"/>
              </a:rPr>
              <a:t>las  </a:t>
            </a:r>
            <a:r>
              <a:rPr sz="2000" spc="-10" dirty="0">
                <a:latin typeface="Calibri"/>
                <a:cs typeface="Calibri"/>
              </a:rPr>
              <a:t>varianzas </a:t>
            </a:r>
            <a:r>
              <a:rPr sz="2000" dirty="0">
                <a:latin typeface="Calibri"/>
                <a:cs typeface="Calibri"/>
              </a:rPr>
              <a:t>y </a:t>
            </a:r>
            <a:r>
              <a:rPr sz="2000" spc="-5" dirty="0">
                <a:latin typeface="Calibri"/>
                <a:cs typeface="Calibri"/>
              </a:rPr>
              <a:t>luego aplicar </a:t>
            </a:r>
            <a:r>
              <a:rPr sz="2000" spc="-10" dirty="0">
                <a:latin typeface="Calibri"/>
                <a:cs typeface="Calibri"/>
              </a:rPr>
              <a:t>raíz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cuadrada.</a:t>
            </a:r>
            <a:endParaRPr sz="2000">
              <a:latin typeface="Calibri"/>
              <a:cs typeface="Calibri"/>
            </a:endParaRPr>
          </a:p>
          <a:p>
            <a:pPr marL="1168400" marR="19050" lvl="2" indent="-228600" algn="just">
              <a:lnSpc>
                <a:spcPct val="80000"/>
              </a:lnSpc>
              <a:spcBef>
                <a:spcPts val="480"/>
              </a:spcBef>
              <a:buFont typeface="Arial"/>
              <a:buChar char="•"/>
              <a:tabLst>
                <a:tab pos="1169035" algn="l"/>
              </a:tabLst>
            </a:pPr>
            <a:r>
              <a:rPr sz="2000" spc="-25" dirty="0">
                <a:latin typeface="Calibri"/>
                <a:cs typeface="Calibri"/>
              </a:rPr>
              <a:t>Para </a:t>
            </a:r>
            <a:r>
              <a:rPr sz="2000" dirty="0">
                <a:latin typeface="Calibri"/>
                <a:cs typeface="Calibri"/>
              </a:rPr>
              <a:t>calcular la </a:t>
            </a:r>
            <a:r>
              <a:rPr sz="2000" spc="-5" dirty="0">
                <a:latin typeface="Calibri"/>
                <a:cs typeface="Calibri"/>
              </a:rPr>
              <a:t>probabilidad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cumplir </a:t>
            </a:r>
            <a:r>
              <a:rPr sz="2000" spc="-10" dirty="0">
                <a:latin typeface="Calibri"/>
                <a:cs typeface="Calibri"/>
              </a:rPr>
              <a:t>con </a:t>
            </a:r>
            <a:r>
              <a:rPr sz="2000" spc="-5" dirty="0">
                <a:latin typeface="Calibri"/>
                <a:cs typeface="Calibri"/>
              </a:rPr>
              <a:t>tiempos estimados,  debe </a:t>
            </a:r>
            <a:r>
              <a:rPr sz="2000" spc="-10" dirty="0">
                <a:latin typeface="Calibri"/>
                <a:cs typeface="Calibri"/>
              </a:rPr>
              <a:t>tenerse </a:t>
            </a:r>
            <a:r>
              <a:rPr sz="2000" spc="-5" dirty="0">
                <a:latin typeface="Calibri"/>
                <a:cs typeface="Calibri"/>
              </a:rPr>
              <a:t>en </a:t>
            </a:r>
            <a:r>
              <a:rPr sz="2000" spc="-10" dirty="0">
                <a:latin typeface="Calibri"/>
                <a:cs typeface="Calibri"/>
              </a:rPr>
              <a:t>cuenta </a:t>
            </a:r>
            <a:r>
              <a:rPr sz="2000" spc="-5" dirty="0">
                <a:latin typeface="Calibri"/>
                <a:cs typeface="Calibri"/>
              </a:rPr>
              <a:t>que la </a:t>
            </a:r>
            <a:r>
              <a:rPr sz="2000" spc="-10" dirty="0">
                <a:latin typeface="Calibri"/>
                <a:cs typeface="Calibri"/>
              </a:rPr>
              <a:t>duración </a:t>
            </a:r>
            <a:r>
              <a:rPr sz="2000" spc="-5" dirty="0">
                <a:latin typeface="Calibri"/>
                <a:cs typeface="Calibri"/>
              </a:rPr>
              <a:t>de </a:t>
            </a:r>
            <a:r>
              <a:rPr sz="2000" dirty="0">
                <a:latin typeface="Calibri"/>
                <a:cs typeface="Calibri"/>
              </a:rPr>
              <a:t>las actividades tiene  una </a:t>
            </a:r>
            <a:r>
              <a:rPr sz="2000" spc="-5" dirty="0">
                <a:latin typeface="Calibri"/>
                <a:cs typeface="Calibri"/>
              </a:rPr>
              <a:t>distribución </a:t>
            </a:r>
            <a:r>
              <a:rPr sz="2000" spc="-10" dirty="0">
                <a:latin typeface="Calibri"/>
                <a:cs typeface="Calibri"/>
              </a:rPr>
              <a:t>Beta </a:t>
            </a:r>
            <a:r>
              <a:rPr sz="2000" spc="-5" dirty="0">
                <a:latin typeface="Calibri"/>
                <a:cs typeface="Calibri"/>
              </a:rPr>
              <a:t>(más </a:t>
            </a:r>
            <a:r>
              <a:rPr sz="2000" spc="-10" dirty="0">
                <a:latin typeface="Calibri"/>
                <a:cs typeface="Calibri"/>
              </a:rPr>
              <a:t>alargada con respecto </a:t>
            </a:r>
            <a:r>
              <a:rPr sz="2000" dirty="0">
                <a:latin typeface="Calibri"/>
                <a:cs typeface="Calibri"/>
              </a:rPr>
              <a:t>a las </a:t>
            </a:r>
            <a:r>
              <a:rPr sz="2000" spc="-5" dirty="0">
                <a:latin typeface="Calibri"/>
                <a:cs typeface="Calibri"/>
              </a:rPr>
              <a:t>duraciones  </a:t>
            </a:r>
            <a:r>
              <a:rPr sz="2000" dirty="0">
                <a:latin typeface="Calibri"/>
                <a:cs typeface="Calibri"/>
              </a:rPr>
              <a:t>de las </a:t>
            </a:r>
            <a:r>
              <a:rPr sz="2000" spc="-10" dirty="0">
                <a:latin typeface="Calibri"/>
                <a:cs typeface="Calibri"/>
              </a:rPr>
              <a:t>tareas. </a:t>
            </a:r>
            <a:r>
              <a:rPr sz="2000" dirty="0">
                <a:latin typeface="Calibri"/>
                <a:cs typeface="Calibri"/>
              </a:rPr>
              <a:t>No </a:t>
            </a:r>
            <a:r>
              <a:rPr sz="2000" spc="-5" dirty="0">
                <a:latin typeface="Calibri"/>
                <a:cs typeface="Calibri"/>
              </a:rPr>
              <a:t>es una normal </a:t>
            </a:r>
            <a:r>
              <a:rPr sz="2000" spc="-10" dirty="0">
                <a:latin typeface="Calibri"/>
                <a:cs typeface="Calibri"/>
              </a:rPr>
              <a:t>porque </a:t>
            </a:r>
            <a:r>
              <a:rPr sz="2000" spc="-5" dirty="0">
                <a:latin typeface="Calibri"/>
                <a:cs typeface="Calibri"/>
              </a:rPr>
              <a:t>el </a:t>
            </a:r>
            <a:r>
              <a:rPr sz="2000" dirty="0">
                <a:latin typeface="Calibri"/>
                <a:cs typeface="Calibri"/>
              </a:rPr>
              <a:t>tiempo </a:t>
            </a:r>
            <a:r>
              <a:rPr sz="2000" spc="-5" dirty="0">
                <a:latin typeface="Calibri"/>
                <a:cs typeface="Calibri"/>
              </a:rPr>
              <a:t>es </a:t>
            </a:r>
            <a:r>
              <a:rPr sz="2000" dirty="0">
                <a:latin typeface="Calibri"/>
                <a:cs typeface="Calibri"/>
              </a:rPr>
              <a:t>más </a:t>
            </a:r>
            <a:r>
              <a:rPr sz="2000" spc="-10" dirty="0">
                <a:latin typeface="Calibri"/>
                <a:cs typeface="Calibri"/>
              </a:rPr>
              <a:t>probable  </a:t>
            </a:r>
            <a:r>
              <a:rPr sz="2000" dirty="0">
                <a:latin typeface="Calibri"/>
                <a:cs typeface="Calibri"/>
              </a:rPr>
              <a:t>que </a:t>
            </a:r>
            <a:r>
              <a:rPr sz="2000" spc="-5" dirty="0">
                <a:latin typeface="Calibri"/>
                <a:cs typeface="Calibri"/>
              </a:rPr>
              <a:t>se </a:t>
            </a:r>
            <a:r>
              <a:rPr sz="2000" spc="-10" dirty="0">
                <a:latin typeface="Calibri"/>
                <a:cs typeface="Calibri"/>
              </a:rPr>
              <a:t>demore </a:t>
            </a:r>
            <a:r>
              <a:rPr sz="2000" dirty="0">
                <a:latin typeface="Calibri"/>
                <a:cs typeface="Calibri"/>
              </a:rPr>
              <a:t>más que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menos).</a:t>
            </a:r>
            <a:endParaRPr sz="2000">
              <a:latin typeface="Calibri"/>
              <a:cs typeface="Calibri"/>
            </a:endParaRPr>
          </a:p>
          <a:p>
            <a:pPr marL="1168400" marR="17780" lvl="2" indent="-228600" algn="just">
              <a:lnSpc>
                <a:spcPts val="1920"/>
              </a:lnSpc>
              <a:spcBef>
                <a:spcPts val="464"/>
              </a:spcBef>
              <a:buFont typeface="Arial"/>
              <a:buChar char="•"/>
              <a:tabLst>
                <a:tab pos="1169035" algn="l"/>
              </a:tabLst>
            </a:pPr>
            <a:r>
              <a:rPr sz="2000" spc="-5" dirty="0">
                <a:latin typeface="Calibri"/>
                <a:cs typeface="Calibri"/>
              </a:rPr>
              <a:t>Tiempo Esperado: </a:t>
            </a:r>
            <a:r>
              <a:rPr sz="2000" spc="-15" dirty="0">
                <a:latin typeface="Calibri"/>
                <a:cs typeface="Calibri"/>
              </a:rPr>
              <a:t>Este </a:t>
            </a:r>
            <a:r>
              <a:rPr sz="2000" dirty="0">
                <a:latin typeface="Calibri"/>
                <a:cs typeface="Calibri"/>
              </a:rPr>
              <a:t>tiempo es más </a:t>
            </a:r>
            <a:r>
              <a:rPr sz="2000" spc="-10" dirty="0">
                <a:latin typeface="Calibri"/>
                <a:cs typeface="Calibri"/>
              </a:rPr>
              <a:t>acorde con </a:t>
            </a:r>
            <a:r>
              <a:rPr sz="2000" spc="-5" dirty="0">
                <a:latin typeface="Calibri"/>
                <a:cs typeface="Calibri"/>
              </a:rPr>
              <a:t>la realidad </a:t>
            </a:r>
            <a:r>
              <a:rPr sz="2000" spc="-15" dirty="0">
                <a:latin typeface="Calibri"/>
                <a:cs typeface="Calibri"/>
              </a:rPr>
              <a:t>para  </a:t>
            </a:r>
            <a:r>
              <a:rPr sz="2000" dirty="0">
                <a:latin typeface="Calibri"/>
                <a:cs typeface="Calibri"/>
              </a:rPr>
              <a:t>los que </a:t>
            </a:r>
            <a:r>
              <a:rPr sz="2000" spc="-5" dirty="0">
                <a:latin typeface="Calibri"/>
                <a:cs typeface="Calibri"/>
              </a:rPr>
              <a:t>estiman, </a:t>
            </a:r>
            <a:r>
              <a:rPr sz="2000" spc="-20" dirty="0">
                <a:latin typeface="Calibri"/>
                <a:cs typeface="Calibri"/>
              </a:rPr>
              <a:t>ya </a:t>
            </a:r>
            <a:r>
              <a:rPr sz="2000" spc="-5" dirty="0">
                <a:latin typeface="Calibri"/>
                <a:cs typeface="Calibri"/>
              </a:rPr>
              <a:t>que permite </a:t>
            </a:r>
            <a:r>
              <a:rPr sz="2000" dirty="0">
                <a:latin typeface="Calibri"/>
                <a:cs typeface="Calibri"/>
              </a:rPr>
              <a:t>“no </a:t>
            </a:r>
            <a:r>
              <a:rPr sz="2000" spc="-10" dirty="0">
                <a:latin typeface="Calibri"/>
                <a:cs typeface="Calibri"/>
              </a:rPr>
              <a:t>jugar todo </a:t>
            </a:r>
            <a:r>
              <a:rPr sz="2000" dirty="0">
                <a:latin typeface="Calibri"/>
                <a:cs typeface="Calibri"/>
              </a:rPr>
              <a:t>a una </a:t>
            </a:r>
            <a:r>
              <a:rPr sz="2000" spc="-5" dirty="0">
                <a:latin typeface="Calibri"/>
                <a:cs typeface="Calibri"/>
              </a:rPr>
              <a:t>sola carta” </a:t>
            </a:r>
            <a:r>
              <a:rPr sz="2000" dirty="0">
                <a:latin typeface="Calibri"/>
                <a:cs typeface="Calibri"/>
              </a:rPr>
              <a:t>y  </a:t>
            </a:r>
            <a:r>
              <a:rPr sz="2000" spc="-5" dirty="0">
                <a:latin typeface="Calibri"/>
                <a:cs typeface="Calibri"/>
              </a:rPr>
              <a:t>pensar en </a:t>
            </a:r>
            <a:r>
              <a:rPr sz="2000" spc="-10" dirty="0">
                <a:latin typeface="Calibri"/>
                <a:cs typeface="Calibri"/>
              </a:rPr>
              <a:t>tres </a:t>
            </a:r>
            <a:r>
              <a:rPr sz="2000" dirty="0">
                <a:latin typeface="Calibri"/>
                <a:cs typeface="Calibri"/>
              </a:rPr>
              <a:t>escenarios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posibles.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Estimar </a:t>
            </a:r>
            <a:r>
              <a:rPr spc="-5" dirty="0"/>
              <a:t>la </a:t>
            </a:r>
            <a:r>
              <a:rPr spc="-15" dirty="0"/>
              <a:t>Duración </a:t>
            </a:r>
            <a:r>
              <a:rPr dirty="0"/>
              <a:t>de </a:t>
            </a:r>
            <a:r>
              <a:rPr spc="-5" dirty="0"/>
              <a:t>las</a:t>
            </a:r>
            <a:r>
              <a:rPr spc="10" dirty="0"/>
              <a:t> </a:t>
            </a:r>
            <a:r>
              <a:rPr spc="-10" dirty="0"/>
              <a:t>Actividades-</a:t>
            </a:r>
          </a:p>
          <a:p>
            <a:pPr marL="635" algn="ctr">
              <a:lnSpc>
                <a:spcPct val="100000"/>
              </a:lnSpc>
            </a:pPr>
            <a:r>
              <a:rPr b="1" spc="-5" dirty="0">
                <a:latin typeface="Calibri"/>
                <a:cs typeface="Calibri"/>
              </a:rPr>
              <a:t>Salidas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7355"/>
            <a:ext cx="8072755" cy="401891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1. Estimativos </a:t>
            </a:r>
            <a:r>
              <a:rPr sz="3200" b="1" i="1" dirty="0">
                <a:latin typeface="Calibri"/>
                <a:cs typeface="Calibri"/>
              </a:rPr>
              <a:t>de </a:t>
            </a:r>
            <a:r>
              <a:rPr sz="3200" b="1" i="1" spc="-5" dirty="0">
                <a:latin typeface="Calibri"/>
                <a:cs typeface="Calibri"/>
              </a:rPr>
              <a:t>Duración </a:t>
            </a:r>
            <a:r>
              <a:rPr sz="3200" b="1" i="1" dirty="0">
                <a:latin typeface="Calibri"/>
                <a:cs typeface="Calibri"/>
              </a:rPr>
              <a:t>de las</a:t>
            </a:r>
            <a:r>
              <a:rPr sz="3200" b="1" i="1" spc="-35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Actividades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Cuanto </a:t>
            </a:r>
            <a:r>
              <a:rPr sz="2800" spc="-5" dirty="0">
                <a:latin typeface="Calibri"/>
                <a:cs typeface="Calibri"/>
              </a:rPr>
              <a:t>tiempo se </a:t>
            </a:r>
            <a:r>
              <a:rPr sz="2800" spc="-15" dirty="0">
                <a:latin typeface="Calibri"/>
                <a:cs typeface="Calibri"/>
              </a:rPr>
              <a:t>demoran </a:t>
            </a:r>
            <a:r>
              <a:rPr sz="2800" spc="-5" dirty="0">
                <a:latin typeface="Calibri"/>
                <a:cs typeface="Calibri"/>
              </a:rPr>
              <a:t>las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actividades</a:t>
            </a:r>
            <a:endParaRPr sz="280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  <a:tab pos="2197100" algn="l"/>
                <a:tab pos="2887345" algn="l"/>
                <a:tab pos="3286760" algn="l"/>
                <a:tab pos="4004310" algn="l"/>
                <a:tab pos="5164455" algn="l"/>
                <a:tab pos="5827395" algn="l"/>
                <a:tab pos="7022465" algn="l"/>
                <a:tab pos="7537450" algn="l"/>
              </a:tabLst>
            </a:pP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25" dirty="0">
                <a:latin typeface="Calibri"/>
                <a:cs typeface="Calibri"/>
              </a:rPr>
              <a:t>c</a:t>
            </a:r>
            <a:r>
              <a:rPr sz="2800" spc="-10" dirty="0">
                <a:latin typeface="Calibri"/>
                <a:cs typeface="Calibri"/>
              </a:rPr>
              <a:t>o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da</a:t>
            </a:r>
            <a:r>
              <a:rPr sz="2800" spc="-5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qu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el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PMI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-70" dirty="0">
                <a:latin typeface="Calibri"/>
                <a:cs typeface="Calibri"/>
              </a:rPr>
              <a:t>r</a:t>
            </a:r>
            <a:r>
              <a:rPr sz="2800" spc="5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baj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</a:t>
            </a:r>
            <a:r>
              <a:rPr sz="2800" spc="-10" dirty="0">
                <a:latin typeface="Calibri"/>
                <a:cs typeface="Calibri"/>
              </a:rPr>
              <a:t>o</a:t>
            </a:r>
            <a:r>
              <a:rPr sz="2800" spc="-5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7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angos,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</a:t>
            </a:r>
            <a:r>
              <a:rPr sz="2800" spc="-10" dirty="0">
                <a:latin typeface="Calibri"/>
                <a:cs typeface="Calibri"/>
              </a:rPr>
              <a:t>on  </a:t>
            </a:r>
            <a:r>
              <a:rPr sz="2800" spc="-15" dirty="0">
                <a:latin typeface="Calibri"/>
                <a:cs typeface="Calibri"/>
              </a:rPr>
              <a:t>cifras </a:t>
            </a:r>
            <a:r>
              <a:rPr sz="2800" spc="-25" dirty="0">
                <a:latin typeface="Calibri"/>
                <a:cs typeface="Calibri"/>
              </a:rPr>
              <a:t>exactas </a:t>
            </a:r>
            <a:r>
              <a:rPr sz="2800" spc="-20" dirty="0">
                <a:latin typeface="Calibri"/>
                <a:cs typeface="Calibri"/>
              </a:rPr>
              <a:t>(para </a:t>
            </a:r>
            <a:r>
              <a:rPr sz="2800" spc="-10" dirty="0">
                <a:latin typeface="Calibri"/>
                <a:cs typeface="Calibri"/>
              </a:rPr>
              <a:t>Tiempos, </a:t>
            </a:r>
            <a:r>
              <a:rPr sz="2800" spc="-15" dirty="0">
                <a:latin typeface="Calibri"/>
                <a:cs typeface="Calibri"/>
              </a:rPr>
              <a:t>Costos,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etc.).</a:t>
            </a:r>
            <a:endParaRPr sz="28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2. Actualización </a:t>
            </a:r>
            <a:r>
              <a:rPr sz="3200" b="1" i="1" dirty="0">
                <a:latin typeface="Calibri"/>
                <a:cs typeface="Calibri"/>
              </a:rPr>
              <a:t>de </a:t>
            </a:r>
            <a:r>
              <a:rPr sz="3200" b="1" i="1" spc="-10" dirty="0">
                <a:latin typeface="Calibri"/>
                <a:cs typeface="Calibri"/>
              </a:rPr>
              <a:t>Documentos </a:t>
            </a:r>
            <a:r>
              <a:rPr sz="3200" b="1" i="1" dirty="0">
                <a:latin typeface="Calibri"/>
                <a:cs typeface="Calibri"/>
              </a:rPr>
              <a:t>del</a:t>
            </a:r>
            <a:r>
              <a:rPr sz="3200" b="1" i="1" spc="-50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Proyecto</a:t>
            </a:r>
            <a:endParaRPr sz="3200">
              <a:latin typeface="Calibri"/>
              <a:cs typeface="Calibri"/>
            </a:endParaRPr>
          </a:p>
          <a:p>
            <a:pPr marL="756285" marR="6350" lvl="1" indent="-287020" algn="just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Se </a:t>
            </a:r>
            <a:r>
              <a:rPr sz="2800" spc="-10" dirty="0">
                <a:latin typeface="Calibri"/>
                <a:cs typeface="Calibri"/>
              </a:rPr>
              <a:t>actualizan atributos </a:t>
            </a:r>
            <a:r>
              <a:rPr sz="2800" spc="-5" dirty="0">
                <a:latin typeface="Calibri"/>
                <a:cs typeface="Calibri"/>
              </a:rPr>
              <a:t>de las Actividades,  Suposiciones en el </a:t>
            </a:r>
            <a:r>
              <a:rPr sz="2800" spc="-15" dirty="0">
                <a:latin typeface="Calibri"/>
                <a:cs typeface="Calibri"/>
              </a:rPr>
              <a:t>desarrollo </a:t>
            </a:r>
            <a:r>
              <a:rPr sz="2800" spc="-5" dirty="0">
                <a:latin typeface="Calibri"/>
                <a:cs typeface="Calibri"/>
              </a:rPr>
              <a:t>de las actividades,  </a:t>
            </a:r>
            <a:r>
              <a:rPr sz="2800" spc="-15" dirty="0">
                <a:latin typeface="Calibri"/>
                <a:cs typeface="Calibri"/>
              </a:rPr>
              <a:t>reservas </a:t>
            </a:r>
            <a:r>
              <a:rPr sz="2800" spc="-5" dirty="0">
                <a:latin typeface="Calibri"/>
                <a:cs typeface="Calibri"/>
              </a:rPr>
              <a:t>de los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proyectos.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1034" y="231470"/>
            <a:ext cx="1743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</a:t>
            </a:r>
            <a:r>
              <a:rPr sz="4400" spc="-45" dirty="0"/>
              <a:t>g</a:t>
            </a:r>
            <a:r>
              <a:rPr sz="4400" dirty="0"/>
              <a:t>enda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891436"/>
            <a:ext cx="3374390" cy="59702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300" b="1" spc="-10" dirty="0">
                <a:latin typeface="Calibri"/>
                <a:cs typeface="Calibri"/>
              </a:rPr>
              <a:t>GRUPO </a:t>
            </a:r>
            <a:r>
              <a:rPr sz="1300" b="1" spc="-5" dirty="0">
                <a:latin typeface="Calibri"/>
                <a:cs typeface="Calibri"/>
              </a:rPr>
              <a:t>DE </a:t>
            </a:r>
            <a:r>
              <a:rPr sz="1300" b="1" spc="-10" dirty="0">
                <a:latin typeface="Calibri"/>
                <a:cs typeface="Calibri"/>
              </a:rPr>
              <a:t>PROCESOS </a:t>
            </a:r>
            <a:r>
              <a:rPr sz="1300" b="1" spc="-5" dirty="0">
                <a:latin typeface="Calibri"/>
                <a:cs typeface="Calibri"/>
              </a:rPr>
              <a:t>DE</a:t>
            </a:r>
            <a:r>
              <a:rPr sz="1300" b="1" spc="6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PLANIFICACION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Planificar la gestión del</a:t>
            </a:r>
            <a:r>
              <a:rPr sz="1300" spc="5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Cronograma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10" dirty="0">
                <a:latin typeface="Calibri"/>
                <a:cs typeface="Calibri"/>
              </a:rPr>
              <a:t>Definir </a:t>
            </a:r>
            <a:r>
              <a:rPr sz="1300" spc="-5" dirty="0">
                <a:latin typeface="Calibri"/>
                <a:cs typeface="Calibri"/>
              </a:rPr>
              <a:t>las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Secuenciar las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Estimar los </a:t>
            </a:r>
            <a:r>
              <a:rPr sz="1300" spc="-10" dirty="0">
                <a:latin typeface="Calibri"/>
                <a:cs typeface="Calibri"/>
              </a:rPr>
              <a:t>Recursos </a:t>
            </a:r>
            <a:r>
              <a:rPr sz="1300" spc="-5" dirty="0">
                <a:latin typeface="Calibri"/>
                <a:cs typeface="Calibri"/>
              </a:rPr>
              <a:t>de las</a:t>
            </a:r>
            <a:r>
              <a:rPr sz="1300" spc="5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spc="-5" dirty="0">
                <a:latin typeface="Calibri"/>
                <a:cs typeface="Calibri"/>
              </a:rPr>
              <a:t>Estimar la </a:t>
            </a:r>
            <a:r>
              <a:rPr sz="1300" spc="-10" dirty="0">
                <a:latin typeface="Calibri"/>
                <a:cs typeface="Calibri"/>
              </a:rPr>
              <a:t>Duración </a:t>
            </a:r>
            <a:r>
              <a:rPr sz="1300" spc="-5" dirty="0">
                <a:latin typeface="Calibri"/>
                <a:cs typeface="Calibri"/>
              </a:rPr>
              <a:t>de las</a:t>
            </a:r>
            <a:r>
              <a:rPr sz="1300" spc="7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Actividades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300" b="1" spc="-10" dirty="0">
                <a:latin typeface="Calibri"/>
                <a:cs typeface="Calibri"/>
              </a:rPr>
              <a:t>Desarrollar </a:t>
            </a:r>
            <a:r>
              <a:rPr sz="1300" b="1" spc="-5" dirty="0">
                <a:latin typeface="Calibri"/>
                <a:cs typeface="Calibri"/>
              </a:rPr>
              <a:t>el</a:t>
            </a:r>
            <a:r>
              <a:rPr sz="1300" b="1" spc="4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Cronograma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Entradas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10" dirty="0">
                <a:latin typeface="Calibri"/>
                <a:cs typeface="Calibri"/>
              </a:rPr>
              <a:t>Herramientas </a:t>
            </a:r>
            <a:r>
              <a:rPr sz="1300" spc="-5" dirty="0">
                <a:latin typeface="Calibri"/>
                <a:cs typeface="Calibri"/>
              </a:rPr>
              <a:t>y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Técnicas</a:t>
            </a:r>
            <a:endParaRPr sz="13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300" spc="-5" dirty="0">
                <a:latin typeface="Calibri"/>
                <a:cs typeface="Calibri"/>
              </a:rPr>
              <a:t>Salidas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4672" y="461899"/>
            <a:ext cx="59886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Desarrollar </a:t>
            </a:r>
            <a:r>
              <a:rPr sz="4400" dirty="0"/>
              <a:t>el</a:t>
            </a:r>
            <a:r>
              <a:rPr sz="4400" spc="-60" dirty="0"/>
              <a:t> </a:t>
            </a:r>
            <a:r>
              <a:rPr sz="4400" spc="-15" dirty="0"/>
              <a:t>Cronograma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14042"/>
            <a:ext cx="50292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6235" algn="l"/>
              </a:tabLst>
            </a:pPr>
            <a:r>
              <a:rPr sz="2400" dirty="0">
                <a:latin typeface="Calibri"/>
                <a:cs typeface="Calibri"/>
              </a:rPr>
              <a:t>Es el </a:t>
            </a:r>
            <a:r>
              <a:rPr sz="2400" spc="-10" dirty="0">
                <a:latin typeface="Calibri"/>
                <a:cs typeface="Calibri"/>
              </a:rPr>
              <a:t>proceso </a:t>
            </a:r>
            <a:r>
              <a:rPr sz="2400" dirty="0">
                <a:latin typeface="Calibri"/>
                <a:cs typeface="Calibri"/>
              </a:rPr>
              <a:t>que </a:t>
            </a:r>
            <a:r>
              <a:rPr sz="2400" spc="-15" dirty="0">
                <a:latin typeface="Calibri"/>
                <a:cs typeface="Calibri"/>
              </a:rPr>
              <a:t>consiste </a:t>
            </a:r>
            <a:r>
              <a:rPr sz="2400" dirty="0">
                <a:latin typeface="Calibri"/>
                <a:cs typeface="Calibri"/>
              </a:rPr>
              <a:t>en </a:t>
            </a:r>
            <a:r>
              <a:rPr sz="2400" spc="-10" dirty="0">
                <a:latin typeface="Calibri"/>
                <a:cs typeface="Calibri"/>
              </a:rPr>
              <a:t>analizar  </a:t>
            </a:r>
            <a:r>
              <a:rPr sz="2400" dirty="0">
                <a:latin typeface="Calibri"/>
                <a:cs typeface="Calibri"/>
              </a:rPr>
              <a:t>el </a:t>
            </a:r>
            <a:r>
              <a:rPr sz="2400" spc="-15" dirty="0">
                <a:latin typeface="Calibri"/>
                <a:cs typeface="Calibri"/>
              </a:rPr>
              <a:t>orden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las </a:t>
            </a:r>
            <a:r>
              <a:rPr sz="2400" spc="-5" dirty="0">
                <a:latin typeface="Calibri"/>
                <a:cs typeface="Calibri"/>
              </a:rPr>
              <a:t>actividades, su  </a:t>
            </a:r>
            <a:r>
              <a:rPr sz="2400" spc="-10" dirty="0">
                <a:latin typeface="Calibri"/>
                <a:cs typeface="Calibri"/>
              </a:rPr>
              <a:t>duración, </a:t>
            </a:r>
            <a:r>
              <a:rPr sz="2400" dirty="0">
                <a:latin typeface="Calibri"/>
                <a:cs typeface="Calibri"/>
              </a:rPr>
              <a:t>los </a:t>
            </a:r>
            <a:r>
              <a:rPr sz="2400" spc="-10" dirty="0">
                <a:latin typeface="Calibri"/>
                <a:cs typeface="Calibri"/>
              </a:rPr>
              <a:t>requisitos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spc="-15" dirty="0">
                <a:latin typeface="Calibri"/>
                <a:cs typeface="Calibri"/>
              </a:rPr>
              <a:t>recursos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144" y="2711018"/>
            <a:ext cx="46856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4530" algn="l"/>
                <a:tab pos="2588260" algn="l"/>
                <a:tab pos="3476625" algn="l"/>
                <a:tab pos="4449445" algn="l"/>
              </a:tabLst>
            </a:pPr>
            <a:r>
              <a:rPr sz="2400" dirty="0">
                <a:latin typeface="Calibri"/>
                <a:cs typeface="Calibri"/>
              </a:rPr>
              <a:t>las	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tr</a:t>
            </a:r>
            <a:r>
              <a:rPr sz="2400" spc="-1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ciones	</a:t>
            </a:r>
            <a:r>
              <a:rPr sz="2400" spc="-5" dirty="0">
                <a:latin typeface="Calibri"/>
                <a:cs typeface="Calibri"/>
              </a:rPr>
              <a:t>pa</a:t>
            </a:r>
            <a:r>
              <a:rPr sz="2400" spc="-6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	c</a:t>
            </a:r>
            <a:r>
              <a:rPr sz="2400" spc="-3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5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r	el</a:t>
            </a:r>
            <a:endParaRPr sz="2400">
              <a:latin typeface="Calibri"/>
              <a:cs typeface="Calibri"/>
            </a:endParaRPr>
          </a:p>
          <a:p>
            <a:pPr marR="6985" algn="r">
              <a:lnSpc>
                <a:spcPct val="100000"/>
              </a:lnSpc>
              <a:spcBef>
                <a:spcPts val="5"/>
              </a:spcBef>
            </a:pPr>
            <a:r>
              <a:rPr sz="2400" spc="-15" dirty="0">
                <a:latin typeface="Calibri"/>
                <a:cs typeface="Calibri"/>
              </a:rPr>
              <a:t>La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6479" y="3077336"/>
            <a:ext cx="20275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865" marR="5080" indent="-50800">
              <a:lnSpc>
                <a:spcPct val="100000"/>
              </a:lnSpc>
              <a:spcBef>
                <a:spcPts val="100"/>
              </a:spcBef>
              <a:tabLst>
                <a:tab pos="654050" algn="l"/>
                <a:tab pos="842644" algn="l"/>
              </a:tabLst>
            </a:pP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dirty="0">
                <a:latin typeface="Calibri"/>
                <a:cs typeface="Calibri"/>
              </a:rPr>
              <a:t>l		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20" dirty="0">
                <a:latin typeface="Calibri"/>
                <a:cs typeface="Calibri"/>
              </a:rPr>
              <a:t>oy</a:t>
            </a:r>
            <a:r>
              <a:rPr sz="2400" dirty="0">
                <a:latin typeface="Calibri"/>
                <a:cs typeface="Calibri"/>
              </a:rPr>
              <a:t>ec</a:t>
            </a:r>
            <a:r>
              <a:rPr sz="2400" spc="-3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.  </a:t>
            </a:r>
            <a:r>
              <a:rPr sz="2400" spc="-5" dirty="0">
                <a:latin typeface="Calibri"/>
                <a:cs typeface="Calibri"/>
              </a:rPr>
              <a:t>de	</a:t>
            </a:r>
            <a:r>
              <a:rPr sz="2400" dirty="0">
                <a:latin typeface="Calibri"/>
                <a:cs typeface="Calibri"/>
              </a:rPr>
              <a:t>las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70730" y="3443096"/>
            <a:ext cx="1493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actividades,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9144" y="3077336"/>
            <a:ext cx="17341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Calibri"/>
                <a:cs typeface="Calibri"/>
              </a:rPr>
              <a:t>cronograma 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orp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aci</a:t>
            </a:r>
            <a:r>
              <a:rPr sz="2400" spc="-20" dirty="0">
                <a:latin typeface="Calibri"/>
                <a:cs typeface="Calibri"/>
              </a:rPr>
              <a:t>ó</a:t>
            </a:r>
            <a:r>
              <a:rPr sz="2400" dirty="0">
                <a:latin typeface="Calibri"/>
                <a:cs typeface="Calibri"/>
              </a:rPr>
              <a:t>n  </a:t>
            </a:r>
            <a:r>
              <a:rPr sz="2400" spc="-5" dirty="0">
                <a:latin typeface="Calibri"/>
                <a:cs typeface="Calibri"/>
              </a:rPr>
              <a:t>duraciones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77795" y="3808552"/>
            <a:ext cx="28879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1185" algn="l"/>
                <a:tab pos="2073275" algn="l"/>
                <a:tab pos="2658110" algn="l"/>
              </a:tabLst>
            </a:pPr>
            <a:r>
              <a:rPr sz="2400" dirty="0">
                <a:latin typeface="Calibri"/>
                <a:cs typeface="Calibri"/>
              </a:rPr>
              <a:t>y	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ec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s	a	la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9144" y="4174997"/>
            <a:ext cx="4685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78305" algn="l"/>
                <a:tab pos="2124710" algn="l"/>
                <a:tab pos="3821429" algn="l"/>
              </a:tabLst>
            </a:pPr>
            <a:r>
              <a:rPr sz="2400" spc="-5" dirty="0">
                <a:latin typeface="Calibri"/>
                <a:cs typeface="Calibri"/>
              </a:rPr>
              <a:t>he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4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ami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spc="-40" dirty="0">
                <a:latin typeface="Calibri"/>
                <a:cs typeface="Calibri"/>
              </a:rPr>
              <a:t>n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a	de	</a:t>
            </a:r>
            <a:r>
              <a:rPr sz="2400" spc="-5" dirty="0">
                <a:latin typeface="Calibri"/>
                <a:cs typeface="Calibri"/>
              </a:rPr>
              <a:t>planifi</a:t>
            </a: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aci</a:t>
            </a:r>
            <a:r>
              <a:rPr sz="2400" spc="-5" dirty="0">
                <a:latin typeface="Calibri"/>
                <a:cs typeface="Calibri"/>
              </a:rPr>
              <a:t>ó</a:t>
            </a:r>
            <a:r>
              <a:rPr sz="2400" dirty="0">
                <a:latin typeface="Calibri"/>
                <a:cs typeface="Calibri"/>
              </a:rPr>
              <a:t>n	</a:t>
            </a:r>
            <a:r>
              <a:rPr sz="2400" spc="-30" dirty="0">
                <a:latin typeface="Calibri"/>
                <a:cs typeface="Calibri"/>
              </a:rPr>
              <a:t>g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spc="-6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9144" y="4540757"/>
            <a:ext cx="2372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8680" algn="l"/>
              </a:tabLst>
            </a:pPr>
            <a:r>
              <a:rPr sz="2400" spc="-5" dirty="0">
                <a:latin typeface="Calibri"/>
                <a:cs typeface="Calibri"/>
              </a:rPr>
              <a:t>un	</a:t>
            </a:r>
            <a:r>
              <a:rPr sz="2400" spc="-15" dirty="0">
                <a:latin typeface="Calibri"/>
                <a:cs typeface="Calibri"/>
              </a:rPr>
              <a:t>cronograma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62883" y="4540757"/>
            <a:ext cx="1800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5680" algn="l"/>
              </a:tabLst>
            </a:pP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	</a:t>
            </a:r>
            <a:r>
              <a:rPr sz="2400" spc="-65" dirty="0">
                <a:latin typeface="Calibri"/>
                <a:cs typeface="Calibri"/>
              </a:rPr>
              <a:t>f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5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has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9144" y="4906517"/>
            <a:ext cx="46856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829435" algn="l"/>
                <a:tab pos="2729865" algn="l"/>
                <a:tab pos="4338320" algn="l"/>
              </a:tabLst>
            </a:pPr>
            <a:r>
              <a:rPr sz="2400" spc="-5" dirty="0">
                <a:latin typeface="Calibri"/>
                <a:cs typeface="Calibri"/>
              </a:rPr>
              <a:t>planifi</a:t>
            </a: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adas	</a:t>
            </a:r>
            <a:r>
              <a:rPr sz="2400" spc="-5" dirty="0">
                <a:latin typeface="Calibri"/>
                <a:cs typeface="Calibri"/>
              </a:rPr>
              <a:t>pa</a:t>
            </a:r>
            <a:r>
              <a:rPr sz="2400" spc="-4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	</a:t>
            </a:r>
            <a:r>
              <a:rPr sz="2400" spc="-20" dirty="0">
                <a:latin typeface="Calibri"/>
                <a:cs typeface="Calibri"/>
              </a:rPr>
              <a:t>co</a:t>
            </a:r>
            <a:r>
              <a:rPr sz="2400" dirty="0">
                <a:latin typeface="Calibri"/>
                <a:cs typeface="Calibri"/>
              </a:rPr>
              <a:t>mple</a:t>
            </a:r>
            <a:r>
              <a:rPr sz="2400" spc="-4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ar	l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s  actividades </a:t>
            </a:r>
            <a:r>
              <a:rPr sz="2400" spc="-5" dirty="0">
                <a:latin typeface="Calibri"/>
                <a:cs typeface="Calibri"/>
              </a:rPr>
              <a:t>del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proyecto.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69871" y="2440868"/>
            <a:ext cx="3142116" cy="2357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982" y="496950"/>
            <a:ext cx="754760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Desarrollar </a:t>
            </a:r>
            <a:r>
              <a:rPr spc="-5" dirty="0"/>
              <a:t>el </a:t>
            </a:r>
            <a:r>
              <a:rPr spc="-15" dirty="0"/>
              <a:t>Cronograma-</a:t>
            </a:r>
            <a:r>
              <a:rPr spc="-5" dirty="0"/>
              <a:t> </a:t>
            </a:r>
            <a:r>
              <a:rPr b="1" spc="-20" dirty="0">
                <a:latin typeface="Calibri"/>
                <a:cs typeface="Calibri"/>
              </a:rPr>
              <a:t>Entradas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6740"/>
            <a:ext cx="5815965" cy="51993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1. </a:t>
            </a:r>
            <a:r>
              <a:rPr sz="2000" b="1" i="1" spc="-5" dirty="0">
                <a:latin typeface="Calibri"/>
                <a:cs typeface="Calibri"/>
              </a:rPr>
              <a:t>Plan de Gestión </a:t>
            </a:r>
            <a:r>
              <a:rPr sz="2000" b="1" i="1" dirty="0">
                <a:latin typeface="Calibri"/>
                <a:cs typeface="Calibri"/>
              </a:rPr>
              <a:t>del</a:t>
            </a:r>
            <a:r>
              <a:rPr sz="2000" b="1" i="1" spc="-80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Cronograma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2. </a:t>
            </a:r>
            <a:r>
              <a:rPr sz="2000" b="1" i="1" spc="-10" dirty="0">
                <a:latin typeface="Calibri"/>
                <a:cs typeface="Calibri"/>
              </a:rPr>
              <a:t>Lista </a:t>
            </a:r>
            <a:r>
              <a:rPr sz="2000" b="1" i="1" spc="-5" dirty="0">
                <a:latin typeface="Calibri"/>
                <a:cs typeface="Calibri"/>
              </a:rPr>
              <a:t>de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Actividades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09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600" spc="-10" dirty="0">
                <a:latin typeface="Calibri"/>
                <a:cs typeface="Calibri"/>
              </a:rPr>
              <a:t>Son </a:t>
            </a:r>
            <a:r>
              <a:rPr sz="1600" dirty="0">
                <a:latin typeface="Calibri"/>
                <a:cs typeface="Calibri"/>
              </a:rPr>
              <a:t>lo </a:t>
            </a:r>
            <a:r>
              <a:rPr sz="1600" spc="-5" dirty="0">
                <a:latin typeface="Calibri"/>
                <a:cs typeface="Calibri"/>
              </a:rPr>
              <a:t>que se hace </a:t>
            </a:r>
            <a:r>
              <a:rPr sz="1600" spc="-15" dirty="0">
                <a:latin typeface="Calibri"/>
                <a:cs typeface="Calibri"/>
              </a:rPr>
              <a:t>para </a:t>
            </a:r>
            <a:r>
              <a:rPr sz="1600" spc="-5" dirty="0">
                <a:latin typeface="Calibri"/>
                <a:cs typeface="Calibri"/>
              </a:rPr>
              <a:t>hacer los </a:t>
            </a:r>
            <a:r>
              <a:rPr sz="1600" spc="-10" dirty="0">
                <a:latin typeface="Calibri"/>
                <a:cs typeface="Calibri"/>
              </a:rPr>
              <a:t>Paquetes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Trabajo.</a:t>
            </a:r>
            <a:endParaRPr sz="16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45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3. </a:t>
            </a:r>
            <a:r>
              <a:rPr sz="2000" b="1" i="1" spc="-10" dirty="0">
                <a:latin typeface="Calibri"/>
                <a:cs typeface="Calibri"/>
              </a:rPr>
              <a:t>Atributos </a:t>
            </a:r>
            <a:r>
              <a:rPr sz="2000" b="1" i="1" dirty="0">
                <a:latin typeface="Calibri"/>
                <a:cs typeface="Calibri"/>
              </a:rPr>
              <a:t>de las</a:t>
            </a:r>
            <a:r>
              <a:rPr sz="2000" b="1" i="1" spc="-9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Actividades</a:t>
            </a:r>
            <a:endParaRPr sz="2000">
              <a:latin typeface="Calibri"/>
              <a:cs typeface="Calibri"/>
            </a:endParaRPr>
          </a:p>
          <a:p>
            <a:pPr marL="756285" marR="5715" lvl="1" indent="-287020" algn="just">
              <a:lnSpc>
                <a:spcPct val="100000"/>
              </a:lnSpc>
              <a:spcBef>
                <a:spcPts val="415"/>
              </a:spcBef>
              <a:buFont typeface="Arial"/>
              <a:buChar char="–"/>
              <a:tabLst>
                <a:tab pos="756920" algn="l"/>
              </a:tabLst>
            </a:pPr>
            <a:r>
              <a:rPr sz="1600" spc="-5" dirty="0">
                <a:latin typeface="Calibri"/>
                <a:cs typeface="Calibri"/>
              </a:rPr>
              <a:t>Se </a:t>
            </a:r>
            <a:r>
              <a:rPr sz="1600" spc="-10" dirty="0">
                <a:latin typeface="Calibri"/>
                <a:cs typeface="Calibri"/>
              </a:rPr>
              <a:t>puede </a:t>
            </a:r>
            <a:r>
              <a:rPr sz="1600" spc="-5" dirty="0">
                <a:latin typeface="Calibri"/>
                <a:cs typeface="Calibri"/>
              </a:rPr>
              <a:t>imaginar las Actividades como una </a:t>
            </a:r>
            <a:r>
              <a:rPr sz="1600" spc="-10" dirty="0">
                <a:latin typeface="Calibri"/>
                <a:cs typeface="Calibri"/>
              </a:rPr>
              <a:t>tabla </a:t>
            </a:r>
            <a:r>
              <a:rPr sz="1600" spc="-15" dirty="0">
                <a:latin typeface="Calibri"/>
                <a:cs typeface="Calibri"/>
              </a:rPr>
              <a:t>con  </a:t>
            </a:r>
            <a:r>
              <a:rPr sz="1600" spc="-5" dirty="0">
                <a:latin typeface="Calibri"/>
                <a:cs typeface="Calibri"/>
              </a:rPr>
              <a:t>columnas, </a:t>
            </a:r>
            <a:r>
              <a:rPr sz="1600" spc="-10" dirty="0">
                <a:latin typeface="Calibri"/>
                <a:cs typeface="Calibri"/>
              </a:rPr>
              <a:t>donde cada columna es </a:t>
            </a:r>
            <a:r>
              <a:rPr sz="1600" spc="-5" dirty="0">
                <a:latin typeface="Calibri"/>
                <a:cs typeface="Calibri"/>
              </a:rPr>
              <a:t>un </a:t>
            </a:r>
            <a:r>
              <a:rPr sz="1600" spc="-10" dirty="0">
                <a:latin typeface="Calibri"/>
                <a:cs typeface="Calibri"/>
              </a:rPr>
              <a:t>atributo </a:t>
            </a:r>
            <a:r>
              <a:rPr sz="1600" spc="-15" dirty="0">
                <a:latin typeface="Calibri"/>
                <a:cs typeface="Calibri"/>
              </a:rPr>
              <a:t>(fecha </a:t>
            </a:r>
            <a:r>
              <a:rPr sz="1600" spc="-5" dirty="0">
                <a:latin typeface="Calibri"/>
                <a:cs typeface="Calibri"/>
              </a:rPr>
              <a:t>de  inicio planeada, </a:t>
            </a:r>
            <a:r>
              <a:rPr sz="1600" spc="-15" dirty="0">
                <a:latin typeface="Calibri"/>
                <a:cs typeface="Calibri"/>
              </a:rPr>
              <a:t>fecha </a:t>
            </a:r>
            <a:r>
              <a:rPr sz="1600" spc="-10" dirty="0">
                <a:latin typeface="Calibri"/>
                <a:cs typeface="Calibri"/>
              </a:rPr>
              <a:t>real </a:t>
            </a:r>
            <a:r>
              <a:rPr sz="1600" spc="-5" dirty="0">
                <a:latin typeface="Calibri"/>
                <a:cs typeface="Calibri"/>
              </a:rPr>
              <a:t>de </a:t>
            </a:r>
            <a:r>
              <a:rPr sz="1600" spc="-15" dirty="0">
                <a:latin typeface="Calibri"/>
                <a:cs typeface="Calibri"/>
              </a:rPr>
              <a:t>inicio, fecha </a:t>
            </a:r>
            <a:r>
              <a:rPr sz="1600" spc="-5" dirty="0">
                <a:latin typeface="Calibri"/>
                <a:cs typeface="Calibri"/>
              </a:rPr>
              <a:t>de </a:t>
            </a:r>
            <a:r>
              <a:rPr sz="1600" spc="-10" dirty="0">
                <a:latin typeface="Calibri"/>
                <a:cs typeface="Calibri"/>
              </a:rPr>
              <a:t>finalización  planeada, </a:t>
            </a:r>
            <a:r>
              <a:rPr sz="1600" spc="-15" dirty="0">
                <a:latin typeface="Calibri"/>
                <a:cs typeface="Calibri"/>
              </a:rPr>
              <a:t>fecha </a:t>
            </a:r>
            <a:r>
              <a:rPr sz="1600" spc="-5" dirty="0">
                <a:latin typeface="Calibri"/>
                <a:cs typeface="Calibri"/>
              </a:rPr>
              <a:t>de </a:t>
            </a:r>
            <a:r>
              <a:rPr sz="1600" spc="-10" dirty="0">
                <a:latin typeface="Calibri"/>
                <a:cs typeface="Calibri"/>
              </a:rPr>
              <a:t>finalización </a:t>
            </a:r>
            <a:r>
              <a:rPr sz="1600" spc="-5" dirty="0">
                <a:latin typeface="Calibri"/>
                <a:cs typeface="Calibri"/>
              </a:rPr>
              <a:t>real, </a:t>
            </a:r>
            <a:r>
              <a:rPr sz="1600" spc="-10" dirty="0">
                <a:latin typeface="Calibri"/>
                <a:cs typeface="Calibri"/>
              </a:rPr>
              <a:t>costo estimado, </a:t>
            </a:r>
            <a:r>
              <a:rPr sz="1600" spc="-15" dirty="0">
                <a:latin typeface="Calibri"/>
                <a:cs typeface="Calibri"/>
              </a:rPr>
              <a:t>costo  </a:t>
            </a:r>
            <a:r>
              <a:rPr sz="1600" spc="-10" dirty="0">
                <a:latin typeface="Calibri"/>
                <a:cs typeface="Calibri"/>
              </a:rPr>
              <a:t>real, </a:t>
            </a:r>
            <a:r>
              <a:rPr sz="1600" spc="-15" dirty="0">
                <a:latin typeface="Calibri"/>
                <a:cs typeface="Calibri"/>
              </a:rPr>
              <a:t>recursos </a:t>
            </a:r>
            <a:r>
              <a:rPr sz="1600" spc="-5" dirty="0">
                <a:latin typeface="Calibri"/>
                <a:cs typeface="Calibri"/>
              </a:rPr>
              <a:t>de </a:t>
            </a:r>
            <a:r>
              <a:rPr sz="1600" dirty="0">
                <a:latin typeface="Calibri"/>
                <a:cs typeface="Calibri"/>
              </a:rPr>
              <a:t>la </a:t>
            </a:r>
            <a:r>
              <a:rPr sz="1600" spc="-5" dirty="0">
                <a:latin typeface="Calibri"/>
                <a:cs typeface="Calibri"/>
              </a:rPr>
              <a:t>actividad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(multivaluados).</a:t>
            </a:r>
            <a:endParaRPr sz="160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390"/>
              </a:spcBef>
              <a:buFont typeface="Arial"/>
              <a:buChar char="–"/>
              <a:tabLst>
                <a:tab pos="756920" algn="l"/>
              </a:tabLst>
            </a:pPr>
            <a:r>
              <a:rPr sz="1600" spc="-10" dirty="0">
                <a:latin typeface="Calibri"/>
                <a:cs typeface="Calibri"/>
              </a:rPr>
              <a:t>Los atributos </a:t>
            </a:r>
            <a:r>
              <a:rPr sz="1600" spc="-5" dirty="0">
                <a:latin typeface="Calibri"/>
                <a:cs typeface="Calibri"/>
              </a:rPr>
              <a:t>se </a:t>
            </a:r>
            <a:r>
              <a:rPr sz="1600" spc="-10" dirty="0">
                <a:latin typeface="Calibri"/>
                <a:cs typeface="Calibri"/>
              </a:rPr>
              <a:t>van poblando </a:t>
            </a:r>
            <a:r>
              <a:rPr sz="1600" spc="-5" dirty="0">
                <a:latin typeface="Calibri"/>
                <a:cs typeface="Calibri"/>
              </a:rPr>
              <a:t>en </a:t>
            </a:r>
            <a:r>
              <a:rPr sz="1600" spc="-10" dirty="0">
                <a:latin typeface="Calibri"/>
                <a:cs typeface="Calibri"/>
              </a:rPr>
              <a:t>la </a:t>
            </a:r>
            <a:r>
              <a:rPr sz="1600" spc="-5" dirty="0">
                <a:latin typeface="Calibri"/>
                <a:cs typeface="Calibri"/>
              </a:rPr>
              <a:t>medida que </a:t>
            </a:r>
            <a:r>
              <a:rPr sz="1600" spc="-20" dirty="0">
                <a:latin typeface="Calibri"/>
                <a:cs typeface="Calibri"/>
              </a:rPr>
              <a:t>avanza </a:t>
            </a:r>
            <a:r>
              <a:rPr sz="1600" spc="-5" dirty="0">
                <a:latin typeface="Calibri"/>
                <a:cs typeface="Calibri"/>
              </a:rPr>
              <a:t>el  </a:t>
            </a:r>
            <a:r>
              <a:rPr sz="1600" spc="-15" dirty="0">
                <a:latin typeface="Calibri"/>
                <a:cs typeface="Calibri"/>
              </a:rPr>
              <a:t>proyecto</a:t>
            </a:r>
            <a:endParaRPr sz="16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45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4. </a:t>
            </a:r>
            <a:r>
              <a:rPr sz="2000" b="1" i="1" spc="-5" dirty="0">
                <a:latin typeface="Calibri"/>
                <a:cs typeface="Calibri"/>
              </a:rPr>
              <a:t>Diagramas de </a:t>
            </a:r>
            <a:r>
              <a:rPr sz="2000" b="1" i="1" spc="-10" dirty="0">
                <a:latin typeface="Calibri"/>
                <a:cs typeface="Calibri"/>
              </a:rPr>
              <a:t>Red </a:t>
            </a:r>
            <a:r>
              <a:rPr sz="2000" b="1" i="1" dirty="0">
                <a:latin typeface="Calibri"/>
                <a:cs typeface="Calibri"/>
              </a:rPr>
              <a:t>del </a:t>
            </a:r>
            <a:r>
              <a:rPr sz="2000" b="1" i="1" spc="-5" dirty="0">
                <a:latin typeface="Calibri"/>
                <a:cs typeface="Calibri"/>
              </a:rPr>
              <a:t>Cronograma </a:t>
            </a:r>
            <a:r>
              <a:rPr sz="2000" b="1" i="1" dirty="0">
                <a:latin typeface="Calibri"/>
                <a:cs typeface="Calibri"/>
              </a:rPr>
              <a:t>del</a:t>
            </a:r>
            <a:r>
              <a:rPr sz="2000" b="1" i="1" spc="-140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Proyecto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09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600" spc="-10" dirty="0">
                <a:latin typeface="Calibri"/>
                <a:cs typeface="Calibri"/>
              </a:rPr>
              <a:t>Muestra </a:t>
            </a:r>
            <a:r>
              <a:rPr sz="1600" dirty="0">
                <a:latin typeface="Calibri"/>
                <a:cs typeface="Calibri"/>
              </a:rPr>
              <a:t>las</a:t>
            </a:r>
            <a:r>
              <a:rPr sz="1600" spc="-10" dirty="0">
                <a:latin typeface="Calibri"/>
                <a:cs typeface="Calibri"/>
              </a:rPr>
              <a:t> precedencias</a:t>
            </a:r>
            <a:endParaRPr sz="16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5. </a:t>
            </a:r>
            <a:r>
              <a:rPr sz="2000" b="1" i="1" spc="-10" dirty="0">
                <a:latin typeface="Calibri"/>
                <a:cs typeface="Calibri"/>
              </a:rPr>
              <a:t>Requerimientos </a:t>
            </a:r>
            <a:r>
              <a:rPr sz="2000" b="1" i="1" spc="-5" dirty="0">
                <a:latin typeface="Calibri"/>
                <a:cs typeface="Calibri"/>
              </a:rPr>
              <a:t>de Recursos de </a:t>
            </a:r>
            <a:r>
              <a:rPr sz="2000" b="1" i="1" dirty="0">
                <a:latin typeface="Calibri"/>
                <a:cs typeface="Calibri"/>
              </a:rPr>
              <a:t>las</a:t>
            </a:r>
            <a:r>
              <a:rPr sz="2000" b="1" i="1" spc="-10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Actividades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14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600" spc="-5" dirty="0">
                <a:latin typeface="Calibri"/>
                <a:cs typeface="Calibri"/>
              </a:rPr>
              <a:t>De aquí se tienen los </a:t>
            </a:r>
            <a:r>
              <a:rPr sz="1600" spc="-10" dirty="0">
                <a:latin typeface="Calibri"/>
                <a:cs typeface="Calibri"/>
              </a:rPr>
              <a:t>insumos </a:t>
            </a:r>
            <a:r>
              <a:rPr sz="1600" spc="-15" dirty="0">
                <a:latin typeface="Calibri"/>
                <a:cs typeface="Calibri"/>
              </a:rPr>
              <a:t>para </a:t>
            </a:r>
            <a:r>
              <a:rPr sz="1600" spc="-5" dirty="0">
                <a:latin typeface="Calibri"/>
                <a:cs typeface="Calibri"/>
              </a:rPr>
              <a:t>los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costos</a:t>
            </a:r>
            <a:endParaRPr sz="16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45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6. Calendario </a:t>
            </a:r>
            <a:r>
              <a:rPr sz="2000" b="1" i="1" spc="-5" dirty="0">
                <a:latin typeface="Calibri"/>
                <a:cs typeface="Calibri"/>
              </a:rPr>
              <a:t>de</a:t>
            </a:r>
            <a:r>
              <a:rPr sz="2000" b="1" i="1" spc="-7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Recursos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09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600" spc="-5" dirty="0">
                <a:latin typeface="Calibri"/>
                <a:cs typeface="Calibri"/>
              </a:rPr>
              <a:t>Sirve </a:t>
            </a:r>
            <a:r>
              <a:rPr sz="1600" spc="-15" dirty="0">
                <a:latin typeface="Calibri"/>
                <a:cs typeface="Calibri"/>
              </a:rPr>
              <a:t>para </a:t>
            </a:r>
            <a:r>
              <a:rPr sz="1600" spc="-5" dirty="0">
                <a:latin typeface="Calibri"/>
                <a:cs typeface="Calibri"/>
              </a:rPr>
              <a:t>identificar </a:t>
            </a:r>
            <a:r>
              <a:rPr sz="1600" dirty="0">
                <a:latin typeface="Calibri"/>
                <a:cs typeface="Calibri"/>
              </a:rPr>
              <a:t>la </a:t>
            </a:r>
            <a:r>
              <a:rPr sz="1600" spc="-5" dirty="0">
                <a:latin typeface="Calibri"/>
                <a:cs typeface="Calibri"/>
              </a:rPr>
              <a:t>disponibilidad de los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recursos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86243" y="1714500"/>
            <a:ext cx="643127" cy="7636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72883" y="3643884"/>
            <a:ext cx="1533560" cy="571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58000" y="5286755"/>
            <a:ext cx="1773936" cy="13563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982" y="496950"/>
            <a:ext cx="754760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Desarrollar </a:t>
            </a:r>
            <a:r>
              <a:rPr spc="-5" dirty="0"/>
              <a:t>el </a:t>
            </a:r>
            <a:r>
              <a:rPr spc="-15" dirty="0"/>
              <a:t>Cronograma-</a:t>
            </a:r>
            <a:r>
              <a:rPr spc="-5" dirty="0"/>
              <a:t> </a:t>
            </a:r>
            <a:r>
              <a:rPr b="1" spc="-20" dirty="0">
                <a:latin typeface="Calibri"/>
                <a:cs typeface="Calibri"/>
              </a:rPr>
              <a:t>Entradas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7842"/>
            <a:ext cx="8073390" cy="4223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b="1" i="1" spc="-5" dirty="0">
                <a:latin typeface="Calibri"/>
                <a:cs typeface="Calibri"/>
              </a:rPr>
              <a:t>7. Estimados </a:t>
            </a:r>
            <a:r>
              <a:rPr sz="2700" b="1" i="1" dirty="0">
                <a:latin typeface="Calibri"/>
                <a:cs typeface="Calibri"/>
              </a:rPr>
              <a:t>de </a:t>
            </a:r>
            <a:r>
              <a:rPr sz="2700" b="1" i="1" spc="-5" dirty="0">
                <a:latin typeface="Calibri"/>
                <a:cs typeface="Calibri"/>
              </a:rPr>
              <a:t>la Duración </a:t>
            </a:r>
            <a:r>
              <a:rPr sz="2700" b="1" i="1" dirty="0">
                <a:latin typeface="Calibri"/>
                <a:cs typeface="Calibri"/>
              </a:rPr>
              <a:t>de las</a:t>
            </a:r>
            <a:r>
              <a:rPr sz="2700" b="1" i="1" spc="-2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Actividades</a:t>
            </a:r>
            <a:endParaRPr sz="27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b="1" i="1" spc="-5" dirty="0">
                <a:latin typeface="Calibri"/>
                <a:cs typeface="Calibri"/>
              </a:rPr>
              <a:t>8. Enunciado </a:t>
            </a:r>
            <a:r>
              <a:rPr sz="2700" b="1" i="1" dirty="0">
                <a:latin typeface="Calibri"/>
                <a:cs typeface="Calibri"/>
              </a:rPr>
              <a:t>del </a:t>
            </a:r>
            <a:r>
              <a:rPr sz="2700" b="1" i="1" spc="-10" dirty="0">
                <a:latin typeface="Calibri"/>
                <a:cs typeface="Calibri"/>
              </a:rPr>
              <a:t>Alcance </a:t>
            </a:r>
            <a:r>
              <a:rPr sz="2700" b="1" i="1" dirty="0">
                <a:latin typeface="Calibri"/>
                <a:cs typeface="Calibri"/>
              </a:rPr>
              <a:t>del</a:t>
            </a:r>
            <a:r>
              <a:rPr sz="2700" b="1" i="1" spc="-15" dirty="0">
                <a:latin typeface="Calibri"/>
                <a:cs typeface="Calibri"/>
              </a:rPr>
              <a:t> </a:t>
            </a:r>
            <a:r>
              <a:rPr sz="2700" b="1" i="1" spc="-10" dirty="0">
                <a:latin typeface="Calibri"/>
                <a:cs typeface="Calibri"/>
              </a:rPr>
              <a:t>Proyecto</a:t>
            </a:r>
            <a:endParaRPr sz="2700">
              <a:latin typeface="Calibri"/>
              <a:cs typeface="Calibri"/>
            </a:endParaRPr>
          </a:p>
          <a:p>
            <a:pPr marL="756285" marR="5715" lvl="1" indent="-287020">
              <a:lnSpc>
                <a:spcPct val="80000"/>
              </a:lnSpc>
              <a:spcBef>
                <a:spcPts val="5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Debe </a:t>
            </a:r>
            <a:r>
              <a:rPr sz="2400" spc="-10" dirty="0">
                <a:latin typeface="Calibri"/>
                <a:cs typeface="Calibri"/>
              </a:rPr>
              <a:t>estar sincronizado con </a:t>
            </a:r>
            <a:r>
              <a:rPr sz="2400" dirty="0">
                <a:latin typeface="Calibri"/>
                <a:cs typeface="Calibri"/>
              </a:rPr>
              <a:t>la </a:t>
            </a:r>
            <a:r>
              <a:rPr sz="2400" spc="-70" dirty="0">
                <a:latin typeface="Calibri"/>
                <a:cs typeface="Calibri"/>
              </a:rPr>
              <a:t>EDT. </a:t>
            </a:r>
            <a:r>
              <a:rPr sz="2400" spc="-5" dirty="0">
                <a:latin typeface="Calibri"/>
                <a:cs typeface="Calibri"/>
              </a:rPr>
              <a:t>Cada </a:t>
            </a:r>
            <a:r>
              <a:rPr sz="2400" spc="-20" dirty="0">
                <a:latin typeface="Calibri"/>
                <a:cs typeface="Calibri"/>
              </a:rPr>
              <a:t>vez </a:t>
            </a:r>
            <a:r>
              <a:rPr sz="2400" dirty="0">
                <a:latin typeface="Calibri"/>
                <a:cs typeface="Calibri"/>
              </a:rPr>
              <a:t>que </a:t>
            </a:r>
            <a:r>
              <a:rPr sz="2400" spc="-5" dirty="0">
                <a:latin typeface="Calibri"/>
                <a:cs typeface="Calibri"/>
              </a:rPr>
              <a:t>cambia </a:t>
            </a:r>
            <a:r>
              <a:rPr sz="2400" spc="-15" dirty="0">
                <a:latin typeface="Calibri"/>
                <a:cs typeface="Calibri"/>
              </a:rPr>
              <a:t>la  </a:t>
            </a:r>
            <a:r>
              <a:rPr sz="2400" spc="-10" dirty="0">
                <a:latin typeface="Calibri"/>
                <a:cs typeface="Calibri"/>
              </a:rPr>
              <a:t>EDT </a:t>
            </a:r>
            <a:r>
              <a:rPr sz="2400" spc="-5" dirty="0">
                <a:latin typeface="Calibri"/>
                <a:cs typeface="Calibri"/>
              </a:rPr>
              <a:t>se debe </a:t>
            </a:r>
            <a:r>
              <a:rPr sz="2400" spc="-10" dirty="0">
                <a:latin typeface="Calibri"/>
                <a:cs typeface="Calibri"/>
              </a:rPr>
              <a:t>mirar cómo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impacta.</a:t>
            </a:r>
            <a:endParaRPr sz="2400">
              <a:latin typeface="Calibri"/>
              <a:cs typeface="Calibri"/>
            </a:endParaRPr>
          </a:p>
          <a:p>
            <a:pPr marL="756285" marR="5080" lvl="1" indent="-287020">
              <a:lnSpc>
                <a:spcPts val="2300"/>
              </a:lnSpc>
              <a:spcBef>
                <a:spcPts val="565"/>
              </a:spcBef>
              <a:buFont typeface="Arial"/>
              <a:buChar char="–"/>
              <a:tabLst>
                <a:tab pos="756920" algn="l"/>
                <a:tab pos="1231900" algn="l"/>
                <a:tab pos="1841500" algn="l"/>
                <a:tab pos="2600960" algn="l"/>
                <a:tab pos="3157220" algn="l"/>
                <a:tab pos="4615815" algn="l"/>
                <a:tab pos="5297170" algn="l"/>
                <a:tab pos="5824855" algn="l"/>
                <a:tab pos="6828790" algn="l"/>
                <a:tab pos="7921625" algn="l"/>
              </a:tabLst>
            </a:pPr>
            <a:r>
              <a:rPr sz="2400" dirty="0">
                <a:latin typeface="Calibri"/>
                <a:cs typeface="Calibri"/>
              </a:rPr>
              <a:t>Es	</a:t>
            </a:r>
            <a:r>
              <a:rPr sz="2400" spc="-5" dirty="0">
                <a:latin typeface="Calibri"/>
                <a:cs typeface="Calibri"/>
              </a:rPr>
              <a:t>úti</a:t>
            </a:r>
            <a:r>
              <a:rPr sz="2400" dirty="0">
                <a:latin typeface="Calibri"/>
                <a:cs typeface="Calibri"/>
              </a:rPr>
              <a:t>l	</a:t>
            </a:r>
            <a:r>
              <a:rPr sz="2400" spc="-5" dirty="0">
                <a:latin typeface="Calibri"/>
                <a:cs typeface="Calibri"/>
              </a:rPr>
              <a:t>pa</a:t>
            </a:r>
            <a:r>
              <a:rPr sz="2400" spc="-6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	los	e</a:t>
            </a:r>
            <a:r>
              <a:rPr sz="2400" spc="5" dirty="0">
                <a:latin typeface="Calibri"/>
                <a:cs typeface="Calibri"/>
              </a:rPr>
              <a:t>j</a:t>
            </a:r>
            <a:r>
              <a:rPr sz="2400" dirty="0">
                <a:latin typeface="Calibri"/>
                <a:cs typeface="Calibri"/>
              </a:rPr>
              <a:t>ecuti</a:t>
            </a:r>
            <a:r>
              <a:rPr sz="2400" spc="-35" dirty="0">
                <a:latin typeface="Calibri"/>
                <a:cs typeface="Calibri"/>
              </a:rPr>
              <a:t>v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s	</a:t>
            </a:r>
            <a:r>
              <a:rPr sz="2400" spc="-5" dirty="0">
                <a:latin typeface="Calibri"/>
                <a:cs typeface="Calibri"/>
              </a:rPr>
              <a:t>qu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o	tien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n	tiem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dirty="0">
                <a:latin typeface="Calibri"/>
                <a:cs typeface="Calibri"/>
              </a:rPr>
              <a:t>o	y  </a:t>
            </a:r>
            <a:r>
              <a:rPr sz="2400" spc="-10" dirty="0">
                <a:latin typeface="Calibri"/>
                <a:cs typeface="Calibri"/>
              </a:rPr>
              <a:t>requieren </a:t>
            </a:r>
            <a:r>
              <a:rPr sz="2400" dirty="0">
                <a:latin typeface="Calibri"/>
                <a:cs typeface="Calibri"/>
              </a:rPr>
              <a:t>una </a:t>
            </a:r>
            <a:r>
              <a:rPr sz="2400" spc="-5" dirty="0">
                <a:latin typeface="Calibri"/>
                <a:cs typeface="Calibri"/>
              </a:rPr>
              <a:t>visión global.</a:t>
            </a:r>
            <a:endParaRPr sz="24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b="1" i="1" spc="-5" dirty="0">
                <a:latin typeface="Calibri"/>
                <a:cs typeface="Calibri"/>
              </a:rPr>
              <a:t>9. </a:t>
            </a:r>
            <a:r>
              <a:rPr sz="2700" b="1" i="1" spc="-10" dirty="0">
                <a:latin typeface="Calibri"/>
                <a:cs typeface="Calibri"/>
              </a:rPr>
              <a:t>Registro </a:t>
            </a:r>
            <a:r>
              <a:rPr sz="2700" b="1" i="1" dirty="0">
                <a:latin typeface="Calibri"/>
                <a:cs typeface="Calibri"/>
              </a:rPr>
              <a:t>de</a:t>
            </a:r>
            <a:r>
              <a:rPr sz="2700" b="1" i="1" spc="-2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Riesgos</a:t>
            </a:r>
            <a:endParaRPr sz="27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b="1" i="1" spc="-5" dirty="0">
                <a:latin typeface="Calibri"/>
                <a:cs typeface="Calibri"/>
              </a:rPr>
              <a:t>10. </a:t>
            </a:r>
            <a:r>
              <a:rPr sz="2700" b="1" i="1" dirty="0">
                <a:latin typeface="Calibri"/>
                <a:cs typeface="Calibri"/>
              </a:rPr>
              <a:t>Asignación del </a:t>
            </a:r>
            <a:r>
              <a:rPr sz="2700" b="1" i="1" spc="-10" dirty="0">
                <a:latin typeface="Calibri"/>
                <a:cs typeface="Calibri"/>
              </a:rPr>
              <a:t>Personal </a:t>
            </a:r>
            <a:r>
              <a:rPr sz="2700" b="1" i="1" dirty="0">
                <a:latin typeface="Calibri"/>
                <a:cs typeface="Calibri"/>
              </a:rPr>
              <a:t>del</a:t>
            </a:r>
            <a:r>
              <a:rPr sz="2700" b="1" i="1" spc="-30" dirty="0">
                <a:latin typeface="Calibri"/>
                <a:cs typeface="Calibri"/>
              </a:rPr>
              <a:t> </a:t>
            </a:r>
            <a:r>
              <a:rPr sz="2700" b="1" i="1" spc="-10" dirty="0">
                <a:latin typeface="Calibri"/>
                <a:cs typeface="Calibri"/>
              </a:rPr>
              <a:t>Proyecto</a:t>
            </a:r>
            <a:endParaRPr sz="27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b="1" i="1" spc="-5" dirty="0">
                <a:latin typeface="Calibri"/>
                <a:cs typeface="Calibri"/>
              </a:rPr>
              <a:t>11. Estructura </a:t>
            </a:r>
            <a:r>
              <a:rPr sz="2700" b="1" i="1" dirty="0">
                <a:latin typeface="Calibri"/>
                <a:cs typeface="Calibri"/>
              </a:rPr>
              <a:t>de </a:t>
            </a:r>
            <a:r>
              <a:rPr sz="2700" b="1" i="1" spc="-5" dirty="0">
                <a:latin typeface="Calibri"/>
                <a:cs typeface="Calibri"/>
              </a:rPr>
              <a:t>Desglose </a:t>
            </a:r>
            <a:r>
              <a:rPr sz="2700" b="1" i="1" dirty="0">
                <a:latin typeface="Calibri"/>
                <a:cs typeface="Calibri"/>
              </a:rPr>
              <a:t>de </a:t>
            </a:r>
            <a:r>
              <a:rPr sz="2700" b="1" i="1" spc="-10" dirty="0">
                <a:latin typeface="Calibri"/>
                <a:cs typeface="Calibri"/>
              </a:rPr>
              <a:t>Recursos</a:t>
            </a:r>
            <a:r>
              <a:rPr sz="2700" b="1" i="1" spc="-4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(RBS)</a:t>
            </a:r>
            <a:endParaRPr sz="27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b="1" i="1" spc="-5" dirty="0">
                <a:latin typeface="Calibri"/>
                <a:cs typeface="Calibri"/>
              </a:rPr>
              <a:t>12. </a:t>
            </a:r>
            <a:r>
              <a:rPr sz="2700" b="1" i="1" spc="-10" dirty="0">
                <a:latin typeface="Calibri"/>
                <a:cs typeface="Calibri"/>
              </a:rPr>
              <a:t>Factores Ambientales </a:t>
            </a:r>
            <a:r>
              <a:rPr sz="2700" b="1" i="1" dirty="0">
                <a:latin typeface="Calibri"/>
                <a:cs typeface="Calibri"/>
              </a:rPr>
              <a:t>de </a:t>
            </a:r>
            <a:r>
              <a:rPr sz="2700" b="1" i="1" spc="-5" dirty="0">
                <a:latin typeface="Calibri"/>
                <a:cs typeface="Calibri"/>
              </a:rPr>
              <a:t>la</a:t>
            </a:r>
            <a:r>
              <a:rPr sz="2700" b="1" i="1" spc="-10" dirty="0">
                <a:latin typeface="Calibri"/>
                <a:cs typeface="Calibri"/>
              </a:rPr>
              <a:t> </a:t>
            </a:r>
            <a:r>
              <a:rPr sz="2700" b="1" i="1" spc="-5" dirty="0">
                <a:latin typeface="Calibri"/>
                <a:cs typeface="Calibri"/>
              </a:rPr>
              <a:t>Empresa</a:t>
            </a:r>
            <a:endParaRPr sz="27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b="1" i="1" spc="-5" dirty="0">
                <a:latin typeface="Calibri"/>
                <a:cs typeface="Calibri"/>
              </a:rPr>
              <a:t>13. Activos </a:t>
            </a:r>
            <a:r>
              <a:rPr sz="2700" b="1" i="1" dirty="0">
                <a:latin typeface="Calibri"/>
                <a:cs typeface="Calibri"/>
              </a:rPr>
              <a:t>de los </a:t>
            </a:r>
            <a:r>
              <a:rPr sz="2700" b="1" i="1" spc="-5" dirty="0">
                <a:latin typeface="Calibri"/>
                <a:cs typeface="Calibri"/>
              </a:rPr>
              <a:t>Procesos</a:t>
            </a:r>
            <a:r>
              <a:rPr sz="2700" b="1" i="1" spc="-25" dirty="0">
                <a:latin typeface="Calibri"/>
                <a:cs typeface="Calibri"/>
              </a:rPr>
              <a:t> </a:t>
            </a:r>
            <a:r>
              <a:rPr sz="2700" b="1" i="1" spc="-5" dirty="0">
                <a:latin typeface="Calibri"/>
                <a:cs typeface="Calibri"/>
              </a:rPr>
              <a:t>Organizacionales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64130" marR="5080" indent="-245935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Desarrollar </a:t>
            </a:r>
            <a:r>
              <a:rPr spc="-5" dirty="0"/>
              <a:t>el </a:t>
            </a:r>
            <a:r>
              <a:rPr spc="-15" dirty="0"/>
              <a:t>Cronograma- </a:t>
            </a: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  </a:t>
            </a:r>
            <a:r>
              <a:rPr b="1" spc="-15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6130"/>
            <a:ext cx="4959985" cy="4471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i="1" spc="-5" dirty="0">
                <a:latin typeface="Calibri"/>
                <a:cs typeface="Calibri"/>
              </a:rPr>
              <a:t>1. Análisis de la</a:t>
            </a:r>
            <a:r>
              <a:rPr sz="2200" b="1" i="1" spc="5" dirty="0">
                <a:latin typeface="Calibri"/>
                <a:cs typeface="Calibri"/>
              </a:rPr>
              <a:t> </a:t>
            </a:r>
            <a:r>
              <a:rPr sz="2200" b="1" i="1" spc="-20" dirty="0">
                <a:latin typeface="Calibri"/>
                <a:cs typeface="Calibri"/>
              </a:rPr>
              <a:t>Red</a:t>
            </a:r>
            <a:endParaRPr sz="2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i="1" spc="-5" dirty="0">
                <a:latin typeface="Calibri"/>
                <a:cs typeface="Calibri"/>
              </a:rPr>
              <a:t>2. </a:t>
            </a:r>
            <a:r>
              <a:rPr sz="2200" b="1" i="1" spc="-10" dirty="0">
                <a:latin typeface="Calibri"/>
                <a:cs typeface="Calibri"/>
              </a:rPr>
              <a:t>Método </a:t>
            </a:r>
            <a:r>
              <a:rPr sz="2200" b="1" i="1" spc="-5" dirty="0">
                <a:latin typeface="Calibri"/>
                <a:cs typeface="Calibri"/>
              </a:rPr>
              <a:t>de la </a:t>
            </a:r>
            <a:r>
              <a:rPr sz="2200" b="1" i="1" spc="-10" dirty="0">
                <a:latin typeface="Calibri"/>
                <a:cs typeface="Calibri"/>
              </a:rPr>
              <a:t>Ruta</a:t>
            </a:r>
            <a:r>
              <a:rPr sz="2200" b="1" i="1" spc="3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Crítica</a:t>
            </a:r>
            <a:endParaRPr sz="2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i="1" spc="-5" dirty="0">
                <a:latin typeface="Calibri"/>
                <a:cs typeface="Calibri"/>
              </a:rPr>
              <a:t>3. </a:t>
            </a:r>
            <a:r>
              <a:rPr sz="2200" b="1" i="1" spc="-10" dirty="0">
                <a:latin typeface="Calibri"/>
                <a:cs typeface="Calibri"/>
              </a:rPr>
              <a:t>Método </a:t>
            </a:r>
            <a:r>
              <a:rPr sz="2200" b="1" i="1" spc="-5" dirty="0">
                <a:latin typeface="Calibri"/>
                <a:cs typeface="Calibri"/>
              </a:rPr>
              <a:t>de la Cadena</a:t>
            </a:r>
            <a:r>
              <a:rPr sz="2200" b="1" i="1" spc="2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Crítica</a:t>
            </a:r>
            <a:endParaRPr sz="220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ts val="1920"/>
              </a:lnSpc>
              <a:spcBef>
                <a:spcPts val="470"/>
              </a:spcBef>
              <a:buFont typeface="Arial"/>
              <a:buChar char="–"/>
              <a:tabLst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Es </a:t>
            </a:r>
            <a:r>
              <a:rPr sz="2000" spc="-10" dirty="0">
                <a:latin typeface="Calibri"/>
                <a:cs typeface="Calibri"/>
              </a:rPr>
              <a:t>programar </a:t>
            </a:r>
            <a:r>
              <a:rPr sz="2000" spc="-5" dirty="0">
                <a:latin typeface="Calibri"/>
                <a:cs typeface="Calibri"/>
              </a:rPr>
              <a:t>sabiendo </a:t>
            </a:r>
            <a:r>
              <a:rPr sz="2000" dirty="0">
                <a:latin typeface="Calibri"/>
                <a:cs typeface="Calibri"/>
              </a:rPr>
              <a:t>que los </a:t>
            </a:r>
            <a:r>
              <a:rPr sz="2000" spc="-10" dirty="0">
                <a:latin typeface="Calibri"/>
                <a:cs typeface="Calibri"/>
              </a:rPr>
              <a:t>recursos  </a:t>
            </a:r>
            <a:r>
              <a:rPr sz="2000" dirty="0">
                <a:latin typeface="Calibri"/>
                <a:cs typeface="Calibri"/>
              </a:rPr>
              <a:t>no </a:t>
            </a:r>
            <a:r>
              <a:rPr sz="2000" spc="-5" dirty="0">
                <a:latin typeface="Calibri"/>
                <a:cs typeface="Calibri"/>
              </a:rPr>
              <a:t>tienen capacidad </a:t>
            </a:r>
            <a:r>
              <a:rPr sz="2000" spc="-10" dirty="0">
                <a:latin typeface="Calibri"/>
                <a:cs typeface="Calibri"/>
              </a:rPr>
              <a:t>infinita </a:t>
            </a:r>
            <a:r>
              <a:rPr sz="2000" spc="-5" dirty="0">
                <a:latin typeface="Calibri"/>
                <a:cs typeface="Calibri"/>
              </a:rPr>
              <a:t>(viene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la  </a:t>
            </a:r>
            <a:r>
              <a:rPr sz="2000" spc="-35" dirty="0">
                <a:latin typeface="Calibri"/>
                <a:cs typeface="Calibri"/>
              </a:rPr>
              <a:t>Teoría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restricciones </a:t>
            </a:r>
            <a:r>
              <a:rPr sz="2000" dirty="0">
                <a:latin typeface="Calibri"/>
                <a:cs typeface="Calibri"/>
              </a:rPr>
              <a:t>de los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70´s)</a:t>
            </a:r>
            <a:endParaRPr sz="2000">
              <a:latin typeface="Calibri"/>
              <a:cs typeface="Calibri"/>
            </a:endParaRPr>
          </a:p>
          <a:p>
            <a:pPr marL="756285" marR="8255" lvl="1" indent="-287020" algn="just">
              <a:lnSpc>
                <a:spcPct val="80000"/>
              </a:lnSpc>
              <a:spcBef>
                <a:spcPts val="500"/>
              </a:spcBef>
              <a:buFont typeface="Arial"/>
              <a:buChar char="–"/>
              <a:tabLst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Se </a:t>
            </a:r>
            <a:r>
              <a:rPr sz="2000" spc="-5" dirty="0">
                <a:latin typeface="Calibri"/>
                <a:cs typeface="Calibri"/>
              </a:rPr>
              <a:t>basa se la experiencia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quienes se  han </a:t>
            </a:r>
            <a:r>
              <a:rPr sz="2000" spc="-10" dirty="0">
                <a:latin typeface="Calibri"/>
                <a:cs typeface="Calibri"/>
              </a:rPr>
              <a:t>enfrentado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recursos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limitados.</a:t>
            </a:r>
            <a:endParaRPr sz="2000">
              <a:latin typeface="Calibri"/>
              <a:cs typeface="Calibri"/>
            </a:endParaRPr>
          </a:p>
          <a:p>
            <a:pPr marL="355600" indent="-343535" algn="just">
              <a:lnSpc>
                <a:spcPts val="2370"/>
              </a:lnSpc>
              <a:buFont typeface="Arial"/>
              <a:buChar char="•"/>
              <a:tabLst>
                <a:tab pos="356235" algn="l"/>
              </a:tabLst>
            </a:pPr>
            <a:r>
              <a:rPr sz="2200" b="1" i="1" spc="-5" dirty="0">
                <a:latin typeface="Calibri"/>
                <a:cs typeface="Calibri"/>
              </a:rPr>
              <a:t>4. </a:t>
            </a:r>
            <a:r>
              <a:rPr sz="2200" b="1" i="1" spc="-30" dirty="0">
                <a:latin typeface="Calibri"/>
                <a:cs typeface="Calibri"/>
              </a:rPr>
              <a:t>Técnicas </a:t>
            </a:r>
            <a:r>
              <a:rPr sz="2200" b="1" i="1" spc="-5" dirty="0">
                <a:latin typeface="Calibri"/>
                <a:cs typeface="Calibri"/>
              </a:rPr>
              <a:t>de </a:t>
            </a:r>
            <a:r>
              <a:rPr sz="2200" b="1" i="1" spc="-10" dirty="0">
                <a:latin typeface="Calibri"/>
                <a:cs typeface="Calibri"/>
              </a:rPr>
              <a:t>Optimización</a:t>
            </a:r>
            <a:r>
              <a:rPr sz="2200" b="1" i="1" spc="235" dirty="0">
                <a:latin typeface="Calibri"/>
                <a:cs typeface="Calibri"/>
              </a:rPr>
              <a:t> </a:t>
            </a:r>
            <a:r>
              <a:rPr sz="2200" b="1" i="1" spc="-5" dirty="0">
                <a:latin typeface="Calibri"/>
                <a:cs typeface="Calibri"/>
              </a:rPr>
              <a:t>de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380"/>
              </a:lnSpc>
            </a:pPr>
            <a:r>
              <a:rPr sz="2200" b="1" i="1" spc="-15" dirty="0">
                <a:latin typeface="Calibri"/>
                <a:cs typeface="Calibri"/>
              </a:rPr>
              <a:t>Recursos</a:t>
            </a:r>
            <a:endParaRPr sz="2200">
              <a:latin typeface="Calibri"/>
              <a:cs typeface="Calibri"/>
            </a:endParaRPr>
          </a:p>
          <a:p>
            <a:pPr marL="756285" marR="6350" lvl="1" indent="-287020">
              <a:lnSpc>
                <a:spcPct val="80000"/>
              </a:lnSpc>
              <a:spcBef>
                <a:spcPts val="489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Cómo </a:t>
            </a:r>
            <a:r>
              <a:rPr sz="2000" spc="-10" dirty="0">
                <a:latin typeface="Calibri"/>
                <a:cs typeface="Calibri"/>
              </a:rPr>
              <a:t>nivelo </a:t>
            </a:r>
            <a:r>
              <a:rPr sz="2000" dirty="0">
                <a:latin typeface="Calibri"/>
                <a:cs typeface="Calibri"/>
              </a:rPr>
              <a:t>los </a:t>
            </a:r>
            <a:r>
              <a:rPr sz="2000" spc="-10" dirty="0">
                <a:latin typeface="Calibri"/>
                <a:cs typeface="Calibri"/>
              </a:rPr>
              <a:t>recursos </a:t>
            </a:r>
            <a:r>
              <a:rPr sz="2000" spc="-15" dirty="0">
                <a:latin typeface="Calibri"/>
                <a:cs typeface="Calibri"/>
              </a:rPr>
              <a:t>para </a:t>
            </a:r>
            <a:r>
              <a:rPr sz="2000" spc="-5" dirty="0">
                <a:latin typeface="Calibri"/>
                <a:cs typeface="Calibri"/>
              </a:rPr>
              <a:t>que sean  </a:t>
            </a:r>
            <a:r>
              <a:rPr sz="2000" spc="-10" dirty="0">
                <a:latin typeface="Calibri"/>
                <a:cs typeface="Calibri"/>
              </a:rPr>
              <a:t>sensatos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ts val="2395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Fácil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35" dirty="0">
                <a:latin typeface="Calibri"/>
                <a:cs typeface="Calibri"/>
              </a:rPr>
              <a:t>decir, </a:t>
            </a:r>
            <a:r>
              <a:rPr sz="2000" spc="-5" dirty="0">
                <a:latin typeface="Calibri"/>
                <a:cs typeface="Calibri"/>
              </a:rPr>
              <a:t>difícil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hacer.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ts val="2635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i="1" spc="-5" dirty="0">
                <a:latin typeface="Calibri"/>
                <a:cs typeface="Calibri"/>
              </a:rPr>
              <a:t>5. </a:t>
            </a:r>
            <a:r>
              <a:rPr sz="2200" b="1" i="1" spc="-30" dirty="0">
                <a:latin typeface="Calibri"/>
                <a:cs typeface="Calibri"/>
              </a:rPr>
              <a:t>Técnicas </a:t>
            </a:r>
            <a:r>
              <a:rPr sz="2200" b="1" i="1" spc="-5" dirty="0">
                <a:latin typeface="Calibri"/>
                <a:cs typeface="Calibri"/>
              </a:rPr>
              <a:t>de</a:t>
            </a:r>
            <a:r>
              <a:rPr sz="2200" b="1" i="1" spc="15" dirty="0">
                <a:latin typeface="Calibri"/>
                <a:cs typeface="Calibri"/>
              </a:rPr>
              <a:t> </a:t>
            </a:r>
            <a:r>
              <a:rPr sz="2200" b="1" i="1" spc="-5" dirty="0">
                <a:latin typeface="Calibri"/>
                <a:cs typeface="Calibri"/>
              </a:rPr>
              <a:t>Modelado</a:t>
            </a:r>
            <a:endParaRPr sz="2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Manejo de </a:t>
            </a:r>
            <a:r>
              <a:rPr sz="2000" spc="-5" dirty="0">
                <a:latin typeface="Calibri"/>
                <a:cs typeface="Calibri"/>
              </a:rPr>
              <a:t>múltiples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escenarios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86628" y="2919983"/>
            <a:ext cx="3171444" cy="10180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01511" y="1357883"/>
            <a:ext cx="2670047" cy="11323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04982" y="4357115"/>
            <a:ext cx="2858496" cy="22632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64130" marR="5080" indent="-245935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Desarrollar </a:t>
            </a:r>
            <a:r>
              <a:rPr spc="-5" dirty="0"/>
              <a:t>el </a:t>
            </a:r>
            <a:r>
              <a:rPr spc="-15" dirty="0"/>
              <a:t>Cronograma- </a:t>
            </a: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  </a:t>
            </a:r>
            <a:r>
              <a:rPr b="1" spc="-15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7313"/>
            <a:ext cx="8073390" cy="294132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1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b="1" i="1" spc="-5" dirty="0">
                <a:latin typeface="Calibri"/>
                <a:cs typeface="Calibri"/>
              </a:rPr>
              <a:t>6. Aplicación </a:t>
            </a:r>
            <a:r>
              <a:rPr sz="2400" b="1" i="1" dirty="0">
                <a:latin typeface="Calibri"/>
                <a:cs typeface="Calibri"/>
              </a:rPr>
              <a:t>de </a:t>
            </a:r>
            <a:r>
              <a:rPr sz="2400" b="1" i="1" spc="-10" dirty="0">
                <a:latin typeface="Calibri"/>
                <a:cs typeface="Calibri"/>
              </a:rPr>
              <a:t>Adelantos </a:t>
            </a:r>
            <a:r>
              <a:rPr sz="2400" b="1" i="1" dirty="0">
                <a:latin typeface="Calibri"/>
                <a:cs typeface="Calibri"/>
              </a:rPr>
              <a:t>y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Esperas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280"/>
              </a:lnSpc>
              <a:spcBef>
                <a:spcPts val="270"/>
              </a:spcBef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–	</a:t>
            </a:r>
            <a:r>
              <a:rPr sz="2000" spc="-10" dirty="0">
                <a:latin typeface="Calibri"/>
                <a:cs typeface="Calibri"/>
              </a:rPr>
              <a:t>Refinamientos</a:t>
            </a:r>
            <a:r>
              <a:rPr sz="2000" spc="2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aplican</a:t>
            </a:r>
            <a:r>
              <a:rPr sz="2000" spc="2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para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desarrollar</a:t>
            </a:r>
            <a:r>
              <a:rPr sz="2000" spc="2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cronograma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viable.</a:t>
            </a:r>
            <a:endParaRPr sz="2000">
              <a:latin typeface="Calibri"/>
              <a:cs typeface="Calibri"/>
            </a:endParaRPr>
          </a:p>
          <a:p>
            <a:pPr marL="756285">
              <a:lnSpc>
                <a:spcPts val="2280"/>
              </a:lnSpc>
            </a:pPr>
            <a:r>
              <a:rPr sz="2000" spc="-65" dirty="0">
                <a:latin typeface="Calibri"/>
                <a:cs typeface="Calibri"/>
              </a:rPr>
              <a:t>P.E. </a:t>
            </a:r>
            <a:r>
              <a:rPr sz="2000" spc="-10" dirty="0">
                <a:latin typeface="Calibri"/>
                <a:cs typeface="Calibri"/>
              </a:rPr>
              <a:t>Compra </a:t>
            </a:r>
            <a:r>
              <a:rPr sz="2000" dirty="0">
                <a:latin typeface="Calibri"/>
                <a:cs typeface="Calibri"/>
              </a:rPr>
              <a:t>anticipada de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servidor.</a:t>
            </a:r>
            <a:endParaRPr sz="2000">
              <a:latin typeface="Calibri"/>
              <a:cs typeface="Calibri"/>
            </a:endParaRPr>
          </a:p>
          <a:p>
            <a:pPr marL="355600" indent="-343535" algn="just">
              <a:lnSpc>
                <a:spcPct val="100000"/>
              </a:lnSpc>
              <a:spcBef>
                <a:spcPts val="259"/>
              </a:spcBef>
              <a:buFont typeface="Arial"/>
              <a:buChar char="•"/>
              <a:tabLst>
                <a:tab pos="356235" algn="l"/>
              </a:tabLst>
            </a:pPr>
            <a:r>
              <a:rPr sz="2400" b="1" i="1" spc="-5" dirty="0">
                <a:latin typeface="Calibri"/>
                <a:cs typeface="Calibri"/>
              </a:rPr>
              <a:t>7. Compresión </a:t>
            </a:r>
            <a:r>
              <a:rPr sz="2400" b="1" i="1" dirty="0">
                <a:latin typeface="Calibri"/>
                <a:cs typeface="Calibri"/>
              </a:rPr>
              <a:t>del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Cronograma</a:t>
            </a:r>
            <a:endParaRPr sz="2400"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270"/>
              </a:spcBef>
              <a:buFont typeface="Arial"/>
              <a:buChar char="–"/>
              <a:tabLst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No </a:t>
            </a:r>
            <a:r>
              <a:rPr sz="2000" spc="-5" dirty="0">
                <a:latin typeface="Calibri"/>
                <a:cs typeface="Calibri"/>
              </a:rPr>
              <a:t>se </a:t>
            </a:r>
            <a:r>
              <a:rPr sz="2000" dirty="0">
                <a:latin typeface="Calibri"/>
                <a:cs typeface="Calibri"/>
              </a:rPr>
              <a:t>puede modificar </a:t>
            </a:r>
            <a:r>
              <a:rPr sz="2000" spc="-5" dirty="0">
                <a:latin typeface="Calibri"/>
                <a:cs typeface="Calibri"/>
              </a:rPr>
              <a:t>el </a:t>
            </a:r>
            <a:r>
              <a:rPr sz="2000" dirty="0">
                <a:latin typeface="Calibri"/>
                <a:cs typeface="Calibri"/>
              </a:rPr>
              <a:t>alcance </a:t>
            </a:r>
            <a:r>
              <a:rPr sz="2000" spc="-5" dirty="0">
                <a:latin typeface="Calibri"/>
                <a:cs typeface="Calibri"/>
              </a:rPr>
              <a:t>del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proyecto</a:t>
            </a:r>
            <a:endParaRPr sz="200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ct val="90000"/>
              </a:lnSpc>
              <a:spcBef>
                <a:spcPts val="480"/>
              </a:spcBef>
              <a:buFont typeface="Arial"/>
              <a:buChar char="–"/>
              <a:tabLst>
                <a:tab pos="756920" algn="l"/>
              </a:tabLst>
            </a:pPr>
            <a:r>
              <a:rPr sz="2000" spc="-25" dirty="0">
                <a:latin typeface="Calibri"/>
                <a:cs typeface="Calibri"/>
              </a:rPr>
              <a:t>Técnicas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Crashing (Compresión) EJ. </a:t>
            </a:r>
            <a:r>
              <a:rPr sz="2000" spc="-15" dirty="0">
                <a:latin typeface="Calibri"/>
                <a:cs typeface="Calibri"/>
              </a:rPr>
              <a:t>horas extras </a:t>
            </a:r>
            <a:r>
              <a:rPr sz="2000" dirty="0">
                <a:latin typeface="Calibri"/>
                <a:cs typeface="Calibri"/>
              </a:rPr>
              <a:t>o </a:t>
            </a:r>
            <a:r>
              <a:rPr sz="2000" spc="-5" dirty="0">
                <a:latin typeface="Calibri"/>
                <a:cs typeface="Calibri"/>
              </a:rPr>
              <a:t>bomba </a:t>
            </a:r>
            <a:r>
              <a:rPr sz="2000" spc="-10" dirty="0">
                <a:latin typeface="Calibri"/>
                <a:cs typeface="Calibri"/>
              </a:rPr>
              <a:t>de  </a:t>
            </a:r>
            <a:r>
              <a:rPr sz="2000" spc="-15" dirty="0">
                <a:latin typeface="Calibri"/>
                <a:cs typeface="Calibri"/>
              </a:rPr>
              <a:t>concreto </a:t>
            </a:r>
            <a:r>
              <a:rPr sz="2000" dirty="0">
                <a:latin typeface="Calibri"/>
                <a:cs typeface="Calibri"/>
              </a:rPr>
              <a:t>y </a:t>
            </a:r>
            <a:r>
              <a:rPr sz="2000" spc="-20" dirty="0">
                <a:latin typeface="Calibri"/>
                <a:cs typeface="Calibri"/>
              </a:rPr>
              <a:t>Fast Tracking </a:t>
            </a:r>
            <a:r>
              <a:rPr sz="2000" dirty="0">
                <a:latin typeface="Calibri"/>
                <a:cs typeface="Calibri"/>
              </a:rPr>
              <a:t>(ejecución </a:t>
            </a:r>
            <a:r>
              <a:rPr sz="2000" spc="-5" dirty="0">
                <a:latin typeface="Calibri"/>
                <a:cs typeface="Calibri"/>
              </a:rPr>
              <a:t>rápida </a:t>
            </a:r>
            <a:r>
              <a:rPr sz="2000" dirty="0">
                <a:latin typeface="Calibri"/>
                <a:cs typeface="Calibri"/>
              </a:rPr>
              <a:t>o </a:t>
            </a:r>
            <a:r>
              <a:rPr sz="2000" spc="-10" dirty="0">
                <a:latin typeface="Calibri"/>
                <a:cs typeface="Calibri"/>
              </a:rPr>
              <a:t>paralelizar) EJ.  </a:t>
            </a:r>
            <a:r>
              <a:rPr sz="2000" spc="-5" dirty="0">
                <a:latin typeface="Calibri"/>
                <a:cs typeface="Calibri"/>
              </a:rPr>
              <a:t>superposición </a:t>
            </a:r>
            <a:r>
              <a:rPr sz="2000" dirty="0">
                <a:latin typeface="Calibri"/>
                <a:cs typeface="Calibri"/>
              </a:rPr>
              <a:t>de actividades o </a:t>
            </a:r>
            <a:r>
              <a:rPr sz="2000" spc="-10" dirty="0">
                <a:latin typeface="Calibri"/>
                <a:cs typeface="Calibri"/>
              </a:rPr>
              <a:t>pintar </a:t>
            </a:r>
            <a:r>
              <a:rPr sz="2000" spc="-5" dirty="0">
                <a:latin typeface="Calibri"/>
                <a:cs typeface="Calibri"/>
              </a:rPr>
              <a:t>al tiempo </a:t>
            </a:r>
            <a:r>
              <a:rPr sz="2000" dirty="0">
                <a:latin typeface="Calibri"/>
                <a:cs typeface="Calibri"/>
              </a:rPr>
              <a:t>que se </a:t>
            </a:r>
            <a:r>
              <a:rPr sz="2000" spc="-5" dirty="0">
                <a:latin typeface="Calibri"/>
                <a:cs typeface="Calibri"/>
              </a:rPr>
              <a:t>instalan </a:t>
            </a:r>
            <a:r>
              <a:rPr sz="2000" dirty="0">
                <a:latin typeface="Calibri"/>
                <a:cs typeface="Calibri"/>
              </a:rPr>
              <a:t>las  </a:t>
            </a:r>
            <a:r>
              <a:rPr sz="2000" spc="-10" dirty="0">
                <a:latin typeface="Calibri"/>
                <a:cs typeface="Calibri"/>
              </a:rPr>
              <a:t>alfombras.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42616" y="4287011"/>
            <a:ext cx="4000500" cy="2353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64130" marR="5080" indent="-245935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Desarrollar </a:t>
            </a:r>
            <a:r>
              <a:rPr spc="-5" dirty="0"/>
              <a:t>el </a:t>
            </a:r>
            <a:r>
              <a:rPr spc="-15" dirty="0"/>
              <a:t>Cronograma- </a:t>
            </a:r>
            <a:r>
              <a:rPr b="1" spc="-55" dirty="0">
                <a:latin typeface="Calibri"/>
                <a:cs typeface="Calibri"/>
              </a:rPr>
              <a:t>Técnicas </a:t>
            </a:r>
            <a:r>
              <a:rPr b="1" spc="-5" dirty="0">
                <a:latin typeface="Calibri"/>
                <a:cs typeface="Calibri"/>
              </a:rPr>
              <a:t>y  </a:t>
            </a:r>
            <a:r>
              <a:rPr b="1" spc="-15" dirty="0">
                <a:latin typeface="Calibri"/>
                <a:cs typeface="Calibri"/>
              </a:rPr>
              <a:t>Herramientas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7386"/>
            <a:ext cx="8074025" cy="15081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b="1" i="1" spc="-5" dirty="0">
                <a:latin typeface="Calibri"/>
                <a:cs typeface="Calibri"/>
              </a:rPr>
              <a:t>8. </a:t>
            </a:r>
            <a:r>
              <a:rPr sz="2400" b="1" i="1" spc="-10" dirty="0">
                <a:latin typeface="Calibri"/>
                <a:cs typeface="Calibri"/>
              </a:rPr>
              <a:t>Herramientas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Planificación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09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Software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gestión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proyectos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Se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trabaja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conjuntamente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el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Sistema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Autorización</a:t>
            </a:r>
            <a:r>
              <a:rPr sz="2000" spc="2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del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Trabajo</a:t>
            </a:r>
            <a:endParaRPr sz="20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</a:pPr>
            <a:r>
              <a:rPr sz="2000" spc="-20" dirty="0">
                <a:latin typeface="Calibri"/>
                <a:cs typeface="Calibri"/>
              </a:rPr>
              <a:t>(Work </a:t>
            </a:r>
            <a:r>
              <a:rPr sz="2000" spc="-5" dirty="0">
                <a:latin typeface="Calibri"/>
                <a:cs typeface="Calibri"/>
              </a:rPr>
              <a:t>Authorization </a:t>
            </a:r>
            <a:r>
              <a:rPr sz="2000" spc="-15" dirty="0">
                <a:latin typeface="Calibri"/>
                <a:cs typeface="Calibri"/>
              </a:rPr>
              <a:t>System)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86884" y="2877311"/>
            <a:ext cx="138988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14743" y="2886455"/>
            <a:ext cx="1534668" cy="5425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57958" y="3807302"/>
            <a:ext cx="1695624" cy="3034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0369" y="461899"/>
            <a:ext cx="790638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Desarrollar </a:t>
            </a:r>
            <a:r>
              <a:rPr sz="4400" dirty="0"/>
              <a:t>el </a:t>
            </a:r>
            <a:r>
              <a:rPr sz="4400" spc="-15" dirty="0"/>
              <a:t>Cronograma-</a:t>
            </a:r>
            <a:r>
              <a:rPr sz="4400" spc="25" dirty="0"/>
              <a:t> </a:t>
            </a:r>
            <a:r>
              <a:rPr sz="4400" b="1" spc="-5" dirty="0">
                <a:latin typeface="Calibri"/>
                <a:cs typeface="Calibri"/>
              </a:rPr>
              <a:t>Salidas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69161"/>
            <a:ext cx="4960620" cy="441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i="1" spc="-5" dirty="0">
                <a:latin typeface="Calibri"/>
                <a:cs typeface="Calibri"/>
              </a:rPr>
              <a:t>1. Cronograma </a:t>
            </a:r>
            <a:r>
              <a:rPr sz="1800" b="1" i="1" dirty="0">
                <a:latin typeface="Calibri"/>
                <a:cs typeface="Calibri"/>
              </a:rPr>
              <a:t>del</a:t>
            </a:r>
            <a:r>
              <a:rPr sz="1800" b="1" i="1" spc="1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Proyecto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Diagramas </a:t>
            </a:r>
            <a:r>
              <a:rPr sz="1500" dirty="0">
                <a:latin typeface="Calibri"/>
                <a:cs typeface="Calibri"/>
              </a:rPr>
              <a:t>de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Hitos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Diagramas </a:t>
            </a:r>
            <a:r>
              <a:rPr sz="1500" dirty="0">
                <a:latin typeface="Calibri"/>
                <a:cs typeface="Calibri"/>
              </a:rPr>
              <a:t>de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Barras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ts val="1795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Diagramas </a:t>
            </a:r>
            <a:r>
              <a:rPr sz="1500" dirty="0">
                <a:latin typeface="Calibri"/>
                <a:cs typeface="Calibri"/>
              </a:rPr>
              <a:t>de </a:t>
            </a:r>
            <a:r>
              <a:rPr sz="1500" spc="-10" dirty="0">
                <a:latin typeface="Calibri"/>
                <a:cs typeface="Calibri"/>
              </a:rPr>
              <a:t>Red </a:t>
            </a:r>
            <a:r>
              <a:rPr sz="1500" dirty="0">
                <a:latin typeface="Calibri"/>
                <a:cs typeface="Calibri"/>
              </a:rPr>
              <a:t>del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Cronograma</a:t>
            </a:r>
            <a:endParaRPr sz="1500">
              <a:latin typeface="Calibri"/>
              <a:cs typeface="Calibri"/>
            </a:endParaRPr>
          </a:p>
          <a:p>
            <a:pPr marL="355600" indent="-343535">
              <a:lnSpc>
                <a:spcPts val="2155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i="1" spc="-5" dirty="0">
                <a:latin typeface="Calibri"/>
                <a:cs typeface="Calibri"/>
              </a:rPr>
              <a:t>2. Línea Base </a:t>
            </a:r>
            <a:r>
              <a:rPr sz="1800" b="1" i="1" dirty="0">
                <a:latin typeface="Calibri"/>
                <a:cs typeface="Calibri"/>
              </a:rPr>
              <a:t>del</a:t>
            </a:r>
            <a:r>
              <a:rPr sz="1800" b="1" i="1" spc="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Cronograma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ts val="1795"/>
              </a:lnSpc>
              <a:spcBef>
                <a:spcPts val="1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Es el </a:t>
            </a:r>
            <a:r>
              <a:rPr sz="1500" dirty="0">
                <a:latin typeface="Calibri"/>
                <a:cs typeface="Calibri"/>
              </a:rPr>
              <a:t>mismo </a:t>
            </a:r>
            <a:r>
              <a:rPr sz="1500" spc="-10" dirty="0">
                <a:latin typeface="Calibri"/>
                <a:cs typeface="Calibri"/>
              </a:rPr>
              <a:t>Cronograma </a:t>
            </a:r>
            <a:r>
              <a:rPr sz="1500" spc="-5" dirty="0">
                <a:latin typeface="Calibri"/>
                <a:cs typeface="Calibri"/>
              </a:rPr>
              <a:t>del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Proyecto</a:t>
            </a:r>
            <a:endParaRPr sz="1500">
              <a:latin typeface="Calibri"/>
              <a:cs typeface="Calibri"/>
            </a:endParaRPr>
          </a:p>
          <a:p>
            <a:pPr marL="355600" indent="-343535">
              <a:lnSpc>
                <a:spcPts val="2155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i="1" spc="-5" dirty="0">
                <a:latin typeface="Calibri"/>
                <a:cs typeface="Calibri"/>
              </a:rPr>
              <a:t>3. </a:t>
            </a:r>
            <a:r>
              <a:rPr sz="1800" b="1" i="1" spc="-10" dirty="0">
                <a:latin typeface="Calibri"/>
                <a:cs typeface="Calibri"/>
              </a:rPr>
              <a:t>Datos </a:t>
            </a:r>
            <a:r>
              <a:rPr sz="1800" b="1" i="1" dirty="0">
                <a:latin typeface="Calibri"/>
                <a:cs typeface="Calibri"/>
              </a:rPr>
              <a:t>del</a:t>
            </a:r>
            <a:r>
              <a:rPr sz="1800" b="1" i="1" spc="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Cronograma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Hitos </a:t>
            </a:r>
            <a:r>
              <a:rPr sz="1500" dirty="0">
                <a:latin typeface="Calibri"/>
                <a:cs typeface="Calibri"/>
              </a:rPr>
              <a:t>del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Cronograma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Actividades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10" dirty="0">
                <a:latin typeface="Calibri"/>
                <a:cs typeface="Calibri"/>
              </a:rPr>
              <a:t>Atributos </a:t>
            </a:r>
            <a:r>
              <a:rPr sz="1500" dirty="0">
                <a:latin typeface="Calibri"/>
                <a:cs typeface="Calibri"/>
              </a:rPr>
              <a:t>de las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Actividades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ts val="1795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Documentación </a:t>
            </a:r>
            <a:r>
              <a:rPr sz="1500" dirty="0">
                <a:latin typeface="Calibri"/>
                <a:cs typeface="Calibri"/>
              </a:rPr>
              <a:t>de </a:t>
            </a:r>
            <a:r>
              <a:rPr sz="1500" spc="-5" dirty="0">
                <a:latin typeface="Calibri"/>
                <a:cs typeface="Calibri"/>
              </a:rPr>
              <a:t>suposiciones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restricciones</a:t>
            </a:r>
            <a:endParaRPr sz="1500">
              <a:latin typeface="Calibri"/>
              <a:cs typeface="Calibri"/>
            </a:endParaRPr>
          </a:p>
          <a:p>
            <a:pPr marL="355600" indent="-343535">
              <a:lnSpc>
                <a:spcPts val="2155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i="1" spc="-5" dirty="0">
                <a:latin typeface="Calibri"/>
                <a:cs typeface="Calibri"/>
              </a:rPr>
              <a:t>4. </a:t>
            </a:r>
            <a:r>
              <a:rPr sz="1800" b="1" i="1" dirty="0">
                <a:latin typeface="Calibri"/>
                <a:cs typeface="Calibri"/>
              </a:rPr>
              <a:t>Calendarios del </a:t>
            </a:r>
            <a:r>
              <a:rPr sz="1800" b="1" i="1" spc="-5" dirty="0">
                <a:latin typeface="Calibri"/>
                <a:cs typeface="Calibri"/>
              </a:rPr>
              <a:t>Proyecto</a:t>
            </a:r>
            <a:endParaRPr sz="18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i="1" spc="-5" dirty="0">
                <a:latin typeface="Calibri"/>
                <a:cs typeface="Calibri"/>
              </a:rPr>
              <a:t>5. Actualización </a:t>
            </a:r>
            <a:r>
              <a:rPr sz="1800" b="1" i="1" dirty="0">
                <a:latin typeface="Calibri"/>
                <a:cs typeface="Calibri"/>
              </a:rPr>
              <a:t>del </a:t>
            </a:r>
            <a:r>
              <a:rPr sz="1800" b="1" i="1" spc="-5" dirty="0">
                <a:latin typeface="Calibri"/>
                <a:cs typeface="Calibri"/>
              </a:rPr>
              <a:t>Plan de Gestión </a:t>
            </a:r>
            <a:r>
              <a:rPr sz="1800" b="1" i="1" dirty="0">
                <a:latin typeface="Calibri"/>
                <a:cs typeface="Calibri"/>
              </a:rPr>
              <a:t>del</a:t>
            </a:r>
            <a:r>
              <a:rPr sz="1800" b="1" i="1" spc="1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Proyecto</a:t>
            </a:r>
            <a:endParaRPr sz="18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i="1" spc="-5" dirty="0">
                <a:latin typeface="Calibri"/>
                <a:cs typeface="Calibri"/>
              </a:rPr>
              <a:t>6. Actualización </a:t>
            </a:r>
            <a:r>
              <a:rPr sz="1800" b="1" i="1" dirty="0">
                <a:latin typeface="Calibri"/>
                <a:cs typeface="Calibri"/>
              </a:rPr>
              <a:t>a los </a:t>
            </a:r>
            <a:r>
              <a:rPr sz="1800" b="1" i="1" spc="-10" dirty="0">
                <a:latin typeface="Calibri"/>
                <a:cs typeface="Calibri"/>
              </a:rPr>
              <a:t>Documentos </a:t>
            </a:r>
            <a:r>
              <a:rPr sz="1800" b="1" i="1" dirty="0">
                <a:latin typeface="Calibri"/>
                <a:cs typeface="Calibri"/>
              </a:rPr>
              <a:t>del</a:t>
            </a:r>
            <a:r>
              <a:rPr sz="1800" b="1" i="1" spc="3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Proyecto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Requisitos </a:t>
            </a:r>
            <a:r>
              <a:rPr sz="1500" dirty="0">
                <a:latin typeface="Calibri"/>
                <a:cs typeface="Calibri"/>
              </a:rPr>
              <a:t>de </a:t>
            </a:r>
            <a:r>
              <a:rPr sz="1500" spc="-10" dirty="0">
                <a:latin typeface="Calibri"/>
                <a:cs typeface="Calibri"/>
              </a:rPr>
              <a:t>Recursos </a:t>
            </a:r>
            <a:r>
              <a:rPr sz="1500" dirty="0">
                <a:latin typeface="Calibri"/>
                <a:cs typeface="Calibri"/>
              </a:rPr>
              <a:t>de las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Actividades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10" dirty="0">
                <a:latin typeface="Calibri"/>
                <a:cs typeface="Calibri"/>
              </a:rPr>
              <a:t>Atributos </a:t>
            </a:r>
            <a:r>
              <a:rPr sz="1500" dirty="0">
                <a:latin typeface="Calibri"/>
                <a:cs typeface="Calibri"/>
              </a:rPr>
              <a:t>de las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Actividades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dirty="0">
                <a:latin typeface="Calibri"/>
                <a:cs typeface="Calibri"/>
              </a:rPr>
              <a:t>Calendario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10" dirty="0">
                <a:latin typeface="Calibri"/>
                <a:cs typeface="Calibri"/>
              </a:rPr>
              <a:t>Registro </a:t>
            </a:r>
            <a:r>
              <a:rPr sz="1500" dirty="0">
                <a:latin typeface="Calibri"/>
                <a:cs typeface="Calibri"/>
              </a:rPr>
              <a:t>de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Riesgos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15128" y="1691639"/>
            <a:ext cx="3698748" cy="25237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0369" y="461899"/>
            <a:ext cx="790638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Desarrollar </a:t>
            </a:r>
            <a:r>
              <a:rPr sz="4400" dirty="0"/>
              <a:t>el </a:t>
            </a:r>
            <a:r>
              <a:rPr sz="4400" spc="-15" dirty="0"/>
              <a:t>Cronograma-</a:t>
            </a:r>
            <a:r>
              <a:rPr sz="4400" spc="25" dirty="0"/>
              <a:t> </a:t>
            </a:r>
            <a:r>
              <a:rPr sz="4400" b="1" spc="-5" dirty="0">
                <a:latin typeface="Calibri"/>
                <a:cs typeface="Calibri"/>
              </a:rPr>
              <a:t>Salidas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2387" y="1525400"/>
            <a:ext cx="8195238" cy="23120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244" y="4215384"/>
            <a:ext cx="8181507" cy="2371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0369" y="461899"/>
            <a:ext cx="790638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Desarrollar </a:t>
            </a:r>
            <a:r>
              <a:rPr sz="4400" dirty="0"/>
              <a:t>el </a:t>
            </a:r>
            <a:r>
              <a:rPr sz="4400" spc="-15" dirty="0"/>
              <a:t>Cronograma-</a:t>
            </a:r>
            <a:r>
              <a:rPr sz="4400" spc="25" dirty="0"/>
              <a:t> </a:t>
            </a:r>
            <a:r>
              <a:rPr sz="4400" b="1" spc="-5" dirty="0">
                <a:latin typeface="Calibri"/>
                <a:cs typeface="Calibri"/>
              </a:rPr>
              <a:t>Salidas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77923" y="1600200"/>
            <a:ext cx="5782084" cy="45141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3025" y="461899"/>
            <a:ext cx="64547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Método </a:t>
            </a:r>
            <a:r>
              <a:rPr sz="4400" spc="-5" dirty="0"/>
              <a:t>de </a:t>
            </a:r>
            <a:r>
              <a:rPr sz="4400" dirty="0"/>
              <a:t>la Cadena</a:t>
            </a:r>
            <a:r>
              <a:rPr sz="4400" spc="-30" dirty="0"/>
              <a:t> </a:t>
            </a:r>
            <a:r>
              <a:rPr sz="4400" spc="-10" dirty="0"/>
              <a:t>Crítica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14042"/>
            <a:ext cx="8317865" cy="229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350" indent="-34353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6235" algn="l"/>
              </a:tabLst>
            </a:pPr>
            <a:r>
              <a:rPr sz="2400" dirty="0">
                <a:latin typeface="Calibri"/>
                <a:cs typeface="Calibri"/>
              </a:rPr>
              <a:t>Es el </a:t>
            </a:r>
            <a:r>
              <a:rPr sz="2400" spc="-10" dirty="0">
                <a:latin typeface="Calibri"/>
                <a:cs typeface="Calibri"/>
              </a:rPr>
              <a:t>método </a:t>
            </a:r>
            <a:r>
              <a:rPr sz="2400" spc="-5" dirty="0">
                <a:latin typeface="Calibri"/>
                <a:cs typeface="Calibri"/>
              </a:rPr>
              <a:t>de planificación donde no se </a:t>
            </a:r>
            <a:r>
              <a:rPr sz="2400" spc="-10" dirty="0">
                <a:latin typeface="Calibri"/>
                <a:cs typeface="Calibri"/>
              </a:rPr>
              <a:t>toma </a:t>
            </a:r>
            <a:r>
              <a:rPr sz="2400" dirty="0">
                <a:latin typeface="Calibri"/>
                <a:cs typeface="Calibri"/>
              </a:rPr>
              <a:t>en </a:t>
            </a:r>
            <a:r>
              <a:rPr sz="2400" spc="-10" dirty="0">
                <a:latin typeface="Calibri"/>
                <a:cs typeface="Calibri"/>
              </a:rPr>
              <a:t>cuenta </a:t>
            </a:r>
            <a:r>
              <a:rPr sz="2400" spc="-15" dirty="0">
                <a:latin typeface="Calibri"/>
                <a:cs typeface="Calibri"/>
              </a:rPr>
              <a:t>la  </a:t>
            </a:r>
            <a:r>
              <a:rPr sz="2400" spc="-5" dirty="0">
                <a:latin typeface="Calibri"/>
                <a:cs typeface="Calibri"/>
              </a:rPr>
              <a:t>capacidad de </a:t>
            </a:r>
            <a:r>
              <a:rPr sz="2400" dirty="0">
                <a:latin typeface="Calibri"/>
                <a:cs typeface="Calibri"/>
              </a:rPr>
              <a:t>los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recursos.</a:t>
            </a:r>
            <a:endParaRPr sz="240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Después de </a:t>
            </a:r>
            <a:r>
              <a:rPr sz="2400" dirty="0">
                <a:latin typeface="Calibri"/>
                <a:cs typeface="Calibri"/>
              </a:rPr>
              <a:t>que la </a:t>
            </a:r>
            <a:r>
              <a:rPr sz="2400" spc="-10" dirty="0">
                <a:latin typeface="Calibri"/>
                <a:cs typeface="Calibri"/>
              </a:rPr>
              <a:t>Ruta Crítica se </a:t>
            </a:r>
            <a:r>
              <a:rPr sz="2400" spc="-5" dirty="0">
                <a:latin typeface="Calibri"/>
                <a:cs typeface="Calibri"/>
              </a:rPr>
              <a:t>calcula, se </a:t>
            </a:r>
            <a:r>
              <a:rPr sz="2400" spc="-10" dirty="0">
                <a:latin typeface="Calibri"/>
                <a:cs typeface="Calibri"/>
              </a:rPr>
              <a:t>introduce </a:t>
            </a:r>
            <a:r>
              <a:rPr sz="2400" dirty="0">
                <a:latin typeface="Calibri"/>
                <a:cs typeface="Calibri"/>
              </a:rPr>
              <a:t>la  </a:t>
            </a:r>
            <a:r>
              <a:rPr sz="2400" spc="-5" dirty="0">
                <a:latin typeface="Calibri"/>
                <a:cs typeface="Calibri"/>
              </a:rPr>
              <a:t>disponibilidad de </a:t>
            </a:r>
            <a:r>
              <a:rPr sz="2400" spc="-15" dirty="0">
                <a:latin typeface="Calibri"/>
                <a:cs typeface="Calibri"/>
              </a:rPr>
              <a:t>recursos </a:t>
            </a:r>
            <a:r>
              <a:rPr sz="2400" dirty="0">
                <a:latin typeface="Calibri"/>
                <a:cs typeface="Calibri"/>
              </a:rPr>
              <a:t>y </a:t>
            </a:r>
            <a:r>
              <a:rPr sz="2400" spc="-5" dirty="0">
                <a:latin typeface="Calibri"/>
                <a:cs typeface="Calibri"/>
              </a:rPr>
              <a:t>se determina </a:t>
            </a:r>
            <a:r>
              <a:rPr sz="2400" dirty="0">
                <a:latin typeface="Calibri"/>
                <a:cs typeface="Calibri"/>
              </a:rPr>
              <a:t>el </a:t>
            </a:r>
            <a:r>
              <a:rPr sz="2400" spc="-15" dirty="0">
                <a:latin typeface="Calibri"/>
                <a:cs typeface="Calibri"/>
              </a:rPr>
              <a:t>cronograma </a:t>
            </a:r>
            <a:r>
              <a:rPr sz="2400" spc="-5" dirty="0">
                <a:latin typeface="Calibri"/>
                <a:cs typeface="Calibri"/>
              </a:rPr>
              <a:t>de  </a:t>
            </a:r>
            <a:r>
              <a:rPr sz="2400" spc="-15" dirty="0">
                <a:latin typeface="Calibri"/>
                <a:cs typeface="Calibri"/>
              </a:rPr>
              <a:t>recursos </a:t>
            </a:r>
            <a:r>
              <a:rPr sz="2400" spc="-5" dirty="0">
                <a:latin typeface="Calibri"/>
                <a:cs typeface="Calibri"/>
              </a:rPr>
              <a:t>limitados, </a:t>
            </a:r>
            <a:r>
              <a:rPr sz="2400" dirty="0">
                <a:latin typeface="Calibri"/>
                <a:cs typeface="Calibri"/>
              </a:rPr>
              <a:t>a menudo </a:t>
            </a:r>
            <a:r>
              <a:rPr sz="2400" spc="-5" dirty="0">
                <a:latin typeface="Calibri"/>
                <a:cs typeface="Calibri"/>
              </a:rPr>
              <a:t>desencadenando </a:t>
            </a:r>
            <a:r>
              <a:rPr sz="2400" dirty="0">
                <a:latin typeface="Calibri"/>
                <a:cs typeface="Calibri"/>
              </a:rPr>
              <a:t>en </a:t>
            </a:r>
            <a:r>
              <a:rPr sz="2400" spc="-5" dirty="0">
                <a:latin typeface="Calibri"/>
                <a:cs typeface="Calibri"/>
              </a:rPr>
              <a:t>una </a:t>
            </a:r>
            <a:r>
              <a:rPr sz="2400" spc="-10" dirty="0">
                <a:latin typeface="Calibri"/>
                <a:cs typeface="Calibri"/>
              </a:rPr>
              <a:t>ruta  </a:t>
            </a:r>
            <a:r>
              <a:rPr sz="2400" spc="-5" dirty="0">
                <a:latin typeface="Calibri"/>
                <a:cs typeface="Calibri"/>
              </a:rPr>
              <a:t>crítica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modificada.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1372" y="4067555"/>
            <a:ext cx="7357872" cy="2362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0714" y="461899"/>
            <a:ext cx="72624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La cadena </a:t>
            </a:r>
            <a:r>
              <a:rPr sz="4400" spc="-10" dirty="0"/>
              <a:t>crítica </a:t>
            </a:r>
            <a:r>
              <a:rPr sz="4400" dirty="0"/>
              <a:t>y la </a:t>
            </a:r>
            <a:r>
              <a:rPr sz="4400" spc="-10" dirty="0"/>
              <a:t>ruta</a:t>
            </a:r>
            <a:r>
              <a:rPr sz="4400" spc="15" dirty="0"/>
              <a:t> </a:t>
            </a:r>
            <a:r>
              <a:rPr sz="4400" spc="-10" dirty="0"/>
              <a:t>crítica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143000" y="1427988"/>
            <a:ext cx="6326124" cy="436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0685" y="461899"/>
            <a:ext cx="58007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Método </a:t>
            </a:r>
            <a:r>
              <a:rPr sz="4400" spc="-5" dirty="0"/>
              <a:t>de </a:t>
            </a:r>
            <a:r>
              <a:rPr sz="4400" dirty="0"/>
              <a:t>la </a:t>
            </a:r>
            <a:r>
              <a:rPr sz="4400" spc="-10" dirty="0"/>
              <a:t>Ruta</a:t>
            </a:r>
            <a:r>
              <a:rPr sz="4400" spc="-45" dirty="0"/>
              <a:t> </a:t>
            </a:r>
            <a:r>
              <a:rPr sz="4400" spc="-10" dirty="0"/>
              <a:t>Crítica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18615"/>
            <a:ext cx="4959985" cy="4241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985" indent="-34353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6235" algn="l"/>
              </a:tabLst>
            </a:pPr>
            <a:r>
              <a:rPr sz="1800" b="1" i="1" spc="-35" dirty="0">
                <a:latin typeface="Calibri"/>
                <a:cs typeface="Calibri"/>
              </a:rPr>
              <a:t>Total </a:t>
            </a:r>
            <a:r>
              <a:rPr sz="1800" b="1" i="1" dirty="0">
                <a:latin typeface="Calibri"/>
                <a:cs typeface="Calibri"/>
              </a:rPr>
              <a:t>Float </a:t>
            </a:r>
            <a:r>
              <a:rPr sz="1800" b="1" i="1" spc="-5" dirty="0">
                <a:latin typeface="Calibri"/>
                <a:cs typeface="Calibri"/>
              </a:rPr>
              <a:t>(Holgura): </a:t>
            </a:r>
            <a:r>
              <a:rPr sz="1800" spc="-5" dirty="0">
                <a:latin typeface="Calibri"/>
                <a:cs typeface="Calibri"/>
              </a:rPr>
              <a:t>Cantidad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tiempo </a:t>
            </a:r>
            <a:r>
              <a:rPr sz="1800" dirty="0">
                <a:latin typeface="Calibri"/>
                <a:cs typeface="Calibri"/>
              </a:rPr>
              <a:t>que se  puede </a:t>
            </a:r>
            <a:r>
              <a:rPr sz="1800" spc="-15" dirty="0">
                <a:latin typeface="Calibri"/>
                <a:cs typeface="Calibri"/>
              </a:rPr>
              <a:t>retrasar </a:t>
            </a:r>
            <a:r>
              <a:rPr sz="1800" dirty="0">
                <a:latin typeface="Calibri"/>
                <a:cs typeface="Calibri"/>
              </a:rPr>
              <a:t>una </a:t>
            </a:r>
            <a:r>
              <a:rPr sz="1800" spc="-5" dirty="0">
                <a:latin typeface="Calibri"/>
                <a:cs typeface="Calibri"/>
              </a:rPr>
              <a:t>actividad </a:t>
            </a:r>
            <a:r>
              <a:rPr sz="1800" dirty="0">
                <a:latin typeface="Calibri"/>
                <a:cs typeface="Calibri"/>
              </a:rPr>
              <a:t>sin que se </a:t>
            </a:r>
            <a:r>
              <a:rPr sz="1800" spc="-20" dirty="0">
                <a:latin typeface="Calibri"/>
                <a:cs typeface="Calibri"/>
              </a:rPr>
              <a:t>afecte </a:t>
            </a:r>
            <a:r>
              <a:rPr sz="1800" spc="-10" dirty="0">
                <a:latin typeface="Calibri"/>
                <a:cs typeface="Calibri"/>
              </a:rPr>
              <a:t>la  duración </a:t>
            </a:r>
            <a:r>
              <a:rPr sz="1800" dirty="0">
                <a:latin typeface="Calibri"/>
                <a:cs typeface="Calibri"/>
              </a:rPr>
              <a:t>del </a:t>
            </a:r>
            <a:r>
              <a:rPr sz="1800" spc="-10" dirty="0">
                <a:latin typeface="Calibri"/>
                <a:cs typeface="Calibri"/>
              </a:rPr>
              <a:t>Proyecto. </a:t>
            </a:r>
            <a:r>
              <a:rPr sz="1800" spc="-5" dirty="0">
                <a:latin typeface="Calibri"/>
                <a:cs typeface="Calibri"/>
              </a:rPr>
              <a:t>En las actividades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5" dirty="0">
                <a:latin typeface="Calibri"/>
                <a:cs typeface="Calibri"/>
              </a:rPr>
              <a:t>la  </a:t>
            </a:r>
            <a:r>
              <a:rPr sz="1800" spc="-10" dirty="0">
                <a:latin typeface="Calibri"/>
                <a:cs typeface="Calibri"/>
              </a:rPr>
              <a:t>Ruta Crítica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40" dirty="0">
                <a:latin typeface="Calibri"/>
                <a:cs typeface="Calibri"/>
              </a:rPr>
              <a:t>Total </a:t>
            </a:r>
            <a:r>
              <a:rPr sz="1800" spc="-10" dirty="0">
                <a:latin typeface="Calibri"/>
                <a:cs typeface="Calibri"/>
              </a:rPr>
              <a:t>Float normalmente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1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</a:t>
            </a:r>
            <a:endParaRPr sz="180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6235" algn="l"/>
              </a:tabLst>
            </a:pPr>
            <a:r>
              <a:rPr sz="1800" b="1" i="1" spc="-10" dirty="0">
                <a:latin typeface="Calibri"/>
                <a:cs typeface="Calibri"/>
              </a:rPr>
              <a:t>Free </a:t>
            </a:r>
            <a:r>
              <a:rPr sz="1800" b="1" i="1" dirty="0">
                <a:latin typeface="Calibri"/>
                <a:cs typeface="Calibri"/>
              </a:rPr>
              <a:t>Float: </a:t>
            </a:r>
            <a:r>
              <a:rPr sz="1800" spc="-5" dirty="0">
                <a:latin typeface="Calibri"/>
                <a:cs typeface="Calibri"/>
              </a:rPr>
              <a:t>Es la cantidad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tiempo </a:t>
            </a:r>
            <a:r>
              <a:rPr sz="1800" dirty="0">
                <a:latin typeface="Calibri"/>
                <a:cs typeface="Calibri"/>
              </a:rPr>
              <a:t>que </a:t>
            </a:r>
            <a:r>
              <a:rPr sz="1800" spc="15" dirty="0">
                <a:latin typeface="Calibri"/>
                <a:cs typeface="Calibri"/>
              </a:rPr>
              <a:t>se  </a:t>
            </a:r>
            <a:r>
              <a:rPr sz="1800" dirty="0">
                <a:latin typeface="Calibri"/>
                <a:cs typeface="Calibri"/>
              </a:rPr>
              <a:t>puede </a:t>
            </a:r>
            <a:r>
              <a:rPr sz="1800" spc="-10" dirty="0">
                <a:latin typeface="Calibri"/>
                <a:cs typeface="Calibri"/>
              </a:rPr>
              <a:t>retrasar </a:t>
            </a:r>
            <a:r>
              <a:rPr sz="1800" dirty="0">
                <a:latin typeface="Calibri"/>
                <a:cs typeface="Calibri"/>
              </a:rPr>
              <a:t>una </a:t>
            </a:r>
            <a:r>
              <a:rPr sz="1800" spc="-5" dirty="0">
                <a:latin typeface="Calibri"/>
                <a:cs typeface="Calibri"/>
              </a:rPr>
              <a:t>actividad </a:t>
            </a:r>
            <a:r>
              <a:rPr sz="1800" dirty="0">
                <a:latin typeface="Calibri"/>
                <a:cs typeface="Calibri"/>
              </a:rPr>
              <a:t>sin que </a:t>
            </a:r>
            <a:r>
              <a:rPr sz="1800" spc="-10" dirty="0">
                <a:latin typeface="Calibri"/>
                <a:cs typeface="Calibri"/>
              </a:rPr>
              <a:t>demore </a:t>
            </a:r>
            <a:r>
              <a:rPr sz="1800" dirty="0">
                <a:latin typeface="Calibri"/>
                <a:cs typeface="Calibri"/>
              </a:rPr>
              <a:t>el  </a:t>
            </a:r>
            <a:r>
              <a:rPr sz="1800" spc="-10" dirty="0">
                <a:latin typeface="Calibri"/>
                <a:cs typeface="Calibri"/>
              </a:rPr>
              <a:t>arranque </a:t>
            </a:r>
            <a:r>
              <a:rPr sz="1800" dirty="0">
                <a:latin typeface="Calibri"/>
                <a:cs typeface="Calibri"/>
              </a:rPr>
              <a:t>de una </a:t>
            </a:r>
            <a:r>
              <a:rPr sz="1800" spc="-5" dirty="0">
                <a:latin typeface="Calibri"/>
                <a:cs typeface="Calibri"/>
              </a:rPr>
              <a:t>actividad </a:t>
            </a:r>
            <a:r>
              <a:rPr sz="1800" spc="-10" dirty="0">
                <a:latin typeface="Calibri"/>
                <a:cs typeface="Calibri"/>
              </a:rPr>
              <a:t>siguiente </a:t>
            </a:r>
            <a:r>
              <a:rPr sz="1800" spc="-5" dirty="0">
                <a:latin typeface="Calibri"/>
                <a:cs typeface="Calibri"/>
              </a:rPr>
              <a:t>(aplica </a:t>
            </a:r>
            <a:r>
              <a:rPr sz="1800" spc="-10" dirty="0">
                <a:latin typeface="Calibri"/>
                <a:cs typeface="Calibri"/>
              </a:rPr>
              <a:t>para  </a:t>
            </a:r>
            <a:r>
              <a:rPr sz="1800" spc="-5" dirty="0">
                <a:latin typeface="Calibri"/>
                <a:cs typeface="Calibri"/>
              </a:rPr>
              <a:t>las </a:t>
            </a:r>
            <a:r>
              <a:rPr sz="1800" spc="-10" dirty="0">
                <a:latin typeface="Calibri"/>
                <a:cs typeface="Calibri"/>
              </a:rPr>
              <a:t>ramas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árbol).</a:t>
            </a:r>
            <a:endParaRPr sz="180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6235" algn="l"/>
              </a:tabLst>
            </a:pPr>
            <a:r>
              <a:rPr sz="1800" b="1" i="1" spc="-5" dirty="0">
                <a:latin typeface="Calibri"/>
                <a:cs typeface="Calibri"/>
              </a:rPr>
              <a:t>Project </a:t>
            </a:r>
            <a:r>
              <a:rPr sz="1800" b="1" i="1" dirty="0">
                <a:latin typeface="Calibri"/>
                <a:cs typeface="Calibri"/>
              </a:rPr>
              <a:t>Float: </a:t>
            </a:r>
            <a:r>
              <a:rPr sz="1800" dirty="0">
                <a:latin typeface="Calibri"/>
                <a:cs typeface="Calibri"/>
              </a:rPr>
              <a:t>Es </a:t>
            </a:r>
            <a:r>
              <a:rPr sz="1800" spc="-5" dirty="0">
                <a:latin typeface="Calibri"/>
                <a:cs typeface="Calibri"/>
              </a:rPr>
              <a:t>la </a:t>
            </a:r>
            <a:r>
              <a:rPr sz="1800" spc="-10" dirty="0">
                <a:latin typeface="Calibri"/>
                <a:cs typeface="Calibri"/>
              </a:rPr>
              <a:t>cantidad </a:t>
            </a:r>
            <a:r>
              <a:rPr sz="1800" spc="5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tiempo </a:t>
            </a:r>
            <a:r>
              <a:rPr sz="1800" dirty="0">
                <a:latin typeface="Calibri"/>
                <a:cs typeface="Calibri"/>
              </a:rPr>
              <a:t>que </a:t>
            </a:r>
            <a:r>
              <a:rPr sz="1800" spc="15" dirty="0">
                <a:latin typeface="Calibri"/>
                <a:cs typeface="Calibri"/>
              </a:rPr>
              <a:t>se  </a:t>
            </a:r>
            <a:r>
              <a:rPr sz="1800" dirty="0">
                <a:latin typeface="Calibri"/>
                <a:cs typeface="Calibri"/>
              </a:rPr>
              <a:t>puede </a:t>
            </a:r>
            <a:r>
              <a:rPr sz="1800" spc="-10" dirty="0">
                <a:latin typeface="Calibri"/>
                <a:cs typeface="Calibri"/>
              </a:rPr>
              <a:t>acortar </a:t>
            </a:r>
            <a:r>
              <a:rPr sz="1800" spc="5" dirty="0">
                <a:latin typeface="Calibri"/>
                <a:cs typeface="Calibri"/>
              </a:rPr>
              <a:t>el </a:t>
            </a:r>
            <a:r>
              <a:rPr sz="1800" spc="-15" dirty="0">
                <a:latin typeface="Calibri"/>
                <a:cs typeface="Calibri"/>
              </a:rPr>
              <a:t>proyecto </a:t>
            </a:r>
            <a:r>
              <a:rPr sz="1800" spc="-5" dirty="0">
                <a:latin typeface="Calibri"/>
                <a:cs typeface="Calibri"/>
              </a:rPr>
              <a:t>sin </a:t>
            </a:r>
            <a:r>
              <a:rPr sz="1800" spc="-15" dirty="0">
                <a:latin typeface="Calibri"/>
                <a:cs typeface="Calibri"/>
              </a:rPr>
              <a:t>afectar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5" dirty="0">
                <a:latin typeface="Calibri"/>
                <a:cs typeface="Calibri"/>
              </a:rPr>
              <a:t>tiempo 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compromiso </a:t>
            </a:r>
            <a:r>
              <a:rPr sz="1800" dirty="0">
                <a:latin typeface="Calibri"/>
                <a:cs typeface="Calibri"/>
              </a:rPr>
              <a:t>del </a:t>
            </a:r>
            <a:r>
              <a:rPr sz="1800" spc="-15" dirty="0">
                <a:latin typeface="Calibri"/>
                <a:cs typeface="Calibri"/>
              </a:rPr>
              <a:t>proyecto </a:t>
            </a:r>
            <a:r>
              <a:rPr sz="1800" spc="-10" dirty="0">
                <a:latin typeface="Calibri"/>
                <a:cs typeface="Calibri"/>
              </a:rPr>
              <a:t>externamente  requerida </a:t>
            </a:r>
            <a:r>
              <a:rPr sz="1800" dirty="0">
                <a:latin typeface="Calibri"/>
                <a:cs typeface="Calibri"/>
              </a:rPr>
              <a:t>por el </a:t>
            </a:r>
            <a:r>
              <a:rPr sz="1800" spc="-10" dirty="0">
                <a:latin typeface="Calibri"/>
                <a:cs typeface="Calibri"/>
              </a:rPr>
              <a:t>cliente </a:t>
            </a:r>
            <a:r>
              <a:rPr sz="1800" dirty="0">
                <a:latin typeface="Calibri"/>
                <a:cs typeface="Calibri"/>
              </a:rPr>
              <a:t>o </a:t>
            </a:r>
            <a:r>
              <a:rPr sz="1800" spc="-10" dirty="0">
                <a:latin typeface="Calibri"/>
                <a:cs typeface="Calibri"/>
              </a:rPr>
              <a:t>Alta </a:t>
            </a:r>
            <a:r>
              <a:rPr sz="1800" spc="-5" dirty="0">
                <a:latin typeface="Calibri"/>
                <a:cs typeface="Calibri"/>
              </a:rPr>
              <a:t>Gerencia </a:t>
            </a:r>
            <a:r>
              <a:rPr sz="1800" dirty="0">
                <a:latin typeface="Calibri"/>
                <a:cs typeface="Calibri"/>
              </a:rPr>
              <a:t>, o  </a:t>
            </a:r>
            <a:r>
              <a:rPr sz="1800" spc="-10" dirty="0">
                <a:latin typeface="Calibri"/>
                <a:cs typeface="Calibri"/>
              </a:rPr>
              <a:t>previamente acordada </a:t>
            </a:r>
            <a:r>
              <a:rPr sz="1800" spc="-5" dirty="0">
                <a:latin typeface="Calibri"/>
                <a:cs typeface="Calibri"/>
              </a:rPr>
              <a:t>por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spc="-80" dirty="0">
                <a:latin typeface="Calibri"/>
                <a:cs typeface="Calibri"/>
              </a:rPr>
              <a:t>GP.</a:t>
            </a:r>
            <a:endParaRPr sz="1800">
              <a:latin typeface="Calibri"/>
              <a:cs typeface="Calibri"/>
            </a:endParaRPr>
          </a:p>
          <a:p>
            <a:pPr marL="756285" marR="6350" indent="-287020" algn="just">
              <a:lnSpc>
                <a:spcPct val="100000"/>
              </a:lnSpc>
              <a:spcBef>
                <a:spcPts val="409"/>
              </a:spcBef>
            </a:pPr>
            <a:r>
              <a:rPr sz="1600" spc="-5" dirty="0">
                <a:latin typeface="Arial"/>
                <a:cs typeface="Arial"/>
              </a:rPr>
              <a:t>– </a:t>
            </a:r>
            <a:r>
              <a:rPr sz="1600" spc="-5" dirty="0">
                <a:latin typeface="Calibri"/>
                <a:cs typeface="Calibri"/>
              </a:rPr>
              <a:t>Es el </a:t>
            </a:r>
            <a:r>
              <a:rPr sz="1600" spc="-10" dirty="0">
                <a:latin typeface="Calibri"/>
                <a:cs typeface="Calibri"/>
              </a:rPr>
              <a:t>caso </a:t>
            </a:r>
            <a:r>
              <a:rPr sz="1600" spc="-5" dirty="0">
                <a:latin typeface="Calibri"/>
                <a:cs typeface="Calibri"/>
              </a:rPr>
              <a:t>más crítico </a:t>
            </a:r>
            <a:r>
              <a:rPr sz="1600" spc="-10" dirty="0">
                <a:latin typeface="Calibri"/>
                <a:cs typeface="Calibri"/>
              </a:rPr>
              <a:t>donde </a:t>
            </a:r>
            <a:r>
              <a:rPr sz="1600" spc="-5" dirty="0">
                <a:latin typeface="Calibri"/>
                <a:cs typeface="Calibri"/>
              </a:rPr>
              <a:t>se </a:t>
            </a:r>
            <a:r>
              <a:rPr sz="1600" spc="-10" dirty="0">
                <a:latin typeface="Calibri"/>
                <a:cs typeface="Calibri"/>
              </a:rPr>
              <a:t>“acorta” </a:t>
            </a:r>
            <a:r>
              <a:rPr sz="1600" spc="-5" dirty="0">
                <a:latin typeface="Calibri"/>
                <a:cs typeface="Calibri"/>
              </a:rPr>
              <a:t>tiempo al  </a:t>
            </a:r>
            <a:r>
              <a:rPr sz="1600" spc="-15" dirty="0">
                <a:latin typeface="Calibri"/>
                <a:cs typeface="Calibri"/>
              </a:rPr>
              <a:t>proyecto </a:t>
            </a:r>
            <a:r>
              <a:rPr sz="1600" spc="-10" dirty="0">
                <a:latin typeface="Calibri"/>
                <a:cs typeface="Calibri"/>
              </a:rPr>
              <a:t>por ofrecimientos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desafortunados.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58255" y="1714500"/>
            <a:ext cx="2929128" cy="3451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504" y="461899"/>
            <a:ext cx="56324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Método </a:t>
            </a:r>
            <a:r>
              <a:rPr sz="4400" spc="-5" dirty="0"/>
              <a:t>de </a:t>
            </a:r>
            <a:r>
              <a:rPr sz="4400" dirty="0"/>
              <a:t>la </a:t>
            </a:r>
            <a:r>
              <a:rPr sz="4400" spc="-10" dirty="0"/>
              <a:t>ruta</a:t>
            </a:r>
            <a:r>
              <a:rPr sz="4400" spc="-15" dirty="0"/>
              <a:t> </a:t>
            </a:r>
            <a:r>
              <a:rPr sz="4400" spc="-10" dirty="0"/>
              <a:t>crítica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11020"/>
            <a:ext cx="8076565" cy="38303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La </a:t>
            </a:r>
            <a:r>
              <a:rPr sz="3200" spc="-10" dirty="0">
                <a:latin typeface="Calibri"/>
                <a:cs typeface="Calibri"/>
              </a:rPr>
              <a:t>ruta </a:t>
            </a:r>
            <a:r>
              <a:rPr sz="3200" spc="-5" dirty="0">
                <a:latin typeface="Calibri"/>
                <a:cs typeface="Calibri"/>
              </a:rPr>
              <a:t>crítica </a:t>
            </a:r>
            <a:r>
              <a:rPr sz="3200" dirty="0">
                <a:latin typeface="Calibri"/>
                <a:cs typeface="Calibri"/>
              </a:rPr>
              <a:t>es </a:t>
            </a:r>
            <a:r>
              <a:rPr sz="3200" spc="-5" dirty="0">
                <a:latin typeface="Calibri"/>
                <a:cs typeface="Calibri"/>
              </a:rPr>
              <a:t>la </a:t>
            </a:r>
            <a:r>
              <a:rPr sz="3200" spc="-10" dirty="0">
                <a:latin typeface="Calibri"/>
                <a:cs typeface="Calibri"/>
              </a:rPr>
              <a:t>ruta </a:t>
            </a:r>
            <a:r>
              <a:rPr sz="3200" spc="-5" dirty="0">
                <a:latin typeface="Calibri"/>
                <a:cs typeface="Calibri"/>
              </a:rPr>
              <a:t>de </a:t>
            </a:r>
            <a:r>
              <a:rPr sz="3200" spc="-10" dirty="0">
                <a:latin typeface="Calibri"/>
                <a:cs typeface="Calibri"/>
              </a:rPr>
              <a:t>máxima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duración</a:t>
            </a:r>
            <a:endParaRPr sz="3200">
              <a:latin typeface="Calibri"/>
              <a:cs typeface="Calibri"/>
            </a:endParaRPr>
          </a:p>
          <a:p>
            <a:pPr marL="355600" marR="889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La </a:t>
            </a:r>
            <a:r>
              <a:rPr sz="3200" spc="-15" dirty="0">
                <a:latin typeface="Calibri"/>
                <a:cs typeface="Calibri"/>
              </a:rPr>
              <a:t>ruta </a:t>
            </a:r>
            <a:r>
              <a:rPr sz="3200" spc="-5" dirty="0">
                <a:latin typeface="Calibri"/>
                <a:cs typeface="Calibri"/>
              </a:rPr>
              <a:t>crítica </a:t>
            </a:r>
            <a:r>
              <a:rPr sz="3200" dirty="0">
                <a:latin typeface="Calibri"/>
                <a:cs typeface="Calibri"/>
              </a:rPr>
              <a:t>es el tiempo más </a:t>
            </a:r>
            <a:r>
              <a:rPr sz="3200" spc="-15" dirty="0">
                <a:latin typeface="Calibri"/>
                <a:cs typeface="Calibri"/>
              </a:rPr>
              <a:t>corto </a:t>
            </a:r>
            <a:r>
              <a:rPr sz="3200" dirty="0">
                <a:latin typeface="Calibri"/>
                <a:cs typeface="Calibri"/>
              </a:rPr>
              <a:t>en que  </a:t>
            </a:r>
            <a:r>
              <a:rPr sz="3200" spc="-5" dirty="0">
                <a:latin typeface="Calibri"/>
                <a:cs typeface="Calibri"/>
              </a:rPr>
              <a:t>se puede hacer </a:t>
            </a:r>
            <a:r>
              <a:rPr sz="3200" dirty="0">
                <a:latin typeface="Calibri"/>
                <a:cs typeface="Calibri"/>
              </a:rPr>
              <a:t>el </a:t>
            </a:r>
            <a:r>
              <a:rPr sz="3200" spc="-20" dirty="0">
                <a:latin typeface="Calibri"/>
                <a:cs typeface="Calibri"/>
              </a:rPr>
              <a:t>proyecto.</a:t>
            </a:r>
            <a:endParaRPr sz="32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  <a:tab pos="913130" algn="l"/>
                <a:tab pos="1402715" algn="l"/>
                <a:tab pos="2288540" algn="l"/>
                <a:tab pos="2905760" algn="l"/>
                <a:tab pos="4220845" algn="l"/>
                <a:tab pos="5679440" algn="l"/>
              </a:tabLst>
            </a:pPr>
            <a:r>
              <a:rPr sz="3200" spc="-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s	</a:t>
            </a:r>
            <a:r>
              <a:rPr sz="3200" spc="-5" dirty="0">
                <a:latin typeface="Calibri"/>
                <a:cs typeface="Calibri"/>
              </a:rPr>
              <a:t>l</a:t>
            </a:r>
            <a:r>
              <a:rPr sz="3200" dirty="0">
                <a:latin typeface="Calibri"/>
                <a:cs typeface="Calibri"/>
              </a:rPr>
              <a:t>a	ru</a:t>
            </a:r>
            <a:r>
              <a:rPr sz="3200" spc="-25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	</a:t>
            </a:r>
            <a:r>
              <a:rPr sz="3200" spc="-5" dirty="0">
                <a:latin typeface="Calibri"/>
                <a:cs typeface="Calibri"/>
              </a:rPr>
              <a:t>d</a:t>
            </a:r>
            <a:r>
              <a:rPr sz="3200" dirty="0">
                <a:latin typeface="Calibri"/>
                <a:cs typeface="Calibri"/>
              </a:rPr>
              <a:t>e	menos	</a:t>
            </a:r>
            <a:r>
              <a:rPr sz="3200" spc="-5" dirty="0">
                <a:latin typeface="Calibri"/>
                <a:cs typeface="Calibri"/>
              </a:rPr>
              <a:t>hol</a:t>
            </a:r>
            <a:r>
              <a:rPr sz="3200" spc="5" dirty="0">
                <a:latin typeface="Calibri"/>
                <a:cs typeface="Calibri"/>
              </a:rPr>
              <a:t>g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70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a	</a:t>
            </a:r>
            <a:r>
              <a:rPr sz="3200" spc="-5" dirty="0">
                <a:latin typeface="Calibri"/>
                <a:cs typeface="Calibri"/>
              </a:rPr>
              <a:t>(n</a:t>
            </a:r>
            <a:r>
              <a:rPr sz="3200" spc="5" dirty="0">
                <a:latin typeface="Calibri"/>
                <a:cs typeface="Calibri"/>
              </a:rPr>
              <a:t>o</a:t>
            </a:r>
            <a:r>
              <a:rPr sz="3200" dirty="0">
                <a:latin typeface="Calibri"/>
                <a:cs typeface="Calibri"/>
              </a:rPr>
              <a:t>rma</a:t>
            </a:r>
            <a:r>
              <a:rPr sz="3200" spc="10" dirty="0">
                <a:latin typeface="Calibri"/>
                <a:cs typeface="Calibri"/>
              </a:rPr>
              <a:t>l</a:t>
            </a:r>
            <a:r>
              <a:rPr sz="3200" dirty="0">
                <a:latin typeface="Calibri"/>
                <a:cs typeface="Calibri"/>
              </a:rPr>
              <a:t>me</a:t>
            </a:r>
            <a:r>
              <a:rPr sz="3200" spc="-25" dirty="0">
                <a:latin typeface="Calibri"/>
                <a:cs typeface="Calibri"/>
              </a:rPr>
              <a:t>n</a:t>
            </a:r>
            <a:r>
              <a:rPr sz="3200" spc="-30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e  </a:t>
            </a:r>
            <a:r>
              <a:rPr sz="3200" spc="-25" dirty="0">
                <a:latin typeface="Calibri"/>
                <a:cs typeface="Calibri"/>
              </a:rPr>
              <a:t>cero, </a:t>
            </a:r>
            <a:r>
              <a:rPr sz="3200" spc="-15" dirty="0">
                <a:latin typeface="Calibri"/>
                <a:cs typeface="Calibri"/>
              </a:rPr>
              <a:t>pero </a:t>
            </a:r>
            <a:r>
              <a:rPr sz="3200" spc="-5" dirty="0">
                <a:latin typeface="Calibri"/>
                <a:cs typeface="Calibri"/>
              </a:rPr>
              <a:t>puede ser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negativo).</a:t>
            </a:r>
            <a:endParaRPr sz="3200">
              <a:latin typeface="Calibri"/>
              <a:cs typeface="Calibri"/>
            </a:endParaRPr>
          </a:p>
          <a:p>
            <a:pPr marL="355600" marR="1206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  <a:tab pos="1958975" algn="l"/>
                <a:tab pos="2327910" algn="l"/>
                <a:tab pos="3176905" algn="l"/>
                <a:tab pos="4719320" algn="l"/>
                <a:tab pos="5751195" algn="l"/>
                <a:tab pos="7165975" algn="l"/>
                <a:tab pos="7767955" algn="l"/>
              </a:tabLst>
            </a:pPr>
            <a:r>
              <a:rPr sz="3200" spc="-5" dirty="0">
                <a:latin typeface="Calibri"/>
                <a:cs typeface="Calibri"/>
              </a:rPr>
              <a:t>C</a:t>
            </a:r>
            <a:r>
              <a:rPr sz="3200" spc="-70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ashing	y	</a:t>
            </a:r>
            <a:r>
              <a:rPr sz="3200" spc="-85" dirty="0">
                <a:latin typeface="Calibri"/>
                <a:cs typeface="Calibri"/>
              </a:rPr>
              <a:t>F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30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t	</a:t>
            </a:r>
            <a:r>
              <a:rPr sz="3200" spc="-210" dirty="0">
                <a:latin typeface="Calibri"/>
                <a:cs typeface="Calibri"/>
              </a:rPr>
              <a:t>T</a:t>
            </a:r>
            <a:r>
              <a:rPr sz="3200" spc="-60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acki</a:t>
            </a:r>
            <a:r>
              <a:rPr sz="3200" spc="-10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g	t</a:t>
            </a:r>
            <a:r>
              <a:rPr sz="3200" spc="-10" dirty="0">
                <a:latin typeface="Calibri"/>
                <a:cs typeface="Calibri"/>
              </a:rPr>
              <a:t>i</a:t>
            </a:r>
            <a:r>
              <a:rPr sz="3200" dirty="0">
                <a:latin typeface="Calibri"/>
                <a:cs typeface="Calibri"/>
              </a:rPr>
              <a:t>ene	</a:t>
            </a:r>
            <a:r>
              <a:rPr sz="3200" spc="-5" dirty="0">
                <a:latin typeface="Calibri"/>
                <a:cs typeface="Calibri"/>
              </a:rPr>
              <a:t>se</a:t>
            </a:r>
            <a:r>
              <a:rPr sz="3200" spc="-35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tido	en	</a:t>
            </a:r>
            <a:r>
              <a:rPr sz="3200" spc="-5" dirty="0">
                <a:latin typeface="Calibri"/>
                <a:cs typeface="Calibri"/>
              </a:rPr>
              <a:t>la  </a:t>
            </a:r>
            <a:r>
              <a:rPr sz="3200" spc="-10" dirty="0">
                <a:latin typeface="Calibri"/>
                <a:cs typeface="Calibri"/>
              </a:rPr>
              <a:t>ruta</a:t>
            </a:r>
            <a:r>
              <a:rPr sz="3200" spc="-5" dirty="0">
                <a:latin typeface="Calibri"/>
                <a:cs typeface="Calibri"/>
              </a:rPr>
              <a:t> crítica.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504" y="461899"/>
            <a:ext cx="56324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Método </a:t>
            </a:r>
            <a:r>
              <a:rPr sz="4400" spc="-5" dirty="0"/>
              <a:t>de </a:t>
            </a:r>
            <a:r>
              <a:rPr sz="4400" dirty="0"/>
              <a:t>la </a:t>
            </a:r>
            <a:r>
              <a:rPr sz="4400" spc="-10" dirty="0"/>
              <a:t>ruta</a:t>
            </a:r>
            <a:r>
              <a:rPr sz="4400" spc="-15" dirty="0"/>
              <a:t> </a:t>
            </a:r>
            <a:r>
              <a:rPr sz="4400" spc="-10" dirty="0"/>
              <a:t>crítica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07355"/>
            <a:ext cx="8072755" cy="4116704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spc="-5" dirty="0">
                <a:latin typeface="Calibri"/>
                <a:cs typeface="Calibri"/>
              </a:rPr>
              <a:t>CPM </a:t>
            </a:r>
            <a:r>
              <a:rPr sz="3200" spc="-5" dirty="0">
                <a:latin typeface="Calibri"/>
                <a:cs typeface="Calibri"/>
              </a:rPr>
              <a:t>se divide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en: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Crear </a:t>
            </a:r>
            <a:r>
              <a:rPr sz="2800" spc="-10" dirty="0">
                <a:latin typeface="Calibri"/>
                <a:cs typeface="Calibri"/>
              </a:rPr>
              <a:t>la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EDT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Crear </a:t>
            </a:r>
            <a:r>
              <a:rPr sz="2800" spc="-5" dirty="0">
                <a:latin typeface="Calibri"/>
                <a:cs typeface="Calibri"/>
              </a:rPr>
              <a:t>el </a:t>
            </a:r>
            <a:r>
              <a:rPr sz="2800" spc="-15" dirty="0">
                <a:latin typeface="Calibri"/>
                <a:cs typeface="Calibri"/>
              </a:rPr>
              <a:t>diagrama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spc="-20" dirty="0">
                <a:latin typeface="Calibri"/>
                <a:cs typeface="Calibri"/>
              </a:rPr>
              <a:t>red </a:t>
            </a:r>
            <a:r>
              <a:rPr sz="2800" spc="-5" dirty="0">
                <a:latin typeface="Calibri"/>
                <a:cs typeface="Calibri"/>
              </a:rPr>
              <a:t>del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proyecto</a:t>
            </a:r>
            <a:endParaRPr sz="280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Calcular </a:t>
            </a:r>
            <a:r>
              <a:rPr sz="2800" spc="-5" dirty="0">
                <a:latin typeface="Calibri"/>
                <a:cs typeface="Calibri"/>
              </a:rPr>
              <a:t>el </a:t>
            </a:r>
            <a:r>
              <a:rPr sz="2800" spc="-10" dirty="0">
                <a:latin typeface="Calibri"/>
                <a:cs typeface="Calibri"/>
              </a:rPr>
              <a:t>tiempo </a:t>
            </a:r>
            <a:r>
              <a:rPr sz="2800" dirty="0">
                <a:latin typeface="Calibri"/>
                <a:cs typeface="Calibri"/>
              </a:rPr>
              <a:t>de </a:t>
            </a:r>
            <a:r>
              <a:rPr sz="2800" spc="-5" dirty="0">
                <a:latin typeface="Calibri"/>
                <a:cs typeface="Calibri"/>
              </a:rPr>
              <a:t>las actividades y </a:t>
            </a:r>
            <a:r>
              <a:rPr sz="2800" dirty="0">
                <a:latin typeface="Calibri"/>
                <a:cs typeface="Calibri"/>
              </a:rPr>
              <a:t>la </a:t>
            </a:r>
            <a:r>
              <a:rPr sz="2800" spc="-15" dirty="0">
                <a:latin typeface="Calibri"/>
                <a:cs typeface="Calibri"/>
              </a:rPr>
              <a:t>holgura  </a:t>
            </a:r>
            <a:r>
              <a:rPr sz="2800" spc="-20" dirty="0">
                <a:latin typeface="Calibri"/>
                <a:cs typeface="Calibri"/>
              </a:rPr>
              <a:t>total </a:t>
            </a:r>
            <a:r>
              <a:rPr sz="2800" spc="-10" dirty="0">
                <a:latin typeface="Calibri"/>
                <a:cs typeface="Calibri"/>
              </a:rPr>
              <a:t>de </a:t>
            </a:r>
            <a:r>
              <a:rPr sz="2800" spc="-5" dirty="0">
                <a:latin typeface="Calibri"/>
                <a:cs typeface="Calibri"/>
              </a:rPr>
              <a:t>las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Actividades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Calcular la </a:t>
            </a:r>
            <a:r>
              <a:rPr sz="2800" spc="-15" dirty="0">
                <a:latin typeface="Calibri"/>
                <a:cs typeface="Calibri"/>
              </a:rPr>
              <a:t>duración </a:t>
            </a:r>
            <a:r>
              <a:rPr sz="2800" spc="-5" dirty="0">
                <a:latin typeface="Calibri"/>
                <a:cs typeface="Calibri"/>
              </a:rPr>
              <a:t>del </a:t>
            </a:r>
            <a:r>
              <a:rPr sz="2800" spc="-20" dirty="0">
                <a:latin typeface="Calibri"/>
                <a:cs typeface="Calibri"/>
              </a:rPr>
              <a:t>proyecto </a:t>
            </a:r>
            <a:r>
              <a:rPr sz="2800" spc="-5" dirty="0">
                <a:latin typeface="Calibri"/>
                <a:cs typeface="Calibri"/>
              </a:rPr>
              <a:t>y </a:t>
            </a:r>
            <a:r>
              <a:rPr sz="2800" spc="-10" dirty="0">
                <a:latin typeface="Calibri"/>
                <a:cs typeface="Calibri"/>
              </a:rPr>
              <a:t>la </a:t>
            </a:r>
            <a:r>
              <a:rPr sz="2800" spc="-15" dirty="0">
                <a:latin typeface="Calibri"/>
                <a:cs typeface="Calibri"/>
              </a:rPr>
              <a:t>ruta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crítica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Crear </a:t>
            </a:r>
            <a:r>
              <a:rPr sz="2800" spc="-5" dirty="0">
                <a:latin typeface="Calibri"/>
                <a:cs typeface="Calibri"/>
              </a:rPr>
              <a:t>un </a:t>
            </a:r>
            <a:r>
              <a:rPr sz="2800" spc="-15" dirty="0">
                <a:latin typeface="Calibri"/>
                <a:cs typeface="Calibri"/>
              </a:rPr>
              <a:t>cronograma </a:t>
            </a:r>
            <a:r>
              <a:rPr sz="2800" spc="-5" dirty="0">
                <a:latin typeface="Calibri"/>
                <a:cs typeface="Calibri"/>
              </a:rPr>
              <a:t>de las actividades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(Tabla)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Crear </a:t>
            </a:r>
            <a:r>
              <a:rPr sz="2800" spc="-5" dirty="0">
                <a:latin typeface="Calibri"/>
                <a:cs typeface="Calibri"/>
              </a:rPr>
              <a:t>un </a:t>
            </a:r>
            <a:r>
              <a:rPr sz="2800" spc="-15" dirty="0">
                <a:latin typeface="Calibri"/>
                <a:cs typeface="Calibri"/>
              </a:rPr>
              <a:t>diagrama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Gantt.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504" y="461899"/>
            <a:ext cx="56324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Método </a:t>
            </a:r>
            <a:r>
              <a:rPr sz="4400" spc="-5" dirty="0"/>
              <a:t>de </a:t>
            </a:r>
            <a:r>
              <a:rPr sz="4400" dirty="0"/>
              <a:t>la </a:t>
            </a:r>
            <a:r>
              <a:rPr sz="4400" spc="-10" dirty="0"/>
              <a:t>ruta</a:t>
            </a:r>
            <a:r>
              <a:rPr sz="4400" spc="-15" dirty="0"/>
              <a:t> </a:t>
            </a:r>
            <a:r>
              <a:rPr sz="4400" spc="-10" dirty="0"/>
              <a:t>crítica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738144" y="2004822"/>
            <a:ext cx="1429814" cy="15525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011928" y="3447669"/>
            <a:ext cx="11474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Duración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  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Actividad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9979" y="2233040"/>
            <a:ext cx="11029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Nombre </a:t>
            </a:r>
            <a:r>
              <a:rPr sz="1800" dirty="0">
                <a:latin typeface="Calibri"/>
                <a:cs typeface="Calibri"/>
              </a:rPr>
              <a:t>de 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Actividad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1467" y="2233040"/>
            <a:ext cx="15017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10" dirty="0">
                <a:latin typeface="Calibri"/>
                <a:cs typeface="Calibri"/>
              </a:rPr>
              <a:t>Early Start  </a:t>
            </a:r>
            <a:r>
              <a:rPr sz="1800" spc="-5" dirty="0">
                <a:latin typeface="Calibri"/>
                <a:cs typeface="Calibri"/>
              </a:rPr>
              <a:t>EF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10" dirty="0">
                <a:latin typeface="Calibri"/>
                <a:cs typeface="Calibri"/>
              </a:rPr>
              <a:t>Early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Finish  </a:t>
            </a:r>
            <a:r>
              <a:rPr sz="1800" spc="-5" dirty="0">
                <a:latin typeface="Calibri"/>
                <a:cs typeface="Calibri"/>
              </a:rPr>
              <a:t>LS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15" dirty="0">
                <a:latin typeface="Calibri"/>
                <a:cs typeface="Calibri"/>
              </a:rPr>
              <a:t>Late </a:t>
            </a:r>
            <a:r>
              <a:rPr sz="1800" spc="-10" dirty="0">
                <a:latin typeface="Calibri"/>
                <a:cs typeface="Calibri"/>
              </a:rPr>
              <a:t>Start  </a:t>
            </a:r>
            <a:r>
              <a:rPr sz="1800" spc="-5" dirty="0">
                <a:latin typeface="Calibri"/>
                <a:cs typeface="Calibri"/>
              </a:rPr>
              <a:t>LF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15" dirty="0">
                <a:latin typeface="Calibri"/>
                <a:cs typeface="Calibri"/>
              </a:rPr>
              <a:t>Late </a:t>
            </a:r>
            <a:r>
              <a:rPr sz="1800" spc="-5" dirty="0">
                <a:latin typeface="Calibri"/>
                <a:cs typeface="Calibri"/>
              </a:rPr>
              <a:t>Finish  TF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40" dirty="0">
                <a:latin typeface="Calibri"/>
                <a:cs typeface="Calibri"/>
              </a:rPr>
              <a:t>Total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Float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8365" y="4613275"/>
            <a:ext cx="480314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ES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5" dirty="0">
                <a:latin typeface="Calibri"/>
                <a:cs typeface="Calibri"/>
              </a:rPr>
              <a:t>Momento </a:t>
            </a:r>
            <a:r>
              <a:rPr sz="1800" dirty="0">
                <a:latin typeface="Calibri"/>
                <a:cs typeface="Calibri"/>
              </a:rPr>
              <a:t>más </a:t>
            </a:r>
            <a:r>
              <a:rPr sz="1800" spc="-10" dirty="0">
                <a:latin typeface="Calibri"/>
                <a:cs typeface="Calibri"/>
              </a:rPr>
              <a:t>temprano </a:t>
            </a:r>
            <a:r>
              <a:rPr sz="1800" spc="-5" dirty="0">
                <a:latin typeface="Calibri"/>
                <a:cs typeface="Calibri"/>
              </a:rPr>
              <a:t>que </a:t>
            </a:r>
            <a:r>
              <a:rPr sz="1800" dirty="0">
                <a:latin typeface="Calibri"/>
                <a:cs typeface="Calibri"/>
              </a:rPr>
              <a:t>puedo </a:t>
            </a:r>
            <a:r>
              <a:rPr sz="1800" spc="-10" dirty="0">
                <a:latin typeface="Calibri"/>
                <a:cs typeface="Calibri"/>
              </a:rPr>
              <a:t>comenzar  </a:t>
            </a:r>
            <a:r>
              <a:rPr sz="1800" spc="-5" dirty="0">
                <a:latin typeface="Calibri"/>
                <a:cs typeface="Calibri"/>
              </a:rPr>
              <a:t>EF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5" dirty="0">
                <a:latin typeface="Calibri"/>
                <a:cs typeface="Calibri"/>
              </a:rPr>
              <a:t>Momento </a:t>
            </a:r>
            <a:r>
              <a:rPr sz="1800" dirty="0">
                <a:latin typeface="Calibri"/>
                <a:cs typeface="Calibri"/>
              </a:rPr>
              <a:t>más </a:t>
            </a:r>
            <a:r>
              <a:rPr sz="1800" spc="-10" dirty="0">
                <a:latin typeface="Calibri"/>
                <a:cs typeface="Calibri"/>
              </a:rPr>
              <a:t>temprano </a:t>
            </a:r>
            <a:r>
              <a:rPr sz="1800" spc="-5" dirty="0">
                <a:latin typeface="Calibri"/>
                <a:cs typeface="Calibri"/>
              </a:rPr>
              <a:t>que puedo terminar  LS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5" dirty="0">
                <a:latin typeface="Calibri"/>
                <a:cs typeface="Calibri"/>
              </a:rPr>
              <a:t>Momento </a:t>
            </a:r>
            <a:r>
              <a:rPr sz="1800" dirty="0">
                <a:latin typeface="Calibri"/>
                <a:cs typeface="Calibri"/>
              </a:rPr>
              <a:t>más </a:t>
            </a:r>
            <a:r>
              <a:rPr sz="1800" spc="-15" dirty="0">
                <a:latin typeface="Calibri"/>
                <a:cs typeface="Calibri"/>
              </a:rPr>
              <a:t>tardío </a:t>
            </a:r>
            <a:r>
              <a:rPr sz="1800" spc="-5" dirty="0">
                <a:latin typeface="Calibri"/>
                <a:cs typeface="Calibri"/>
              </a:rPr>
              <a:t>que puedo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comenzar</a:t>
            </a:r>
            <a:endParaRPr sz="1800">
              <a:latin typeface="Calibri"/>
              <a:cs typeface="Calibri"/>
            </a:endParaRPr>
          </a:p>
          <a:p>
            <a:pPr marL="12700" marR="47879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LF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5" dirty="0">
                <a:latin typeface="Calibri"/>
                <a:cs typeface="Calibri"/>
              </a:rPr>
              <a:t>Momento </a:t>
            </a:r>
            <a:r>
              <a:rPr sz="1800" dirty="0">
                <a:latin typeface="Calibri"/>
                <a:cs typeface="Calibri"/>
              </a:rPr>
              <a:t>más </a:t>
            </a:r>
            <a:r>
              <a:rPr sz="1800" spc="-15" dirty="0">
                <a:latin typeface="Calibri"/>
                <a:cs typeface="Calibri"/>
              </a:rPr>
              <a:t>tardío </a:t>
            </a:r>
            <a:r>
              <a:rPr sz="1800" spc="-5" dirty="0">
                <a:latin typeface="Calibri"/>
                <a:cs typeface="Calibri"/>
              </a:rPr>
              <a:t>que puedo terminar  TF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40" dirty="0">
                <a:latin typeface="Calibri"/>
                <a:cs typeface="Calibri"/>
              </a:rPr>
              <a:t>Total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Float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Holgura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10" dirty="0">
                <a:latin typeface="Calibri"/>
                <a:cs typeface="Calibri"/>
              </a:rPr>
              <a:t>Diferencia entre </a:t>
            </a:r>
            <a:r>
              <a:rPr sz="1800" spc="-5" dirty="0">
                <a:latin typeface="Calibri"/>
                <a:cs typeface="Calibri"/>
              </a:rPr>
              <a:t>ES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7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89728" y="1661286"/>
            <a:ext cx="238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16526" y="2863341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2353" y="1661286"/>
            <a:ext cx="241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EF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04357" y="2863341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LF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6815" marR="5080" indent="-1884045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Método </a:t>
            </a:r>
            <a:r>
              <a:rPr spc="-5" dirty="0"/>
              <a:t>de la </a:t>
            </a:r>
            <a:r>
              <a:rPr spc="-15" dirty="0"/>
              <a:t>ruta </a:t>
            </a:r>
            <a:r>
              <a:rPr spc="-10" dirty="0"/>
              <a:t>crítica- </a:t>
            </a:r>
            <a:r>
              <a:rPr b="1" spc="-15" dirty="0">
                <a:latin typeface="Calibri"/>
                <a:cs typeface="Calibri"/>
              </a:rPr>
              <a:t>Pasada  </a:t>
            </a:r>
            <a:r>
              <a:rPr b="1" spc="-5" dirty="0">
                <a:latin typeface="Calibri"/>
                <a:cs typeface="Calibri"/>
              </a:rPr>
              <a:t>hacia </a:t>
            </a:r>
            <a:r>
              <a:rPr b="1" spc="-15" dirty="0">
                <a:latin typeface="Calibri"/>
                <a:cs typeface="Calibri"/>
              </a:rPr>
              <a:t>adelante</a:t>
            </a:r>
          </a:p>
        </p:txBody>
      </p:sp>
      <p:sp>
        <p:nvSpPr>
          <p:cNvPr id="3" name="object 3"/>
          <p:cNvSpPr/>
          <p:nvPr/>
        </p:nvSpPr>
        <p:spPr>
          <a:xfrm>
            <a:off x="500633" y="3358134"/>
            <a:ext cx="1214755" cy="701040"/>
          </a:xfrm>
          <a:custGeom>
            <a:avLst/>
            <a:gdLst/>
            <a:ahLst/>
            <a:cxnLst/>
            <a:rect l="l" t="t" r="r" b="b"/>
            <a:pathLst>
              <a:path w="1214755" h="701039">
                <a:moveTo>
                  <a:pt x="1097788" y="0"/>
                </a:moveTo>
                <a:lnTo>
                  <a:pt x="116839" y="0"/>
                </a:lnTo>
                <a:lnTo>
                  <a:pt x="71360" y="9183"/>
                </a:lnTo>
                <a:lnTo>
                  <a:pt x="34221" y="34226"/>
                </a:lnTo>
                <a:lnTo>
                  <a:pt x="9181" y="71366"/>
                </a:lnTo>
                <a:lnTo>
                  <a:pt x="0" y="116839"/>
                </a:lnTo>
                <a:lnTo>
                  <a:pt x="0" y="584199"/>
                </a:lnTo>
                <a:lnTo>
                  <a:pt x="9181" y="629673"/>
                </a:lnTo>
                <a:lnTo>
                  <a:pt x="34221" y="666813"/>
                </a:lnTo>
                <a:lnTo>
                  <a:pt x="71360" y="691856"/>
                </a:lnTo>
                <a:lnTo>
                  <a:pt x="116839" y="701039"/>
                </a:lnTo>
                <a:lnTo>
                  <a:pt x="1097788" y="701039"/>
                </a:lnTo>
                <a:lnTo>
                  <a:pt x="1143261" y="691856"/>
                </a:lnTo>
                <a:lnTo>
                  <a:pt x="1180401" y="666813"/>
                </a:lnTo>
                <a:lnTo>
                  <a:pt x="1205444" y="629673"/>
                </a:lnTo>
                <a:lnTo>
                  <a:pt x="1214628" y="584199"/>
                </a:lnTo>
                <a:lnTo>
                  <a:pt x="1214628" y="116839"/>
                </a:lnTo>
                <a:lnTo>
                  <a:pt x="1205444" y="71366"/>
                </a:lnTo>
                <a:lnTo>
                  <a:pt x="1180401" y="34226"/>
                </a:lnTo>
                <a:lnTo>
                  <a:pt x="1143261" y="9183"/>
                </a:lnTo>
                <a:lnTo>
                  <a:pt x="1097788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0633" y="3358134"/>
            <a:ext cx="1214755" cy="701040"/>
          </a:xfrm>
          <a:custGeom>
            <a:avLst/>
            <a:gdLst/>
            <a:ahLst/>
            <a:cxnLst/>
            <a:rect l="l" t="t" r="r" b="b"/>
            <a:pathLst>
              <a:path w="1214755" h="701039">
                <a:moveTo>
                  <a:pt x="0" y="116839"/>
                </a:moveTo>
                <a:lnTo>
                  <a:pt x="9181" y="71366"/>
                </a:lnTo>
                <a:lnTo>
                  <a:pt x="34221" y="34226"/>
                </a:lnTo>
                <a:lnTo>
                  <a:pt x="71360" y="9183"/>
                </a:lnTo>
                <a:lnTo>
                  <a:pt x="116839" y="0"/>
                </a:lnTo>
                <a:lnTo>
                  <a:pt x="1097788" y="0"/>
                </a:lnTo>
                <a:lnTo>
                  <a:pt x="1143261" y="9183"/>
                </a:lnTo>
                <a:lnTo>
                  <a:pt x="1180401" y="34226"/>
                </a:lnTo>
                <a:lnTo>
                  <a:pt x="1205444" y="71366"/>
                </a:lnTo>
                <a:lnTo>
                  <a:pt x="1214628" y="116839"/>
                </a:lnTo>
                <a:lnTo>
                  <a:pt x="1214628" y="584199"/>
                </a:lnTo>
                <a:lnTo>
                  <a:pt x="1205444" y="629673"/>
                </a:lnTo>
                <a:lnTo>
                  <a:pt x="1180401" y="666813"/>
                </a:lnTo>
                <a:lnTo>
                  <a:pt x="1143261" y="691856"/>
                </a:lnTo>
                <a:lnTo>
                  <a:pt x="1097788" y="701039"/>
                </a:lnTo>
                <a:lnTo>
                  <a:pt x="116839" y="701039"/>
                </a:lnTo>
                <a:lnTo>
                  <a:pt x="71360" y="691856"/>
                </a:lnTo>
                <a:lnTo>
                  <a:pt x="34221" y="666813"/>
                </a:lnTo>
                <a:lnTo>
                  <a:pt x="9181" y="629673"/>
                </a:lnTo>
                <a:lnTo>
                  <a:pt x="0" y="584199"/>
                </a:lnTo>
                <a:lnTo>
                  <a:pt x="0" y="116839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7212" y="3374263"/>
            <a:ext cx="60007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950" marR="5080" indent="-22288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000" b="1" spc="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icio  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15133" y="2071877"/>
            <a:ext cx="1214755" cy="701040"/>
          </a:xfrm>
          <a:custGeom>
            <a:avLst/>
            <a:gdLst/>
            <a:ahLst/>
            <a:cxnLst/>
            <a:rect l="l" t="t" r="r" b="b"/>
            <a:pathLst>
              <a:path w="1214754" h="701039">
                <a:moveTo>
                  <a:pt x="1097788" y="0"/>
                </a:moveTo>
                <a:lnTo>
                  <a:pt x="116840" y="0"/>
                </a:lnTo>
                <a:lnTo>
                  <a:pt x="71366" y="9183"/>
                </a:lnTo>
                <a:lnTo>
                  <a:pt x="34226" y="34226"/>
                </a:lnTo>
                <a:lnTo>
                  <a:pt x="9183" y="71366"/>
                </a:lnTo>
                <a:lnTo>
                  <a:pt x="0" y="116839"/>
                </a:lnTo>
                <a:lnTo>
                  <a:pt x="0" y="584200"/>
                </a:lnTo>
                <a:lnTo>
                  <a:pt x="9183" y="629673"/>
                </a:lnTo>
                <a:lnTo>
                  <a:pt x="34226" y="666813"/>
                </a:lnTo>
                <a:lnTo>
                  <a:pt x="71366" y="691856"/>
                </a:lnTo>
                <a:lnTo>
                  <a:pt x="116840" y="701039"/>
                </a:lnTo>
                <a:lnTo>
                  <a:pt x="1097788" y="701039"/>
                </a:lnTo>
                <a:lnTo>
                  <a:pt x="1143261" y="691856"/>
                </a:lnTo>
                <a:lnTo>
                  <a:pt x="1180401" y="666813"/>
                </a:lnTo>
                <a:lnTo>
                  <a:pt x="1205444" y="629673"/>
                </a:lnTo>
                <a:lnTo>
                  <a:pt x="1214628" y="584200"/>
                </a:lnTo>
                <a:lnTo>
                  <a:pt x="1214628" y="116839"/>
                </a:lnTo>
                <a:lnTo>
                  <a:pt x="1205444" y="71366"/>
                </a:lnTo>
                <a:lnTo>
                  <a:pt x="1180401" y="34226"/>
                </a:lnTo>
                <a:lnTo>
                  <a:pt x="1143261" y="9183"/>
                </a:lnTo>
                <a:lnTo>
                  <a:pt x="1097788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15133" y="2071877"/>
            <a:ext cx="1214755" cy="701040"/>
          </a:xfrm>
          <a:custGeom>
            <a:avLst/>
            <a:gdLst/>
            <a:ahLst/>
            <a:cxnLst/>
            <a:rect l="l" t="t" r="r" b="b"/>
            <a:pathLst>
              <a:path w="1214754" h="701039">
                <a:moveTo>
                  <a:pt x="0" y="116839"/>
                </a:moveTo>
                <a:lnTo>
                  <a:pt x="9183" y="71366"/>
                </a:lnTo>
                <a:lnTo>
                  <a:pt x="34226" y="34226"/>
                </a:lnTo>
                <a:lnTo>
                  <a:pt x="71366" y="9183"/>
                </a:lnTo>
                <a:lnTo>
                  <a:pt x="116840" y="0"/>
                </a:lnTo>
                <a:lnTo>
                  <a:pt x="1097788" y="0"/>
                </a:lnTo>
                <a:lnTo>
                  <a:pt x="1143261" y="9183"/>
                </a:lnTo>
                <a:lnTo>
                  <a:pt x="1180401" y="34226"/>
                </a:lnTo>
                <a:lnTo>
                  <a:pt x="1205444" y="71366"/>
                </a:lnTo>
                <a:lnTo>
                  <a:pt x="1214628" y="116839"/>
                </a:lnTo>
                <a:lnTo>
                  <a:pt x="1214628" y="584200"/>
                </a:lnTo>
                <a:lnTo>
                  <a:pt x="1205444" y="629673"/>
                </a:lnTo>
                <a:lnTo>
                  <a:pt x="1180401" y="666813"/>
                </a:lnTo>
                <a:lnTo>
                  <a:pt x="1143261" y="691856"/>
                </a:lnTo>
                <a:lnTo>
                  <a:pt x="1097788" y="701039"/>
                </a:lnTo>
                <a:lnTo>
                  <a:pt x="116840" y="701039"/>
                </a:lnTo>
                <a:lnTo>
                  <a:pt x="71366" y="691856"/>
                </a:lnTo>
                <a:lnTo>
                  <a:pt x="34226" y="666813"/>
                </a:lnTo>
                <a:lnTo>
                  <a:pt x="9183" y="629673"/>
                </a:lnTo>
                <a:lnTo>
                  <a:pt x="0" y="584200"/>
                </a:lnTo>
                <a:lnTo>
                  <a:pt x="0" y="116839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78938" y="2088007"/>
            <a:ext cx="2844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15133" y="4572761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2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6"/>
                </a:lnTo>
                <a:lnTo>
                  <a:pt x="1098042" y="699516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8" y="582930"/>
                </a:lnTo>
                <a:lnTo>
                  <a:pt x="1214628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15133" y="4572761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2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8" y="116586"/>
                </a:lnTo>
                <a:lnTo>
                  <a:pt x="1214628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2" y="699516"/>
                </a:lnTo>
                <a:lnTo>
                  <a:pt x="116586" y="699516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36850" y="4588586"/>
            <a:ext cx="16827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2000">
              <a:latin typeface="Calibri"/>
              <a:cs typeface="Calibri"/>
            </a:endParaRPr>
          </a:p>
          <a:p>
            <a:pPr marL="1968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01261" y="2071877"/>
            <a:ext cx="1214755" cy="701040"/>
          </a:xfrm>
          <a:custGeom>
            <a:avLst/>
            <a:gdLst/>
            <a:ahLst/>
            <a:cxnLst/>
            <a:rect l="l" t="t" r="r" b="b"/>
            <a:pathLst>
              <a:path w="1214754" h="701039">
                <a:moveTo>
                  <a:pt x="1097788" y="0"/>
                </a:moveTo>
                <a:lnTo>
                  <a:pt x="116839" y="0"/>
                </a:lnTo>
                <a:lnTo>
                  <a:pt x="71366" y="9183"/>
                </a:lnTo>
                <a:lnTo>
                  <a:pt x="34226" y="34226"/>
                </a:lnTo>
                <a:lnTo>
                  <a:pt x="9183" y="71366"/>
                </a:lnTo>
                <a:lnTo>
                  <a:pt x="0" y="116839"/>
                </a:lnTo>
                <a:lnTo>
                  <a:pt x="0" y="584200"/>
                </a:lnTo>
                <a:lnTo>
                  <a:pt x="9183" y="629673"/>
                </a:lnTo>
                <a:lnTo>
                  <a:pt x="34226" y="666813"/>
                </a:lnTo>
                <a:lnTo>
                  <a:pt x="71366" y="691856"/>
                </a:lnTo>
                <a:lnTo>
                  <a:pt x="116839" y="701039"/>
                </a:lnTo>
                <a:lnTo>
                  <a:pt x="1097788" y="701039"/>
                </a:lnTo>
                <a:lnTo>
                  <a:pt x="1143261" y="691856"/>
                </a:lnTo>
                <a:lnTo>
                  <a:pt x="1180401" y="666813"/>
                </a:lnTo>
                <a:lnTo>
                  <a:pt x="1205444" y="629673"/>
                </a:lnTo>
                <a:lnTo>
                  <a:pt x="1214627" y="584200"/>
                </a:lnTo>
                <a:lnTo>
                  <a:pt x="1214627" y="116839"/>
                </a:lnTo>
                <a:lnTo>
                  <a:pt x="1205444" y="71366"/>
                </a:lnTo>
                <a:lnTo>
                  <a:pt x="1180401" y="34226"/>
                </a:lnTo>
                <a:lnTo>
                  <a:pt x="1143261" y="9183"/>
                </a:lnTo>
                <a:lnTo>
                  <a:pt x="1097788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001261" y="2071877"/>
            <a:ext cx="1214755" cy="701040"/>
          </a:xfrm>
          <a:custGeom>
            <a:avLst/>
            <a:gdLst/>
            <a:ahLst/>
            <a:cxnLst/>
            <a:rect l="l" t="t" r="r" b="b"/>
            <a:pathLst>
              <a:path w="1214754" h="701039">
                <a:moveTo>
                  <a:pt x="0" y="116839"/>
                </a:moveTo>
                <a:lnTo>
                  <a:pt x="9183" y="71366"/>
                </a:lnTo>
                <a:lnTo>
                  <a:pt x="34226" y="34226"/>
                </a:lnTo>
                <a:lnTo>
                  <a:pt x="71366" y="9183"/>
                </a:lnTo>
                <a:lnTo>
                  <a:pt x="116839" y="0"/>
                </a:lnTo>
                <a:lnTo>
                  <a:pt x="1097788" y="0"/>
                </a:lnTo>
                <a:lnTo>
                  <a:pt x="1143261" y="9183"/>
                </a:lnTo>
                <a:lnTo>
                  <a:pt x="1180401" y="34226"/>
                </a:lnTo>
                <a:lnTo>
                  <a:pt x="1205444" y="71366"/>
                </a:lnTo>
                <a:lnTo>
                  <a:pt x="1214627" y="116839"/>
                </a:lnTo>
                <a:lnTo>
                  <a:pt x="1214627" y="584200"/>
                </a:lnTo>
                <a:lnTo>
                  <a:pt x="1205444" y="629673"/>
                </a:lnTo>
                <a:lnTo>
                  <a:pt x="1180401" y="666813"/>
                </a:lnTo>
                <a:lnTo>
                  <a:pt x="1143261" y="691856"/>
                </a:lnTo>
                <a:lnTo>
                  <a:pt x="1097788" y="701039"/>
                </a:lnTo>
                <a:lnTo>
                  <a:pt x="116839" y="701039"/>
                </a:lnTo>
                <a:lnTo>
                  <a:pt x="71366" y="691856"/>
                </a:lnTo>
                <a:lnTo>
                  <a:pt x="34226" y="666813"/>
                </a:lnTo>
                <a:lnTo>
                  <a:pt x="9183" y="629673"/>
                </a:lnTo>
                <a:lnTo>
                  <a:pt x="0" y="584200"/>
                </a:lnTo>
                <a:lnTo>
                  <a:pt x="0" y="116839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65446" y="2088007"/>
            <a:ext cx="2844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15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072890" y="4572761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2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6"/>
                </a:lnTo>
                <a:lnTo>
                  <a:pt x="1098042" y="699516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7" y="582930"/>
                </a:lnTo>
                <a:lnTo>
                  <a:pt x="1214627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72890" y="4572761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2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7" y="116586"/>
                </a:lnTo>
                <a:lnTo>
                  <a:pt x="1214627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2" y="699516"/>
                </a:lnTo>
                <a:lnTo>
                  <a:pt x="116586" y="699516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599178" y="4588586"/>
            <a:ext cx="16065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2000">
              <a:latin typeface="Calibri"/>
              <a:cs typeface="Calibri"/>
            </a:endParaRPr>
          </a:p>
          <a:p>
            <a:pPr marL="1524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859017" y="4572761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1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6"/>
                </a:lnTo>
                <a:lnTo>
                  <a:pt x="1098041" y="699516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8" y="582930"/>
                </a:lnTo>
                <a:lnTo>
                  <a:pt x="1214628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1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59017" y="4572761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1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8" y="116586"/>
                </a:lnTo>
                <a:lnTo>
                  <a:pt x="1214628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1" y="699516"/>
                </a:lnTo>
                <a:lnTo>
                  <a:pt x="116586" y="699516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373114" y="4588586"/>
            <a:ext cx="18605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  <a:p>
            <a:pPr marL="2730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716773" y="3358134"/>
            <a:ext cx="1213485" cy="701040"/>
          </a:xfrm>
          <a:custGeom>
            <a:avLst/>
            <a:gdLst/>
            <a:ahLst/>
            <a:cxnLst/>
            <a:rect l="l" t="t" r="r" b="b"/>
            <a:pathLst>
              <a:path w="1213484" h="701039">
                <a:moveTo>
                  <a:pt x="1096264" y="0"/>
                </a:moveTo>
                <a:lnTo>
                  <a:pt x="116840" y="0"/>
                </a:lnTo>
                <a:lnTo>
                  <a:pt x="71366" y="9183"/>
                </a:lnTo>
                <a:lnTo>
                  <a:pt x="34226" y="34226"/>
                </a:lnTo>
                <a:lnTo>
                  <a:pt x="9183" y="71366"/>
                </a:lnTo>
                <a:lnTo>
                  <a:pt x="0" y="116839"/>
                </a:lnTo>
                <a:lnTo>
                  <a:pt x="0" y="584199"/>
                </a:lnTo>
                <a:lnTo>
                  <a:pt x="9183" y="629673"/>
                </a:lnTo>
                <a:lnTo>
                  <a:pt x="34226" y="666813"/>
                </a:lnTo>
                <a:lnTo>
                  <a:pt x="71366" y="691856"/>
                </a:lnTo>
                <a:lnTo>
                  <a:pt x="116840" y="701039"/>
                </a:lnTo>
                <a:lnTo>
                  <a:pt x="1096264" y="701039"/>
                </a:lnTo>
                <a:lnTo>
                  <a:pt x="1141737" y="691856"/>
                </a:lnTo>
                <a:lnTo>
                  <a:pt x="1178877" y="666813"/>
                </a:lnTo>
                <a:lnTo>
                  <a:pt x="1203920" y="629673"/>
                </a:lnTo>
                <a:lnTo>
                  <a:pt x="1213103" y="584199"/>
                </a:lnTo>
                <a:lnTo>
                  <a:pt x="1213103" y="116839"/>
                </a:lnTo>
                <a:lnTo>
                  <a:pt x="1203920" y="71366"/>
                </a:lnTo>
                <a:lnTo>
                  <a:pt x="1178877" y="34226"/>
                </a:lnTo>
                <a:lnTo>
                  <a:pt x="1141737" y="9183"/>
                </a:lnTo>
                <a:lnTo>
                  <a:pt x="1096264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716773" y="3358134"/>
            <a:ext cx="1213485" cy="701040"/>
          </a:xfrm>
          <a:custGeom>
            <a:avLst/>
            <a:gdLst/>
            <a:ahLst/>
            <a:cxnLst/>
            <a:rect l="l" t="t" r="r" b="b"/>
            <a:pathLst>
              <a:path w="1213484" h="701039">
                <a:moveTo>
                  <a:pt x="0" y="116839"/>
                </a:moveTo>
                <a:lnTo>
                  <a:pt x="9183" y="71366"/>
                </a:lnTo>
                <a:lnTo>
                  <a:pt x="34226" y="34226"/>
                </a:lnTo>
                <a:lnTo>
                  <a:pt x="71366" y="9183"/>
                </a:lnTo>
                <a:lnTo>
                  <a:pt x="116840" y="0"/>
                </a:lnTo>
                <a:lnTo>
                  <a:pt x="1096264" y="0"/>
                </a:lnTo>
                <a:lnTo>
                  <a:pt x="1141737" y="9183"/>
                </a:lnTo>
                <a:lnTo>
                  <a:pt x="1178877" y="34226"/>
                </a:lnTo>
                <a:lnTo>
                  <a:pt x="1203920" y="71366"/>
                </a:lnTo>
                <a:lnTo>
                  <a:pt x="1213103" y="116839"/>
                </a:lnTo>
                <a:lnTo>
                  <a:pt x="1213103" y="584199"/>
                </a:lnTo>
                <a:lnTo>
                  <a:pt x="1203920" y="629673"/>
                </a:lnTo>
                <a:lnTo>
                  <a:pt x="1178877" y="666813"/>
                </a:lnTo>
                <a:lnTo>
                  <a:pt x="1141737" y="691856"/>
                </a:lnTo>
                <a:lnTo>
                  <a:pt x="1096264" y="701039"/>
                </a:lnTo>
                <a:lnTo>
                  <a:pt x="116840" y="701039"/>
                </a:lnTo>
                <a:lnTo>
                  <a:pt x="71366" y="691856"/>
                </a:lnTo>
                <a:lnTo>
                  <a:pt x="34226" y="666813"/>
                </a:lnTo>
                <a:lnTo>
                  <a:pt x="9183" y="629673"/>
                </a:lnTo>
                <a:lnTo>
                  <a:pt x="0" y="584199"/>
                </a:lnTo>
                <a:lnTo>
                  <a:pt x="0" y="116839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151621" y="3374263"/>
            <a:ext cx="34163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" marR="5080" indent="-29209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Fin  10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001261" y="33733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1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1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7" y="582930"/>
                </a:lnTo>
                <a:lnTo>
                  <a:pt x="1214627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1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001261" y="33733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1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7" y="116586"/>
                </a:lnTo>
                <a:lnTo>
                  <a:pt x="1214627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1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465446" y="3388614"/>
            <a:ext cx="28448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7112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F  10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59017" y="33733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1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1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8" y="582930"/>
                </a:lnTo>
                <a:lnTo>
                  <a:pt x="1214628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1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859017" y="33733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1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8" y="116586"/>
                </a:lnTo>
                <a:lnTo>
                  <a:pt x="1214628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1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322821" y="3388614"/>
            <a:ext cx="28448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826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G  10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82039" y="2282951"/>
            <a:ext cx="1239011" cy="1054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94232" y="2362326"/>
            <a:ext cx="1121410" cy="996950"/>
          </a:xfrm>
          <a:custGeom>
            <a:avLst/>
            <a:gdLst/>
            <a:ahLst/>
            <a:cxnLst/>
            <a:rect l="l" t="t" r="r" b="b"/>
            <a:pathLst>
              <a:path w="1121410" h="996950">
                <a:moveTo>
                  <a:pt x="1047532" y="47117"/>
                </a:moveTo>
                <a:lnTo>
                  <a:pt x="0" y="47117"/>
                </a:lnTo>
                <a:lnTo>
                  <a:pt x="0" y="996696"/>
                </a:lnTo>
                <a:lnTo>
                  <a:pt x="25908" y="996696"/>
                </a:lnTo>
                <a:lnTo>
                  <a:pt x="25908" y="73025"/>
                </a:lnTo>
                <a:lnTo>
                  <a:pt x="12954" y="73025"/>
                </a:lnTo>
                <a:lnTo>
                  <a:pt x="25908" y="60071"/>
                </a:lnTo>
                <a:lnTo>
                  <a:pt x="1069739" y="60071"/>
                </a:lnTo>
                <a:lnTo>
                  <a:pt x="1047532" y="47117"/>
                </a:lnTo>
                <a:close/>
              </a:path>
              <a:path w="1121410" h="996950">
                <a:moveTo>
                  <a:pt x="1069739" y="60071"/>
                </a:moveTo>
                <a:lnTo>
                  <a:pt x="1011174" y="94234"/>
                </a:lnTo>
                <a:lnTo>
                  <a:pt x="1004951" y="97789"/>
                </a:lnTo>
                <a:lnTo>
                  <a:pt x="1002919" y="105790"/>
                </a:lnTo>
                <a:lnTo>
                  <a:pt x="1006475" y="111887"/>
                </a:lnTo>
                <a:lnTo>
                  <a:pt x="1010031" y="118110"/>
                </a:lnTo>
                <a:lnTo>
                  <a:pt x="1018032" y="120142"/>
                </a:lnTo>
                <a:lnTo>
                  <a:pt x="1098818" y="73025"/>
                </a:lnTo>
                <a:lnTo>
                  <a:pt x="1095375" y="73025"/>
                </a:lnTo>
                <a:lnTo>
                  <a:pt x="1095375" y="71247"/>
                </a:lnTo>
                <a:lnTo>
                  <a:pt x="1088898" y="71247"/>
                </a:lnTo>
                <a:lnTo>
                  <a:pt x="1069739" y="60071"/>
                </a:lnTo>
                <a:close/>
              </a:path>
              <a:path w="1121410" h="996950">
                <a:moveTo>
                  <a:pt x="25908" y="60071"/>
                </a:moveTo>
                <a:lnTo>
                  <a:pt x="12954" y="73025"/>
                </a:lnTo>
                <a:lnTo>
                  <a:pt x="25908" y="73025"/>
                </a:lnTo>
                <a:lnTo>
                  <a:pt x="25908" y="60071"/>
                </a:lnTo>
                <a:close/>
              </a:path>
              <a:path w="1121410" h="996950">
                <a:moveTo>
                  <a:pt x="1069739" y="60071"/>
                </a:moveTo>
                <a:lnTo>
                  <a:pt x="25908" y="60071"/>
                </a:lnTo>
                <a:lnTo>
                  <a:pt x="25908" y="73025"/>
                </a:lnTo>
                <a:lnTo>
                  <a:pt x="1047532" y="73025"/>
                </a:lnTo>
                <a:lnTo>
                  <a:pt x="1069739" y="60071"/>
                </a:lnTo>
                <a:close/>
              </a:path>
              <a:path w="1121410" h="996950">
                <a:moveTo>
                  <a:pt x="1098817" y="47117"/>
                </a:moveTo>
                <a:lnTo>
                  <a:pt x="1095375" y="47117"/>
                </a:lnTo>
                <a:lnTo>
                  <a:pt x="1095375" y="73025"/>
                </a:lnTo>
                <a:lnTo>
                  <a:pt x="1098818" y="73025"/>
                </a:lnTo>
                <a:lnTo>
                  <a:pt x="1121029" y="60071"/>
                </a:lnTo>
                <a:lnTo>
                  <a:pt x="1098817" y="47117"/>
                </a:lnTo>
                <a:close/>
              </a:path>
              <a:path w="1121410" h="996950">
                <a:moveTo>
                  <a:pt x="1088898" y="48895"/>
                </a:moveTo>
                <a:lnTo>
                  <a:pt x="1069739" y="60071"/>
                </a:lnTo>
                <a:lnTo>
                  <a:pt x="1088898" y="71247"/>
                </a:lnTo>
                <a:lnTo>
                  <a:pt x="1088898" y="48895"/>
                </a:lnTo>
                <a:close/>
              </a:path>
              <a:path w="1121410" h="996950">
                <a:moveTo>
                  <a:pt x="1095375" y="48895"/>
                </a:moveTo>
                <a:lnTo>
                  <a:pt x="1088898" y="48895"/>
                </a:lnTo>
                <a:lnTo>
                  <a:pt x="1088898" y="71247"/>
                </a:lnTo>
                <a:lnTo>
                  <a:pt x="1095375" y="71247"/>
                </a:lnTo>
                <a:lnTo>
                  <a:pt x="1095375" y="48895"/>
                </a:lnTo>
                <a:close/>
              </a:path>
              <a:path w="1121410" h="996950">
                <a:moveTo>
                  <a:pt x="1018032" y="0"/>
                </a:moveTo>
                <a:lnTo>
                  <a:pt x="1010031" y="2032"/>
                </a:lnTo>
                <a:lnTo>
                  <a:pt x="1006475" y="8255"/>
                </a:lnTo>
                <a:lnTo>
                  <a:pt x="1002919" y="14350"/>
                </a:lnTo>
                <a:lnTo>
                  <a:pt x="1004951" y="22351"/>
                </a:lnTo>
                <a:lnTo>
                  <a:pt x="1011174" y="25908"/>
                </a:lnTo>
                <a:lnTo>
                  <a:pt x="1069739" y="60071"/>
                </a:lnTo>
                <a:lnTo>
                  <a:pt x="1088898" y="48895"/>
                </a:lnTo>
                <a:lnTo>
                  <a:pt x="1095375" y="48895"/>
                </a:lnTo>
                <a:lnTo>
                  <a:pt x="1095375" y="47117"/>
                </a:lnTo>
                <a:lnTo>
                  <a:pt x="1098817" y="47117"/>
                </a:lnTo>
                <a:lnTo>
                  <a:pt x="101803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416808" y="2284476"/>
            <a:ext cx="690372" cy="2331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429761" y="2363597"/>
            <a:ext cx="571500" cy="120650"/>
          </a:xfrm>
          <a:custGeom>
            <a:avLst/>
            <a:gdLst/>
            <a:ahLst/>
            <a:cxnLst/>
            <a:rect l="l" t="t" r="r" b="b"/>
            <a:pathLst>
              <a:path w="571500" h="120650">
                <a:moveTo>
                  <a:pt x="497933" y="73145"/>
                </a:moveTo>
                <a:lnTo>
                  <a:pt x="455295" y="97789"/>
                </a:lnTo>
                <a:lnTo>
                  <a:pt x="453263" y="105790"/>
                </a:lnTo>
                <a:lnTo>
                  <a:pt x="456818" y="111887"/>
                </a:lnTo>
                <a:lnTo>
                  <a:pt x="460375" y="118110"/>
                </a:lnTo>
                <a:lnTo>
                  <a:pt x="468249" y="120268"/>
                </a:lnTo>
                <a:lnTo>
                  <a:pt x="474472" y="116586"/>
                </a:lnTo>
                <a:lnTo>
                  <a:pt x="549159" y="73278"/>
                </a:lnTo>
                <a:lnTo>
                  <a:pt x="497933" y="73145"/>
                </a:lnTo>
                <a:close/>
              </a:path>
              <a:path w="571500" h="120650">
                <a:moveTo>
                  <a:pt x="520146" y="60281"/>
                </a:moveTo>
                <a:lnTo>
                  <a:pt x="497933" y="73145"/>
                </a:lnTo>
                <a:lnTo>
                  <a:pt x="545846" y="73278"/>
                </a:lnTo>
                <a:lnTo>
                  <a:pt x="545846" y="71500"/>
                </a:lnTo>
                <a:lnTo>
                  <a:pt x="539241" y="71500"/>
                </a:lnTo>
                <a:lnTo>
                  <a:pt x="520146" y="60281"/>
                </a:lnTo>
                <a:close/>
              </a:path>
              <a:path w="571500" h="120650">
                <a:moveTo>
                  <a:pt x="468629" y="0"/>
                </a:moveTo>
                <a:lnTo>
                  <a:pt x="460755" y="2031"/>
                </a:lnTo>
                <a:lnTo>
                  <a:pt x="457073" y="8254"/>
                </a:lnTo>
                <a:lnTo>
                  <a:pt x="453516" y="14350"/>
                </a:lnTo>
                <a:lnTo>
                  <a:pt x="455549" y="22351"/>
                </a:lnTo>
                <a:lnTo>
                  <a:pt x="497946" y="47237"/>
                </a:lnTo>
                <a:lnTo>
                  <a:pt x="545846" y="47370"/>
                </a:lnTo>
                <a:lnTo>
                  <a:pt x="545846" y="73278"/>
                </a:lnTo>
                <a:lnTo>
                  <a:pt x="549159" y="73278"/>
                </a:lnTo>
                <a:lnTo>
                  <a:pt x="571500" y="60325"/>
                </a:lnTo>
                <a:lnTo>
                  <a:pt x="474852" y="3555"/>
                </a:lnTo>
                <a:lnTo>
                  <a:pt x="468629" y="0"/>
                </a:lnTo>
                <a:close/>
              </a:path>
              <a:path w="571500" h="120650">
                <a:moveTo>
                  <a:pt x="0" y="45847"/>
                </a:moveTo>
                <a:lnTo>
                  <a:pt x="0" y="71754"/>
                </a:lnTo>
                <a:lnTo>
                  <a:pt x="497933" y="73145"/>
                </a:lnTo>
                <a:lnTo>
                  <a:pt x="520146" y="60281"/>
                </a:lnTo>
                <a:lnTo>
                  <a:pt x="497946" y="47237"/>
                </a:lnTo>
                <a:lnTo>
                  <a:pt x="0" y="45847"/>
                </a:lnTo>
                <a:close/>
              </a:path>
              <a:path w="571500" h="120650">
                <a:moveTo>
                  <a:pt x="539368" y="49149"/>
                </a:moveTo>
                <a:lnTo>
                  <a:pt x="520146" y="60281"/>
                </a:lnTo>
                <a:lnTo>
                  <a:pt x="539241" y="71500"/>
                </a:lnTo>
                <a:lnTo>
                  <a:pt x="539368" y="49149"/>
                </a:lnTo>
                <a:close/>
              </a:path>
              <a:path w="571500" h="120650">
                <a:moveTo>
                  <a:pt x="545846" y="49149"/>
                </a:moveTo>
                <a:lnTo>
                  <a:pt x="539368" y="49149"/>
                </a:lnTo>
                <a:lnTo>
                  <a:pt x="539241" y="71500"/>
                </a:lnTo>
                <a:lnTo>
                  <a:pt x="545846" y="71500"/>
                </a:lnTo>
                <a:lnTo>
                  <a:pt x="545846" y="49149"/>
                </a:lnTo>
                <a:close/>
              </a:path>
              <a:path w="571500" h="120650">
                <a:moveTo>
                  <a:pt x="497946" y="47237"/>
                </a:moveTo>
                <a:lnTo>
                  <a:pt x="520146" y="60281"/>
                </a:lnTo>
                <a:lnTo>
                  <a:pt x="539368" y="49149"/>
                </a:lnTo>
                <a:lnTo>
                  <a:pt x="545846" y="49149"/>
                </a:lnTo>
                <a:lnTo>
                  <a:pt x="545846" y="47370"/>
                </a:lnTo>
                <a:lnTo>
                  <a:pt x="497946" y="47237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80559" y="2747772"/>
            <a:ext cx="233172" cy="7208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547742" y="2772917"/>
            <a:ext cx="120650" cy="601980"/>
          </a:xfrm>
          <a:custGeom>
            <a:avLst/>
            <a:gdLst/>
            <a:ahLst/>
            <a:cxnLst/>
            <a:rect l="l" t="t" r="r" b="b"/>
            <a:pathLst>
              <a:path w="120650" h="601979">
                <a:moveTo>
                  <a:pt x="14351" y="483489"/>
                </a:moveTo>
                <a:lnTo>
                  <a:pt x="2032" y="490728"/>
                </a:lnTo>
                <a:lnTo>
                  <a:pt x="0" y="498602"/>
                </a:lnTo>
                <a:lnTo>
                  <a:pt x="3556" y="504825"/>
                </a:lnTo>
                <a:lnTo>
                  <a:pt x="60071" y="601726"/>
                </a:lnTo>
                <a:lnTo>
                  <a:pt x="75033" y="576072"/>
                </a:lnTo>
                <a:lnTo>
                  <a:pt x="47117" y="576072"/>
                </a:lnTo>
                <a:lnTo>
                  <a:pt x="47117" y="528102"/>
                </a:lnTo>
                <a:lnTo>
                  <a:pt x="25908" y="491744"/>
                </a:lnTo>
                <a:lnTo>
                  <a:pt x="22352" y="485521"/>
                </a:lnTo>
                <a:lnTo>
                  <a:pt x="14351" y="483489"/>
                </a:lnTo>
                <a:close/>
              </a:path>
              <a:path w="120650" h="601979">
                <a:moveTo>
                  <a:pt x="47117" y="528102"/>
                </a:moveTo>
                <a:lnTo>
                  <a:pt x="47117" y="576072"/>
                </a:lnTo>
                <a:lnTo>
                  <a:pt x="73025" y="576072"/>
                </a:lnTo>
                <a:lnTo>
                  <a:pt x="73025" y="569468"/>
                </a:lnTo>
                <a:lnTo>
                  <a:pt x="48895" y="569468"/>
                </a:lnTo>
                <a:lnTo>
                  <a:pt x="60071" y="550309"/>
                </a:lnTo>
                <a:lnTo>
                  <a:pt x="47117" y="528102"/>
                </a:lnTo>
                <a:close/>
              </a:path>
              <a:path w="120650" h="601979">
                <a:moveTo>
                  <a:pt x="105791" y="483489"/>
                </a:moveTo>
                <a:lnTo>
                  <a:pt x="97790" y="485521"/>
                </a:lnTo>
                <a:lnTo>
                  <a:pt x="94234" y="491744"/>
                </a:lnTo>
                <a:lnTo>
                  <a:pt x="73025" y="528102"/>
                </a:lnTo>
                <a:lnTo>
                  <a:pt x="73025" y="576072"/>
                </a:lnTo>
                <a:lnTo>
                  <a:pt x="75033" y="576072"/>
                </a:lnTo>
                <a:lnTo>
                  <a:pt x="116586" y="504825"/>
                </a:lnTo>
                <a:lnTo>
                  <a:pt x="120142" y="498602"/>
                </a:lnTo>
                <a:lnTo>
                  <a:pt x="118110" y="490728"/>
                </a:lnTo>
                <a:lnTo>
                  <a:pt x="105791" y="483489"/>
                </a:lnTo>
                <a:close/>
              </a:path>
              <a:path w="120650" h="601979">
                <a:moveTo>
                  <a:pt x="60071" y="550309"/>
                </a:moveTo>
                <a:lnTo>
                  <a:pt x="48895" y="569468"/>
                </a:lnTo>
                <a:lnTo>
                  <a:pt x="71247" y="569468"/>
                </a:lnTo>
                <a:lnTo>
                  <a:pt x="60071" y="550309"/>
                </a:lnTo>
                <a:close/>
              </a:path>
              <a:path w="120650" h="601979">
                <a:moveTo>
                  <a:pt x="73025" y="528102"/>
                </a:moveTo>
                <a:lnTo>
                  <a:pt x="60071" y="550309"/>
                </a:lnTo>
                <a:lnTo>
                  <a:pt x="71247" y="569468"/>
                </a:lnTo>
                <a:lnTo>
                  <a:pt x="73025" y="569468"/>
                </a:lnTo>
                <a:lnTo>
                  <a:pt x="73025" y="528102"/>
                </a:lnTo>
                <a:close/>
              </a:path>
              <a:path w="120650" h="601979">
                <a:moveTo>
                  <a:pt x="48768" y="287909"/>
                </a:moveTo>
                <a:lnTo>
                  <a:pt x="47117" y="287909"/>
                </a:lnTo>
                <a:lnTo>
                  <a:pt x="47117" y="528102"/>
                </a:lnTo>
                <a:lnTo>
                  <a:pt x="60071" y="550309"/>
                </a:lnTo>
                <a:lnTo>
                  <a:pt x="73025" y="528102"/>
                </a:lnTo>
                <a:lnTo>
                  <a:pt x="73025" y="313817"/>
                </a:lnTo>
                <a:lnTo>
                  <a:pt x="60071" y="313817"/>
                </a:lnTo>
                <a:lnTo>
                  <a:pt x="73025" y="300863"/>
                </a:lnTo>
                <a:lnTo>
                  <a:pt x="48768" y="300863"/>
                </a:lnTo>
                <a:lnTo>
                  <a:pt x="48768" y="287909"/>
                </a:lnTo>
                <a:close/>
              </a:path>
              <a:path w="120650" h="601979">
                <a:moveTo>
                  <a:pt x="73025" y="300863"/>
                </a:moveTo>
                <a:lnTo>
                  <a:pt x="60071" y="313817"/>
                </a:lnTo>
                <a:lnTo>
                  <a:pt x="73025" y="313817"/>
                </a:lnTo>
                <a:lnTo>
                  <a:pt x="73025" y="300863"/>
                </a:lnTo>
                <a:close/>
              </a:path>
              <a:path w="120650" h="601979">
                <a:moveTo>
                  <a:pt x="74676" y="287909"/>
                </a:moveTo>
                <a:lnTo>
                  <a:pt x="61722" y="287909"/>
                </a:lnTo>
                <a:lnTo>
                  <a:pt x="48768" y="300863"/>
                </a:lnTo>
                <a:lnTo>
                  <a:pt x="73025" y="300863"/>
                </a:lnTo>
                <a:lnTo>
                  <a:pt x="73025" y="313817"/>
                </a:lnTo>
                <a:lnTo>
                  <a:pt x="74676" y="313817"/>
                </a:lnTo>
                <a:lnTo>
                  <a:pt x="74676" y="287909"/>
                </a:lnTo>
                <a:close/>
              </a:path>
              <a:path w="120650" h="601979">
                <a:moveTo>
                  <a:pt x="74676" y="0"/>
                </a:moveTo>
                <a:lnTo>
                  <a:pt x="48768" y="0"/>
                </a:lnTo>
                <a:lnTo>
                  <a:pt x="48768" y="300863"/>
                </a:lnTo>
                <a:lnTo>
                  <a:pt x="61722" y="287909"/>
                </a:lnTo>
                <a:lnTo>
                  <a:pt x="74676" y="287909"/>
                </a:lnTo>
                <a:lnTo>
                  <a:pt x="74676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202935" y="3585971"/>
            <a:ext cx="762000" cy="2331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215890" y="3665346"/>
            <a:ext cx="643255" cy="120650"/>
          </a:xfrm>
          <a:custGeom>
            <a:avLst/>
            <a:gdLst/>
            <a:ahLst/>
            <a:cxnLst/>
            <a:rect l="l" t="t" r="r" b="b"/>
            <a:pathLst>
              <a:path w="643254" h="120650">
                <a:moveTo>
                  <a:pt x="591475" y="60134"/>
                </a:moveTo>
                <a:lnTo>
                  <a:pt x="526796" y="97916"/>
                </a:lnTo>
                <a:lnTo>
                  <a:pt x="524763" y="105790"/>
                </a:lnTo>
                <a:lnTo>
                  <a:pt x="528320" y="112013"/>
                </a:lnTo>
                <a:lnTo>
                  <a:pt x="532002" y="118236"/>
                </a:lnTo>
                <a:lnTo>
                  <a:pt x="539876" y="120268"/>
                </a:lnTo>
                <a:lnTo>
                  <a:pt x="546100" y="116712"/>
                </a:lnTo>
                <a:lnTo>
                  <a:pt x="620839" y="73025"/>
                </a:lnTo>
                <a:lnTo>
                  <a:pt x="617347" y="73025"/>
                </a:lnTo>
                <a:lnTo>
                  <a:pt x="617347" y="71373"/>
                </a:lnTo>
                <a:lnTo>
                  <a:pt x="610743" y="71373"/>
                </a:lnTo>
                <a:lnTo>
                  <a:pt x="591475" y="60134"/>
                </a:lnTo>
                <a:close/>
              </a:path>
              <a:path w="643254" h="120650">
                <a:moveTo>
                  <a:pt x="308483" y="58546"/>
                </a:moveTo>
                <a:lnTo>
                  <a:pt x="308483" y="73025"/>
                </a:lnTo>
                <a:lnTo>
                  <a:pt x="569377" y="73025"/>
                </a:lnTo>
                <a:lnTo>
                  <a:pt x="571989" y="71500"/>
                </a:lnTo>
                <a:lnTo>
                  <a:pt x="321437" y="71500"/>
                </a:lnTo>
                <a:lnTo>
                  <a:pt x="308483" y="58546"/>
                </a:lnTo>
                <a:close/>
              </a:path>
              <a:path w="643254" h="120650">
                <a:moveTo>
                  <a:pt x="620789" y="47116"/>
                </a:moveTo>
                <a:lnTo>
                  <a:pt x="617347" y="47116"/>
                </a:lnTo>
                <a:lnTo>
                  <a:pt x="617347" y="73025"/>
                </a:lnTo>
                <a:lnTo>
                  <a:pt x="620839" y="73025"/>
                </a:lnTo>
                <a:lnTo>
                  <a:pt x="643001" y="60070"/>
                </a:lnTo>
                <a:lnTo>
                  <a:pt x="620789" y="47116"/>
                </a:lnTo>
                <a:close/>
              </a:path>
              <a:path w="643254" h="120650">
                <a:moveTo>
                  <a:pt x="334390" y="45592"/>
                </a:moveTo>
                <a:lnTo>
                  <a:pt x="0" y="45592"/>
                </a:lnTo>
                <a:lnTo>
                  <a:pt x="0" y="71500"/>
                </a:lnTo>
                <a:lnTo>
                  <a:pt x="308483" y="71500"/>
                </a:lnTo>
                <a:lnTo>
                  <a:pt x="308483" y="58546"/>
                </a:lnTo>
                <a:lnTo>
                  <a:pt x="332866" y="58546"/>
                </a:lnTo>
                <a:lnTo>
                  <a:pt x="321437" y="47116"/>
                </a:lnTo>
                <a:lnTo>
                  <a:pt x="334390" y="47116"/>
                </a:lnTo>
                <a:lnTo>
                  <a:pt x="334390" y="45592"/>
                </a:lnTo>
                <a:close/>
              </a:path>
              <a:path w="643254" h="120650">
                <a:moveTo>
                  <a:pt x="332866" y="58546"/>
                </a:moveTo>
                <a:lnTo>
                  <a:pt x="308483" y="58546"/>
                </a:lnTo>
                <a:lnTo>
                  <a:pt x="321437" y="71500"/>
                </a:lnTo>
                <a:lnTo>
                  <a:pt x="571989" y="71500"/>
                </a:lnTo>
                <a:lnTo>
                  <a:pt x="591475" y="60134"/>
                </a:lnTo>
                <a:lnTo>
                  <a:pt x="334390" y="60070"/>
                </a:lnTo>
                <a:lnTo>
                  <a:pt x="332866" y="58546"/>
                </a:lnTo>
                <a:close/>
              </a:path>
              <a:path w="643254" h="120650">
                <a:moveTo>
                  <a:pt x="610743" y="48894"/>
                </a:moveTo>
                <a:lnTo>
                  <a:pt x="591475" y="60134"/>
                </a:lnTo>
                <a:lnTo>
                  <a:pt x="610743" y="71373"/>
                </a:lnTo>
                <a:lnTo>
                  <a:pt x="610743" y="48894"/>
                </a:lnTo>
                <a:close/>
              </a:path>
              <a:path w="643254" h="120650">
                <a:moveTo>
                  <a:pt x="617347" y="48894"/>
                </a:moveTo>
                <a:lnTo>
                  <a:pt x="610743" y="48894"/>
                </a:lnTo>
                <a:lnTo>
                  <a:pt x="610743" y="71373"/>
                </a:lnTo>
                <a:lnTo>
                  <a:pt x="617347" y="71373"/>
                </a:lnTo>
                <a:lnTo>
                  <a:pt x="617347" y="48894"/>
                </a:lnTo>
                <a:close/>
              </a:path>
              <a:path w="643254" h="120650">
                <a:moveTo>
                  <a:pt x="539876" y="0"/>
                </a:moveTo>
                <a:lnTo>
                  <a:pt x="532002" y="2031"/>
                </a:lnTo>
                <a:lnTo>
                  <a:pt x="528320" y="8254"/>
                </a:lnTo>
                <a:lnTo>
                  <a:pt x="524763" y="14477"/>
                </a:lnTo>
                <a:lnTo>
                  <a:pt x="526796" y="22351"/>
                </a:lnTo>
                <a:lnTo>
                  <a:pt x="591475" y="60134"/>
                </a:lnTo>
                <a:lnTo>
                  <a:pt x="610743" y="48894"/>
                </a:lnTo>
                <a:lnTo>
                  <a:pt x="617347" y="48894"/>
                </a:lnTo>
                <a:lnTo>
                  <a:pt x="617347" y="47116"/>
                </a:lnTo>
                <a:lnTo>
                  <a:pt x="620789" y="47116"/>
                </a:lnTo>
                <a:lnTo>
                  <a:pt x="546100" y="3555"/>
                </a:lnTo>
                <a:lnTo>
                  <a:pt x="539876" y="0"/>
                </a:lnTo>
                <a:close/>
              </a:path>
              <a:path w="643254" h="120650">
                <a:moveTo>
                  <a:pt x="334390" y="47116"/>
                </a:moveTo>
                <a:lnTo>
                  <a:pt x="321437" y="47116"/>
                </a:lnTo>
                <a:lnTo>
                  <a:pt x="334390" y="60070"/>
                </a:lnTo>
                <a:lnTo>
                  <a:pt x="334390" y="47116"/>
                </a:lnTo>
                <a:close/>
              </a:path>
              <a:path w="643254" h="120650">
                <a:moveTo>
                  <a:pt x="569159" y="47116"/>
                </a:moveTo>
                <a:lnTo>
                  <a:pt x="334390" y="47116"/>
                </a:lnTo>
                <a:lnTo>
                  <a:pt x="334390" y="60070"/>
                </a:lnTo>
                <a:lnTo>
                  <a:pt x="591366" y="60070"/>
                </a:lnTo>
                <a:lnTo>
                  <a:pt x="569159" y="47116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060692" y="3569208"/>
            <a:ext cx="762000" cy="23317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073645" y="3648583"/>
            <a:ext cx="643255" cy="120650"/>
          </a:xfrm>
          <a:custGeom>
            <a:avLst/>
            <a:gdLst/>
            <a:ahLst/>
            <a:cxnLst/>
            <a:rect l="l" t="t" r="r" b="b"/>
            <a:pathLst>
              <a:path w="643254" h="120650">
                <a:moveTo>
                  <a:pt x="591584" y="60071"/>
                </a:moveTo>
                <a:lnTo>
                  <a:pt x="533019" y="94234"/>
                </a:lnTo>
                <a:lnTo>
                  <a:pt x="526796" y="97790"/>
                </a:lnTo>
                <a:lnTo>
                  <a:pt x="524763" y="105791"/>
                </a:lnTo>
                <a:lnTo>
                  <a:pt x="528320" y="111887"/>
                </a:lnTo>
                <a:lnTo>
                  <a:pt x="532002" y="118110"/>
                </a:lnTo>
                <a:lnTo>
                  <a:pt x="539876" y="120142"/>
                </a:lnTo>
                <a:lnTo>
                  <a:pt x="546100" y="116586"/>
                </a:lnTo>
                <a:lnTo>
                  <a:pt x="620789" y="73025"/>
                </a:lnTo>
                <a:lnTo>
                  <a:pt x="617347" y="73025"/>
                </a:lnTo>
                <a:lnTo>
                  <a:pt x="617347" y="71247"/>
                </a:lnTo>
                <a:lnTo>
                  <a:pt x="610743" y="71247"/>
                </a:lnTo>
                <a:lnTo>
                  <a:pt x="591584" y="60071"/>
                </a:lnTo>
                <a:close/>
              </a:path>
              <a:path w="643254" h="120650">
                <a:moveTo>
                  <a:pt x="308482" y="61468"/>
                </a:moveTo>
                <a:lnTo>
                  <a:pt x="0" y="61468"/>
                </a:lnTo>
                <a:lnTo>
                  <a:pt x="0" y="87376"/>
                </a:lnTo>
                <a:lnTo>
                  <a:pt x="334390" y="87376"/>
                </a:lnTo>
                <a:lnTo>
                  <a:pt x="334390" y="74422"/>
                </a:lnTo>
                <a:lnTo>
                  <a:pt x="308482" y="74422"/>
                </a:lnTo>
                <a:lnTo>
                  <a:pt x="308482" y="61468"/>
                </a:lnTo>
                <a:close/>
              </a:path>
              <a:path w="643254" h="120650">
                <a:moveTo>
                  <a:pt x="569377" y="47117"/>
                </a:moveTo>
                <a:lnTo>
                  <a:pt x="308482" y="47117"/>
                </a:lnTo>
                <a:lnTo>
                  <a:pt x="308482" y="74422"/>
                </a:lnTo>
                <a:lnTo>
                  <a:pt x="321436" y="61468"/>
                </a:lnTo>
                <a:lnTo>
                  <a:pt x="332993" y="61468"/>
                </a:lnTo>
                <a:lnTo>
                  <a:pt x="334390" y="60071"/>
                </a:lnTo>
                <a:lnTo>
                  <a:pt x="591584" y="60071"/>
                </a:lnTo>
                <a:lnTo>
                  <a:pt x="569377" y="47117"/>
                </a:lnTo>
                <a:close/>
              </a:path>
              <a:path w="643254" h="120650">
                <a:moveTo>
                  <a:pt x="332993" y="61468"/>
                </a:moveTo>
                <a:lnTo>
                  <a:pt x="321436" y="61468"/>
                </a:lnTo>
                <a:lnTo>
                  <a:pt x="308482" y="74422"/>
                </a:lnTo>
                <a:lnTo>
                  <a:pt x="334390" y="74422"/>
                </a:lnTo>
                <a:lnTo>
                  <a:pt x="334390" y="73025"/>
                </a:lnTo>
                <a:lnTo>
                  <a:pt x="321436" y="73025"/>
                </a:lnTo>
                <a:lnTo>
                  <a:pt x="332993" y="61468"/>
                </a:lnTo>
                <a:close/>
              </a:path>
              <a:path w="643254" h="120650">
                <a:moveTo>
                  <a:pt x="334390" y="60071"/>
                </a:moveTo>
                <a:lnTo>
                  <a:pt x="321436" y="73025"/>
                </a:lnTo>
                <a:lnTo>
                  <a:pt x="334390" y="73025"/>
                </a:lnTo>
                <a:lnTo>
                  <a:pt x="334390" y="60071"/>
                </a:lnTo>
                <a:close/>
              </a:path>
              <a:path w="643254" h="120650">
                <a:moveTo>
                  <a:pt x="591584" y="60071"/>
                </a:moveTo>
                <a:lnTo>
                  <a:pt x="334390" y="60071"/>
                </a:lnTo>
                <a:lnTo>
                  <a:pt x="334390" y="73025"/>
                </a:lnTo>
                <a:lnTo>
                  <a:pt x="569377" y="73025"/>
                </a:lnTo>
                <a:lnTo>
                  <a:pt x="591584" y="60071"/>
                </a:lnTo>
                <a:close/>
              </a:path>
              <a:path w="643254" h="120650">
                <a:moveTo>
                  <a:pt x="620789" y="47117"/>
                </a:moveTo>
                <a:lnTo>
                  <a:pt x="617347" y="47117"/>
                </a:lnTo>
                <a:lnTo>
                  <a:pt x="617347" y="73025"/>
                </a:lnTo>
                <a:lnTo>
                  <a:pt x="620789" y="73025"/>
                </a:lnTo>
                <a:lnTo>
                  <a:pt x="643001" y="60071"/>
                </a:lnTo>
                <a:lnTo>
                  <a:pt x="620789" y="47117"/>
                </a:lnTo>
                <a:close/>
              </a:path>
              <a:path w="643254" h="120650">
                <a:moveTo>
                  <a:pt x="610743" y="48895"/>
                </a:moveTo>
                <a:lnTo>
                  <a:pt x="591584" y="60071"/>
                </a:lnTo>
                <a:lnTo>
                  <a:pt x="610743" y="71247"/>
                </a:lnTo>
                <a:lnTo>
                  <a:pt x="610743" y="48895"/>
                </a:lnTo>
                <a:close/>
              </a:path>
              <a:path w="643254" h="120650">
                <a:moveTo>
                  <a:pt x="617347" y="48895"/>
                </a:moveTo>
                <a:lnTo>
                  <a:pt x="610743" y="48895"/>
                </a:lnTo>
                <a:lnTo>
                  <a:pt x="610743" y="71247"/>
                </a:lnTo>
                <a:lnTo>
                  <a:pt x="617347" y="71247"/>
                </a:lnTo>
                <a:lnTo>
                  <a:pt x="617347" y="48895"/>
                </a:lnTo>
                <a:close/>
              </a:path>
              <a:path w="643254" h="120650">
                <a:moveTo>
                  <a:pt x="539876" y="0"/>
                </a:moveTo>
                <a:lnTo>
                  <a:pt x="532002" y="2032"/>
                </a:lnTo>
                <a:lnTo>
                  <a:pt x="528320" y="8255"/>
                </a:lnTo>
                <a:lnTo>
                  <a:pt x="524763" y="14351"/>
                </a:lnTo>
                <a:lnTo>
                  <a:pt x="526796" y="22352"/>
                </a:lnTo>
                <a:lnTo>
                  <a:pt x="533019" y="25908"/>
                </a:lnTo>
                <a:lnTo>
                  <a:pt x="591584" y="60071"/>
                </a:lnTo>
                <a:lnTo>
                  <a:pt x="610743" y="48895"/>
                </a:lnTo>
                <a:lnTo>
                  <a:pt x="617347" y="48895"/>
                </a:lnTo>
                <a:lnTo>
                  <a:pt x="617347" y="47117"/>
                </a:lnTo>
                <a:lnTo>
                  <a:pt x="620789" y="47117"/>
                </a:lnTo>
                <a:lnTo>
                  <a:pt x="546100" y="3556"/>
                </a:lnTo>
                <a:lnTo>
                  <a:pt x="539876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274564" y="4785359"/>
            <a:ext cx="690372" cy="23317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287517" y="4864734"/>
            <a:ext cx="571500" cy="120650"/>
          </a:xfrm>
          <a:custGeom>
            <a:avLst/>
            <a:gdLst/>
            <a:ahLst/>
            <a:cxnLst/>
            <a:rect l="l" t="t" r="r" b="b"/>
            <a:pathLst>
              <a:path w="571500" h="120650">
                <a:moveTo>
                  <a:pt x="520101" y="60134"/>
                </a:moveTo>
                <a:lnTo>
                  <a:pt x="455422" y="97916"/>
                </a:lnTo>
                <a:lnTo>
                  <a:pt x="453390" y="105790"/>
                </a:lnTo>
                <a:lnTo>
                  <a:pt x="460502" y="118237"/>
                </a:lnTo>
                <a:lnTo>
                  <a:pt x="468503" y="120268"/>
                </a:lnTo>
                <a:lnTo>
                  <a:pt x="549336" y="73025"/>
                </a:lnTo>
                <a:lnTo>
                  <a:pt x="545846" y="73025"/>
                </a:lnTo>
                <a:lnTo>
                  <a:pt x="545846" y="71373"/>
                </a:lnTo>
                <a:lnTo>
                  <a:pt x="539369" y="71373"/>
                </a:lnTo>
                <a:lnTo>
                  <a:pt x="520101" y="60134"/>
                </a:lnTo>
                <a:close/>
              </a:path>
              <a:path w="571500" h="120650">
                <a:moveTo>
                  <a:pt x="272796" y="58546"/>
                </a:moveTo>
                <a:lnTo>
                  <a:pt x="272796" y="73025"/>
                </a:lnTo>
                <a:lnTo>
                  <a:pt x="498003" y="73025"/>
                </a:lnTo>
                <a:lnTo>
                  <a:pt x="500615" y="71500"/>
                </a:lnTo>
                <a:lnTo>
                  <a:pt x="285750" y="71500"/>
                </a:lnTo>
                <a:lnTo>
                  <a:pt x="272796" y="58546"/>
                </a:lnTo>
                <a:close/>
              </a:path>
              <a:path w="571500" h="120650">
                <a:moveTo>
                  <a:pt x="549288" y="47116"/>
                </a:moveTo>
                <a:lnTo>
                  <a:pt x="545846" y="47116"/>
                </a:lnTo>
                <a:lnTo>
                  <a:pt x="545846" y="73025"/>
                </a:lnTo>
                <a:lnTo>
                  <a:pt x="549336" y="73025"/>
                </a:lnTo>
                <a:lnTo>
                  <a:pt x="571500" y="60070"/>
                </a:lnTo>
                <a:lnTo>
                  <a:pt x="549288" y="47116"/>
                </a:lnTo>
                <a:close/>
              </a:path>
              <a:path w="571500" h="120650">
                <a:moveTo>
                  <a:pt x="298704" y="45592"/>
                </a:moveTo>
                <a:lnTo>
                  <a:pt x="0" y="45592"/>
                </a:lnTo>
                <a:lnTo>
                  <a:pt x="0" y="71500"/>
                </a:lnTo>
                <a:lnTo>
                  <a:pt x="272796" y="71500"/>
                </a:lnTo>
                <a:lnTo>
                  <a:pt x="272796" y="58546"/>
                </a:lnTo>
                <a:lnTo>
                  <a:pt x="297180" y="58546"/>
                </a:lnTo>
                <a:lnTo>
                  <a:pt x="285750" y="47116"/>
                </a:lnTo>
                <a:lnTo>
                  <a:pt x="298704" y="47116"/>
                </a:lnTo>
                <a:lnTo>
                  <a:pt x="298704" y="45592"/>
                </a:lnTo>
                <a:close/>
              </a:path>
              <a:path w="571500" h="120650">
                <a:moveTo>
                  <a:pt x="297180" y="58546"/>
                </a:moveTo>
                <a:lnTo>
                  <a:pt x="272796" y="58546"/>
                </a:lnTo>
                <a:lnTo>
                  <a:pt x="285750" y="71500"/>
                </a:lnTo>
                <a:lnTo>
                  <a:pt x="500615" y="71500"/>
                </a:lnTo>
                <a:lnTo>
                  <a:pt x="520101" y="60134"/>
                </a:lnTo>
                <a:lnTo>
                  <a:pt x="298704" y="60070"/>
                </a:lnTo>
                <a:lnTo>
                  <a:pt x="297180" y="58546"/>
                </a:lnTo>
                <a:close/>
              </a:path>
              <a:path w="571500" h="120650">
                <a:moveTo>
                  <a:pt x="539369" y="48894"/>
                </a:moveTo>
                <a:lnTo>
                  <a:pt x="520101" y="60134"/>
                </a:lnTo>
                <a:lnTo>
                  <a:pt x="539369" y="71373"/>
                </a:lnTo>
                <a:lnTo>
                  <a:pt x="539369" y="48894"/>
                </a:lnTo>
                <a:close/>
              </a:path>
              <a:path w="571500" h="120650">
                <a:moveTo>
                  <a:pt x="545846" y="48894"/>
                </a:moveTo>
                <a:lnTo>
                  <a:pt x="539369" y="48894"/>
                </a:lnTo>
                <a:lnTo>
                  <a:pt x="539369" y="71373"/>
                </a:lnTo>
                <a:lnTo>
                  <a:pt x="545846" y="71373"/>
                </a:lnTo>
                <a:lnTo>
                  <a:pt x="545846" y="48894"/>
                </a:lnTo>
                <a:close/>
              </a:path>
              <a:path w="571500" h="120650">
                <a:moveTo>
                  <a:pt x="468503" y="0"/>
                </a:moveTo>
                <a:lnTo>
                  <a:pt x="460502" y="2031"/>
                </a:lnTo>
                <a:lnTo>
                  <a:pt x="453390" y="14477"/>
                </a:lnTo>
                <a:lnTo>
                  <a:pt x="455422" y="22351"/>
                </a:lnTo>
                <a:lnTo>
                  <a:pt x="520101" y="60134"/>
                </a:lnTo>
                <a:lnTo>
                  <a:pt x="539369" y="48894"/>
                </a:lnTo>
                <a:lnTo>
                  <a:pt x="545846" y="48894"/>
                </a:lnTo>
                <a:lnTo>
                  <a:pt x="545846" y="47116"/>
                </a:lnTo>
                <a:lnTo>
                  <a:pt x="549288" y="47116"/>
                </a:lnTo>
                <a:lnTo>
                  <a:pt x="468503" y="0"/>
                </a:lnTo>
                <a:close/>
              </a:path>
              <a:path w="571500" h="120650">
                <a:moveTo>
                  <a:pt x="298704" y="47116"/>
                </a:moveTo>
                <a:lnTo>
                  <a:pt x="285750" y="47116"/>
                </a:lnTo>
                <a:lnTo>
                  <a:pt x="298704" y="60070"/>
                </a:lnTo>
                <a:lnTo>
                  <a:pt x="298704" y="47116"/>
                </a:lnTo>
                <a:close/>
              </a:path>
              <a:path w="571500" h="120650">
                <a:moveTo>
                  <a:pt x="497785" y="47116"/>
                </a:moveTo>
                <a:lnTo>
                  <a:pt x="298704" y="47116"/>
                </a:lnTo>
                <a:lnTo>
                  <a:pt x="298704" y="60070"/>
                </a:lnTo>
                <a:lnTo>
                  <a:pt x="519992" y="60070"/>
                </a:lnTo>
                <a:lnTo>
                  <a:pt x="497785" y="47116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060692" y="3919728"/>
            <a:ext cx="1370076" cy="9966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073645" y="4059173"/>
            <a:ext cx="1311275" cy="878205"/>
          </a:xfrm>
          <a:custGeom>
            <a:avLst/>
            <a:gdLst/>
            <a:ahLst/>
            <a:cxnLst/>
            <a:rect l="l" t="t" r="r" b="b"/>
            <a:pathLst>
              <a:path w="1311275" h="878204">
                <a:moveTo>
                  <a:pt x="1237996" y="852297"/>
                </a:moveTo>
                <a:lnTo>
                  <a:pt x="0" y="852297"/>
                </a:lnTo>
                <a:lnTo>
                  <a:pt x="0" y="878205"/>
                </a:lnTo>
                <a:lnTo>
                  <a:pt x="1263903" y="878205"/>
                </a:lnTo>
                <a:lnTo>
                  <a:pt x="1263903" y="865251"/>
                </a:lnTo>
                <a:lnTo>
                  <a:pt x="1237996" y="865251"/>
                </a:lnTo>
                <a:lnTo>
                  <a:pt x="1237996" y="852297"/>
                </a:lnTo>
                <a:close/>
              </a:path>
              <a:path w="1311275" h="878204">
                <a:moveTo>
                  <a:pt x="1250950" y="51289"/>
                </a:moveTo>
                <a:lnTo>
                  <a:pt x="1237996" y="73496"/>
                </a:lnTo>
                <a:lnTo>
                  <a:pt x="1237996" y="865251"/>
                </a:lnTo>
                <a:lnTo>
                  <a:pt x="1250950" y="852297"/>
                </a:lnTo>
                <a:lnTo>
                  <a:pt x="1263903" y="852297"/>
                </a:lnTo>
                <a:lnTo>
                  <a:pt x="1263903" y="73496"/>
                </a:lnTo>
                <a:lnTo>
                  <a:pt x="1250950" y="51289"/>
                </a:lnTo>
                <a:close/>
              </a:path>
              <a:path w="1311275" h="878204">
                <a:moveTo>
                  <a:pt x="1263903" y="852297"/>
                </a:moveTo>
                <a:lnTo>
                  <a:pt x="1250950" y="852297"/>
                </a:lnTo>
                <a:lnTo>
                  <a:pt x="1237996" y="865251"/>
                </a:lnTo>
                <a:lnTo>
                  <a:pt x="1263903" y="865251"/>
                </a:lnTo>
                <a:lnTo>
                  <a:pt x="1263903" y="852297"/>
                </a:lnTo>
                <a:close/>
              </a:path>
              <a:path w="1311275" h="878204">
                <a:moveTo>
                  <a:pt x="1250950" y="0"/>
                </a:moveTo>
                <a:lnTo>
                  <a:pt x="1194434" y="96900"/>
                </a:lnTo>
                <a:lnTo>
                  <a:pt x="1190752" y="102996"/>
                </a:lnTo>
                <a:lnTo>
                  <a:pt x="1192910" y="110998"/>
                </a:lnTo>
                <a:lnTo>
                  <a:pt x="1199133" y="114553"/>
                </a:lnTo>
                <a:lnTo>
                  <a:pt x="1205229" y="118109"/>
                </a:lnTo>
                <a:lnTo>
                  <a:pt x="1213230" y="116077"/>
                </a:lnTo>
                <a:lnTo>
                  <a:pt x="1216786" y="109855"/>
                </a:lnTo>
                <a:lnTo>
                  <a:pt x="1237995" y="73496"/>
                </a:lnTo>
                <a:lnTo>
                  <a:pt x="1237996" y="25653"/>
                </a:lnTo>
                <a:lnTo>
                  <a:pt x="1265912" y="25653"/>
                </a:lnTo>
                <a:lnTo>
                  <a:pt x="1250950" y="0"/>
                </a:lnTo>
                <a:close/>
              </a:path>
              <a:path w="1311275" h="878204">
                <a:moveTo>
                  <a:pt x="1265912" y="25653"/>
                </a:moveTo>
                <a:lnTo>
                  <a:pt x="1263903" y="25653"/>
                </a:lnTo>
                <a:lnTo>
                  <a:pt x="1263903" y="73496"/>
                </a:lnTo>
                <a:lnTo>
                  <a:pt x="1285112" y="109855"/>
                </a:lnTo>
                <a:lnTo>
                  <a:pt x="1288669" y="116077"/>
                </a:lnTo>
                <a:lnTo>
                  <a:pt x="1296670" y="118109"/>
                </a:lnTo>
                <a:lnTo>
                  <a:pt x="1302765" y="114553"/>
                </a:lnTo>
                <a:lnTo>
                  <a:pt x="1308988" y="110998"/>
                </a:lnTo>
                <a:lnTo>
                  <a:pt x="1311021" y="102996"/>
                </a:lnTo>
                <a:lnTo>
                  <a:pt x="1265912" y="25653"/>
                </a:lnTo>
                <a:close/>
              </a:path>
              <a:path w="1311275" h="878204">
                <a:moveTo>
                  <a:pt x="1263903" y="25653"/>
                </a:moveTo>
                <a:lnTo>
                  <a:pt x="1237996" y="25653"/>
                </a:lnTo>
                <a:lnTo>
                  <a:pt x="1237996" y="73496"/>
                </a:lnTo>
                <a:lnTo>
                  <a:pt x="1250950" y="51289"/>
                </a:lnTo>
                <a:lnTo>
                  <a:pt x="1239774" y="32131"/>
                </a:lnTo>
                <a:lnTo>
                  <a:pt x="1263903" y="32131"/>
                </a:lnTo>
                <a:lnTo>
                  <a:pt x="1263903" y="25653"/>
                </a:lnTo>
                <a:close/>
              </a:path>
              <a:path w="1311275" h="878204">
                <a:moveTo>
                  <a:pt x="1263903" y="32131"/>
                </a:moveTo>
                <a:lnTo>
                  <a:pt x="1262126" y="32131"/>
                </a:lnTo>
                <a:lnTo>
                  <a:pt x="1250950" y="51289"/>
                </a:lnTo>
                <a:lnTo>
                  <a:pt x="1263903" y="73496"/>
                </a:lnTo>
                <a:lnTo>
                  <a:pt x="1263903" y="32131"/>
                </a:lnTo>
                <a:close/>
              </a:path>
              <a:path w="1311275" h="878204">
                <a:moveTo>
                  <a:pt x="1262126" y="32131"/>
                </a:moveTo>
                <a:lnTo>
                  <a:pt x="1239774" y="32131"/>
                </a:lnTo>
                <a:lnTo>
                  <a:pt x="1250950" y="51289"/>
                </a:lnTo>
                <a:lnTo>
                  <a:pt x="1262126" y="32131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82039" y="4032503"/>
            <a:ext cx="1239011" cy="9845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94232" y="4057650"/>
            <a:ext cx="1121410" cy="925830"/>
          </a:xfrm>
          <a:custGeom>
            <a:avLst/>
            <a:gdLst/>
            <a:ahLst/>
            <a:cxnLst/>
            <a:rect l="l" t="t" r="r" b="b"/>
            <a:pathLst>
              <a:path w="1121410" h="925829">
                <a:moveTo>
                  <a:pt x="1069630" y="865187"/>
                </a:moveTo>
                <a:lnTo>
                  <a:pt x="1004951" y="902969"/>
                </a:lnTo>
                <a:lnTo>
                  <a:pt x="1002919" y="910844"/>
                </a:lnTo>
                <a:lnTo>
                  <a:pt x="1010031" y="923289"/>
                </a:lnTo>
                <a:lnTo>
                  <a:pt x="1018032" y="925322"/>
                </a:lnTo>
                <a:lnTo>
                  <a:pt x="1098867" y="878077"/>
                </a:lnTo>
                <a:lnTo>
                  <a:pt x="1095375" y="878077"/>
                </a:lnTo>
                <a:lnTo>
                  <a:pt x="1095375" y="876426"/>
                </a:lnTo>
                <a:lnTo>
                  <a:pt x="1088898" y="876426"/>
                </a:lnTo>
                <a:lnTo>
                  <a:pt x="1069630" y="865187"/>
                </a:lnTo>
                <a:close/>
              </a:path>
              <a:path w="1121410" h="925829">
                <a:moveTo>
                  <a:pt x="25908" y="0"/>
                </a:moveTo>
                <a:lnTo>
                  <a:pt x="0" y="0"/>
                </a:lnTo>
                <a:lnTo>
                  <a:pt x="0" y="878077"/>
                </a:lnTo>
                <a:lnTo>
                  <a:pt x="1047532" y="878077"/>
                </a:lnTo>
                <a:lnTo>
                  <a:pt x="1069630" y="865187"/>
                </a:lnTo>
                <a:lnTo>
                  <a:pt x="25908" y="865124"/>
                </a:lnTo>
                <a:lnTo>
                  <a:pt x="12954" y="852169"/>
                </a:lnTo>
                <a:lnTo>
                  <a:pt x="25908" y="852169"/>
                </a:lnTo>
                <a:lnTo>
                  <a:pt x="25908" y="0"/>
                </a:lnTo>
                <a:close/>
              </a:path>
              <a:path w="1121410" h="925829">
                <a:moveTo>
                  <a:pt x="1098818" y="852169"/>
                </a:moveTo>
                <a:lnTo>
                  <a:pt x="1095375" y="852169"/>
                </a:lnTo>
                <a:lnTo>
                  <a:pt x="1095375" y="878077"/>
                </a:lnTo>
                <a:lnTo>
                  <a:pt x="1098867" y="878077"/>
                </a:lnTo>
                <a:lnTo>
                  <a:pt x="1121029" y="865124"/>
                </a:lnTo>
                <a:lnTo>
                  <a:pt x="1098818" y="852169"/>
                </a:lnTo>
                <a:close/>
              </a:path>
              <a:path w="1121410" h="925829">
                <a:moveTo>
                  <a:pt x="1088898" y="853948"/>
                </a:moveTo>
                <a:lnTo>
                  <a:pt x="1069630" y="865187"/>
                </a:lnTo>
                <a:lnTo>
                  <a:pt x="1088898" y="876426"/>
                </a:lnTo>
                <a:lnTo>
                  <a:pt x="1088898" y="853948"/>
                </a:lnTo>
                <a:close/>
              </a:path>
              <a:path w="1121410" h="925829">
                <a:moveTo>
                  <a:pt x="1095375" y="853948"/>
                </a:moveTo>
                <a:lnTo>
                  <a:pt x="1088898" y="853948"/>
                </a:lnTo>
                <a:lnTo>
                  <a:pt x="1088898" y="876426"/>
                </a:lnTo>
                <a:lnTo>
                  <a:pt x="1095375" y="876426"/>
                </a:lnTo>
                <a:lnTo>
                  <a:pt x="1095375" y="853948"/>
                </a:lnTo>
                <a:close/>
              </a:path>
              <a:path w="1121410" h="925829">
                <a:moveTo>
                  <a:pt x="1018032" y="805052"/>
                </a:moveTo>
                <a:lnTo>
                  <a:pt x="1010031" y="807085"/>
                </a:lnTo>
                <a:lnTo>
                  <a:pt x="1002919" y="819531"/>
                </a:lnTo>
                <a:lnTo>
                  <a:pt x="1004951" y="827405"/>
                </a:lnTo>
                <a:lnTo>
                  <a:pt x="1069630" y="865187"/>
                </a:lnTo>
                <a:lnTo>
                  <a:pt x="1088898" y="853948"/>
                </a:lnTo>
                <a:lnTo>
                  <a:pt x="1095375" y="853948"/>
                </a:lnTo>
                <a:lnTo>
                  <a:pt x="1095375" y="852169"/>
                </a:lnTo>
                <a:lnTo>
                  <a:pt x="1098818" y="852169"/>
                </a:lnTo>
                <a:lnTo>
                  <a:pt x="1018032" y="805052"/>
                </a:lnTo>
                <a:close/>
              </a:path>
              <a:path w="1121410" h="925829">
                <a:moveTo>
                  <a:pt x="25908" y="852169"/>
                </a:moveTo>
                <a:lnTo>
                  <a:pt x="12954" y="852169"/>
                </a:lnTo>
                <a:lnTo>
                  <a:pt x="25908" y="865124"/>
                </a:lnTo>
                <a:lnTo>
                  <a:pt x="25908" y="852169"/>
                </a:lnTo>
                <a:close/>
              </a:path>
              <a:path w="1121410" h="925829">
                <a:moveTo>
                  <a:pt x="1047314" y="852169"/>
                </a:moveTo>
                <a:lnTo>
                  <a:pt x="25908" y="852169"/>
                </a:lnTo>
                <a:lnTo>
                  <a:pt x="25908" y="865124"/>
                </a:lnTo>
                <a:lnTo>
                  <a:pt x="1069521" y="865124"/>
                </a:lnTo>
                <a:lnTo>
                  <a:pt x="1047314" y="852169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416808" y="4785359"/>
            <a:ext cx="762000" cy="2331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429761" y="4864734"/>
            <a:ext cx="643255" cy="120650"/>
          </a:xfrm>
          <a:custGeom>
            <a:avLst/>
            <a:gdLst/>
            <a:ahLst/>
            <a:cxnLst/>
            <a:rect l="l" t="t" r="r" b="b"/>
            <a:pathLst>
              <a:path w="643254" h="120650">
                <a:moveTo>
                  <a:pt x="591475" y="60134"/>
                </a:moveTo>
                <a:lnTo>
                  <a:pt x="526796" y="97916"/>
                </a:lnTo>
                <a:lnTo>
                  <a:pt x="524763" y="105790"/>
                </a:lnTo>
                <a:lnTo>
                  <a:pt x="528320" y="112013"/>
                </a:lnTo>
                <a:lnTo>
                  <a:pt x="532002" y="118237"/>
                </a:lnTo>
                <a:lnTo>
                  <a:pt x="539876" y="120268"/>
                </a:lnTo>
                <a:lnTo>
                  <a:pt x="546100" y="116712"/>
                </a:lnTo>
                <a:lnTo>
                  <a:pt x="620839" y="73025"/>
                </a:lnTo>
                <a:lnTo>
                  <a:pt x="617347" y="73025"/>
                </a:lnTo>
                <a:lnTo>
                  <a:pt x="617347" y="71373"/>
                </a:lnTo>
                <a:lnTo>
                  <a:pt x="610742" y="71373"/>
                </a:lnTo>
                <a:lnTo>
                  <a:pt x="591475" y="60134"/>
                </a:lnTo>
                <a:close/>
              </a:path>
              <a:path w="643254" h="120650">
                <a:moveTo>
                  <a:pt x="308483" y="58546"/>
                </a:moveTo>
                <a:lnTo>
                  <a:pt x="308483" y="73025"/>
                </a:lnTo>
                <a:lnTo>
                  <a:pt x="569377" y="73025"/>
                </a:lnTo>
                <a:lnTo>
                  <a:pt x="571989" y="71500"/>
                </a:lnTo>
                <a:lnTo>
                  <a:pt x="321437" y="71500"/>
                </a:lnTo>
                <a:lnTo>
                  <a:pt x="308483" y="58546"/>
                </a:lnTo>
                <a:close/>
              </a:path>
              <a:path w="643254" h="120650">
                <a:moveTo>
                  <a:pt x="620789" y="47116"/>
                </a:moveTo>
                <a:lnTo>
                  <a:pt x="617347" y="47116"/>
                </a:lnTo>
                <a:lnTo>
                  <a:pt x="617347" y="73025"/>
                </a:lnTo>
                <a:lnTo>
                  <a:pt x="620839" y="73025"/>
                </a:lnTo>
                <a:lnTo>
                  <a:pt x="643001" y="60070"/>
                </a:lnTo>
                <a:lnTo>
                  <a:pt x="620789" y="47116"/>
                </a:lnTo>
                <a:close/>
              </a:path>
              <a:path w="643254" h="120650">
                <a:moveTo>
                  <a:pt x="334390" y="45592"/>
                </a:moveTo>
                <a:lnTo>
                  <a:pt x="0" y="45592"/>
                </a:lnTo>
                <a:lnTo>
                  <a:pt x="0" y="71500"/>
                </a:lnTo>
                <a:lnTo>
                  <a:pt x="308483" y="71500"/>
                </a:lnTo>
                <a:lnTo>
                  <a:pt x="308483" y="58546"/>
                </a:lnTo>
                <a:lnTo>
                  <a:pt x="332866" y="58546"/>
                </a:lnTo>
                <a:lnTo>
                  <a:pt x="321437" y="47116"/>
                </a:lnTo>
                <a:lnTo>
                  <a:pt x="334390" y="47116"/>
                </a:lnTo>
                <a:lnTo>
                  <a:pt x="334390" y="45592"/>
                </a:lnTo>
                <a:close/>
              </a:path>
              <a:path w="643254" h="120650">
                <a:moveTo>
                  <a:pt x="332866" y="58546"/>
                </a:moveTo>
                <a:lnTo>
                  <a:pt x="308483" y="58546"/>
                </a:lnTo>
                <a:lnTo>
                  <a:pt x="321437" y="71500"/>
                </a:lnTo>
                <a:lnTo>
                  <a:pt x="571989" y="71500"/>
                </a:lnTo>
                <a:lnTo>
                  <a:pt x="591475" y="60134"/>
                </a:lnTo>
                <a:lnTo>
                  <a:pt x="334390" y="60070"/>
                </a:lnTo>
                <a:lnTo>
                  <a:pt x="332866" y="58546"/>
                </a:lnTo>
                <a:close/>
              </a:path>
              <a:path w="643254" h="120650">
                <a:moveTo>
                  <a:pt x="610742" y="48894"/>
                </a:moveTo>
                <a:lnTo>
                  <a:pt x="591475" y="60134"/>
                </a:lnTo>
                <a:lnTo>
                  <a:pt x="610742" y="71373"/>
                </a:lnTo>
                <a:lnTo>
                  <a:pt x="610742" y="48894"/>
                </a:lnTo>
                <a:close/>
              </a:path>
              <a:path w="643254" h="120650">
                <a:moveTo>
                  <a:pt x="617347" y="48894"/>
                </a:moveTo>
                <a:lnTo>
                  <a:pt x="610742" y="48894"/>
                </a:lnTo>
                <a:lnTo>
                  <a:pt x="610742" y="71373"/>
                </a:lnTo>
                <a:lnTo>
                  <a:pt x="617347" y="71373"/>
                </a:lnTo>
                <a:lnTo>
                  <a:pt x="617347" y="48894"/>
                </a:lnTo>
                <a:close/>
              </a:path>
              <a:path w="643254" h="120650">
                <a:moveTo>
                  <a:pt x="539876" y="0"/>
                </a:moveTo>
                <a:lnTo>
                  <a:pt x="532002" y="2031"/>
                </a:lnTo>
                <a:lnTo>
                  <a:pt x="528320" y="8254"/>
                </a:lnTo>
                <a:lnTo>
                  <a:pt x="524763" y="14477"/>
                </a:lnTo>
                <a:lnTo>
                  <a:pt x="526796" y="22351"/>
                </a:lnTo>
                <a:lnTo>
                  <a:pt x="591475" y="60134"/>
                </a:lnTo>
                <a:lnTo>
                  <a:pt x="610742" y="48894"/>
                </a:lnTo>
                <a:lnTo>
                  <a:pt x="617347" y="48894"/>
                </a:lnTo>
                <a:lnTo>
                  <a:pt x="617347" y="47116"/>
                </a:lnTo>
                <a:lnTo>
                  <a:pt x="620789" y="47116"/>
                </a:lnTo>
                <a:lnTo>
                  <a:pt x="546100" y="3556"/>
                </a:lnTo>
                <a:lnTo>
                  <a:pt x="539876" y="0"/>
                </a:lnTo>
                <a:close/>
              </a:path>
              <a:path w="643254" h="120650">
                <a:moveTo>
                  <a:pt x="334390" y="47116"/>
                </a:moveTo>
                <a:lnTo>
                  <a:pt x="321437" y="47116"/>
                </a:lnTo>
                <a:lnTo>
                  <a:pt x="334390" y="60070"/>
                </a:lnTo>
                <a:lnTo>
                  <a:pt x="334390" y="47116"/>
                </a:lnTo>
                <a:close/>
              </a:path>
              <a:path w="643254" h="120650">
                <a:moveTo>
                  <a:pt x="569159" y="47116"/>
                </a:moveTo>
                <a:lnTo>
                  <a:pt x="334390" y="47116"/>
                </a:lnTo>
                <a:lnTo>
                  <a:pt x="334390" y="60070"/>
                </a:lnTo>
                <a:lnTo>
                  <a:pt x="591366" y="60070"/>
                </a:lnTo>
                <a:lnTo>
                  <a:pt x="569159" y="47116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507593" y="3137661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471422" y="3137661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257170" y="1811781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293747" y="4352290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257550" y="4384294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10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151123" y="1811781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15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049648" y="1811781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15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050028" y="1811781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30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079875" y="3137661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30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050028" y="3098037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40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049648" y="4384294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10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121655" y="4384294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15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836158" y="4384294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15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764781" y="431266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20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836158" y="3169411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40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907783" y="3169411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50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765160" y="3169411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50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765540" y="3169411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60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64819" y="6377432"/>
            <a:ext cx="35229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Muestra </a:t>
            </a:r>
            <a:r>
              <a:rPr sz="1800" dirty="0">
                <a:latin typeface="Calibri"/>
                <a:cs typeface="Calibri"/>
              </a:rPr>
              <a:t>la </a:t>
            </a:r>
            <a:r>
              <a:rPr sz="1800" spc="-10" dirty="0">
                <a:latin typeface="Calibri"/>
                <a:cs typeface="Calibri"/>
              </a:rPr>
              <a:t>Duración </a:t>
            </a:r>
            <a:r>
              <a:rPr sz="1800" spc="-5" dirty="0">
                <a:latin typeface="Calibri"/>
                <a:cs typeface="Calibri"/>
              </a:rPr>
              <a:t>de la </a:t>
            </a:r>
            <a:r>
              <a:rPr sz="1800" spc="-10" dirty="0">
                <a:latin typeface="Calibri"/>
                <a:cs typeface="Calibri"/>
              </a:rPr>
              <a:t>Ruta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Crítica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9405" marR="5080" indent="-2286635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Método </a:t>
            </a:r>
            <a:r>
              <a:rPr spc="-5" dirty="0"/>
              <a:t>de la </a:t>
            </a:r>
            <a:r>
              <a:rPr spc="-15" dirty="0"/>
              <a:t>ruta </a:t>
            </a:r>
            <a:r>
              <a:rPr spc="-10" dirty="0"/>
              <a:t>crítica- </a:t>
            </a:r>
            <a:r>
              <a:rPr b="1" spc="-15" dirty="0">
                <a:latin typeface="Calibri"/>
                <a:cs typeface="Calibri"/>
              </a:rPr>
              <a:t>Pasada  </a:t>
            </a:r>
            <a:r>
              <a:rPr b="1" spc="-5" dirty="0">
                <a:latin typeface="Calibri"/>
                <a:cs typeface="Calibri"/>
              </a:rPr>
              <a:t>hacia </a:t>
            </a:r>
            <a:r>
              <a:rPr b="1" spc="-30" dirty="0">
                <a:latin typeface="Calibri"/>
                <a:cs typeface="Calibri"/>
              </a:rPr>
              <a:t>atrás</a:t>
            </a:r>
          </a:p>
        </p:txBody>
      </p:sp>
      <p:sp>
        <p:nvSpPr>
          <p:cNvPr id="3" name="object 3"/>
          <p:cNvSpPr/>
          <p:nvPr/>
        </p:nvSpPr>
        <p:spPr>
          <a:xfrm>
            <a:off x="500633" y="3073145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5" h="699770">
                <a:moveTo>
                  <a:pt x="1098042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29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2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8" y="582929"/>
                </a:lnTo>
                <a:lnTo>
                  <a:pt x="1214628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0633" y="3073145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5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2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8" y="116586"/>
                </a:lnTo>
                <a:lnTo>
                  <a:pt x="1214628" y="582929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2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29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7212" y="3088386"/>
            <a:ext cx="60007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950" marR="5080" indent="-22288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000" b="1" spc="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icio  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15133" y="1786889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69">
                <a:moveTo>
                  <a:pt x="1098042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2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8" y="582930"/>
                </a:lnTo>
                <a:lnTo>
                  <a:pt x="1214628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15133" y="1786889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69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2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8" y="116586"/>
                </a:lnTo>
                <a:lnTo>
                  <a:pt x="1214628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2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78938" y="1802383"/>
            <a:ext cx="28448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334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A  10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15133" y="42877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2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2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8" y="582930"/>
                </a:lnTo>
                <a:lnTo>
                  <a:pt x="1214628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15133" y="42877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2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8" y="116586"/>
                </a:lnTo>
                <a:lnTo>
                  <a:pt x="1214628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2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36850" y="4303267"/>
            <a:ext cx="1682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 marR="5080" indent="-762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B  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01261" y="1786889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69">
                <a:moveTo>
                  <a:pt x="1098041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1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7" y="582930"/>
                </a:lnTo>
                <a:lnTo>
                  <a:pt x="1214627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1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001261" y="1786889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69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1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7" y="116586"/>
                </a:lnTo>
                <a:lnTo>
                  <a:pt x="1214627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1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65446" y="1802383"/>
            <a:ext cx="28448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85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E  15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072890" y="42877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2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2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7" y="582930"/>
                </a:lnTo>
                <a:lnTo>
                  <a:pt x="1214627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72890" y="42877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2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7" y="116586"/>
                </a:lnTo>
                <a:lnTo>
                  <a:pt x="1214627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2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599178" y="4303267"/>
            <a:ext cx="1606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C  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859017" y="42877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1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1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8" y="582930"/>
                </a:lnTo>
                <a:lnTo>
                  <a:pt x="1214628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1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59017" y="42877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1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8" y="116586"/>
                </a:lnTo>
                <a:lnTo>
                  <a:pt x="1214628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1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373114" y="4303267"/>
            <a:ext cx="1860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" marR="5080" indent="-1524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D  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716773" y="3073145"/>
            <a:ext cx="1213485" cy="699770"/>
          </a:xfrm>
          <a:custGeom>
            <a:avLst/>
            <a:gdLst/>
            <a:ahLst/>
            <a:cxnLst/>
            <a:rect l="l" t="t" r="r" b="b"/>
            <a:pathLst>
              <a:path w="1213484" h="699770">
                <a:moveTo>
                  <a:pt x="1096518" y="0"/>
                </a:moveTo>
                <a:lnTo>
                  <a:pt x="116585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29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5" y="699515"/>
                </a:lnTo>
                <a:lnTo>
                  <a:pt x="1096518" y="699515"/>
                </a:lnTo>
                <a:lnTo>
                  <a:pt x="1141898" y="690354"/>
                </a:lnTo>
                <a:lnTo>
                  <a:pt x="1178956" y="665368"/>
                </a:lnTo>
                <a:lnTo>
                  <a:pt x="1203942" y="628310"/>
                </a:lnTo>
                <a:lnTo>
                  <a:pt x="1213103" y="582929"/>
                </a:lnTo>
                <a:lnTo>
                  <a:pt x="1213103" y="116586"/>
                </a:lnTo>
                <a:lnTo>
                  <a:pt x="1203942" y="71205"/>
                </a:lnTo>
                <a:lnTo>
                  <a:pt x="1178956" y="34147"/>
                </a:lnTo>
                <a:lnTo>
                  <a:pt x="1141898" y="9161"/>
                </a:lnTo>
                <a:lnTo>
                  <a:pt x="1096518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716773" y="3073145"/>
            <a:ext cx="1213485" cy="699770"/>
          </a:xfrm>
          <a:custGeom>
            <a:avLst/>
            <a:gdLst/>
            <a:ahLst/>
            <a:cxnLst/>
            <a:rect l="l" t="t" r="r" b="b"/>
            <a:pathLst>
              <a:path w="121348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5" y="0"/>
                </a:lnTo>
                <a:lnTo>
                  <a:pt x="1096518" y="0"/>
                </a:lnTo>
                <a:lnTo>
                  <a:pt x="1141898" y="9161"/>
                </a:lnTo>
                <a:lnTo>
                  <a:pt x="1178956" y="34147"/>
                </a:lnTo>
                <a:lnTo>
                  <a:pt x="1203942" y="71205"/>
                </a:lnTo>
                <a:lnTo>
                  <a:pt x="1213103" y="116586"/>
                </a:lnTo>
                <a:lnTo>
                  <a:pt x="1213103" y="582929"/>
                </a:lnTo>
                <a:lnTo>
                  <a:pt x="1203942" y="628310"/>
                </a:lnTo>
                <a:lnTo>
                  <a:pt x="1178956" y="665368"/>
                </a:lnTo>
                <a:lnTo>
                  <a:pt x="1141898" y="690354"/>
                </a:lnTo>
                <a:lnTo>
                  <a:pt x="1096518" y="699515"/>
                </a:lnTo>
                <a:lnTo>
                  <a:pt x="116585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29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151621" y="3088386"/>
            <a:ext cx="34163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" marR="5080" indent="-29209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Fin  10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001261" y="3086861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1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1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7" y="582930"/>
                </a:lnTo>
                <a:lnTo>
                  <a:pt x="1214627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1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001261" y="3086861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1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7" y="116586"/>
                </a:lnTo>
                <a:lnTo>
                  <a:pt x="1214627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1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465446" y="3102610"/>
            <a:ext cx="2844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59017" y="3086861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1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1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8" y="582930"/>
                </a:lnTo>
                <a:lnTo>
                  <a:pt x="1214628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1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859017" y="3086861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1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8" y="116586"/>
                </a:lnTo>
                <a:lnTo>
                  <a:pt x="1214628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1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322821" y="3102610"/>
            <a:ext cx="2844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82039" y="1996439"/>
            <a:ext cx="1239011" cy="1054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94232" y="2075814"/>
            <a:ext cx="1121410" cy="996950"/>
          </a:xfrm>
          <a:custGeom>
            <a:avLst/>
            <a:gdLst/>
            <a:ahLst/>
            <a:cxnLst/>
            <a:rect l="l" t="t" r="r" b="b"/>
            <a:pathLst>
              <a:path w="1121410" h="996950">
                <a:moveTo>
                  <a:pt x="1047532" y="47117"/>
                </a:moveTo>
                <a:lnTo>
                  <a:pt x="0" y="47117"/>
                </a:lnTo>
                <a:lnTo>
                  <a:pt x="0" y="996696"/>
                </a:lnTo>
                <a:lnTo>
                  <a:pt x="25908" y="996696"/>
                </a:lnTo>
                <a:lnTo>
                  <a:pt x="25908" y="73025"/>
                </a:lnTo>
                <a:lnTo>
                  <a:pt x="12954" y="73025"/>
                </a:lnTo>
                <a:lnTo>
                  <a:pt x="25908" y="60071"/>
                </a:lnTo>
                <a:lnTo>
                  <a:pt x="1069739" y="60071"/>
                </a:lnTo>
                <a:lnTo>
                  <a:pt x="1047532" y="47117"/>
                </a:lnTo>
                <a:close/>
              </a:path>
              <a:path w="1121410" h="996950">
                <a:moveTo>
                  <a:pt x="1069739" y="60071"/>
                </a:moveTo>
                <a:lnTo>
                  <a:pt x="1011174" y="94234"/>
                </a:lnTo>
                <a:lnTo>
                  <a:pt x="1004951" y="97789"/>
                </a:lnTo>
                <a:lnTo>
                  <a:pt x="1002919" y="105790"/>
                </a:lnTo>
                <a:lnTo>
                  <a:pt x="1006475" y="111887"/>
                </a:lnTo>
                <a:lnTo>
                  <a:pt x="1010031" y="118110"/>
                </a:lnTo>
                <a:lnTo>
                  <a:pt x="1018032" y="120142"/>
                </a:lnTo>
                <a:lnTo>
                  <a:pt x="1098818" y="73025"/>
                </a:lnTo>
                <a:lnTo>
                  <a:pt x="1095375" y="73025"/>
                </a:lnTo>
                <a:lnTo>
                  <a:pt x="1095375" y="71247"/>
                </a:lnTo>
                <a:lnTo>
                  <a:pt x="1088898" y="71247"/>
                </a:lnTo>
                <a:lnTo>
                  <a:pt x="1069739" y="60071"/>
                </a:lnTo>
                <a:close/>
              </a:path>
              <a:path w="1121410" h="996950">
                <a:moveTo>
                  <a:pt x="25908" y="60071"/>
                </a:moveTo>
                <a:lnTo>
                  <a:pt x="12954" y="73025"/>
                </a:lnTo>
                <a:lnTo>
                  <a:pt x="25908" y="73025"/>
                </a:lnTo>
                <a:lnTo>
                  <a:pt x="25908" y="60071"/>
                </a:lnTo>
                <a:close/>
              </a:path>
              <a:path w="1121410" h="996950">
                <a:moveTo>
                  <a:pt x="1069739" y="60071"/>
                </a:moveTo>
                <a:lnTo>
                  <a:pt x="25908" y="60071"/>
                </a:lnTo>
                <a:lnTo>
                  <a:pt x="25908" y="73025"/>
                </a:lnTo>
                <a:lnTo>
                  <a:pt x="1047532" y="73025"/>
                </a:lnTo>
                <a:lnTo>
                  <a:pt x="1069739" y="60071"/>
                </a:lnTo>
                <a:close/>
              </a:path>
              <a:path w="1121410" h="996950">
                <a:moveTo>
                  <a:pt x="1098817" y="47117"/>
                </a:moveTo>
                <a:lnTo>
                  <a:pt x="1095375" y="47117"/>
                </a:lnTo>
                <a:lnTo>
                  <a:pt x="1095375" y="73025"/>
                </a:lnTo>
                <a:lnTo>
                  <a:pt x="1098818" y="73025"/>
                </a:lnTo>
                <a:lnTo>
                  <a:pt x="1121029" y="60071"/>
                </a:lnTo>
                <a:lnTo>
                  <a:pt x="1098817" y="47117"/>
                </a:lnTo>
                <a:close/>
              </a:path>
              <a:path w="1121410" h="996950">
                <a:moveTo>
                  <a:pt x="1088898" y="48895"/>
                </a:moveTo>
                <a:lnTo>
                  <a:pt x="1069739" y="60071"/>
                </a:lnTo>
                <a:lnTo>
                  <a:pt x="1088898" y="71247"/>
                </a:lnTo>
                <a:lnTo>
                  <a:pt x="1088898" y="48895"/>
                </a:lnTo>
                <a:close/>
              </a:path>
              <a:path w="1121410" h="996950">
                <a:moveTo>
                  <a:pt x="1095375" y="48895"/>
                </a:moveTo>
                <a:lnTo>
                  <a:pt x="1088898" y="48895"/>
                </a:lnTo>
                <a:lnTo>
                  <a:pt x="1088898" y="71247"/>
                </a:lnTo>
                <a:lnTo>
                  <a:pt x="1095375" y="71247"/>
                </a:lnTo>
                <a:lnTo>
                  <a:pt x="1095375" y="48895"/>
                </a:lnTo>
                <a:close/>
              </a:path>
              <a:path w="1121410" h="996950">
                <a:moveTo>
                  <a:pt x="1018032" y="0"/>
                </a:moveTo>
                <a:lnTo>
                  <a:pt x="1010031" y="2032"/>
                </a:lnTo>
                <a:lnTo>
                  <a:pt x="1006475" y="8255"/>
                </a:lnTo>
                <a:lnTo>
                  <a:pt x="1002919" y="14350"/>
                </a:lnTo>
                <a:lnTo>
                  <a:pt x="1004951" y="22351"/>
                </a:lnTo>
                <a:lnTo>
                  <a:pt x="1011174" y="25908"/>
                </a:lnTo>
                <a:lnTo>
                  <a:pt x="1069739" y="60071"/>
                </a:lnTo>
                <a:lnTo>
                  <a:pt x="1088898" y="48895"/>
                </a:lnTo>
                <a:lnTo>
                  <a:pt x="1095375" y="48895"/>
                </a:lnTo>
                <a:lnTo>
                  <a:pt x="1095375" y="47117"/>
                </a:lnTo>
                <a:lnTo>
                  <a:pt x="1098817" y="47117"/>
                </a:lnTo>
                <a:lnTo>
                  <a:pt x="101803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416808" y="1997964"/>
            <a:ext cx="690372" cy="2331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429761" y="2077085"/>
            <a:ext cx="571500" cy="120650"/>
          </a:xfrm>
          <a:custGeom>
            <a:avLst/>
            <a:gdLst/>
            <a:ahLst/>
            <a:cxnLst/>
            <a:rect l="l" t="t" r="r" b="b"/>
            <a:pathLst>
              <a:path w="571500" h="120650">
                <a:moveTo>
                  <a:pt x="497933" y="73145"/>
                </a:moveTo>
                <a:lnTo>
                  <a:pt x="455295" y="97789"/>
                </a:lnTo>
                <a:lnTo>
                  <a:pt x="453263" y="105790"/>
                </a:lnTo>
                <a:lnTo>
                  <a:pt x="456818" y="111887"/>
                </a:lnTo>
                <a:lnTo>
                  <a:pt x="460375" y="118110"/>
                </a:lnTo>
                <a:lnTo>
                  <a:pt x="468249" y="120268"/>
                </a:lnTo>
                <a:lnTo>
                  <a:pt x="474472" y="116586"/>
                </a:lnTo>
                <a:lnTo>
                  <a:pt x="549159" y="73278"/>
                </a:lnTo>
                <a:lnTo>
                  <a:pt x="497933" y="73145"/>
                </a:lnTo>
                <a:close/>
              </a:path>
              <a:path w="571500" h="120650">
                <a:moveTo>
                  <a:pt x="520146" y="60281"/>
                </a:moveTo>
                <a:lnTo>
                  <a:pt x="497933" y="73145"/>
                </a:lnTo>
                <a:lnTo>
                  <a:pt x="545846" y="73278"/>
                </a:lnTo>
                <a:lnTo>
                  <a:pt x="545846" y="71500"/>
                </a:lnTo>
                <a:lnTo>
                  <a:pt x="539241" y="71500"/>
                </a:lnTo>
                <a:lnTo>
                  <a:pt x="520146" y="60281"/>
                </a:lnTo>
                <a:close/>
              </a:path>
              <a:path w="571500" h="120650">
                <a:moveTo>
                  <a:pt x="468629" y="0"/>
                </a:moveTo>
                <a:lnTo>
                  <a:pt x="460755" y="2031"/>
                </a:lnTo>
                <a:lnTo>
                  <a:pt x="457073" y="8254"/>
                </a:lnTo>
                <a:lnTo>
                  <a:pt x="453516" y="14350"/>
                </a:lnTo>
                <a:lnTo>
                  <a:pt x="455549" y="22351"/>
                </a:lnTo>
                <a:lnTo>
                  <a:pt x="497946" y="47237"/>
                </a:lnTo>
                <a:lnTo>
                  <a:pt x="545846" y="47370"/>
                </a:lnTo>
                <a:lnTo>
                  <a:pt x="545846" y="73278"/>
                </a:lnTo>
                <a:lnTo>
                  <a:pt x="549159" y="73278"/>
                </a:lnTo>
                <a:lnTo>
                  <a:pt x="571500" y="60325"/>
                </a:lnTo>
                <a:lnTo>
                  <a:pt x="474852" y="3555"/>
                </a:lnTo>
                <a:lnTo>
                  <a:pt x="468629" y="0"/>
                </a:lnTo>
                <a:close/>
              </a:path>
              <a:path w="571500" h="120650">
                <a:moveTo>
                  <a:pt x="0" y="45847"/>
                </a:moveTo>
                <a:lnTo>
                  <a:pt x="0" y="71754"/>
                </a:lnTo>
                <a:lnTo>
                  <a:pt x="497933" y="73145"/>
                </a:lnTo>
                <a:lnTo>
                  <a:pt x="520146" y="60281"/>
                </a:lnTo>
                <a:lnTo>
                  <a:pt x="497946" y="47237"/>
                </a:lnTo>
                <a:lnTo>
                  <a:pt x="0" y="45847"/>
                </a:lnTo>
                <a:close/>
              </a:path>
              <a:path w="571500" h="120650">
                <a:moveTo>
                  <a:pt x="539368" y="49149"/>
                </a:moveTo>
                <a:lnTo>
                  <a:pt x="520146" y="60281"/>
                </a:lnTo>
                <a:lnTo>
                  <a:pt x="539241" y="71500"/>
                </a:lnTo>
                <a:lnTo>
                  <a:pt x="539368" y="49149"/>
                </a:lnTo>
                <a:close/>
              </a:path>
              <a:path w="571500" h="120650">
                <a:moveTo>
                  <a:pt x="545846" y="49149"/>
                </a:moveTo>
                <a:lnTo>
                  <a:pt x="539368" y="49149"/>
                </a:lnTo>
                <a:lnTo>
                  <a:pt x="539241" y="71500"/>
                </a:lnTo>
                <a:lnTo>
                  <a:pt x="545846" y="71500"/>
                </a:lnTo>
                <a:lnTo>
                  <a:pt x="545846" y="49149"/>
                </a:lnTo>
                <a:close/>
              </a:path>
              <a:path w="571500" h="120650">
                <a:moveTo>
                  <a:pt x="497946" y="47237"/>
                </a:moveTo>
                <a:lnTo>
                  <a:pt x="520146" y="60281"/>
                </a:lnTo>
                <a:lnTo>
                  <a:pt x="539368" y="49149"/>
                </a:lnTo>
                <a:lnTo>
                  <a:pt x="545846" y="49149"/>
                </a:lnTo>
                <a:lnTo>
                  <a:pt x="545846" y="47370"/>
                </a:lnTo>
                <a:lnTo>
                  <a:pt x="497946" y="47237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80559" y="2461260"/>
            <a:ext cx="233172" cy="7208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547742" y="2486405"/>
            <a:ext cx="120650" cy="601980"/>
          </a:xfrm>
          <a:custGeom>
            <a:avLst/>
            <a:gdLst/>
            <a:ahLst/>
            <a:cxnLst/>
            <a:rect l="l" t="t" r="r" b="b"/>
            <a:pathLst>
              <a:path w="120650" h="601980">
                <a:moveTo>
                  <a:pt x="14351" y="483489"/>
                </a:moveTo>
                <a:lnTo>
                  <a:pt x="2032" y="490728"/>
                </a:lnTo>
                <a:lnTo>
                  <a:pt x="0" y="498602"/>
                </a:lnTo>
                <a:lnTo>
                  <a:pt x="3556" y="504825"/>
                </a:lnTo>
                <a:lnTo>
                  <a:pt x="60071" y="601726"/>
                </a:lnTo>
                <a:lnTo>
                  <a:pt x="75033" y="576072"/>
                </a:lnTo>
                <a:lnTo>
                  <a:pt x="47117" y="576072"/>
                </a:lnTo>
                <a:lnTo>
                  <a:pt x="47117" y="528102"/>
                </a:lnTo>
                <a:lnTo>
                  <a:pt x="25908" y="491744"/>
                </a:lnTo>
                <a:lnTo>
                  <a:pt x="22352" y="485521"/>
                </a:lnTo>
                <a:lnTo>
                  <a:pt x="14351" y="483489"/>
                </a:lnTo>
                <a:close/>
              </a:path>
              <a:path w="120650" h="601980">
                <a:moveTo>
                  <a:pt x="47117" y="528102"/>
                </a:moveTo>
                <a:lnTo>
                  <a:pt x="47117" y="576072"/>
                </a:lnTo>
                <a:lnTo>
                  <a:pt x="73025" y="576072"/>
                </a:lnTo>
                <a:lnTo>
                  <a:pt x="73025" y="569468"/>
                </a:lnTo>
                <a:lnTo>
                  <a:pt x="48895" y="569468"/>
                </a:lnTo>
                <a:lnTo>
                  <a:pt x="60071" y="550309"/>
                </a:lnTo>
                <a:lnTo>
                  <a:pt x="47117" y="528102"/>
                </a:lnTo>
                <a:close/>
              </a:path>
              <a:path w="120650" h="601980">
                <a:moveTo>
                  <a:pt x="105791" y="483489"/>
                </a:moveTo>
                <a:lnTo>
                  <a:pt x="97790" y="485521"/>
                </a:lnTo>
                <a:lnTo>
                  <a:pt x="94234" y="491744"/>
                </a:lnTo>
                <a:lnTo>
                  <a:pt x="73025" y="528102"/>
                </a:lnTo>
                <a:lnTo>
                  <a:pt x="73025" y="576072"/>
                </a:lnTo>
                <a:lnTo>
                  <a:pt x="75033" y="576072"/>
                </a:lnTo>
                <a:lnTo>
                  <a:pt x="116586" y="504825"/>
                </a:lnTo>
                <a:lnTo>
                  <a:pt x="120142" y="498602"/>
                </a:lnTo>
                <a:lnTo>
                  <a:pt x="118110" y="490728"/>
                </a:lnTo>
                <a:lnTo>
                  <a:pt x="105791" y="483489"/>
                </a:lnTo>
                <a:close/>
              </a:path>
              <a:path w="120650" h="601980">
                <a:moveTo>
                  <a:pt x="60071" y="550309"/>
                </a:moveTo>
                <a:lnTo>
                  <a:pt x="48895" y="569468"/>
                </a:lnTo>
                <a:lnTo>
                  <a:pt x="71247" y="569468"/>
                </a:lnTo>
                <a:lnTo>
                  <a:pt x="60071" y="550309"/>
                </a:lnTo>
                <a:close/>
              </a:path>
              <a:path w="120650" h="601980">
                <a:moveTo>
                  <a:pt x="73025" y="528102"/>
                </a:moveTo>
                <a:lnTo>
                  <a:pt x="60071" y="550309"/>
                </a:lnTo>
                <a:lnTo>
                  <a:pt x="71247" y="569468"/>
                </a:lnTo>
                <a:lnTo>
                  <a:pt x="73025" y="569468"/>
                </a:lnTo>
                <a:lnTo>
                  <a:pt x="73025" y="528102"/>
                </a:lnTo>
                <a:close/>
              </a:path>
              <a:path w="120650" h="601980">
                <a:moveTo>
                  <a:pt x="48768" y="287909"/>
                </a:moveTo>
                <a:lnTo>
                  <a:pt x="47117" y="287909"/>
                </a:lnTo>
                <a:lnTo>
                  <a:pt x="47117" y="528102"/>
                </a:lnTo>
                <a:lnTo>
                  <a:pt x="60071" y="550309"/>
                </a:lnTo>
                <a:lnTo>
                  <a:pt x="73025" y="528102"/>
                </a:lnTo>
                <a:lnTo>
                  <a:pt x="73025" y="313817"/>
                </a:lnTo>
                <a:lnTo>
                  <a:pt x="60071" y="313817"/>
                </a:lnTo>
                <a:lnTo>
                  <a:pt x="73025" y="300863"/>
                </a:lnTo>
                <a:lnTo>
                  <a:pt x="48768" y="300863"/>
                </a:lnTo>
                <a:lnTo>
                  <a:pt x="48768" y="287909"/>
                </a:lnTo>
                <a:close/>
              </a:path>
              <a:path w="120650" h="601980">
                <a:moveTo>
                  <a:pt x="73025" y="300863"/>
                </a:moveTo>
                <a:lnTo>
                  <a:pt x="60071" y="313817"/>
                </a:lnTo>
                <a:lnTo>
                  <a:pt x="73025" y="313817"/>
                </a:lnTo>
                <a:lnTo>
                  <a:pt x="73025" y="300863"/>
                </a:lnTo>
                <a:close/>
              </a:path>
              <a:path w="120650" h="601980">
                <a:moveTo>
                  <a:pt x="74676" y="287909"/>
                </a:moveTo>
                <a:lnTo>
                  <a:pt x="61722" y="287909"/>
                </a:lnTo>
                <a:lnTo>
                  <a:pt x="48768" y="300863"/>
                </a:lnTo>
                <a:lnTo>
                  <a:pt x="73025" y="300863"/>
                </a:lnTo>
                <a:lnTo>
                  <a:pt x="73025" y="313817"/>
                </a:lnTo>
                <a:lnTo>
                  <a:pt x="74676" y="313817"/>
                </a:lnTo>
                <a:lnTo>
                  <a:pt x="74676" y="287909"/>
                </a:lnTo>
                <a:close/>
              </a:path>
              <a:path w="120650" h="601980">
                <a:moveTo>
                  <a:pt x="74676" y="0"/>
                </a:moveTo>
                <a:lnTo>
                  <a:pt x="48768" y="0"/>
                </a:lnTo>
                <a:lnTo>
                  <a:pt x="48768" y="300863"/>
                </a:lnTo>
                <a:lnTo>
                  <a:pt x="61722" y="287909"/>
                </a:lnTo>
                <a:lnTo>
                  <a:pt x="74676" y="287909"/>
                </a:lnTo>
                <a:lnTo>
                  <a:pt x="74676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202935" y="3299459"/>
            <a:ext cx="762000" cy="2331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215890" y="3378834"/>
            <a:ext cx="643255" cy="120650"/>
          </a:xfrm>
          <a:custGeom>
            <a:avLst/>
            <a:gdLst/>
            <a:ahLst/>
            <a:cxnLst/>
            <a:rect l="l" t="t" r="r" b="b"/>
            <a:pathLst>
              <a:path w="643254" h="120650">
                <a:moveTo>
                  <a:pt x="591475" y="60134"/>
                </a:moveTo>
                <a:lnTo>
                  <a:pt x="526796" y="97916"/>
                </a:lnTo>
                <a:lnTo>
                  <a:pt x="524763" y="105790"/>
                </a:lnTo>
                <a:lnTo>
                  <a:pt x="528320" y="112013"/>
                </a:lnTo>
                <a:lnTo>
                  <a:pt x="532002" y="118237"/>
                </a:lnTo>
                <a:lnTo>
                  <a:pt x="539876" y="120268"/>
                </a:lnTo>
                <a:lnTo>
                  <a:pt x="546100" y="116712"/>
                </a:lnTo>
                <a:lnTo>
                  <a:pt x="620839" y="73025"/>
                </a:lnTo>
                <a:lnTo>
                  <a:pt x="617347" y="73025"/>
                </a:lnTo>
                <a:lnTo>
                  <a:pt x="617347" y="71374"/>
                </a:lnTo>
                <a:lnTo>
                  <a:pt x="610743" y="71374"/>
                </a:lnTo>
                <a:lnTo>
                  <a:pt x="591475" y="60134"/>
                </a:lnTo>
                <a:close/>
              </a:path>
              <a:path w="643254" h="120650">
                <a:moveTo>
                  <a:pt x="308483" y="58547"/>
                </a:moveTo>
                <a:lnTo>
                  <a:pt x="308483" y="73025"/>
                </a:lnTo>
                <a:lnTo>
                  <a:pt x="569377" y="73025"/>
                </a:lnTo>
                <a:lnTo>
                  <a:pt x="571989" y="71500"/>
                </a:lnTo>
                <a:lnTo>
                  <a:pt x="321437" y="71500"/>
                </a:lnTo>
                <a:lnTo>
                  <a:pt x="308483" y="58547"/>
                </a:lnTo>
                <a:close/>
              </a:path>
              <a:path w="643254" h="120650">
                <a:moveTo>
                  <a:pt x="620789" y="47116"/>
                </a:moveTo>
                <a:lnTo>
                  <a:pt x="617347" y="47116"/>
                </a:lnTo>
                <a:lnTo>
                  <a:pt x="617347" y="73025"/>
                </a:lnTo>
                <a:lnTo>
                  <a:pt x="620839" y="73025"/>
                </a:lnTo>
                <a:lnTo>
                  <a:pt x="643001" y="60070"/>
                </a:lnTo>
                <a:lnTo>
                  <a:pt x="620789" y="47116"/>
                </a:lnTo>
                <a:close/>
              </a:path>
              <a:path w="643254" h="120650">
                <a:moveTo>
                  <a:pt x="334390" y="45592"/>
                </a:moveTo>
                <a:lnTo>
                  <a:pt x="0" y="45592"/>
                </a:lnTo>
                <a:lnTo>
                  <a:pt x="0" y="71500"/>
                </a:lnTo>
                <a:lnTo>
                  <a:pt x="308483" y="71500"/>
                </a:lnTo>
                <a:lnTo>
                  <a:pt x="308483" y="58547"/>
                </a:lnTo>
                <a:lnTo>
                  <a:pt x="332867" y="58547"/>
                </a:lnTo>
                <a:lnTo>
                  <a:pt x="321437" y="47116"/>
                </a:lnTo>
                <a:lnTo>
                  <a:pt x="334390" y="47116"/>
                </a:lnTo>
                <a:lnTo>
                  <a:pt x="334390" y="45592"/>
                </a:lnTo>
                <a:close/>
              </a:path>
              <a:path w="643254" h="120650">
                <a:moveTo>
                  <a:pt x="332867" y="58547"/>
                </a:moveTo>
                <a:lnTo>
                  <a:pt x="308483" y="58547"/>
                </a:lnTo>
                <a:lnTo>
                  <a:pt x="321437" y="71500"/>
                </a:lnTo>
                <a:lnTo>
                  <a:pt x="571989" y="71500"/>
                </a:lnTo>
                <a:lnTo>
                  <a:pt x="591475" y="60134"/>
                </a:lnTo>
                <a:lnTo>
                  <a:pt x="334390" y="60070"/>
                </a:lnTo>
                <a:lnTo>
                  <a:pt x="332867" y="58547"/>
                </a:lnTo>
                <a:close/>
              </a:path>
              <a:path w="643254" h="120650">
                <a:moveTo>
                  <a:pt x="610743" y="48894"/>
                </a:moveTo>
                <a:lnTo>
                  <a:pt x="591475" y="60134"/>
                </a:lnTo>
                <a:lnTo>
                  <a:pt x="610743" y="71374"/>
                </a:lnTo>
                <a:lnTo>
                  <a:pt x="610743" y="48894"/>
                </a:lnTo>
                <a:close/>
              </a:path>
              <a:path w="643254" h="120650">
                <a:moveTo>
                  <a:pt x="617347" y="48894"/>
                </a:moveTo>
                <a:lnTo>
                  <a:pt x="610743" y="48894"/>
                </a:lnTo>
                <a:lnTo>
                  <a:pt x="610743" y="71374"/>
                </a:lnTo>
                <a:lnTo>
                  <a:pt x="617347" y="71374"/>
                </a:lnTo>
                <a:lnTo>
                  <a:pt x="617347" y="48894"/>
                </a:lnTo>
                <a:close/>
              </a:path>
              <a:path w="643254" h="120650">
                <a:moveTo>
                  <a:pt x="539876" y="0"/>
                </a:moveTo>
                <a:lnTo>
                  <a:pt x="532002" y="2031"/>
                </a:lnTo>
                <a:lnTo>
                  <a:pt x="528320" y="8254"/>
                </a:lnTo>
                <a:lnTo>
                  <a:pt x="524763" y="14477"/>
                </a:lnTo>
                <a:lnTo>
                  <a:pt x="526796" y="22351"/>
                </a:lnTo>
                <a:lnTo>
                  <a:pt x="591475" y="60134"/>
                </a:lnTo>
                <a:lnTo>
                  <a:pt x="610743" y="48894"/>
                </a:lnTo>
                <a:lnTo>
                  <a:pt x="617347" y="48894"/>
                </a:lnTo>
                <a:lnTo>
                  <a:pt x="617347" y="47116"/>
                </a:lnTo>
                <a:lnTo>
                  <a:pt x="620789" y="47116"/>
                </a:lnTo>
                <a:lnTo>
                  <a:pt x="546100" y="3555"/>
                </a:lnTo>
                <a:lnTo>
                  <a:pt x="539876" y="0"/>
                </a:lnTo>
                <a:close/>
              </a:path>
              <a:path w="643254" h="120650">
                <a:moveTo>
                  <a:pt x="334390" y="47116"/>
                </a:moveTo>
                <a:lnTo>
                  <a:pt x="321437" y="47116"/>
                </a:lnTo>
                <a:lnTo>
                  <a:pt x="334390" y="60070"/>
                </a:lnTo>
                <a:lnTo>
                  <a:pt x="334390" y="47116"/>
                </a:lnTo>
                <a:close/>
              </a:path>
              <a:path w="643254" h="120650">
                <a:moveTo>
                  <a:pt x="569159" y="47116"/>
                </a:moveTo>
                <a:lnTo>
                  <a:pt x="334390" y="47116"/>
                </a:lnTo>
                <a:lnTo>
                  <a:pt x="334390" y="60070"/>
                </a:lnTo>
                <a:lnTo>
                  <a:pt x="591366" y="60070"/>
                </a:lnTo>
                <a:lnTo>
                  <a:pt x="569159" y="47116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060692" y="3284220"/>
            <a:ext cx="762000" cy="2331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073645" y="3363595"/>
            <a:ext cx="643255" cy="120650"/>
          </a:xfrm>
          <a:custGeom>
            <a:avLst/>
            <a:gdLst/>
            <a:ahLst/>
            <a:cxnLst/>
            <a:rect l="l" t="t" r="r" b="b"/>
            <a:pathLst>
              <a:path w="643254" h="120650">
                <a:moveTo>
                  <a:pt x="591584" y="60070"/>
                </a:moveTo>
                <a:lnTo>
                  <a:pt x="533019" y="94233"/>
                </a:lnTo>
                <a:lnTo>
                  <a:pt x="526796" y="97789"/>
                </a:lnTo>
                <a:lnTo>
                  <a:pt x="524763" y="105790"/>
                </a:lnTo>
                <a:lnTo>
                  <a:pt x="528320" y="111887"/>
                </a:lnTo>
                <a:lnTo>
                  <a:pt x="532002" y="118109"/>
                </a:lnTo>
                <a:lnTo>
                  <a:pt x="539876" y="120141"/>
                </a:lnTo>
                <a:lnTo>
                  <a:pt x="546100" y="116585"/>
                </a:lnTo>
                <a:lnTo>
                  <a:pt x="620789" y="73025"/>
                </a:lnTo>
                <a:lnTo>
                  <a:pt x="617347" y="73025"/>
                </a:lnTo>
                <a:lnTo>
                  <a:pt x="617347" y="71246"/>
                </a:lnTo>
                <a:lnTo>
                  <a:pt x="610743" y="71246"/>
                </a:lnTo>
                <a:lnTo>
                  <a:pt x="591584" y="60070"/>
                </a:lnTo>
                <a:close/>
              </a:path>
              <a:path w="643254" h="120650">
                <a:moveTo>
                  <a:pt x="308482" y="61467"/>
                </a:moveTo>
                <a:lnTo>
                  <a:pt x="0" y="61467"/>
                </a:lnTo>
                <a:lnTo>
                  <a:pt x="0" y="87375"/>
                </a:lnTo>
                <a:lnTo>
                  <a:pt x="334390" y="87375"/>
                </a:lnTo>
                <a:lnTo>
                  <a:pt x="334390" y="74421"/>
                </a:lnTo>
                <a:lnTo>
                  <a:pt x="308482" y="74421"/>
                </a:lnTo>
                <a:lnTo>
                  <a:pt x="308482" y="61467"/>
                </a:lnTo>
                <a:close/>
              </a:path>
              <a:path w="643254" h="120650">
                <a:moveTo>
                  <a:pt x="569377" y="47116"/>
                </a:moveTo>
                <a:lnTo>
                  <a:pt x="308482" y="47116"/>
                </a:lnTo>
                <a:lnTo>
                  <a:pt x="308482" y="74421"/>
                </a:lnTo>
                <a:lnTo>
                  <a:pt x="321436" y="61467"/>
                </a:lnTo>
                <a:lnTo>
                  <a:pt x="332993" y="61467"/>
                </a:lnTo>
                <a:lnTo>
                  <a:pt x="334390" y="60070"/>
                </a:lnTo>
                <a:lnTo>
                  <a:pt x="591584" y="60070"/>
                </a:lnTo>
                <a:lnTo>
                  <a:pt x="569377" y="47116"/>
                </a:lnTo>
                <a:close/>
              </a:path>
              <a:path w="643254" h="120650">
                <a:moveTo>
                  <a:pt x="332993" y="61467"/>
                </a:moveTo>
                <a:lnTo>
                  <a:pt x="321436" y="61467"/>
                </a:lnTo>
                <a:lnTo>
                  <a:pt x="308482" y="74421"/>
                </a:lnTo>
                <a:lnTo>
                  <a:pt x="334390" y="74421"/>
                </a:lnTo>
                <a:lnTo>
                  <a:pt x="334390" y="73025"/>
                </a:lnTo>
                <a:lnTo>
                  <a:pt x="321436" y="73025"/>
                </a:lnTo>
                <a:lnTo>
                  <a:pt x="332993" y="61467"/>
                </a:lnTo>
                <a:close/>
              </a:path>
              <a:path w="643254" h="120650">
                <a:moveTo>
                  <a:pt x="334390" y="60070"/>
                </a:moveTo>
                <a:lnTo>
                  <a:pt x="321436" y="73025"/>
                </a:lnTo>
                <a:lnTo>
                  <a:pt x="334390" y="73025"/>
                </a:lnTo>
                <a:lnTo>
                  <a:pt x="334390" y="60070"/>
                </a:lnTo>
                <a:close/>
              </a:path>
              <a:path w="643254" h="120650">
                <a:moveTo>
                  <a:pt x="591584" y="60070"/>
                </a:moveTo>
                <a:lnTo>
                  <a:pt x="334390" y="60070"/>
                </a:lnTo>
                <a:lnTo>
                  <a:pt x="334390" y="73025"/>
                </a:lnTo>
                <a:lnTo>
                  <a:pt x="569377" y="73025"/>
                </a:lnTo>
                <a:lnTo>
                  <a:pt x="591584" y="60070"/>
                </a:lnTo>
                <a:close/>
              </a:path>
              <a:path w="643254" h="120650">
                <a:moveTo>
                  <a:pt x="620789" y="47116"/>
                </a:moveTo>
                <a:lnTo>
                  <a:pt x="617347" y="47116"/>
                </a:lnTo>
                <a:lnTo>
                  <a:pt x="617347" y="73025"/>
                </a:lnTo>
                <a:lnTo>
                  <a:pt x="620789" y="73025"/>
                </a:lnTo>
                <a:lnTo>
                  <a:pt x="643001" y="60070"/>
                </a:lnTo>
                <a:lnTo>
                  <a:pt x="620789" y="47116"/>
                </a:lnTo>
                <a:close/>
              </a:path>
              <a:path w="643254" h="120650">
                <a:moveTo>
                  <a:pt x="610743" y="48894"/>
                </a:moveTo>
                <a:lnTo>
                  <a:pt x="591584" y="60070"/>
                </a:lnTo>
                <a:lnTo>
                  <a:pt x="610743" y="71246"/>
                </a:lnTo>
                <a:lnTo>
                  <a:pt x="610743" y="48894"/>
                </a:lnTo>
                <a:close/>
              </a:path>
              <a:path w="643254" h="120650">
                <a:moveTo>
                  <a:pt x="617347" y="48894"/>
                </a:moveTo>
                <a:lnTo>
                  <a:pt x="610743" y="48894"/>
                </a:lnTo>
                <a:lnTo>
                  <a:pt x="610743" y="71246"/>
                </a:lnTo>
                <a:lnTo>
                  <a:pt x="617347" y="71246"/>
                </a:lnTo>
                <a:lnTo>
                  <a:pt x="617347" y="48894"/>
                </a:lnTo>
                <a:close/>
              </a:path>
              <a:path w="643254" h="120650">
                <a:moveTo>
                  <a:pt x="539876" y="0"/>
                </a:moveTo>
                <a:lnTo>
                  <a:pt x="532002" y="2031"/>
                </a:lnTo>
                <a:lnTo>
                  <a:pt x="528320" y="8254"/>
                </a:lnTo>
                <a:lnTo>
                  <a:pt x="524763" y="14350"/>
                </a:lnTo>
                <a:lnTo>
                  <a:pt x="526796" y="22351"/>
                </a:lnTo>
                <a:lnTo>
                  <a:pt x="533019" y="25907"/>
                </a:lnTo>
                <a:lnTo>
                  <a:pt x="591584" y="60070"/>
                </a:lnTo>
                <a:lnTo>
                  <a:pt x="610743" y="48894"/>
                </a:lnTo>
                <a:lnTo>
                  <a:pt x="617347" y="48894"/>
                </a:lnTo>
                <a:lnTo>
                  <a:pt x="617347" y="47116"/>
                </a:lnTo>
                <a:lnTo>
                  <a:pt x="620789" y="47116"/>
                </a:lnTo>
                <a:lnTo>
                  <a:pt x="546100" y="3555"/>
                </a:lnTo>
                <a:lnTo>
                  <a:pt x="539876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274564" y="4500371"/>
            <a:ext cx="690372" cy="23317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287517" y="4579746"/>
            <a:ext cx="571500" cy="120650"/>
          </a:xfrm>
          <a:custGeom>
            <a:avLst/>
            <a:gdLst/>
            <a:ahLst/>
            <a:cxnLst/>
            <a:rect l="l" t="t" r="r" b="b"/>
            <a:pathLst>
              <a:path w="571500" h="120650">
                <a:moveTo>
                  <a:pt x="520101" y="60134"/>
                </a:moveTo>
                <a:lnTo>
                  <a:pt x="455422" y="97916"/>
                </a:lnTo>
                <a:lnTo>
                  <a:pt x="453390" y="105790"/>
                </a:lnTo>
                <a:lnTo>
                  <a:pt x="460502" y="118236"/>
                </a:lnTo>
                <a:lnTo>
                  <a:pt x="468503" y="120268"/>
                </a:lnTo>
                <a:lnTo>
                  <a:pt x="549336" y="73025"/>
                </a:lnTo>
                <a:lnTo>
                  <a:pt x="545846" y="73025"/>
                </a:lnTo>
                <a:lnTo>
                  <a:pt x="545846" y="71373"/>
                </a:lnTo>
                <a:lnTo>
                  <a:pt x="539369" y="71373"/>
                </a:lnTo>
                <a:lnTo>
                  <a:pt x="520101" y="60134"/>
                </a:lnTo>
                <a:close/>
              </a:path>
              <a:path w="571500" h="120650">
                <a:moveTo>
                  <a:pt x="272796" y="58546"/>
                </a:moveTo>
                <a:lnTo>
                  <a:pt x="272796" y="73025"/>
                </a:lnTo>
                <a:lnTo>
                  <a:pt x="498003" y="73025"/>
                </a:lnTo>
                <a:lnTo>
                  <a:pt x="500615" y="71500"/>
                </a:lnTo>
                <a:lnTo>
                  <a:pt x="285750" y="71500"/>
                </a:lnTo>
                <a:lnTo>
                  <a:pt x="272796" y="58546"/>
                </a:lnTo>
                <a:close/>
              </a:path>
              <a:path w="571500" h="120650">
                <a:moveTo>
                  <a:pt x="549288" y="47116"/>
                </a:moveTo>
                <a:lnTo>
                  <a:pt x="545846" y="47116"/>
                </a:lnTo>
                <a:lnTo>
                  <a:pt x="545846" y="73025"/>
                </a:lnTo>
                <a:lnTo>
                  <a:pt x="549336" y="73025"/>
                </a:lnTo>
                <a:lnTo>
                  <a:pt x="571500" y="60070"/>
                </a:lnTo>
                <a:lnTo>
                  <a:pt x="549288" y="47116"/>
                </a:lnTo>
                <a:close/>
              </a:path>
              <a:path w="571500" h="120650">
                <a:moveTo>
                  <a:pt x="298704" y="45592"/>
                </a:moveTo>
                <a:lnTo>
                  <a:pt x="0" y="45592"/>
                </a:lnTo>
                <a:lnTo>
                  <a:pt x="0" y="71500"/>
                </a:lnTo>
                <a:lnTo>
                  <a:pt x="272796" y="71500"/>
                </a:lnTo>
                <a:lnTo>
                  <a:pt x="272796" y="58546"/>
                </a:lnTo>
                <a:lnTo>
                  <a:pt x="297180" y="58546"/>
                </a:lnTo>
                <a:lnTo>
                  <a:pt x="285750" y="47116"/>
                </a:lnTo>
                <a:lnTo>
                  <a:pt x="298704" y="47116"/>
                </a:lnTo>
                <a:lnTo>
                  <a:pt x="298704" y="45592"/>
                </a:lnTo>
                <a:close/>
              </a:path>
              <a:path w="571500" h="120650">
                <a:moveTo>
                  <a:pt x="297180" y="58546"/>
                </a:moveTo>
                <a:lnTo>
                  <a:pt x="272796" y="58546"/>
                </a:lnTo>
                <a:lnTo>
                  <a:pt x="285750" y="71500"/>
                </a:lnTo>
                <a:lnTo>
                  <a:pt x="500615" y="71500"/>
                </a:lnTo>
                <a:lnTo>
                  <a:pt x="520101" y="60134"/>
                </a:lnTo>
                <a:lnTo>
                  <a:pt x="298704" y="60070"/>
                </a:lnTo>
                <a:lnTo>
                  <a:pt x="297180" y="58546"/>
                </a:lnTo>
                <a:close/>
              </a:path>
              <a:path w="571500" h="120650">
                <a:moveTo>
                  <a:pt x="539369" y="48894"/>
                </a:moveTo>
                <a:lnTo>
                  <a:pt x="520101" y="60134"/>
                </a:lnTo>
                <a:lnTo>
                  <a:pt x="539369" y="71373"/>
                </a:lnTo>
                <a:lnTo>
                  <a:pt x="539369" y="48894"/>
                </a:lnTo>
                <a:close/>
              </a:path>
              <a:path w="571500" h="120650">
                <a:moveTo>
                  <a:pt x="545846" y="48894"/>
                </a:moveTo>
                <a:lnTo>
                  <a:pt x="539369" y="48894"/>
                </a:lnTo>
                <a:lnTo>
                  <a:pt x="539369" y="71373"/>
                </a:lnTo>
                <a:lnTo>
                  <a:pt x="545846" y="71373"/>
                </a:lnTo>
                <a:lnTo>
                  <a:pt x="545846" y="48894"/>
                </a:lnTo>
                <a:close/>
              </a:path>
              <a:path w="571500" h="120650">
                <a:moveTo>
                  <a:pt x="468503" y="0"/>
                </a:moveTo>
                <a:lnTo>
                  <a:pt x="460502" y="2031"/>
                </a:lnTo>
                <a:lnTo>
                  <a:pt x="453390" y="14477"/>
                </a:lnTo>
                <a:lnTo>
                  <a:pt x="455422" y="22351"/>
                </a:lnTo>
                <a:lnTo>
                  <a:pt x="520101" y="60134"/>
                </a:lnTo>
                <a:lnTo>
                  <a:pt x="539369" y="48894"/>
                </a:lnTo>
                <a:lnTo>
                  <a:pt x="545846" y="48894"/>
                </a:lnTo>
                <a:lnTo>
                  <a:pt x="545846" y="47116"/>
                </a:lnTo>
                <a:lnTo>
                  <a:pt x="549288" y="47116"/>
                </a:lnTo>
                <a:lnTo>
                  <a:pt x="468503" y="0"/>
                </a:lnTo>
                <a:close/>
              </a:path>
              <a:path w="571500" h="120650">
                <a:moveTo>
                  <a:pt x="298704" y="47116"/>
                </a:moveTo>
                <a:lnTo>
                  <a:pt x="285750" y="47116"/>
                </a:lnTo>
                <a:lnTo>
                  <a:pt x="298704" y="60070"/>
                </a:lnTo>
                <a:lnTo>
                  <a:pt x="298704" y="47116"/>
                </a:lnTo>
                <a:close/>
              </a:path>
              <a:path w="571500" h="120650">
                <a:moveTo>
                  <a:pt x="497785" y="47116"/>
                </a:moveTo>
                <a:lnTo>
                  <a:pt x="298704" y="47116"/>
                </a:lnTo>
                <a:lnTo>
                  <a:pt x="298704" y="60070"/>
                </a:lnTo>
                <a:lnTo>
                  <a:pt x="519992" y="60070"/>
                </a:lnTo>
                <a:lnTo>
                  <a:pt x="497785" y="47116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060692" y="3633215"/>
            <a:ext cx="1370076" cy="9966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073645" y="3772661"/>
            <a:ext cx="1311275" cy="878205"/>
          </a:xfrm>
          <a:custGeom>
            <a:avLst/>
            <a:gdLst/>
            <a:ahLst/>
            <a:cxnLst/>
            <a:rect l="l" t="t" r="r" b="b"/>
            <a:pathLst>
              <a:path w="1311275" h="878204">
                <a:moveTo>
                  <a:pt x="1237996" y="852296"/>
                </a:moveTo>
                <a:lnTo>
                  <a:pt x="0" y="852296"/>
                </a:lnTo>
                <a:lnTo>
                  <a:pt x="0" y="878205"/>
                </a:lnTo>
                <a:lnTo>
                  <a:pt x="1263903" y="878205"/>
                </a:lnTo>
                <a:lnTo>
                  <a:pt x="1263903" y="865251"/>
                </a:lnTo>
                <a:lnTo>
                  <a:pt x="1237996" y="865251"/>
                </a:lnTo>
                <a:lnTo>
                  <a:pt x="1237996" y="852296"/>
                </a:lnTo>
                <a:close/>
              </a:path>
              <a:path w="1311275" h="878204">
                <a:moveTo>
                  <a:pt x="1250950" y="51289"/>
                </a:moveTo>
                <a:lnTo>
                  <a:pt x="1237996" y="73496"/>
                </a:lnTo>
                <a:lnTo>
                  <a:pt x="1237996" y="865251"/>
                </a:lnTo>
                <a:lnTo>
                  <a:pt x="1250950" y="852296"/>
                </a:lnTo>
                <a:lnTo>
                  <a:pt x="1263903" y="852296"/>
                </a:lnTo>
                <a:lnTo>
                  <a:pt x="1263903" y="73496"/>
                </a:lnTo>
                <a:lnTo>
                  <a:pt x="1250950" y="51289"/>
                </a:lnTo>
                <a:close/>
              </a:path>
              <a:path w="1311275" h="878204">
                <a:moveTo>
                  <a:pt x="1263903" y="852296"/>
                </a:moveTo>
                <a:lnTo>
                  <a:pt x="1250950" y="852296"/>
                </a:lnTo>
                <a:lnTo>
                  <a:pt x="1237996" y="865251"/>
                </a:lnTo>
                <a:lnTo>
                  <a:pt x="1263903" y="865251"/>
                </a:lnTo>
                <a:lnTo>
                  <a:pt x="1263903" y="852296"/>
                </a:lnTo>
                <a:close/>
              </a:path>
              <a:path w="1311275" h="878204">
                <a:moveTo>
                  <a:pt x="1250950" y="0"/>
                </a:moveTo>
                <a:lnTo>
                  <a:pt x="1194434" y="96900"/>
                </a:lnTo>
                <a:lnTo>
                  <a:pt x="1190752" y="102996"/>
                </a:lnTo>
                <a:lnTo>
                  <a:pt x="1192910" y="110998"/>
                </a:lnTo>
                <a:lnTo>
                  <a:pt x="1199133" y="114554"/>
                </a:lnTo>
                <a:lnTo>
                  <a:pt x="1205229" y="118110"/>
                </a:lnTo>
                <a:lnTo>
                  <a:pt x="1213230" y="116077"/>
                </a:lnTo>
                <a:lnTo>
                  <a:pt x="1216786" y="109855"/>
                </a:lnTo>
                <a:lnTo>
                  <a:pt x="1237995" y="73496"/>
                </a:lnTo>
                <a:lnTo>
                  <a:pt x="1237996" y="25654"/>
                </a:lnTo>
                <a:lnTo>
                  <a:pt x="1265912" y="25654"/>
                </a:lnTo>
                <a:lnTo>
                  <a:pt x="1250950" y="0"/>
                </a:lnTo>
                <a:close/>
              </a:path>
              <a:path w="1311275" h="878204">
                <a:moveTo>
                  <a:pt x="1265912" y="25654"/>
                </a:moveTo>
                <a:lnTo>
                  <a:pt x="1263903" y="25654"/>
                </a:lnTo>
                <a:lnTo>
                  <a:pt x="1263903" y="73496"/>
                </a:lnTo>
                <a:lnTo>
                  <a:pt x="1285112" y="109855"/>
                </a:lnTo>
                <a:lnTo>
                  <a:pt x="1288669" y="116077"/>
                </a:lnTo>
                <a:lnTo>
                  <a:pt x="1296670" y="118110"/>
                </a:lnTo>
                <a:lnTo>
                  <a:pt x="1302765" y="114554"/>
                </a:lnTo>
                <a:lnTo>
                  <a:pt x="1308988" y="110998"/>
                </a:lnTo>
                <a:lnTo>
                  <a:pt x="1311021" y="102996"/>
                </a:lnTo>
                <a:lnTo>
                  <a:pt x="1265912" y="25654"/>
                </a:lnTo>
                <a:close/>
              </a:path>
              <a:path w="1311275" h="878204">
                <a:moveTo>
                  <a:pt x="1263903" y="25654"/>
                </a:moveTo>
                <a:lnTo>
                  <a:pt x="1237996" y="25654"/>
                </a:lnTo>
                <a:lnTo>
                  <a:pt x="1237996" y="73496"/>
                </a:lnTo>
                <a:lnTo>
                  <a:pt x="1250950" y="51289"/>
                </a:lnTo>
                <a:lnTo>
                  <a:pt x="1239774" y="32131"/>
                </a:lnTo>
                <a:lnTo>
                  <a:pt x="1263903" y="32131"/>
                </a:lnTo>
                <a:lnTo>
                  <a:pt x="1263903" y="25654"/>
                </a:lnTo>
                <a:close/>
              </a:path>
              <a:path w="1311275" h="878204">
                <a:moveTo>
                  <a:pt x="1263903" y="32131"/>
                </a:moveTo>
                <a:lnTo>
                  <a:pt x="1262126" y="32131"/>
                </a:lnTo>
                <a:lnTo>
                  <a:pt x="1250950" y="51289"/>
                </a:lnTo>
                <a:lnTo>
                  <a:pt x="1263903" y="73496"/>
                </a:lnTo>
                <a:lnTo>
                  <a:pt x="1263903" y="32131"/>
                </a:lnTo>
                <a:close/>
              </a:path>
              <a:path w="1311275" h="878204">
                <a:moveTo>
                  <a:pt x="1262126" y="32131"/>
                </a:moveTo>
                <a:lnTo>
                  <a:pt x="1239774" y="32131"/>
                </a:lnTo>
                <a:lnTo>
                  <a:pt x="1250950" y="51289"/>
                </a:lnTo>
                <a:lnTo>
                  <a:pt x="1262126" y="32131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82039" y="3747515"/>
            <a:ext cx="1239011" cy="9845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94232" y="3772661"/>
            <a:ext cx="1121410" cy="925830"/>
          </a:xfrm>
          <a:custGeom>
            <a:avLst/>
            <a:gdLst/>
            <a:ahLst/>
            <a:cxnLst/>
            <a:rect l="l" t="t" r="r" b="b"/>
            <a:pathLst>
              <a:path w="1121410" h="925829">
                <a:moveTo>
                  <a:pt x="1099035" y="852296"/>
                </a:moveTo>
                <a:lnTo>
                  <a:pt x="1095375" y="852296"/>
                </a:lnTo>
                <a:lnTo>
                  <a:pt x="1095375" y="878077"/>
                </a:lnTo>
                <a:lnTo>
                  <a:pt x="1047522" y="878083"/>
                </a:lnTo>
                <a:lnTo>
                  <a:pt x="1004951" y="902969"/>
                </a:lnTo>
                <a:lnTo>
                  <a:pt x="1002919" y="910844"/>
                </a:lnTo>
                <a:lnTo>
                  <a:pt x="1010031" y="923289"/>
                </a:lnTo>
                <a:lnTo>
                  <a:pt x="1018032" y="925321"/>
                </a:lnTo>
                <a:lnTo>
                  <a:pt x="1121029" y="865124"/>
                </a:lnTo>
                <a:lnTo>
                  <a:pt x="1099035" y="852296"/>
                </a:lnTo>
                <a:close/>
              </a:path>
              <a:path w="1121410" h="925829">
                <a:moveTo>
                  <a:pt x="25908" y="0"/>
                </a:moveTo>
                <a:lnTo>
                  <a:pt x="0" y="0"/>
                </a:lnTo>
                <a:lnTo>
                  <a:pt x="0" y="878205"/>
                </a:lnTo>
                <a:lnTo>
                  <a:pt x="1047532" y="878077"/>
                </a:lnTo>
                <a:lnTo>
                  <a:pt x="1069630" y="865187"/>
                </a:lnTo>
                <a:lnTo>
                  <a:pt x="25908" y="865124"/>
                </a:lnTo>
                <a:lnTo>
                  <a:pt x="12954" y="852296"/>
                </a:lnTo>
                <a:lnTo>
                  <a:pt x="25908" y="852296"/>
                </a:lnTo>
                <a:lnTo>
                  <a:pt x="25908" y="0"/>
                </a:lnTo>
                <a:close/>
              </a:path>
              <a:path w="1121410" h="925829">
                <a:moveTo>
                  <a:pt x="1069630" y="865187"/>
                </a:moveTo>
                <a:lnTo>
                  <a:pt x="1047522" y="878083"/>
                </a:lnTo>
                <a:lnTo>
                  <a:pt x="1095375" y="878077"/>
                </a:lnTo>
                <a:lnTo>
                  <a:pt x="1095375" y="876426"/>
                </a:lnTo>
                <a:lnTo>
                  <a:pt x="1088898" y="876426"/>
                </a:lnTo>
                <a:lnTo>
                  <a:pt x="1069630" y="865187"/>
                </a:lnTo>
                <a:close/>
              </a:path>
              <a:path w="1121410" h="925829">
                <a:moveTo>
                  <a:pt x="1088898" y="853948"/>
                </a:moveTo>
                <a:lnTo>
                  <a:pt x="1069630" y="865187"/>
                </a:lnTo>
                <a:lnTo>
                  <a:pt x="1088898" y="876426"/>
                </a:lnTo>
                <a:lnTo>
                  <a:pt x="1088898" y="853948"/>
                </a:lnTo>
                <a:close/>
              </a:path>
              <a:path w="1121410" h="925829">
                <a:moveTo>
                  <a:pt x="1095375" y="853948"/>
                </a:moveTo>
                <a:lnTo>
                  <a:pt x="1088898" y="853948"/>
                </a:lnTo>
                <a:lnTo>
                  <a:pt x="1088898" y="876426"/>
                </a:lnTo>
                <a:lnTo>
                  <a:pt x="1095375" y="876426"/>
                </a:lnTo>
                <a:lnTo>
                  <a:pt x="1095375" y="853948"/>
                </a:lnTo>
                <a:close/>
              </a:path>
              <a:path w="1121410" h="925829">
                <a:moveTo>
                  <a:pt x="1018032" y="805052"/>
                </a:moveTo>
                <a:lnTo>
                  <a:pt x="1010031" y="807085"/>
                </a:lnTo>
                <a:lnTo>
                  <a:pt x="1002919" y="819531"/>
                </a:lnTo>
                <a:lnTo>
                  <a:pt x="1004951" y="827405"/>
                </a:lnTo>
                <a:lnTo>
                  <a:pt x="1069630" y="865187"/>
                </a:lnTo>
                <a:lnTo>
                  <a:pt x="1088898" y="853948"/>
                </a:lnTo>
                <a:lnTo>
                  <a:pt x="1095375" y="853948"/>
                </a:lnTo>
                <a:lnTo>
                  <a:pt x="1095375" y="852296"/>
                </a:lnTo>
                <a:lnTo>
                  <a:pt x="1099035" y="852296"/>
                </a:lnTo>
                <a:lnTo>
                  <a:pt x="1018032" y="805052"/>
                </a:lnTo>
                <a:close/>
              </a:path>
              <a:path w="1121410" h="925829">
                <a:moveTo>
                  <a:pt x="25908" y="852296"/>
                </a:moveTo>
                <a:lnTo>
                  <a:pt x="12954" y="852296"/>
                </a:lnTo>
                <a:lnTo>
                  <a:pt x="25908" y="865124"/>
                </a:lnTo>
                <a:lnTo>
                  <a:pt x="25908" y="852296"/>
                </a:lnTo>
                <a:close/>
              </a:path>
              <a:path w="1121410" h="925829">
                <a:moveTo>
                  <a:pt x="1047532" y="852296"/>
                </a:moveTo>
                <a:lnTo>
                  <a:pt x="25908" y="852296"/>
                </a:lnTo>
                <a:lnTo>
                  <a:pt x="25908" y="865124"/>
                </a:lnTo>
                <a:lnTo>
                  <a:pt x="1069521" y="865124"/>
                </a:lnTo>
                <a:lnTo>
                  <a:pt x="1047532" y="852296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416808" y="4500371"/>
            <a:ext cx="762000" cy="2331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429761" y="4579746"/>
            <a:ext cx="643255" cy="120650"/>
          </a:xfrm>
          <a:custGeom>
            <a:avLst/>
            <a:gdLst/>
            <a:ahLst/>
            <a:cxnLst/>
            <a:rect l="l" t="t" r="r" b="b"/>
            <a:pathLst>
              <a:path w="643254" h="120650">
                <a:moveTo>
                  <a:pt x="591475" y="60134"/>
                </a:moveTo>
                <a:lnTo>
                  <a:pt x="526796" y="97916"/>
                </a:lnTo>
                <a:lnTo>
                  <a:pt x="524763" y="105790"/>
                </a:lnTo>
                <a:lnTo>
                  <a:pt x="528320" y="112013"/>
                </a:lnTo>
                <a:lnTo>
                  <a:pt x="532002" y="118236"/>
                </a:lnTo>
                <a:lnTo>
                  <a:pt x="539876" y="120268"/>
                </a:lnTo>
                <a:lnTo>
                  <a:pt x="546100" y="116712"/>
                </a:lnTo>
                <a:lnTo>
                  <a:pt x="620839" y="73025"/>
                </a:lnTo>
                <a:lnTo>
                  <a:pt x="617347" y="73025"/>
                </a:lnTo>
                <a:lnTo>
                  <a:pt x="617347" y="71373"/>
                </a:lnTo>
                <a:lnTo>
                  <a:pt x="610742" y="71373"/>
                </a:lnTo>
                <a:lnTo>
                  <a:pt x="591475" y="60134"/>
                </a:lnTo>
                <a:close/>
              </a:path>
              <a:path w="643254" h="120650">
                <a:moveTo>
                  <a:pt x="308483" y="58546"/>
                </a:moveTo>
                <a:lnTo>
                  <a:pt x="308483" y="73025"/>
                </a:lnTo>
                <a:lnTo>
                  <a:pt x="569377" y="73025"/>
                </a:lnTo>
                <a:lnTo>
                  <a:pt x="571989" y="71500"/>
                </a:lnTo>
                <a:lnTo>
                  <a:pt x="321437" y="71500"/>
                </a:lnTo>
                <a:lnTo>
                  <a:pt x="308483" y="58546"/>
                </a:lnTo>
                <a:close/>
              </a:path>
              <a:path w="643254" h="120650">
                <a:moveTo>
                  <a:pt x="620789" y="47116"/>
                </a:moveTo>
                <a:lnTo>
                  <a:pt x="617347" y="47116"/>
                </a:lnTo>
                <a:lnTo>
                  <a:pt x="617347" y="73025"/>
                </a:lnTo>
                <a:lnTo>
                  <a:pt x="620839" y="73025"/>
                </a:lnTo>
                <a:lnTo>
                  <a:pt x="643001" y="60070"/>
                </a:lnTo>
                <a:lnTo>
                  <a:pt x="620789" y="47116"/>
                </a:lnTo>
                <a:close/>
              </a:path>
              <a:path w="643254" h="120650">
                <a:moveTo>
                  <a:pt x="334390" y="45592"/>
                </a:moveTo>
                <a:lnTo>
                  <a:pt x="0" y="45592"/>
                </a:lnTo>
                <a:lnTo>
                  <a:pt x="0" y="71500"/>
                </a:lnTo>
                <a:lnTo>
                  <a:pt x="308483" y="71500"/>
                </a:lnTo>
                <a:lnTo>
                  <a:pt x="308483" y="58546"/>
                </a:lnTo>
                <a:lnTo>
                  <a:pt x="332866" y="58546"/>
                </a:lnTo>
                <a:lnTo>
                  <a:pt x="321437" y="47116"/>
                </a:lnTo>
                <a:lnTo>
                  <a:pt x="334390" y="47116"/>
                </a:lnTo>
                <a:lnTo>
                  <a:pt x="334390" y="45592"/>
                </a:lnTo>
                <a:close/>
              </a:path>
              <a:path w="643254" h="120650">
                <a:moveTo>
                  <a:pt x="332866" y="58546"/>
                </a:moveTo>
                <a:lnTo>
                  <a:pt x="308483" y="58546"/>
                </a:lnTo>
                <a:lnTo>
                  <a:pt x="321437" y="71500"/>
                </a:lnTo>
                <a:lnTo>
                  <a:pt x="571989" y="71500"/>
                </a:lnTo>
                <a:lnTo>
                  <a:pt x="591475" y="60134"/>
                </a:lnTo>
                <a:lnTo>
                  <a:pt x="334390" y="60070"/>
                </a:lnTo>
                <a:lnTo>
                  <a:pt x="332866" y="58546"/>
                </a:lnTo>
                <a:close/>
              </a:path>
              <a:path w="643254" h="120650">
                <a:moveTo>
                  <a:pt x="610742" y="48894"/>
                </a:moveTo>
                <a:lnTo>
                  <a:pt x="591475" y="60134"/>
                </a:lnTo>
                <a:lnTo>
                  <a:pt x="610742" y="71373"/>
                </a:lnTo>
                <a:lnTo>
                  <a:pt x="610742" y="48894"/>
                </a:lnTo>
                <a:close/>
              </a:path>
              <a:path w="643254" h="120650">
                <a:moveTo>
                  <a:pt x="617347" y="48894"/>
                </a:moveTo>
                <a:lnTo>
                  <a:pt x="610742" y="48894"/>
                </a:lnTo>
                <a:lnTo>
                  <a:pt x="610742" y="71373"/>
                </a:lnTo>
                <a:lnTo>
                  <a:pt x="617347" y="71373"/>
                </a:lnTo>
                <a:lnTo>
                  <a:pt x="617347" y="48894"/>
                </a:lnTo>
                <a:close/>
              </a:path>
              <a:path w="643254" h="120650">
                <a:moveTo>
                  <a:pt x="539876" y="0"/>
                </a:moveTo>
                <a:lnTo>
                  <a:pt x="532002" y="2031"/>
                </a:lnTo>
                <a:lnTo>
                  <a:pt x="528320" y="8254"/>
                </a:lnTo>
                <a:lnTo>
                  <a:pt x="524763" y="14477"/>
                </a:lnTo>
                <a:lnTo>
                  <a:pt x="526796" y="22351"/>
                </a:lnTo>
                <a:lnTo>
                  <a:pt x="591475" y="60134"/>
                </a:lnTo>
                <a:lnTo>
                  <a:pt x="610742" y="48894"/>
                </a:lnTo>
                <a:lnTo>
                  <a:pt x="617347" y="48894"/>
                </a:lnTo>
                <a:lnTo>
                  <a:pt x="617347" y="47116"/>
                </a:lnTo>
                <a:lnTo>
                  <a:pt x="620789" y="47116"/>
                </a:lnTo>
                <a:lnTo>
                  <a:pt x="546100" y="3555"/>
                </a:lnTo>
                <a:lnTo>
                  <a:pt x="539876" y="0"/>
                </a:lnTo>
                <a:close/>
              </a:path>
              <a:path w="643254" h="120650">
                <a:moveTo>
                  <a:pt x="334390" y="47116"/>
                </a:moveTo>
                <a:lnTo>
                  <a:pt x="321437" y="47116"/>
                </a:lnTo>
                <a:lnTo>
                  <a:pt x="334390" y="60070"/>
                </a:lnTo>
                <a:lnTo>
                  <a:pt x="334390" y="47116"/>
                </a:lnTo>
                <a:close/>
              </a:path>
              <a:path w="643254" h="120650">
                <a:moveTo>
                  <a:pt x="569159" y="47116"/>
                </a:moveTo>
                <a:lnTo>
                  <a:pt x="334390" y="47116"/>
                </a:lnTo>
                <a:lnTo>
                  <a:pt x="334390" y="60070"/>
                </a:lnTo>
                <a:lnTo>
                  <a:pt x="591366" y="60070"/>
                </a:lnTo>
                <a:lnTo>
                  <a:pt x="569159" y="47116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765540" y="2883230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60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64819" y="5663895"/>
            <a:ext cx="7364730" cy="857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17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Muestra </a:t>
            </a:r>
            <a:r>
              <a:rPr sz="1800" dirty="0">
                <a:latin typeface="Calibri"/>
                <a:cs typeface="Calibri"/>
              </a:rPr>
              <a:t>los </a:t>
            </a:r>
            <a:r>
              <a:rPr sz="1800" spc="-5" dirty="0">
                <a:latin typeface="Calibri"/>
                <a:cs typeface="Calibri"/>
              </a:rPr>
              <a:t>tiempos por debajo. Se </a:t>
            </a:r>
            <a:r>
              <a:rPr sz="1800" dirty="0">
                <a:latin typeface="Calibri"/>
                <a:cs typeface="Calibri"/>
              </a:rPr>
              <a:t>puede </a:t>
            </a:r>
            <a:r>
              <a:rPr sz="1800" spc="-10" dirty="0">
                <a:latin typeface="Calibri"/>
                <a:cs typeface="Calibri"/>
              </a:rPr>
              <a:t>calcular </a:t>
            </a:r>
            <a:r>
              <a:rPr sz="1800" spc="-5" dirty="0">
                <a:latin typeface="Calibri"/>
                <a:cs typeface="Calibri"/>
              </a:rPr>
              <a:t>la </a:t>
            </a:r>
            <a:r>
              <a:rPr sz="1800" spc="-10" dirty="0">
                <a:latin typeface="Calibri"/>
                <a:cs typeface="Calibri"/>
              </a:rPr>
              <a:t>holgura </a:t>
            </a:r>
            <a:r>
              <a:rPr sz="1800" spc="-5" dirty="0">
                <a:latin typeface="Calibri"/>
                <a:cs typeface="Calibri"/>
              </a:rPr>
              <a:t>de cada actividad  Cuando la </a:t>
            </a:r>
            <a:r>
              <a:rPr sz="1800" spc="-10" dirty="0">
                <a:latin typeface="Calibri"/>
                <a:cs typeface="Calibri"/>
              </a:rPr>
              <a:t>holgura </a:t>
            </a:r>
            <a:r>
              <a:rPr sz="1800" dirty="0">
                <a:latin typeface="Calibri"/>
                <a:cs typeface="Calibri"/>
              </a:rPr>
              <a:t>es </a:t>
            </a:r>
            <a:r>
              <a:rPr sz="1800" spc="-10" dirty="0">
                <a:latin typeface="Calibri"/>
                <a:cs typeface="Calibri"/>
              </a:rPr>
              <a:t>cero </a:t>
            </a:r>
            <a:r>
              <a:rPr sz="1800" dirty="0">
                <a:latin typeface="Calibri"/>
                <a:cs typeface="Calibri"/>
              </a:rPr>
              <a:t>o </a:t>
            </a:r>
            <a:r>
              <a:rPr sz="1800" spc="-15" dirty="0">
                <a:latin typeface="Calibri"/>
                <a:cs typeface="Calibri"/>
              </a:rPr>
              <a:t>negativa </a:t>
            </a:r>
            <a:r>
              <a:rPr sz="1800" dirty="0">
                <a:latin typeface="Calibri"/>
                <a:cs typeface="Calibri"/>
              </a:rPr>
              <a:t>es </a:t>
            </a:r>
            <a:r>
              <a:rPr sz="1800" spc="-10" dirty="0">
                <a:latin typeface="Calibri"/>
                <a:cs typeface="Calibri"/>
              </a:rPr>
              <a:t>Ruta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Crítica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795766" y="3780790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60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765160" y="3780790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50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080884" y="374116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50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152258" y="4924171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50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693155" y="4933569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45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294503" y="4955794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45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079875" y="5026863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40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437001" y="5026863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40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222373" y="5026863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35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723382" y="3812540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40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223128" y="374116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40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936872" y="3780790"/>
            <a:ext cx="1543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30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121655" y="2494533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30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936872" y="2526283"/>
            <a:ext cx="1543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15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365372" y="2526283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15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222373" y="2526283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756917" y="3708857"/>
            <a:ext cx="90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07593" y="3812540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5266" y="496950"/>
            <a:ext cx="7575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Método </a:t>
            </a:r>
            <a:r>
              <a:rPr spc="-5" dirty="0"/>
              <a:t>de la </a:t>
            </a:r>
            <a:r>
              <a:rPr spc="-15" dirty="0"/>
              <a:t>ruta </a:t>
            </a:r>
            <a:r>
              <a:rPr spc="-10" dirty="0"/>
              <a:t>crítica- </a:t>
            </a:r>
            <a:r>
              <a:rPr b="1" spc="-85" dirty="0">
                <a:latin typeface="Calibri"/>
                <a:cs typeface="Calibri"/>
              </a:rPr>
              <a:t>Total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Float</a:t>
            </a:r>
          </a:p>
        </p:txBody>
      </p:sp>
      <p:sp>
        <p:nvSpPr>
          <p:cNvPr id="3" name="object 3"/>
          <p:cNvSpPr/>
          <p:nvPr/>
        </p:nvSpPr>
        <p:spPr>
          <a:xfrm>
            <a:off x="500633" y="3073145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5" h="699770">
                <a:moveTo>
                  <a:pt x="1098042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29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2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8" y="582929"/>
                </a:lnTo>
                <a:lnTo>
                  <a:pt x="1214628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0633" y="3073145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5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2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8" y="116586"/>
                </a:lnTo>
                <a:lnTo>
                  <a:pt x="1214628" y="582929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2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29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15133" y="1786889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69">
                <a:moveTo>
                  <a:pt x="1098042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2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8" y="582930"/>
                </a:lnTo>
                <a:lnTo>
                  <a:pt x="1214628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15133" y="1786889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69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2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8" y="116586"/>
                </a:lnTo>
                <a:lnTo>
                  <a:pt x="1214628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2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15133" y="42877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2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2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8" y="582930"/>
                </a:lnTo>
                <a:lnTo>
                  <a:pt x="1214628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15133" y="42877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2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8" y="116586"/>
                </a:lnTo>
                <a:lnTo>
                  <a:pt x="1214628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2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01261" y="1786889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69">
                <a:moveTo>
                  <a:pt x="1098041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1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7" y="582930"/>
                </a:lnTo>
                <a:lnTo>
                  <a:pt x="1214627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1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01261" y="1786889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69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1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7" y="116586"/>
                </a:lnTo>
                <a:lnTo>
                  <a:pt x="1214627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1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72890" y="42877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2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2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7" y="582930"/>
                </a:lnTo>
                <a:lnTo>
                  <a:pt x="1214627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72890" y="42877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2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7" y="116586"/>
                </a:lnTo>
                <a:lnTo>
                  <a:pt x="1214627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2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59017" y="42877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1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1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8" y="582930"/>
                </a:lnTo>
                <a:lnTo>
                  <a:pt x="1214628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1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59017" y="42877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1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8" y="116586"/>
                </a:lnTo>
                <a:lnTo>
                  <a:pt x="1214628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1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16773" y="3073145"/>
            <a:ext cx="1213485" cy="699770"/>
          </a:xfrm>
          <a:custGeom>
            <a:avLst/>
            <a:gdLst/>
            <a:ahLst/>
            <a:cxnLst/>
            <a:rect l="l" t="t" r="r" b="b"/>
            <a:pathLst>
              <a:path w="1213484" h="699770">
                <a:moveTo>
                  <a:pt x="1096518" y="0"/>
                </a:moveTo>
                <a:lnTo>
                  <a:pt x="116585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29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5" y="699515"/>
                </a:lnTo>
                <a:lnTo>
                  <a:pt x="1096518" y="699515"/>
                </a:lnTo>
                <a:lnTo>
                  <a:pt x="1141898" y="690354"/>
                </a:lnTo>
                <a:lnTo>
                  <a:pt x="1178956" y="665368"/>
                </a:lnTo>
                <a:lnTo>
                  <a:pt x="1203942" y="628310"/>
                </a:lnTo>
                <a:lnTo>
                  <a:pt x="1213103" y="582929"/>
                </a:lnTo>
                <a:lnTo>
                  <a:pt x="1213103" y="116586"/>
                </a:lnTo>
                <a:lnTo>
                  <a:pt x="1203942" y="71205"/>
                </a:lnTo>
                <a:lnTo>
                  <a:pt x="1178956" y="34147"/>
                </a:lnTo>
                <a:lnTo>
                  <a:pt x="1141898" y="9161"/>
                </a:lnTo>
                <a:lnTo>
                  <a:pt x="1096518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16773" y="3073145"/>
            <a:ext cx="1213485" cy="699770"/>
          </a:xfrm>
          <a:custGeom>
            <a:avLst/>
            <a:gdLst/>
            <a:ahLst/>
            <a:cxnLst/>
            <a:rect l="l" t="t" r="r" b="b"/>
            <a:pathLst>
              <a:path w="121348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5" y="0"/>
                </a:lnTo>
                <a:lnTo>
                  <a:pt x="1096518" y="0"/>
                </a:lnTo>
                <a:lnTo>
                  <a:pt x="1141898" y="9161"/>
                </a:lnTo>
                <a:lnTo>
                  <a:pt x="1178956" y="34147"/>
                </a:lnTo>
                <a:lnTo>
                  <a:pt x="1203942" y="71205"/>
                </a:lnTo>
                <a:lnTo>
                  <a:pt x="1213103" y="116586"/>
                </a:lnTo>
                <a:lnTo>
                  <a:pt x="1213103" y="582929"/>
                </a:lnTo>
                <a:lnTo>
                  <a:pt x="1203942" y="628310"/>
                </a:lnTo>
                <a:lnTo>
                  <a:pt x="1178956" y="665368"/>
                </a:lnTo>
                <a:lnTo>
                  <a:pt x="1141898" y="690354"/>
                </a:lnTo>
                <a:lnTo>
                  <a:pt x="1096518" y="699515"/>
                </a:lnTo>
                <a:lnTo>
                  <a:pt x="116585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29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01261" y="3086861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1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1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7" y="582930"/>
                </a:lnTo>
                <a:lnTo>
                  <a:pt x="1214627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1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001261" y="3086861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1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7" y="116586"/>
                </a:lnTo>
                <a:lnTo>
                  <a:pt x="1214627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1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59017" y="3086861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1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1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8" y="582930"/>
                </a:lnTo>
                <a:lnTo>
                  <a:pt x="1214628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1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859017" y="3086861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1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8" y="116586"/>
                </a:lnTo>
                <a:lnTo>
                  <a:pt x="1214628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1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82039" y="1996439"/>
            <a:ext cx="1239011" cy="1054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94232" y="2075814"/>
            <a:ext cx="1121410" cy="996950"/>
          </a:xfrm>
          <a:custGeom>
            <a:avLst/>
            <a:gdLst/>
            <a:ahLst/>
            <a:cxnLst/>
            <a:rect l="l" t="t" r="r" b="b"/>
            <a:pathLst>
              <a:path w="1121410" h="996950">
                <a:moveTo>
                  <a:pt x="1047532" y="47117"/>
                </a:moveTo>
                <a:lnTo>
                  <a:pt x="0" y="47117"/>
                </a:lnTo>
                <a:lnTo>
                  <a:pt x="0" y="996696"/>
                </a:lnTo>
                <a:lnTo>
                  <a:pt x="25908" y="996696"/>
                </a:lnTo>
                <a:lnTo>
                  <a:pt x="25908" y="73025"/>
                </a:lnTo>
                <a:lnTo>
                  <a:pt x="12954" y="73025"/>
                </a:lnTo>
                <a:lnTo>
                  <a:pt x="25908" y="60071"/>
                </a:lnTo>
                <a:lnTo>
                  <a:pt x="1069739" y="60071"/>
                </a:lnTo>
                <a:lnTo>
                  <a:pt x="1047532" y="47117"/>
                </a:lnTo>
                <a:close/>
              </a:path>
              <a:path w="1121410" h="996950">
                <a:moveTo>
                  <a:pt x="1069739" y="60071"/>
                </a:moveTo>
                <a:lnTo>
                  <a:pt x="1011174" y="94234"/>
                </a:lnTo>
                <a:lnTo>
                  <a:pt x="1004951" y="97789"/>
                </a:lnTo>
                <a:lnTo>
                  <a:pt x="1002919" y="105790"/>
                </a:lnTo>
                <a:lnTo>
                  <a:pt x="1006475" y="111887"/>
                </a:lnTo>
                <a:lnTo>
                  <a:pt x="1010031" y="118110"/>
                </a:lnTo>
                <a:lnTo>
                  <a:pt x="1018032" y="120142"/>
                </a:lnTo>
                <a:lnTo>
                  <a:pt x="1098818" y="73025"/>
                </a:lnTo>
                <a:lnTo>
                  <a:pt x="1095375" y="73025"/>
                </a:lnTo>
                <a:lnTo>
                  <a:pt x="1095375" y="71247"/>
                </a:lnTo>
                <a:lnTo>
                  <a:pt x="1088898" y="71247"/>
                </a:lnTo>
                <a:lnTo>
                  <a:pt x="1069739" y="60071"/>
                </a:lnTo>
                <a:close/>
              </a:path>
              <a:path w="1121410" h="996950">
                <a:moveTo>
                  <a:pt x="25908" y="60071"/>
                </a:moveTo>
                <a:lnTo>
                  <a:pt x="12954" y="73025"/>
                </a:lnTo>
                <a:lnTo>
                  <a:pt x="25908" y="73025"/>
                </a:lnTo>
                <a:lnTo>
                  <a:pt x="25908" y="60071"/>
                </a:lnTo>
                <a:close/>
              </a:path>
              <a:path w="1121410" h="996950">
                <a:moveTo>
                  <a:pt x="1069739" y="60071"/>
                </a:moveTo>
                <a:lnTo>
                  <a:pt x="25908" y="60071"/>
                </a:lnTo>
                <a:lnTo>
                  <a:pt x="25908" y="73025"/>
                </a:lnTo>
                <a:lnTo>
                  <a:pt x="1047532" y="73025"/>
                </a:lnTo>
                <a:lnTo>
                  <a:pt x="1069739" y="60071"/>
                </a:lnTo>
                <a:close/>
              </a:path>
              <a:path w="1121410" h="996950">
                <a:moveTo>
                  <a:pt x="1098817" y="47117"/>
                </a:moveTo>
                <a:lnTo>
                  <a:pt x="1095375" y="47117"/>
                </a:lnTo>
                <a:lnTo>
                  <a:pt x="1095375" y="73025"/>
                </a:lnTo>
                <a:lnTo>
                  <a:pt x="1098818" y="73025"/>
                </a:lnTo>
                <a:lnTo>
                  <a:pt x="1121029" y="60071"/>
                </a:lnTo>
                <a:lnTo>
                  <a:pt x="1098817" y="47117"/>
                </a:lnTo>
                <a:close/>
              </a:path>
              <a:path w="1121410" h="996950">
                <a:moveTo>
                  <a:pt x="1088898" y="48895"/>
                </a:moveTo>
                <a:lnTo>
                  <a:pt x="1069739" y="60071"/>
                </a:lnTo>
                <a:lnTo>
                  <a:pt x="1088898" y="71247"/>
                </a:lnTo>
                <a:lnTo>
                  <a:pt x="1088898" y="48895"/>
                </a:lnTo>
                <a:close/>
              </a:path>
              <a:path w="1121410" h="996950">
                <a:moveTo>
                  <a:pt x="1095375" y="48895"/>
                </a:moveTo>
                <a:lnTo>
                  <a:pt x="1088898" y="48895"/>
                </a:lnTo>
                <a:lnTo>
                  <a:pt x="1088898" y="71247"/>
                </a:lnTo>
                <a:lnTo>
                  <a:pt x="1095375" y="71247"/>
                </a:lnTo>
                <a:lnTo>
                  <a:pt x="1095375" y="48895"/>
                </a:lnTo>
                <a:close/>
              </a:path>
              <a:path w="1121410" h="996950">
                <a:moveTo>
                  <a:pt x="1018032" y="0"/>
                </a:moveTo>
                <a:lnTo>
                  <a:pt x="1010031" y="2032"/>
                </a:lnTo>
                <a:lnTo>
                  <a:pt x="1006475" y="8255"/>
                </a:lnTo>
                <a:lnTo>
                  <a:pt x="1002919" y="14350"/>
                </a:lnTo>
                <a:lnTo>
                  <a:pt x="1004951" y="22351"/>
                </a:lnTo>
                <a:lnTo>
                  <a:pt x="1011174" y="25908"/>
                </a:lnTo>
                <a:lnTo>
                  <a:pt x="1069739" y="60071"/>
                </a:lnTo>
                <a:lnTo>
                  <a:pt x="1088898" y="48895"/>
                </a:lnTo>
                <a:lnTo>
                  <a:pt x="1095375" y="48895"/>
                </a:lnTo>
                <a:lnTo>
                  <a:pt x="1095375" y="47117"/>
                </a:lnTo>
                <a:lnTo>
                  <a:pt x="1098817" y="47117"/>
                </a:lnTo>
                <a:lnTo>
                  <a:pt x="101803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16808" y="1997964"/>
            <a:ext cx="690372" cy="2331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29761" y="2077085"/>
            <a:ext cx="571500" cy="120650"/>
          </a:xfrm>
          <a:custGeom>
            <a:avLst/>
            <a:gdLst/>
            <a:ahLst/>
            <a:cxnLst/>
            <a:rect l="l" t="t" r="r" b="b"/>
            <a:pathLst>
              <a:path w="571500" h="120650">
                <a:moveTo>
                  <a:pt x="497933" y="73145"/>
                </a:moveTo>
                <a:lnTo>
                  <a:pt x="455295" y="97789"/>
                </a:lnTo>
                <a:lnTo>
                  <a:pt x="453263" y="105790"/>
                </a:lnTo>
                <a:lnTo>
                  <a:pt x="456818" y="111887"/>
                </a:lnTo>
                <a:lnTo>
                  <a:pt x="460375" y="118110"/>
                </a:lnTo>
                <a:lnTo>
                  <a:pt x="468249" y="120268"/>
                </a:lnTo>
                <a:lnTo>
                  <a:pt x="474472" y="116586"/>
                </a:lnTo>
                <a:lnTo>
                  <a:pt x="549159" y="73278"/>
                </a:lnTo>
                <a:lnTo>
                  <a:pt x="497933" y="73145"/>
                </a:lnTo>
                <a:close/>
              </a:path>
              <a:path w="571500" h="120650">
                <a:moveTo>
                  <a:pt x="520146" y="60281"/>
                </a:moveTo>
                <a:lnTo>
                  <a:pt x="497933" y="73145"/>
                </a:lnTo>
                <a:lnTo>
                  <a:pt x="545846" y="73278"/>
                </a:lnTo>
                <a:lnTo>
                  <a:pt x="545846" y="71500"/>
                </a:lnTo>
                <a:lnTo>
                  <a:pt x="539241" y="71500"/>
                </a:lnTo>
                <a:lnTo>
                  <a:pt x="520146" y="60281"/>
                </a:lnTo>
                <a:close/>
              </a:path>
              <a:path w="571500" h="120650">
                <a:moveTo>
                  <a:pt x="468629" y="0"/>
                </a:moveTo>
                <a:lnTo>
                  <a:pt x="460755" y="2031"/>
                </a:lnTo>
                <a:lnTo>
                  <a:pt x="457073" y="8254"/>
                </a:lnTo>
                <a:lnTo>
                  <a:pt x="453516" y="14350"/>
                </a:lnTo>
                <a:lnTo>
                  <a:pt x="455549" y="22351"/>
                </a:lnTo>
                <a:lnTo>
                  <a:pt x="497946" y="47237"/>
                </a:lnTo>
                <a:lnTo>
                  <a:pt x="545846" y="47370"/>
                </a:lnTo>
                <a:lnTo>
                  <a:pt x="545846" y="73278"/>
                </a:lnTo>
                <a:lnTo>
                  <a:pt x="549159" y="73278"/>
                </a:lnTo>
                <a:lnTo>
                  <a:pt x="571500" y="60325"/>
                </a:lnTo>
                <a:lnTo>
                  <a:pt x="474852" y="3555"/>
                </a:lnTo>
                <a:lnTo>
                  <a:pt x="468629" y="0"/>
                </a:lnTo>
                <a:close/>
              </a:path>
              <a:path w="571500" h="120650">
                <a:moveTo>
                  <a:pt x="0" y="45847"/>
                </a:moveTo>
                <a:lnTo>
                  <a:pt x="0" y="71754"/>
                </a:lnTo>
                <a:lnTo>
                  <a:pt x="497933" y="73145"/>
                </a:lnTo>
                <a:lnTo>
                  <a:pt x="520146" y="60281"/>
                </a:lnTo>
                <a:lnTo>
                  <a:pt x="497946" y="47237"/>
                </a:lnTo>
                <a:lnTo>
                  <a:pt x="0" y="45847"/>
                </a:lnTo>
                <a:close/>
              </a:path>
              <a:path w="571500" h="120650">
                <a:moveTo>
                  <a:pt x="539368" y="49149"/>
                </a:moveTo>
                <a:lnTo>
                  <a:pt x="520146" y="60281"/>
                </a:lnTo>
                <a:lnTo>
                  <a:pt x="539241" y="71500"/>
                </a:lnTo>
                <a:lnTo>
                  <a:pt x="539368" y="49149"/>
                </a:lnTo>
                <a:close/>
              </a:path>
              <a:path w="571500" h="120650">
                <a:moveTo>
                  <a:pt x="545846" y="49149"/>
                </a:moveTo>
                <a:lnTo>
                  <a:pt x="539368" y="49149"/>
                </a:lnTo>
                <a:lnTo>
                  <a:pt x="539241" y="71500"/>
                </a:lnTo>
                <a:lnTo>
                  <a:pt x="545846" y="71500"/>
                </a:lnTo>
                <a:lnTo>
                  <a:pt x="545846" y="49149"/>
                </a:lnTo>
                <a:close/>
              </a:path>
              <a:path w="571500" h="120650">
                <a:moveTo>
                  <a:pt x="497946" y="47237"/>
                </a:moveTo>
                <a:lnTo>
                  <a:pt x="520146" y="60281"/>
                </a:lnTo>
                <a:lnTo>
                  <a:pt x="539368" y="49149"/>
                </a:lnTo>
                <a:lnTo>
                  <a:pt x="545846" y="49149"/>
                </a:lnTo>
                <a:lnTo>
                  <a:pt x="545846" y="47370"/>
                </a:lnTo>
                <a:lnTo>
                  <a:pt x="497946" y="47237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480559" y="2461260"/>
            <a:ext cx="233172" cy="7208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547742" y="2486405"/>
            <a:ext cx="120650" cy="601980"/>
          </a:xfrm>
          <a:custGeom>
            <a:avLst/>
            <a:gdLst/>
            <a:ahLst/>
            <a:cxnLst/>
            <a:rect l="l" t="t" r="r" b="b"/>
            <a:pathLst>
              <a:path w="120650" h="601980">
                <a:moveTo>
                  <a:pt x="14351" y="483489"/>
                </a:moveTo>
                <a:lnTo>
                  <a:pt x="2032" y="490728"/>
                </a:lnTo>
                <a:lnTo>
                  <a:pt x="0" y="498602"/>
                </a:lnTo>
                <a:lnTo>
                  <a:pt x="3556" y="504825"/>
                </a:lnTo>
                <a:lnTo>
                  <a:pt x="60071" y="601726"/>
                </a:lnTo>
                <a:lnTo>
                  <a:pt x="75033" y="576072"/>
                </a:lnTo>
                <a:lnTo>
                  <a:pt x="47117" y="576072"/>
                </a:lnTo>
                <a:lnTo>
                  <a:pt x="47117" y="528102"/>
                </a:lnTo>
                <a:lnTo>
                  <a:pt x="25908" y="491744"/>
                </a:lnTo>
                <a:lnTo>
                  <a:pt x="22352" y="485521"/>
                </a:lnTo>
                <a:lnTo>
                  <a:pt x="14351" y="483489"/>
                </a:lnTo>
                <a:close/>
              </a:path>
              <a:path w="120650" h="601980">
                <a:moveTo>
                  <a:pt x="47117" y="528102"/>
                </a:moveTo>
                <a:lnTo>
                  <a:pt x="47117" y="576072"/>
                </a:lnTo>
                <a:lnTo>
                  <a:pt x="73025" y="576072"/>
                </a:lnTo>
                <a:lnTo>
                  <a:pt x="73025" y="569468"/>
                </a:lnTo>
                <a:lnTo>
                  <a:pt x="48895" y="569468"/>
                </a:lnTo>
                <a:lnTo>
                  <a:pt x="60071" y="550309"/>
                </a:lnTo>
                <a:lnTo>
                  <a:pt x="47117" y="528102"/>
                </a:lnTo>
                <a:close/>
              </a:path>
              <a:path w="120650" h="601980">
                <a:moveTo>
                  <a:pt x="105791" y="483489"/>
                </a:moveTo>
                <a:lnTo>
                  <a:pt x="97790" y="485521"/>
                </a:lnTo>
                <a:lnTo>
                  <a:pt x="94234" y="491744"/>
                </a:lnTo>
                <a:lnTo>
                  <a:pt x="73025" y="528102"/>
                </a:lnTo>
                <a:lnTo>
                  <a:pt x="73025" y="576072"/>
                </a:lnTo>
                <a:lnTo>
                  <a:pt x="75033" y="576072"/>
                </a:lnTo>
                <a:lnTo>
                  <a:pt x="116586" y="504825"/>
                </a:lnTo>
                <a:lnTo>
                  <a:pt x="120142" y="498602"/>
                </a:lnTo>
                <a:lnTo>
                  <a:pt x="118110" y="490728"/>
                </a:lnTo>
                <a:lnTo>
                  <a:pt x="105791" y="483489"/>
                </a:lnTo>
                <a:close/>
              </a:path>
              <a:path w="120650" h="601980">
                <a:moveTo>
                  <a:pt x="60071" y="550309"/>
                </a:moveTo>
                <a:lnTo>
                  <a:pt x="48895" y="569468"/>
                </a:lnTo>
                <a:lnTo>
                  <a:pt x="71247" y="569468"/>
                </a:lnTo>
                <a:lnTo>
                  <a:pt x="60071" y="550309"/>
                </a:lnTo>
                <a:close/>
              </a:path>
              <a:path w="120650" h="601980">
                <a:moveTo>
                  <a:pt x="73025" y="528102"/>
                </a:moveTo>
                <a:lnTo>
                  <a:pt x="60071" y="550309"/>
                </a:lnTo>
                <a:lnTo>
                  <a:pt x="71247" y="569468"/>
                </a:lnTo>
                <a:lnTo>
                  <a:pt x="73025" y="569468"/>
                </a:lnTo>
                <a:lnTo>
                  <a:pt x="73025" y="528102"/>
                </a:lnTo>
                <a:close/>
              </a:path>
              <a:path w="120650" h="601980">
                <a:moveTo>
                  <a:pt x="48768" y="287909"/>
                </a:moveTo>
                <a:lnTo>
                  <a:pt x="47117" y="287909"/>
                </a:lnTo>
                <a:lnTo>
                  <a:pt x="47117" y="528102"/>
                </a:lnTo>
                <a:lnTo>
                  <a:pt x="60071" y="550309"/>
                </a:lnTo>
                <a:lnTo>
                  <a:pt x="73025" y="528102"/>
                </a:lnTo>
                <a:lnTo>
                  <a:pt x="73025" y="313817"/>
                </a:lnTo>
                <a:lnTo>
                  <a:pt x="60071" y="313817"/>
                </a:lnTo>
                <a:lnTo>
                  <a:pt x="73025" y="300863"/>
                </a:lnTo>
                <a:lnTo>
                  <a:pt x="48768" y="300863"/>
                </a:lnTo>
                <a:lnTo>
                  <a:pt x="48768" y="287909"/>
                </a:lnTo>
                <a:close/>
              </a:path>
              <a:path w="120650" h="601980">
                <a:moveTo>
                  <a:pt x="73025" y="300863"/>
                </a:moveTo>
                <a:lnTo>
                  <a:pt x="60071" y="313817"/>
                </a:lnTo>
                <a:lnTo>
                  <a:pt x="73025" y="313817"/>
                </a:lnTo>
                <a:lnTo>
                  <a:pt x="73025" y="300863"/>
                </a:lnTo>
                <a:close/>
              </a:path>
              <a:path w="120650" h="601980">
                <a:moveTo>
                  <a:pt x="74676" y="287909"/>
                </a:moveTo>
                <a:lnTo>
                  <a:pt x="61722" y="287909"/>
                </a:lnTo>
                <a:lnTo>
                  <a:pt x="48768" y="300863"/>
                </a:lnTo>
                <a:lnTo>
                  <a:pt x="73025" y="300863"/>
                </a:lnTo>
                <a:lnTo>
                  <a:pt x="73025" y="313817"/>
                </a:lnTo>
                <a:lnTo>
                  <a:pt x="74676" y="313817"/>
                </a:lnTo>
                <a:lnTo>
                  <a:pt x="74676" y="287909"/>
                </a:lnTo>
                <a:close/>
              </a:path>
              <a:path w="120650" h="601980">
                <a:moveTo>
                  <a:pt x="74676" y="0"/>
                </a:moveTo>
                <a:lnTo>
                  <a:pt x="48768" y="0"/>
                </a:lnTo>
                <a:lnTo>
                  <a:pt x="48768" y="300863"/>
                </a:lnTo>
                <a:lnTo>
                  <a:pt x="61722" y="287909"/>
                </a:lnTo>
                <a:lnTo>
                  <a:pt x="74676" y="287909"/>
                </a:lnTo>
                <a:lnTo>
                  <a:pt x="74676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02935" y="3299459"/>
            <a:ext cx="762000" cy="2331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15890" y="3378834"/>
            <a:ext cx="643255" cy="120650"/>
          </a:xfrm>
          <a:custGeom>
            <a:avLst/>
            <a:gdLst/>
            <a:ahLst/>
            <a:cxnLst/>
            <a:rect l="l" t="t" r="r" b="b"/>
            <a:pathLst>
              <a:path w="643254" h="120650">
                <a:moveTo>
                  <a:pt x="591475" y="60134"/>
                </a:moveTo>
                <a:lnTo>
                  <a:pt x="526796" y="97916"/>
                </a:lnTo>
                <a:lnTo>
                  <a:pt x="524763" y="105790"/>
                </a:lnTo>
                <a:lnTo>
                  <a:pt x="528320" y="112013"/>
                </a:lnTo>
                <a:lnTo>
                  <a:pt x="532002" y="118237"/>
                </a:lnTo>
                <a:lnTo>
                  <a:pt x="539876" y="120268"/>
                </a:lnTo>
                <a:lnTo>
                  <a:pt x="546100" y="116712"/>
                </a:lnTo>
                <a:lnTo>
                  <a:pt x="620839" y="73025"/>
                </a:lnTo>
                <a:lnTo>
                  <a:pt x="617347" y="73025"/>
                </a:lnTo>
                <a:lnTo>
                  <a:pt x="617347" y="71374"/>
                </a:lnTo>
                <a:lnTo>
                  <a:pt x="610743" y="71374"/>
                </a:lnTo>
                <a:lnTo>
                  <a:pt x="591475" y="60134"/>
                </a:lnTo>
                <a:close/>
              </a:path>
              <a:path w="643254" h="120650">
                <a:moveTo>
                  <a:pt x="308483" y="58547"/>
                </a:moveTo>
                <a:lnTo>
                  <a:pt x="308483" y="73025"/>
                </a:lnTo>
                <a:lnTo>
                  <a:pt x="569377" y="73025"/>
                </a:lnTo>
                <a:lnTo>
                  <a:pt x="571989" y="71500"/>
                </a:lnTo>
                <a:lnTo>
                  <a:pt x="321437" y="71500"/>
                </a:lnTo>
                <a:lnTo>
                  <a:pt x="308483" y="58547"/>
                </a:lnTo>
                <a:close/>
              </a:path>
              <a:path w="643254" h="120650">
                <a:moveTo>
                  <a:pt x="620789" y="47116"/>
                </a:moveTo>
                <a:lnTo>
                  <a:pt x="617347" y="47116"/>
                </a:lnTo>
                <a:lnTo>
                  <a:pt x="617347" y="73025"/>
                </a:lnTo>
                <a:lnTo>
                  <a:pt x="620839" y="73025"/>
                </a:lnTo>
                <a:lnTo>
                  <a:pt x="643001" y="60070"/>
                </a:lnTo>
                <a:lnTo>
                  <a:pt x="620789" y="47116"/>
                </a:lnTo>
                <a:close/>
              </a:path>
              <a:path w="643254" h="120650">
                <a:moveTo>
                  <a:pt x="334390" y="45592"/>
                </a:moveTo>
                <a:lnTo>
                  <a:pt x="0" y="45592"/>
                </a:lnTo>
                <a:lnTo>
                  <a:pt x="0" y="71500"/>
                </a:lnTo>
                <a:lnTo>
                  <a:pt x="308483" y="71500"/>
                </a:lnTo>
                <a:lnTo>
                  <a:pt x="308483" y="58547"/>
                </a:lnTo>
                <a:lnTo>
                  <a:pt x="332867" y="58547"/>
                </a:lnTo>
                <a:lnTo>
                  <a:pt x="321437" y="47116"/>
                </a:lnTo>
                <a:lnTo>
                  <a:pt x="334390" y="47116"/>
                </a:lnTo>
                <a:lnTo>
                  <a:pt x="334390" y="45592"/>
                </a:lnTo>
                <a:close/>
              </a:path>
              <a:path w="643254" h="120650">
                <a:moveTo>
                  <a:pt x="332867" y="58547"/>
                </a:moveTo>
                <a:lnTo>
                  <a:pt x="308483" y="58547"/>
                </a:lnTo>
                <a:lnTo>
                  <a:pt x="321437" y="71500"/>
                </a:lnTo>
                <a:lnTo>
                  <a:pt x="571989" y="71500"/>
                </a:lnTo>
                <a:lnTo>
                  <a:pt x="591475" y="60134"/>
                </a:lnTo>
                <a:lnTo>
                  <a:pt x="334390" y="60070"/>
                </a:lnTo>
                <a:lnTo>
                  <a:pt x="332867" y="58547"/>
                </a:lnTo>
                <a:close/>
              </a:path>
              <a:path w="643254" h="120650">
                <a:moveTo>
                  <a:pt x="610743" y="48894"/>
                </a:moveTo>
                <a:lnTo>
                  <a:pt x="591475" y="60134"/>
                </a:lnTo>
                <a:lnTo>
                  <a:pt x="610743" y="71374"/>
                </a:lnTo>
                <a:lnTo>
                  <a:pt x="610743" y="48894"/>
                </a:lnTo>
                <a:close/>
              </a:path>
              <a:path w="643254" h="120650">
                <a:moveTo>
                  <a:pt x="617347" y="48894"/>
                </a:moveTo>
                <a:lnTo>
                  <a:pt x="610743" y="48894"/>
                </a:lnTo>
                <a:lnTo>
                  <a:pt x="610743" y="71374"/>
                </a:lnTo>
                <a:lnTo>
                  <a:pt x="617347" y="71374"/>
                </a:lnTo>
                <a:lnTo>
                  <a:pt x="617347" y="48894"/>
                </a:lnTo>
                <a:close/>
              </a:path>
              <a:path w="643254" h="120650">
                <a:moveTo>
                  <a:pt x="539876" y="0"/>
                </a:moveTo>
                <a:lnTo>
                  <a:pt x="532002" y="2031"/>
                </a:lnTo>
                <a:lnTo>
                  <a:pt x="528320" y="8254"/>
                </a:lnTo>
                <a:lnTo>
                  <a:pt x="524763" y="14477"/>
                </a:lnTo>
                <a:lnTo>
                  <a:pt x="526796" y="22351"/>
                </a:lnTo>
                <a:lnTo>
                  <a:pt x="591475" y="60134"/>
                </a:lnTo>
                <a:lnTo>
                  <a:pt x="610743" y="48894"/>
                </a:lnTo>
                <a:lnTo>
                  <a:pt x="617347" y="48894"/>
                </a:lnTo>
                <a:lnTo>
                  <a:pt x="617347" y="47116"/>
                </a:lnTo>
                <a:lnTo>
                  <a:pt x="620789" y="47116"/>
                </a:lnTo>
                <a:lnTo>
                  <a:pt x="546100" y="3555"/>
                </a:lnTo>
                <a:lnTo>
                  <a:pt x="539876" y="0"/>
                </a:lnTo>
                <a:close/>
              </a:path>
              <a:path w="643254" h="120650">
                <a:moveTo>
                  <a:pt x="334390" y="47116"/>
                </a:moveTo>
                <a:lnTo>
                  <a:pt x="321437" y="47116"/>
                </a:lnTo>
                <a:lnTo>
                  <a:pt x="334390" y="60070"/>
                </a:lnTo>
                <a:lnTo>
                  <a:pt x="334390" y="47116"/>
                </a:lnTo>
                <a:close/>
              </a:path>
              <a:path w="643254" h="120650">
                <a:moveTo>
                  <a:pt x="569159" y="47116"/>
                </a:moveTo>
                <a:lnTo>
                  <a:pt x="334390" y="47116"/>
                </a:lnTo>
                <a:lnTo>
                  <a:pt x="334390" y="60070"/>
                </a:lnTo>
                <a:lnTo>
                  <a:pt x="591366" y="60070"/>
                </a:lnTo>
                <a:lnTo>
                  <a:pt x="569159" y="47116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60692" y="3284220"/>
            <a:ext cx="762000" cy="2331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73645" y="3363595"/>
            <a:ext cx="643255" cy="120650"/>
          </a:xfrm>
          <a:custGeom>
            <a:avLst/>
            <a:gdLst/>
            <a:ahLst/>
            <a:cxnLst/>
            <a:rect l="l" t="t" r="r" b="b"/>
            <a:pathLst>
              <a:path w="643254" h="120650">
                <a:moveTo>
                  <a:pt x="591584" y="60070"/>
                </a:moveTo>
                <a:lnTo>
                  <a:pt x="533019" y="94233"/>
                </a:lnTo>
                <a:lnTo>
                  <a:pt x="526796" y="97789"/>
                </a:lnTo>
                <a:lnTo>
                  <a:pt x="524763" y="105790"/>
                </a:lnTo>
                <a:lnTo>
                  <a:pt x="528320" y="111887"/>
                </a:lnTo>
                <a:lnTo>
                  <a:pt x="532002" y="118109"/>
                </a:lnTo>
                <a:lnTo>
                  <a:pt x="539876" y="120141"/>
                </a:lnTo>
                <a:lnTo>
                  <a:pt x="546100" y="116585"/>
                </a:lnTo>
                <a:lnTo>
                  <a:pt x="620789" y="73025"/>
                </a:lnTo>
                <a:lnTo>
                  <a:pt x="617347" y="73025"/>
                </a:lnTo>
                <a:lnTo>
                  <a:pt x="617347" y="71246"/>
                </a:lnTo>
                <a:lnTo>
                  <a:pt x="610743" y="71246"/>
                </a:lnTo>
                <a:lnTo>
                  <a:pt x="591584" y="60070"/>
                </a:lnTo>
                <a:close/>
              </a:path>
              <a:path w="643254" h="120650">
                <a:moveTo>
                  <a:pt x="308482" y="61467"/>
                </a:moveTo>
                <a:lnTo>
                  <a:pt x="0" y="61467"/>
                </a:lnTo>
                <a:lnTo>
                  <a:pt x="0" y="87375"/>
                </a:lnTo>
                <a:lnTo>
                  <a:pt x="334390" y="87375"/>
                </a:lnTo>
                <a:lnTo>
                  <a:pt x="334390" y="74421"/>
                </a:lnTo>
                <a:lnTo>
                  <a:pt x="308482" y="74421"/>
                </a:lnTo>
                <a:lnTo>
                  <a:pt x="308482" y="61467"/>
                </a:lnTo>
                <a:close/>
              </a:path>
              <a:path w="643254" h="120650">
                <a:moveTo>
                  <a:pt x="569377" y="47116"/>
                </a:moveTo>
                <a:lnTo>
                  <a:pt x="308482" y="47116"/>
                </a:lnTo>
                <a:lnTo>
                  <a:pt x="308482" y="74421"/>
                </a:lnTo>
                <a:lnTo>
                  <a:pt x="321436" y="61467"/>
                </a:lnTo>
                <a:lnTo>
                  <a:pt x="332993" y="61467"/>
                </a:lnTo>
                <a:lnTo>
                  <a:pt x="334390" y="60070"/>
                </a:lnTo>
                <a:lnTo>
                  <a:pt x="591584" y="60070"/>
                </a:lnTo>
                <a:lnTo>
                  <a:pt x="569377" y="47116"/>
                </a:lnTo>
                <a:close/>
              </a:path>
              <a:path w="643254" h="120650">
                <a:moveTo>
                  <a:pt x="332993" y="61467"/>
                </a:moveTo>
                <a:lnTo>
                  <a:pt x="321436" y="61467"/>
                </a:lnTo>
                <a:lnTo>
                  <a:pt x="308482" y="74421"/>
                </a:lnTo>
                <a:lnTo>
                  <a:pt x="334390" y="74421"/>
                </a:lnTo>
                <a:lnTo>
                  <a:pt x="334390" y="73025"/>
                </a:lnTo>
                <a:lnTo>
                  <a:pt x="321436" y="73025"/>
                </a:lnTo>
                <a:lnTo>
                  <a:pt x="332993" y="61467"/>
                </a:lnTo>
                <a:close/>
              </a:path>
              <a:path w="643254" h="120650">
                <a:moveTo>
                  <a:pt x="334390" y="60070"/>
                </a:moveTo>
                <a:lnTo>
                  <a:pt x="321436" y="73025"/>
                </a:lnTo>
                <a:lnTo>
                  <a:pt x="334390" y="73025"/>
                </a:lnTo>
                <a:lnTo>
                  <a:pt x="334390" y="60070"/>
                </a:lnTo>
                <a:close/>
              </a:path>
              <a:path w="643254" h="120650">
                <a:moveTo>
                  <a:pt x="591584" y="60070"/>
                </a:moveTo>
                <a:lnTo>
                  <a:pt x="334390" y="60070"/>
                </a:lnTo>
                <a:lnTo>
                  <a:pt x="334390" y="73025"/>
                </a:lnTo>
                <a:lnTo>
                  <a:pt x="569377" y="73025"/>
                </a:lnTo>
                <a:lnTo>
                  <a:pt x="591584" y="60070"/>
                </a:lnTo>
                <a:close/>
              </a:path>
              <a:path w="643254" h="120650">
                <a:moveTo>
                  <a:pt x="620789" y="47116"/>
                </a:moveTo>
                <a:lnTo>
                  <a:pt x="617347" y="47116"/>
                </a:lnTo>
                <a:lnTo>
                  <a:pt x="617347" y="73025"/>
                </a:lnTo>
                <a:lnTo>
                  <a:pt x="620789" y="73025"/>
                </a:lnTo>
                <a:lnTo>
                  <a:pt x="643001" y="60070"/>
                </a:lnTo>
                <a:lnTo>
                  <a:pt x="620789" y="47116"/>
                </a:lnTo>
                <a:close/>
              </a:path>
              <a:path w="643254" h="120650">
                <a:moveTo>
                  <a:pt x="610743" y="48894"/>
                </a:moveTo>
                <a:lnTo>
                  <a:pt x="591584" y="60070"/>
                </a:lnTo>
                <a:lnTo>
                  <a:pt x="610743" y="71246"/>
                </a:lnTo>
                <a:lnTo>
                  <a:pt x="610743" y="48894"/>
                </a:lnTo>
                <a:close/>
              </a:path>
              <a:path w="643254" h="120650">
                <a:moveTo>
                  <a:pt x="617347" y="48894"/>
                </a:moveTo>
                <a:lnTo>
                  <a:pt x="610743" y="48894"/>
                </a:lnTo>
                <a:lnTo>
                  <a:pt x="610743" y="71246"/>
                </a:lnTo>
                <a:lnTo>
                  <a:pt x="617347" y="71246"/>
                </a:lnTo>
                <a:lnTo>
                  <a:pt x="617347" y="48894"/>
                </a:lnTo>
                <a:close/>
              </a:path>
              <a:path w="643254" h="120650">
                <a:moveTo>
                  <a:pt x="539876" y="0"/>
                </a:moveTo>
                <a:lnTo>
                  <a:pt x="532002" y="2031"/>
                </a:lnTo>
                <a:lnTo>
                  <a:pt x="528320" y="8254"/>
                </a:lnTo>
                <a:lnTo>
                  <a:pt x="524763" y="14350"/>
                </a:lnTo>
                <a:lnTo>
                  <a:pt x="526796" y="22351"/>
                </a:lnTo>
                <a:lnTo>
                  <a:pt x="533019" y="25907"/>
                </a:lnTo>
                <a:lnTo>
                  <a:pt x="591584" y="60070"/>
                </a:lnTo>
                <a:lnTo>
                  <a:pt x="610743" y="48894"/>
                </a:lnTo>
                <a:lnTo>
                  <a:pt x="617347" y="48894"/>
                </a:lnTo>
                <a:lnTo>
                  <a:pt x="617347" y="47116"/>
                </a:lnTo>
                <a:lnTo>
                  <a:pt x="620789" y="47116"/>
                </a:lnTo>
                <a:lnTo>
                  <a:pt x="546100" y="3555"/>
                </a:lnTo>
                <a:lnTo>
                  <a:pt x="539876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274564" y="4500371"/>
            <a:ext cx="690372" cy="23317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87517" y="4579746"/>
            <a:ext cx="571500" cy="120650"/>
          </a:xfrm>
          <a:custGeom>
            <a:avLst/>
            <a:gdLst/>
            <a:ahLst/>
            <a:cxnLst/>
            <a:rect l="l" t="t" r="r" b="b"/>
            <a:pathLst>
              <a:path w="571500" h="120650">
                <a:moveTo>
                  <a:pt x="520101" y="60134"/>
                </a:moveTo>
                <a:lnTo>
                  <a:pt x="455422" y="97916"/>
                </a:lnTo>
                <a:lnTo>
                  <a:pt x="453390" y="105790"/>
                </a:lnTo>
                <a:lnTo>
                  <a:pt x="460502" y="118236"/>
                </a:lnTo>
                <a:lnTo>
                  <a:pt x="468503" y="120268"/>
                </a:lnTo>
                <a:lnTo>
                  <a:pt x="549336" y="73025"/>
                </a:lnTo>
                <a:lnTo>
                  <a:pt x="545846" y="73025"/>
                </a:lnTo>
                <a:lnTo>
                  <a:pt x="545846" y="71373"/>
                </a:lnTo>
                <a:lnTo>
                  <a:pt x="539369" y="71373"/>
                </a:lnTo>
                <a:lnTo>
                  <a:pt x="520101" y="60134"/>
                </a:lnTo>
                <a:close/>
              </a:path>
              <a:path w="571500" h="120650">
                <a:moveTo>
                  <a:pt x="272796" y="58546"/>
                </a:moveTo>
                <a:lnTo>
                  <a:pt x="272796" y="73025"/>
                </a:lnTo>
                <a:lnTo>
                  <a:pt x="498003" y="73025"/>
                </a:lnTo>
                <a:lnTo>
                  <a:pt x="500615" y="71500"/>
                </a:lnTo>
                <a:lnTo>
                  <a:pt x="285750" y="71500"/>
                </a:lnTo>
                <a:lnTo>
                  <a:pt x="272796" y="58546"/>
                </a:lnTo>
                <a:close/>
              </a:path>
              <a:path w="571500" h="120650">
                <a:moveTo>
                  <a:pt x="549288" y="47116"/>
                </a:moveTo>
                <a:lnTo>
                  <a:pt x="545846" y="47116"/>
                </a:lnTo>
                <a:lnTo>
                  <a:pt x="545846" y="73025"/>
                </a:lnTo>
                <a:lnTo>
                  <a:pt x="549336" y="73025"/>
                </a:lnTo>
                <a:lnTo>
                  <a:pt x="571500" y="60070"/>
                </a:lnTo>
                <a:lnTo>
                  <a:pt x="549288" y="47116"/>
                </a:lnTo>
                <a:close/>
              </a:path>
              <a:path w="571500" h="120650">
                <a:moveTo>
                  <a:pt x="298704" y="45592"/>
                </a:moveTo>
                <a:lnTo>
                  <a:pt x="0" y="45592"/>
                </a:lnTo>
                <a:lnTo>
                  <a:pt x="0" y="71500"/>
                </a:lnTo>
                <a:lnTo>
                  <a:pt x="272796" y="71500"/>
                </a:lnTo>
                <a:lnTo>
                  <a:pt x="272796" y="58546"/>
                </a:lnTo>
                <a:lnTo>
                  <a:pt x="297180" y="58546"/>
                </a:lnTo>
                <a:lnTo>
                  <a:pt x="285750" y="47116"/>
                </a:lnTo>
                <a:lnTo>
                  <a:pt x="298704" y="47116"/>
                </a:lnTo>
                <a:lnTo>
                  <a:pt x="298704" y="45592"/>
                </a:lnTo>
                <a:close/>
              </a:path>
              <a:path w="571500" h="120650">
                <a:moveTo>
                  <a:pt x="297180" y="58546"/>
                </a:moveTo>
                <a:lnTo>
                  <a:pt x="272796" y="58546"/>
                </a:lnTo>
                <a:lnTo>
                  <a:pt x="285750" y="71500"/>
                </a:lnTo>
                <a:lnTo>
                  <a:pt x="500615" y="71500"/>
                </a:lnTo>
                <a:lnTo>
                  <a:pt x="520101" y="60134"/>
                </a:lnTo>
                <a:lnTo>
                  <a:pt x="298704" y="60070"/>
                </a:lnTo>
                <a:lnTo>
                  <a:pt x="297180" y="58546"/>
                </a:lnTo>
                <a:close/>
              </a:path>
              <a:path w="571500" h="120650">
                <a:moveTo>
                  <a:pt x="539369" y="48894"/>
                </a:moveTo>
                <a:lnTo>
                  <a:pt x="520101" y="60134"/>
                </a:lnTo>
                <a:lnTo>
                  <a:pt x="539369" y="71373"/>
                </a:lnTo>
                <a:lnTo>
                  <a:pt x="539369" y="48894"/>
                </a:lnTo>
                <a:close/>
              </a:path>
              <a:path w="571500" h="120650">
                <a:moveTo>
                  <a:pt x="545846" y="48894"/>
                </a:moveTo>
                <a:lnTo>
                  <a:pt x="539369" y="48894"/>
                </a:lnTo>
                <a:lnTo>
                  <a:pt x="539369" y="71373"/>
                </a:lnTo>
                <a:lnTo>
                  <a:pt x="545846" y="71373"/>
                </a:lnTo>
                <a:lnTo>
                  <a:pt x="545846" y="48894"/>
                </a:lnTo>
                <a:close/>
              </a:path>
              <a:path w="571500" h="120650">
                <a:moveTo>
                  <a:pt x="468503" y="0"/>
                </a:moveTo>
                <a:lnTo>
                  <a:pt x="460502" y="2031"/>
                </a:lnTo>
                <a:lnTo>
                  <a:pt x="453390" y="14477"/>
                </a:lnTo>
                <a:lnTo>
                  <a:pt x="455422" y="22351"/>
                </a:lnTo>
                <a:lnTo>
                  <a:pt x="520101" y="60134"/>
                </a:lnTo>
                <a:lnTo>
                  <a:pt x="539369" y="48894"/>
                </a:lnTo>
                <a:lnTo>
                  <a:pt x="545846" y="48894"/>
                </a:lnTo>
                <a:lnTo>
                  <a:pt x="545846" y="47116"/>
                </a:lnTo>
                <a:lnTo>
                  <a:pt x="549288" y="47116"/>
                </a:lnTo>
                <a:lnTo>
                  <a:pt x="468503" y="0"/>
                </a:lnTo>
                <a:close/>
              </a:path>
              <a:path w="571500" h="120650">
                <a:moveTo>
                  <a:pt x="298704" y="47116"/>
                </a:moveTo>
                <a:lnTo>
                  <a:pt x="285750" y="47116"/>
                </a:lnTo>
                <a:lnTo>
                  <a:pt x="298704" y="60070"/>
                </a:lnTo>
                <a:lnTo>
                  <a:pt x="298704" y="47116"/>
                </a:lnTo>
                <a:close/>
              </a:path>
              <a:path w="571500" h="120650">
                <a:moveTo>
                  <a:pt x="497785" y="47116"/>
                </a:moveTo>
                <a:lnTo>
                  <a:pt x="298704" y="47116"/>
                </a:lnTo>
                <a:lnTo>
                  <a:pt x="298704" y="60070"/>
                </a:lnTo>
                <a:lnTo>
                  <a:pt x="519992" y="60070"/>
                </a:lnTo>
                <a:lnTo>
                  <a:pt x="497785" y="47116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060692" y="3633215"/>
            <a:ext cx="1370076" cy="9966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073645" y="3772661"/>
            <a:ext cx="1311275" cy="878205"/>
          </a:xfrm>
          <a:custGeom>
            <a:avLst/>
            <a:gdLst/>
            <a:ahLst/>
            <a:cxnLst/>
            <a:rect l="l" t="t" r="r" b="b"/>
            <a:pathLst>
              <a:path w="1311275" h="878204">
                <a:moveTo>
                  <a:pt x="1237996" y="852296"/>
                </a:moveTo>
                <a:lnTo>
                  <a:pt x="0" y="852296"/>
                </a:lnTo>
                <a:lnTo>
                  <a:pt x="0" y="878205"/>
                </a:lnTo>
                <a:lnTo>
                  <a:pt x="1263903" y="878205"/>
                </a:lnTo>
                <a:lnTo>
                  <a:pt x="1263903" y="865251"/>
                </a:lnTo>
                <a:lnTo>
                  <a:pt x="1237996" y="865251"/>
                </a:lnTo>
                <a:lnTo>
                  <a:pt x="1237996" y="852296"/>
                </a:lnTo>
                <a:close/>
              </a:path>
              <a:path w="1311275" h="878204">
                <a:moveTo>
                  <a:pt x="1250950" y="51289"/>
                </a:moveTo>
                <a:lnTo>
                  <a:pt x="1237996" y="73496"/>
                </a:lnTo>
                <a:lnTo>
                  <a:pt x="1237996" y="865251"/>
                </a:lnTo>
                <a:lnTo>
                  <a:pt x="1250950" y="852296"/>
                </a:lnTo>
                <a:lnTo>
                  <a:pt x="1263903" y="852296"/>
                </a:lnTo>
                <a:lnTo>
                  <a:pt x="1263903" y="73496"/>
                </a:lnTo>
                <a:lnTo>
                  <a:pt x="1250950" y="51289"/>
                </a:lnTo>
                <a:close/>
              </a:path>
              <a:path w="1311275" h="878204">
                <a:moveTo>
                  <a:pt x="1263903" y="852296"/>
                </a:moveTo>
                <a:lnTo>
                  <a:pt x="1250950" y="852296"/>
                </a:lnTo>
                <a:lnTo>
                  <a:pt x="1237996" y="865251"/>
                </a:lnTo>
                <a:lnTo>
                  <a:pt x="1263903" y="865251"/>
                </a:lnTo>
                <a:lnTo>
                  <a:pt x="1263903" y="852296"/>
                </a:lnTo>
                <a:close/>
              </a:path>
              <a:path w="1311275" h="878204">
                <a:moveTo>
                  <a:pt x="1250950" y="0"/>
                </a:moveTo>
                <a:lnTo>
                  <a:pt x="1194434" y="96900"/>
                </a:lnTo>
                <a:lnTo>
                  <a:pt x="1190752" y="102996"/>
                </a:lnTo>
                <a:lnTo>
                  <a:pt x="1192910" y="110998"/>
                </a:lnTo>
                <a:lnTo>
                  <a:pt x="1199133" y="114554"/>
                </a:lnTo>
                <a:lnTo>
                  <a:pt x="1205229" y="118110"/>
                </a:lnTo>
                <a:lnTo>
                  <a:pt x="1213230" y="116077"/>
                </a:lnTo>
                <a:lnTo>
                  <a:pt x="1216786" y="109855"/>
                </a:lnTo>
                <a:lnTo>
                  <a:pt x="1237995" y="73496"/>
                </a:lnTo>
                <a:lnTo>
                  <a:pt x="1237996" y="25654"/>
                </a:lnTo>
                <a:lnTo>
                  <a:pt x="1265912" y="25654"/>
                </a:lnTo>
                <a:lnTo>
                  <a:pt x="1250950" y="0"/>
                </a:lnTo>
                <a:close/>
              </a:path>
              <a:path w="1311275" h="878204">
                <a:moveTo>
                  <a:pt x="1265912" y="25654"/>
                </a:moveTo>
                <a:lnTo>
                  <a:pt x="1263903" y="25654"/>
                </a:lnTo>
                <a:lnTo>
                  <a:pt x="1263903" y="73496"/>
                </a:lnTo>
                <a:lnTo>
                  <a:pt x="1285112" y="109855"/>
                </a:lnTo>
                <a:lnTo>
                  <a:pt x="1288669" y="116077"/>
                </a:lnTo>
                <a:lnTo>
                  <a:pt x="1296670" y="118110"/>
                </a:lnTo>
                <a:lnTo>
                  <a:pt x="1302765" y="114554"/>
                </a:lnTo>
                <a:lnTo>
                  <a:pt x="1308988" y="110998"/>
                </a:lnTo>
                <a:lnTo>
                  <a:pt x="1311021" y="102996"/>
                </a:lnTo>
                <a:lnTo>
                  <a:pt x="1265912" y="25654"/>
                </a:lnTo>
                <a:close/>
              </a:path>
              <a:path w="1311275" h="878204">
                <a:moveTo>
                  <a:pt x="1263903" y="25654"/>
                </a:moveTo>
                <a:lnTo>
                  <a:pt x="1237996" y="25654"/>
                </a:lnTo>
                <a:lnTo>
                  <a:pt x="1237996" y="73496"/>
                </a:lnTo>
                <a:lnTo>
                  <a:pt x="1250950" y="51289"/>
                </a:lnTo>
                <a:lnTo>
                  <a:pt x="1239774" y="32131"/>
                </a:lnTo>
                <a:lnTo>
                  <a:pt x="1263903" y="32131"/>
                </a:lnTo>
                <a:lnTo>
                  <a:pt x="1263903" y="25654"/>
                </a:lnTo>
                <a:close/>
              </a:path>
              <a:path w="1311275" h="878204">
                <a:moveTo>
                  <a:pt x="1263903" y="32131"/>
                </a:moveTo>
                <a:lnTo>
                  <a:pt x="1262126" y="32131"/>
                </a:lnTo>
                <a:lnTo>
                  <a:pt x="1250950" y="51289"/>
                </a:lnTo>
                <a:lnTo>
                  <a:pt x="1263903" y="73496"/>
                </a:lnTo>
                <a:lnTo>
                  <a:pt x="1263903" y="32131"/>
                </a:lnTo>
                <a:close/>
              </a:path>
              <a:path w="1311275" h="878204">
                <a:moveTo>
                  <a:pt x="1262126" y="32131"/>
                </a:moveTo>
                <a:lnTo>
                  <a:pt x="1239774" y="32131"/>
                </a:lnTo>
                <a:lnTo>
                  <a:pt x="1250950" y="51289"/>
                </a:lnTo>
                <a:lnTo>
                  <a:pt x="1262126" y="32131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82039" y="3747515"/>
            <a:ext cx="1239011" cy="9845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94232" y="3772661"/>
            <a:ext cx="1121410" cy="925830"/>
          </a:xfrm>
          <a:custGeom>
            <a:avLst/>
            <a:gdLst/>
            <a:ahLst/>
            <a:cxnLst/>
            <a:rect l="l" t="t" r="r" b="b"/>
            <a:pathLst>
              <a:path w="1121410" h="925829">
                <a:moveTo>
                  <a:pt x="1099035" y="852296"/>
                </a:moveTo>
                <a:lnTo>
                  <a:pt x="1095375" y="852296"/>
                </a:lnTo>
                <a:lnTo>
                  <a:pt x="1095375" y="878077"/>
                </a:lnTo>
                <a:lnTo>
                  <a:pt x="1047522" y="878083"/>
                </a:lnTo>
                <a:lnTo>
                  <a:pt x="1004951" y="902969"/>
                </a:lnTo>
                <a:lnTo>
                  <a:pt x="1002919" y="910844"/>
                </a:lnTo>
                <a:lnTo>
                  <a:pt x="1010031" y="923289"/>
                </a:lnTo>
                <a:lnTo>
                  <a:pt x="1018032" y="925321"/>
                </a:lnTo>
                <a:lnTo>
                  <a:pt x="1121029" y="865124"/>
                </a:lnTo>
                <a:lnTo>
                  <a:pt x="1099035" y="852296"/>
                </a:lnTo>
                <a:close/>
              </a:path>
              <a:path w="1121410" h="925829">
                <a:moveTo>
                  <a:pt x="25908" y="0"/>
                </a:moveTo>
                <a:lnTo>
                  <a:pt x="0" y="0"/>
                </a:lnTo>
                <a:lnTo>
                  <a:pt x="0" y="878205"/>
                </a:lnTo>
                <a:lnTo>
                  <a:pt x="1047532" y="878077"/>
                </a:lnTo>
                <a:lnTo>
                  <a:pt x="1069630" y="865187"/>
                </a:lnTo>
                <a:lnTo>
                  <a:pt x="25908" y="865124"/>
                </a:lnTo>
                <a:lnTo>
                  <a:pt x="12954" y="852296"/>
                </a:lnTo>
                <a:lnTo>
                  <a:pt x="25908" y="852296"/>
                </a:lnTo>
                <a:lnTo>
                  <a:pt x="25908" y="0"/>
                </a:lnTo>
                <a:close/>
              </a:path>
              <a:path w="1121410" h="925829">
                <a:moveTo>
                  <a:pt x="1069630" y="865187"/>
                </a:moveTo>
                <a:lnTo>
                  <a:pt x="1047522" y="878083"/>
                </a:lnTo>
                <a:lnTo>
                  <a:pt x="1095375" y="878077"/>
                </a:lnTo>
                <a:lnTo>
                  <a:pt x="1095375" y="876426"/>
                </a:lnTo>
                <a:lnTo>
                  <a:pt x="1088898" y="876426"/>
                </a:lnTo>
                <a:lnTo>
                  <a:pt x="1069630" y="865187"/>
                </a:lnTo>
                <a:close/>
              </a:path>
              <a:path w="1121410" h="925829">
                <a:moveTo>
                  <a:pt x="1088898" y="853948"/>
                </a:moveTo>
                <a:lnTo>
                  <a:pt x="1069630" y="865187"/>
                </a:lnTo>
                <a:lnTo>
                  <a:pt x="1088898" y="876426"/>
                </a:lnTo>
                <a:lnTo>
                  <a:pt x="1088898" y="853948"/>
                </a:lnTo>
                <a:close/>
              </a:path>
              <a:path w="1121410" h="925829">
                <a:moveTo>
                  <a:pt x="1095375" y="853948"/>
                </a:moveTo>
                <a:lnTo>
                  <a:pt x="1088898" y="853948"/>
                </a:lnTo>
                <a:lnTo>
                  <a:pt x="1088898" y="876426"/>
                </a:lnTo>
                <a:lnTo>
                  <a:pt x="1095375" y="876426"/>
                </a:lnTo>
                <a:lnTo>
                  <a:pt x="1095375" y="853948"/>
                </a:lnTo>
                <a:close/>
              </a:path>
              <a:path w="1121410" h="925829">
                <a:moveTo>
                  <a:pt x="1018032" y="805052"/>
                </a:moveTo>
                <a:lnTo>
                  <a:pt x="1010031" y="807085"/>
                </a:lnTo>
                <a:lnTo>
                  <a:pt x="1002919" y="819531"/>
                </a:lnTo>
                <a:lnTo>
                  <a:pt x="1004951" y="827405"/>
                </a:lnTo>
                <a:lnTo>
                  <a:pt x="1069630" y="865187"/>
                </a:lnTo>
                <a:lnTo>
                  <a:pt x="1088898" y="853948"/>
                </a:lnTo>
                <a:lnTo>
                  <a:pt x="1095375" y="853948"/>
                </a:lnTo>
                <a:lnTo>
                  <a:pt x="1095375" y="852296"/>
                </a:lnTo>
                <a:lnTo>
                  <a:pt x="1099035" y="852296"/>
                </a:lnTo>
                <a:lnTo>
                  <a:pt x="1018032" y="805052"/>
                </a:lnTo>
                <a:close/>
              </a:path>
              <a:path w="1121410" h="925829">
                <a:moveTo>
                  <a:pt x="25908" y="852296"/>
                </a:moveTo>
                <a:lnTo>
                  <a:pt x="12954" y="852296"/>
                </a:lnTo>
                <a:lnTo>
                  <a:pt x="25908" y="865124"/>
                </a:lnTo>
                <a:lnTo>
                  <a:pt x="25908" y="852296"/>
                </a:lnTo>
                <a:close/>
              </a:path>
              <a:path w="1121410" h="925829">
                <a:moveTo>
                  <a:pt x="1047532" y="852296"/>
                </a:moveTo>
                <a:lnTo>
                  <a:pt x="25908" y="852296"/>
                </a:lnTo>
                <a:lnTo>
                  <a:pt x="25908" y="865124"/>
                </a:lnTo>
                <a:lnTo>
                  <a:pt x="1069521" y="865124"/>
                </a:lnTo>
                <a:lnTo>
                  <a:pt x="1047532" y="852296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416808" y="4500371"/>
            <a:ext cx="762000" cy="2331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429761" y="4579746"/>
            <a:ext cx="643255" cy="120650"/>
          </a:xfrm>
          <a:custGeom>
            <a:avLst/>
            <a:gdLst/>
            <a:ahLst/>
            <a:cxnLst/>
            <a:rect l="l" t="t" r="r" b="b"/>
            <a:pathLst>
              <a:path w="643254" h="120650">
                <a:moveTo>
                  <a:pt x="591475" y="60134"/>
                </a:moveTo>
                <a:lnTo>
                  <a:pt x="526796" y="97916"/>
                </a:lnTo>
                <a:lnTo>
                  <a:pt x="524763" y="105790"/>
                </a:lnTo>
                <a:lnTo>
                  <a:pt x="528320" y="112013"/>
                </a:lnTo>
                <a:lnTo>
                  <a:pt x="532002" y="118236"/>
                </a:lnTo>
                <a:lnTo>
                  <a:pt x="539876" y="120268"/>
                </a:lnTo>
                <a:lnTo>
                  <a:pt x="546100" y="116712"/>
                </a:lnTo>
                <a:lnTo>
                  <a:pt x="620839" y="73025"/>
                </a:lnTo>
                <a:lnTo>
                  <a:pt x="617347" y="73025"/>
                </a:lnTo>
                <a:lnTo>
                  <a:pt x="617347" y="71373"/>
                </a:lnTo>
                <a:lnTo>
                  <a:pt x="610742" y="71373"/>
                </a:lnTo>
                <a:lnTo>
                  <a:pt x="591475" y="60134"/>
                </a:lnTo>
                <a:close/>
              </a:path>
              <a:path w="643254" h="120650">
                <a:moveTo>
                  <a:pt x="308483" y="58546"/>
                </a:moveTo>
                <a:lnTo>
                  <a:pt x="308483" y="73025"/>
                </a:lnTo>
                <a:lnTo>
                  <a:pt x="569377" y="73025"/>
                </a:lnTo>
                <a:lnTo>
                  <a:pt x="571989" y="71500"/>
                </a:lnTo>
                <a:lnTo>
                  <a:pt x="321437" y="71500"/>
                </a:lnTo>
                <a:lnTo>
                  <a:pt x="308483" y="58546"/>
                </a:lnTo>
                <a:close/>
              </a:path>
              <a:path w="643254" h="120650">
                <a:moveTo>
                  <a:pt x="620789" y="47116"/>
                </a:moveTo>
                <a:lnTo>
                  <a:pt x="617347" y="47116"/>
                </a:lnTo>
                <a:lnTo>
                  <a:pt x="617347" y="73025"/>
                </a:lnTo>
                <a:lnTo>
                  <a:pt x="620839" y="73025"/>
                </a:lnTo>
                <a:lnTo>
                  <a:pt x="643001" y="60070"/>
                </a:lnTo>
                <a:lnTo>
                  <a:pt x="620789" y="47116"/>
                </a:lnTo>
                <a:close/>
              </a:path>
              <a:path w="643254" h="120650">
                <a:moveTo>
                  <a:pt x="334390" y="45592"/>
                </a:moveTo>
                <a:lnTo>
                  <a:pt x="0" y="45592"/>
                </a:lnTo>
                <a:lnTo>
                  <a:pt x="0" y="71500"/>
                </a:lnTo>
                <a:lnTo>
                  <a:pt x="308483" y="71500"/>
                </a:lnTo>
                <a:lnTo>
                  <a:pt x="308483" y="58546"/>
                </a:lnTo>
                <a:lnTo>
                  <a:pt x="332866" y="58546"/>
                </a:lnTo>
                <a:lnTo>
                  <a:pt x="321437" y="47116"/>
                </a:lnTo>
                <a:lnTo>
                  <a:pt x="334390" y="47116"/>
                </a:lnTo>
                <a:lnTo>
                  <a:pt x="334390" y="45592"/>
                </a:lnTo>
                <a:close/>
              </a:path>
              <a:path w="643254" h="120650">
                <a:moveTo>
                  <a:pt x="332866" y="58546"/>
                </a:moveTo>
                <a:lnTo>
                  <a:pt x="308483" y="58546"/>
                </a:lnTo>
                <a:lnTo>
                  <a:pt x="321437" y="71500"/>
                </a:lnTo>
                <a:lnTo>
                  <a:pt x="571989" y="71500"/>
                </a:lnTo>
                <a:lnTo>
                  <a:pt x="591475" y="60134"/>
                </a:lnTo>
                <a:lnTo>
                  <a:pt x="334390" y="60070"/>
                </a:lnTo>
                <a:lnTo>
                  <a:pt x="332866" y="58546"/>
                </a:lnTo>
                <a:close/>
              </a:path>
              <a:path w="643254" h="120650">
                <a:moveTo>
                  <a:pt x="610742" y="48894"/>
                </a:moveTo>
                <a:lnTo>
                  <a:pt x="591475" y="60134"/>
                </a:lnTo>
                <a:lnTo>
                  <a:pt x="610742" y="71373"/>
                </a:lnTo>
                <a:lnTo>
                  <a:pt x="610742" y="48894"/>
                </a:lnTo>
                <a:close/>
              </a:path>
              <a:path w="643254" h="120650">
                <a:moveTo>
                  <a:pt x="617347" y="48894"/>
                </a:moveTo>
                <a:lnTo>
                  <a:pt x="610742" y="48894"/>
                </a:lnTo>
                <a:lnTo>
                  <a:pt x="610742" y="71373"/>
                </a:lnTo>
                <a:lnTo>
                  <a:pt x="617347" y="71373"/>
                </a:lnTo>
                <a:lnTo>
                  <a:pt x="617347" y="48894"/>
                </a:lnTo>
                <a:close/>
              </a:path>
              <a:path w="643254" h="120650">
                <a:moveTo>
                  <a:pt x="539876" y="0"/>
                </a:moveTo>
                <a:lnTo>
                  <a:pt x="532002" y="2031"/>
                </a:lnTo>
                <a:lnTo>
                  <a:pt x="528320" y="8254"/>
                </a:lnTo>
                <a:lnTo>
                  <a:pt x="524763" y="14477"/>
                </a:lnTo>
                <a:lnTo>
                  <a:pt x="526796" y="22351"/>
                </a:lnTo>
                <a:lnTo>
                  <a:pt x="591475" y="60134"/>
                </a:lnTo>
                <a:lnTo>
                  <a:pt x="610742" y="48894"/>
                </a:lnTo>
                <a:lnTo>
                  <a:pt x="617347" y="48894"/>
                </a:lnTo>
                <a:lnTo>
                  <a:pt x="617347" y="47116"/>
                </a:lnTo>
                <a:lnTo>
                  <a:pt x="620789" y="47116"/>
                </a:lnTo>
                <a:lnTo>
                  <a:pt x="546100" y="3555"/>
                </a:lnTo>
                <a:lnTo>
                  <a:pt x="539876" y="0"/>
                </a:lnTo>
                <a:close/>
              </a:path>
              <a:path w="643254" h="120650">
                <a:moveTo>
                  <a:pt x="334390" y="47116"/>
                </a:moveTo>
                <a:lnTo>
                  <a:pt x="321437" y="47116"/>
                </a:lnTo>
                <a:lnTo>
                  <a:pt x="334390" y="60070"/>
                </a:lnTo>
                <a:lnTo>
                  <a:pt x="334390" y="47116"/>
                </a:lnTo>
                <a:close/>
              </a:path>
              <a:path w="643254" h="120650">
                <a:moveTo>
                  <a:pt x="569159" y="47116"/>
                </a:moveTo>
                <a:lnTo>
                  <a:pt x="334390" y="47116"/>
                </a:lnTo>
                <a:lnTo>
                  <a:pt x="334390" y="60070"/>
                </a:lnTo>
                <a:lnTo>
                  <a:pt x="591366" y="60070"/>
                </a:lnTo>
                <a:lnTo>
                  <a:pt x="569159" y="47116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64819" y="5663895"/>
            <a:ext cx="7788275" cy="85788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800" spc="-5" dirty="0">
                <a:latin typeface="Calibri"/>
                <a:cs typeface="Calibri"/>
              </a:rPr>
              <a:t>En una </a:t>
            </a:r>
            <a:r>
              <a:rPr sz="1800" dirty="0">
                <a:latin typeface="Calibri"/>
                <a:cs typeface="Calibri"/>
              </a:rPr>
              <a:t>misma </a:t>
            </a:r>
            <a:r>
              <a:rPr sz="1800" spc="-10" dirty="0">
                <a:latin typeface="Calibri"/>
                <a:cs typeface="Calibri"/>
              </a:rPr>
              <a:t>rama </a:t>
            </a:r>
            <a:r>
              <a:rPr sz="1800" dirty="0">
                <a:latin typeface="Calibri"/>
                <a:cs typeface="Calibri"/>
              </a:rPr>
              <a:t>la </a:t>
            </a:r>
            <a:r>
              <a:rPr sz="1800" spc="-10" dirty="0">
                <a:latin typeface="Calibri"/>
                <a:cs typeface="Calibri"/>
              </a:rPr>
              <a:t>holgura </a:t>
            </a:r>
            <a:r>
              <a:rPr sz="1800" spc="-5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todos </a:t>
            </a:r>
            <a:r>
              <a:rPr sz="1800" spc="-5" dirty="0">
                <a:latin typeface="Calibri"/>
                <a:cs typeface="Calibri"/>
              </a:rPr>
              <a:t>debe </a:t>
            </a:r>
            <a:r>
              <a:rPr sz="1800" dirty="0">
                <a:latin typeface="Calibri"/>
                <a:cs typeface="Calibri"/>
              </a:rPr>
              <a:t>ser</a:t>
            </a:r>
            <a:r>
              <a:rPr sz="1800" spc="8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igual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800" spc="-5" dirty="0">
                <a:latin typeface="Calibri"/>
                <a:cs typeface="Calibri"/>
              </a:rPr>
              <a:t>Puede haber </a:t>
            </a:r>
            <a:r>
              <a:rPr sz="1800" dirty="0">
                <a:latin typeface="Calibri"/>
                <a:cs typeface="Calibri"/>
              </a:rPr>
              <a:t>más </a:t>
            </a:r>
            <a:r>
              <a:rPr sz="1800" spc="-5" dirty="0">
                <a:latin typeface="Calibri"/>
                <a:cs typeface="Calibri"/>
              </a:rPr>
              <a:t>de una </a:t>
            </a:r>
            <a:r>
              <a:rPr sz="1800" spc="-10" dirty="0">
                <a:latin typeface="Calibri"/>
                <a:cs typeface="Calibri"/>
              </a:rPr>
              <a:t>ruta crítica. </a:t>
            </a:r>
            <a:r>
              <a:rPr sz="1800" spc="-5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hecho, </a:t>
            </a:r>
            <a:r>
              <a:rPr sz="1800" spc="-20" dirty="0">
                <a:latin typeface="Calibri"/>
                <a:cs typeface="Calibri"/>
              </a:rPr>
              <a:t>TODAS </a:t>
            </a:r>
            <a:r>
              <a:rPr sz="1800" spc="-5" dirty="0">
                <a:latin typeface="Calibri"/>
                <a:cs typeface="Calibri"/>
              </a:rPr>
              <a:t>pueden </a:t>
            </a:r>
            <a:r>
              <a:rPr sz="1800" spc="-10" dirty="0">
                <a:latin typeface="Calibri"/>
                <a:cs typeface="Calibri"/>
              </a:rPr>
              <a:t>estar </a:t>
            </a:r>
            <a:r>
              <a:rPr sz="1800" dirty="0">
                <a:latin typeface="Calibri"/>
                <a:cs typeface="Calibri"/>
              </a:rPr>
              <a:t>en </a:t>
            </a:r>
            <a:r>
              <a:rPr sz="1800" spc="-10" dirty="0">
                <a:latin typeface="Calibri"/>
                <a:cs typeface="Calibri"/>
              </a:rPr>
              <a:t>Ruta</a:t>
            </a:r>
            <a:r>
              <a:rPr sz="1800" spc="2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Crítica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795766" y="3780790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60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765160" y="3780790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50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080884" y="374116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50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152258" y="4924171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50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693155" y="4933569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45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294503" y="4955794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45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79875" y="5026863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40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437001" y="5026863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40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222373" y="5026863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35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723382" y="3812540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40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223128" y="374116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40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936872" y="3780790"/>
            <a:ext cx="1543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30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121655" y="2494533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30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936872" y="2526283"/>
            <a:ext cx="1543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15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365372" y="2526283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15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222373" y="2526283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756917" y="3708857"/>
            <a:ext cx="90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07593" y="3812540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00633" y="3073145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5" h="699770">
                <a:moveTo>
                  <a:pt x="1098042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29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2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8" y="582929"/>
                </a:lnTo>
                <a:lnTo>
                  <a:pt x="1214628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00633" y="3073145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5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2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8" y="116586"/>
                </a:lnTo>
                <a:lnTo>
                  <a:pt x="1214628" y="582929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2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29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807212" y="3088386"/>
            <a:ext cx="60007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950" marR="5080" indent="-22288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000" b="1" spc="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icio  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215133" y="1786889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69">
                <a:moveTo>
                  <a:pt x="1098042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2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8" y="582930"/>
                </a:lnTo>
                <a:lnTo>
                  <a:pt x="1214628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215133" y="1786889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69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2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8" y="116586"/>
                </a:lnTo>
                <a:lnTo>
                  <a:pt x="1214628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2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2678938" y="1802383"/>
            <a:ext cx="28448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334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A  10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215133" y="42877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2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2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8" y="582930"/>
                </a:lnTo>
                <a:lnTo>
                  <a:pt x="1214628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215133" y="42877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2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8" y="116586"/>
                </a:lnTo>
                <a:lnTo>
                  <a:pt x="1214628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2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2736850" y="4303267"/>
            <a:ext cx="1682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 marR="5080" indent="-762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B  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4001261" y="1786889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69">
                <a:moveTo>
                  <a:pt x="1098041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1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7" y="582930"/>
                </a:lnTo>
                <a:lnTo>
                  <a:pt x="1214627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1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001261" y="1786889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69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1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7" y="116586"/>
                </a:lnTo>
                <a:lnTo>
                  <a:pt x="1214627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1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4465446" y="1802383"/>
            <a:ext cx="28448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85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E  15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4072890" y="42877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2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2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7" y="582930"/>
                </a:lnTo>
                <a:lnTo>
                  <a:pt x="1214627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072890" y="42877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2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7" y="116586"/>
                </a:lnTo>
                <a:lnTo>
                  <a:pt x="1214627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2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4599178" y="4303267"/>
            <a:ext cx="1606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C  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5859017" y="42877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1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1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8" y="582930"/>
                </a:lnTo>
                <a:lnTo>
                  <a:pt x="1214628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1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859017" y="4287773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1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8" y="116586"/>
                </a:lnTo>
                <a:lnTo>
                  <a:pt x="1214628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1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6373114" y="4303267"/>
            <a:ext cx="1860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" marR="5080" indent="-1524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D  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7716773" y="3073145"/>
            <a:ext cx="1213485" cy="699770"/>
          </a:xfrm>
          <a:custGeom>
            <a:avLst/>
            <a:gdLst/>
            <a:ahLst/>
            <a:cxnLst/>
            <a:rect l="l" t="t" r="r" b="b"/>
            <a:pathLst>
              <a:path w="1213484" h="699770">
                <a:moveTo>
                  <a:pt x="1096518" y="0"/>
                </a:moveTo>
                <a:lnTo>
                  <a:pt x="116585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29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5" y="699515"/>
                </a:lnTo>
                <a:lnTo>
                  <a:pt x="1096518" y="699515"/>
                </a:lnTo>
                <a:lnTo>
                  <a:pt x="1141898" y="690354"/>
                </a:lnTo>
                <a:lnTo>
                  <a:pt x="1178956" y="665368"/>
                </a:lnTo>
                <a:lnTo>
                  <a:pt x="1203942" y="628310"/>
                </a:lnTo>
                <a:lnTo>
                  <a:pt x="1213103" y="582929"/>
                </a:lnTo>
                <a:lnTo>
                  <a:pt x="1213103" y="116586"/>
                </a:lnTo>
                <a:lnTo>
                  <a:pt x="1203942" y="71205"/>
                </a:lnTo>
                <a:lnTo>
                  <a:pt x="1178956" y="34147"/>
                </a:lnTo>
                <a:lnTo>
                  <a:pt x="1141898" y="9161"/>
                </a:lnTo>
                <a:lnTo>
                  <a:pt x="1096518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716773" y="3073145"/>
            <a:ext cx="1213485" cy="699770"/>
          </a:xfrm>
          <a:custGeom>
            <a:avLst/>
            <a:gdLst/>
            <a:ahLst/>
            <a:cxnLst/>
            <a:rect l="l" t="t" r="r" b="b"/>
            <a:pathLst>
              <a:path w="121348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5" y="0"/>
                </a:lnTo>
                <a:lnTo>
                  <a:pt x="1096518" y="0"/>
                </a:lnTo>
                <a:lnTo>
                  <a:pt x="1141898" y="9161"/>
                </a:lnTo>
                <a:lnTo>
                  <a:pt x="1178956" y="34147"/>
                </a:lnTo>
                <a:lnTo>
                  <a:pt x="1203942" y="71205"/>
                </a:lnTo>
                <a:lnTo>
                  <a:pt x="1213103" y="116586"/>
                </a:lnTo>
                <a:lnTo>
                  <a:pt x="1213103" y="582929"/>
                </a:lnTo>
                <a:lnTo>
                  <a:pt x="1203942" y="628310"/>
                </a:lnTo>
                <a:lnTo>
                  <a:pt x="1178956" y="665368"/>
                </a:lnTo>
                <a:lnTo>
                  <a:pt x="1141898" y="690354"/>
                </a:lnTo>
                <a:lnTo>
                  <a:pt x="1096518" y="699515"/>
                </a:lnTo>
                <a:lnTo>
                  <a:pt x="116585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29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8151621" y="3088386"/>
            <a:ext cx="34163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" marR="5080" indent="-29209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Fin  10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4001261" y="3086861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1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1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7" y="582930"/>
                </a:lnTo>
                <a:lnTo>
                  <a:pt x="1214627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1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001261" y="3086861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1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7" y="116586"/>
                </a:lnTo>
                <a:lnTo>
                  <a:pt x="1214627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1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4465446" y="3102610"/>
            <a:ext cx="2844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5859017" y="3086861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1098041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582930"/>
                </a:lnTo>
                <a:lnTo>
                  <a:pt x="9161" y="628310"/>
                </a:lnTo>
                <a:lnTo>
                  <a:pt x="34147" y="665368"/>
                </a:lnTo>
                <a:lnTo>
                  <a:pt x="71205" y="690354"/>
                </a:lnTo>
                <a:lnTo>
                  <a:pt x="116586" y="699515"/>
                </a:lnTo>
                <a:lnTo>
                  <a:pt x="1098041" y="699515"/>
                </a:lnTo>
                <a:lnTo>
                  <a:pt x="1143422" y="690354"/>
                </a:lnTo>
                <a:lnTo>
                  <a:pt x="1180480" y="665368"/>
                </a:lnTo>
                <a:lnTo>
                  <a:pt x="1205466" y="628310"/>
                </a:lnTo>
                <a:lnTo>
                  <a:pt x="1214628" y="582930"/>
                </a:lnTo>
                <a:lnTo>
                  <a:pt x="1214628" y="116586"/>
                </a:lnTo>
                <a:lnTo>
                  <a:pt x="1205466" y="71205"/>
                </a:lnTo>
                <a:lnTo>
                  <a:pt x="1180480" y="34147"/>
                </a:lnTo>
                <a:lnTo>
                  <a:pt x="1143422" y="9161"/>
                </a:lnTo>
                <a:lnTo>
                  <a:pt x="1098041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859017" y="3086861"/>
            <a:ext cx="1214755" cy="699770"/>
          </a:xfrm>
          <a:custGeom>
            <a:avLst/>
            <a:gdLst/>
            <a:ahLst/>
            <a:cxnLst/>
            <a:rect l="l" t="t" r="r" b="b"/>
            <a:pathLst>
              <a:path w="1214754" h="699770">
                <a:moveTo>
                  <a:pt x="0" y="116586"/>
                </a:moveTo>
                <a:lnTo>
                  <a:pt x="9161" y="71205"/>
                </a:lnTo>
                <a:lnTo>
                  <a:pt x="34147" y="34147"/>
                </a:lnTo>
                <a:lnTo>
                  <a:pt x="71205" y="9161"/>
                </a:lnTo>
                <a:lnTo>
                  <a:pt x="116586" y="0"/>
                </a:lnTo>
                <a:lnTo>
                  <a:pt x="1098041" y="0"/>
                </a:lnTo>
                <a:lnTo>
                  <a:pt x="1143422" y="9161"/>
                </a:lnTo>
                <a:lnTo>
                  <a:pt x="1180480" y="34147"/>
                </a:lnTo>
                <a:lnTo>
                  <a:pt x="1205466" y="71205"/>
                </a:lnTo>
                <a:lnTo>
                  <a:pt x="1214628" y="116586"/>
                </a:lnTo>
                <a:lnTo>
                  <a:pt x="1214628" y="582930"/>
                </a:lnTo>
                <a:lnTo>
                  <a:pt x="1205466" y="628310"/>
                </a:lnTo>
                <a:lnTo>
                  <a:pt x="1180480" y="665368"/>
                </a:lnTo>
                <a:lnTo>
                  <a:pt x="1143422" y="690354"/>
                </a:lnTo>
                <a:lnTo>
                  <a:pt x="1098041" y="699515"/>
                </a:lnTo>
                <a:lnTo>
                  <a:pt x="116586" y="699515"/>
                </a:lnTo>
                <a:lnTo>
                  <a:pt x="71205" y="690354"/>
                </a:lnTo>
                <a:lnTo>
                  <a:pt x="34147" y="665368"/>
                </a:lnTo>
                <a:lnTo>
                  <a:pt x="9161" y="628310"/>
                </a:lnTo>
                <a:lnTo>
                  <a:pt x="0" y="582930"/>
                </a:lnTo>
                <a:lnTo>
                  <a:pt x="0" y="116586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6322821" y="3102610"/>
            <a:ext cx="2844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1082039" y="1996439"/>
            <a:ext cx="1239011" cy="1054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094232" y="2075814"/>
            <a:ext cx="1121410" cy="996950"/>
          </a:xfrm>
          <a:custGeom>
            <a:avLst/>
            <a:gdLst/>
            <a:ahLst/>
            <a:cxnLst/>
            <a:rect l="l" t="t" r="r" b="b"/>
            <a:pathLst>
              <a:path w="1121410" h="996950">
                <a:moveTo>
                  <a:pt x="1047532" y="47117"/>
                </a:moveTo>
                <a:lnTo>
                  <a:pt x="0" y="47117"/>
                </a:lnTo>
                <a:lnTo>
                  <a:pt x="0" y="996696"/>
                </a:lnTo>
                <a:lnTo>
                  <a:pt x="25908" y="996696"/>
                </a:lnTo>
                <a:lnTo>
                  <a:pt x="25908" y="73025"/>
                </a:lnTo>
                <a:lnTo>
                  <a:pt x="12954" y="73025"/>
                </a:lnTo>
                <a:lnTo>
                  <a:pt x="25908" y="60071"/>
                </a:lnTo>
                <a:lnTo>
                  <a:pt x="1069739" y="60071"/>
                </a:lnTo>
                <a:lnTo>
                  <a:pt x="1047532" y="47117"/>
                </a:lnTo>
                <a:close/>
              </a:path>
              <a:path w="1121410" h="996950">
                <a:moveTo>
                  <a:pt x="1069739" y="60071"/>
                </a:moveTo>
                <a:lnTo>
                  <a:pt x="1011174" y="94234"/>
                </a:lnTo>
                <a:lnTo>
                  <a:pt x="1004951" y="97789"/>
                </a:lnTo>
                <a:lnTo>
                  <a:pt x="1002919" y="105790"/>
                </a:lnTo>
                <a:lnTo>
                  <a:pt x="1006475" y="111887"/>
                </a:lnTo>
                <a:lnTo>
                  <a:pt x="1010031" y="118110"/>
                </a:lnTo>
                <a:lnTo>
                  <a:pt x="1018032" y="120142"/>
                </a:lnTo>
                <a:lnTo>
                  <a:pt x="1098818" y="73025"/>
                </a:lnTo>
                <a:lnTo>
                  <a:pt x="1095375" y="73025"/>
                </a:lnTo>
                <a:lnTo>
                  <a:pt x="1095375" y="71247"/>
                </a:lnTo>
                <a:lnTo>
                  <a:pt x="1088898" y="71247"/>
                </a:lnTo>
                <a:lnTo>
                  <a:pt x="1069739" y="60071"/>
                </a:lnTo>
                <a:close/>
              </a:path>
              <a:path w="1121410" h="996950">
                <a:moveTo>
                  <a:pt x="25908" y="60071"/>
                </a:moveTo>
                <a:lnTo>
                  <a:pt x="12954" y="73025"/>
                </a:lnTo>
                <a:lnTo>
                  <a:pt x="25908" y="73025"/>
                </a:lnTo>
                <a:lnTo>
                  <a:pt x="25908" y="60071"/>
                </a:lnTo>
                <a:close/>
              </a:path>
              <a:path w="1121410" h="996950">
                <a:moveTo>
                  <a:pt x="1069739" y="60071"/>
                </a:moveTo>
                <a:lnTo>
                  <a:pt x="25908" y="60071"/>
                </a:lnTo>
                <a:lnTo>
                  <a:pt x="25908" y="73025"/>
                </a:lnTo>
                <a:lnTo>
                  <a:pt x="1047532" y="73025"/>
                </a:lnTo>
                <a:lnTo>
                  <a:pt x="1069739" y="60071"/>
                </a:lnTo>
                <a:close/>
              </a:path>
              <a:path w="1121410" h="996950">
                <a:moveTo>
                  <a:pt x="1098817" y="47117"/>
                </a:moveTo>
                <a:lnTo>
                  <a:pt x="1095375" y="47117"/>
                </a:lnTo>
                <a:lnTo>
                  <a:pt x="1095375" y="73025"/>
                </a:lnTo>
                <a:lnTo>
                  <a:pt x="1098818" y="73025"/>
                </a:lnTo>
                <a:lnTo>
                  <a:pt x="1121029" y="60071"/>
                </a:lnTo>
                <a:lnTo>
                  <a:pt x="1098817" y="47117"/>
                </a:lnTo>
                <a:close/>
              </a:path>
              <a:path w="1121410" h="996950">
                <a:moveTo>
                  <a:pt x="1088898" y="48895"/>
                </a:moveTo>
                <a:lnTo>
                  <a:pt x="1069739" y="60071"/>
                </a:lnTo>
                <a:lnTo>
                  <a:pt x="1088898" y="71247"/>
                </a:lnTo>
                <a:lnTo>
                  <a:pt x="1088898" y="48895"/>
                </a:lnTo>
                <a:close/>
              </a:path>
              <a:path w="1121410" h="996950">
                <a:moveTo>
                  <a:pt x="1095375" y="48895"/>
                </a:moveTo>
                <a:lnTo>
                  <a:pt x="1088898" y="48895"/>
                </a:lnTo>
                <a:lnTo>
                  <a:pt x="1088898" y="71247"/>
                </a:lnTo>
                <a:lnTo>
                  <a:pt x="1095375" y="71247"/>
                </a:lnTo>
                <a:lnTo>
                  <a:pt x="1095375" y="48895"/>
                </a:lnTo>
                <a:close/>
              </a:path>
              <a:path w="1121410" h="996950">
                <a:moveTo>
                  <a:pt x="1018032" y="0"/>
                </a:moveTo>
                <a:lnTo>
                  <a:pt x="1010031" y="2032"/>
                </a:lnTo>
                <a:lnTo>
                  <a:pt x="1006475" y="8255"/>
                </a:lnTo>
                <a:lnTo>
                  <a:pt x="1002919" y="14350"/>
                </a:lnTo>
                <a:lnTo>
                  <a:pt x="1004951" y="22351"/>
                </a:lnTo>
                <a:lnTo>
                  <a:pt x="1011174" y="25908"/>
                </a:lnTo>
                <a:lnTo>
                  <a:pt x="1069739" y="60071"/>
                </a:lnTo>
                <a:lnTo>
                  <a:pt x="1088898" y="48895"/>
                </a:lnTo>
                <a:lnTo>
                  <a:pt x="1095375" y="48895"/>
                </a:lnTo>
                <a:lnTo>
                  <a:pt x="1095375" y="47117"/>
                </a:lnTo>
                <a:lnTo>
                  <a:pt x="1098817" y="47117"/>
                </a:lnTo>
                <a:lnTo>
                  <a:pt x="101803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3416808" y="1997964"/>
            <a:ext cx="690372" cy="2331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429761" y="2077085"/>
            <a:ext cx="571500" cy="120650"/>
          </a:xfrm>
          <a:custGeom>
            <a:avLst/>
            <a:gdLst/>
            <a:ahLst/>
            <a:cxnLst/>
            <a:rect l="l" t="t" r="r" b="b"/>
            <a:pathLst>
              <a:path w="571500" h="120650">
                <a:moveTo>
                  <a:pt x="497933" y="73145"/>
                </a:moveTo>
                <a:lnTo>
                  <a:pt x="455295" y="97789"/>
                </a:lnTo>
                <a:lnTo>
                  <a:pt x="453263" y="105790"/>
                </a:lnTo>
                <a:lnTo>
                  <a:pt x="456818" y="111887"/>
                </a:lnTo>
                <a:lnTo>
                  <a:pt x="460375" y="118110"/>
                </a:lnTo>
                <a:lnTo>
                  <a:pt x="468249" y="120268"/>
                </a:lnTo>
                <a:lnTo>
                  <a:pt x="474472" y="116586"/>
                </a:lnTo>
                <a:lnTo>
                  <a:pt x="549159" y="73278"/>
                </a:lnTo>
                <a:lnTo>
                  <a:pt x="497933" y="73145"/>
                </a:lnTo>
                <a:close/>
              </a:path>
              <a:path w="571500" h="120650">
                <a:moveTo>
                  <a:pt x="520146" y="60281"/>
                </a:moveTo>
                <a:lnTo>
                  <a:pt x="497933" y="73145"/>
                </a:lnTo>
                <a:lnTo>
                  <a:pt x="545846" y="73278"/>
                </a:lnTo>
                <a:lnTo>
                  <a:pt x="545846" y="71500"/>
                </a:lnTo>
                <a:lnTo>
                  <a:pt x="539241" y="71500"/>
                </a:lnTo>
                <a:lnTo>
                  <a:pt x="520146" y="60281"/>
                </a:lnTo>
                <a:close/>
              </a:path>
              <a:path w="571500" h="120650">
                <a:moveTo>
                  <a:pt x="468629" y="0"/>
                </a:moveTo>
                <a:lnTo>
                  <a:pt x="460755" y="2031"/>
                </a:lnTo>
                <a:lnTo>
                  <a:pt x="457073" y="8254"/>
                </a:lnTo>
                <a:lnTo>
                  <a:pt x="453516" y="14350"/>
                </a:lnTo>
                <a:lnTo>
                  <a:pt x="455549" y="22351"/>
                </a:lnTo>
                <a:lnTo>
                  <a:pt x="497946" y="47237"/>
                </a:lnTo>
                <a:lnTo>
                  <a:pt x="545846" y="47370"/>
                </a:lnTo>
                <a:lnTo>
                  <a:pt x="545846" y="73278"/>
                </a:lnTo>
                <a:lnTo>
                  <a:pt x="549159" y="73278"/>
                </a:lnTo>
                <a:lnTo>
                  <a:pt x="571500" y="60325"/>
                </a:lnTo>
                <a:lnTo>
                  <a:pt x="474852" y="3555"/>
                </a:lnTo>
                <a:lnTo>
                  <a:pt x="468629" y="0"/>
                </a:lnTo>
                <a:close/>
              </a:path>
              <a:path w="571500" h="120650">
                <a:moveTo>
                  <a:pt x="0" y="45847"/>
                </a:moveTo>
                <a:lnTo>
                  <a:pt x="0" y="71754"/>
                </a:lnTo>
                <a:lnTo>
                  <a:pt x="497933" y="73145"/>
                </a:lnTo>
                <a:lnTo>
                  <a:pt x="520146" y="60281"/>
                </a:lnTo>
                <a:lnTo>
                  <a:pt x="497946" y="47237"/>
                </a:lnTo>
                <a:lnTo>
                  <a:pt x="0" y="45847"/>
                </a:lnTo>
                <a:close/>
              </a:path>
              <a:path w="571500" h="120650">
                <a:moveTo>
                  <a:pt x="539368" y="49149"/>
                </a:moveTo>
                <a:lnTo>
                  <a:pt x="520146" y="60281"/>
                </a:lnTo>
                <a:lnTo>
                  <a:pt x="539241" y="71500"/>
                </a:lnTo>
                <a:lnTo>
                  <a:pt x="539368" y="49149"/>
                </a:lnTo>
                <a:close/>
              </a:path>
              <a:path w="571500" h="120650">
                <a:moveTo>
                  <a:pt x="545846" y="49149"/>
                </a:moveTo>
                <a:lnTo>
                  <a:pt x="539368" y="49149"/>
                </a:lnTo>
                <a:lnTo>
                  <a:pt x="539241" y="71500"/>
                </a:lnTo>
                <a:lnTo>
                  <a:pt x="545846" y="71500"/>
                </a:lnTo>
                <a:lnTo>
                  <a:pt x="545846" y="49149"/>
                </a:lnTo>
                <a:close/>
              </a:path>
              <a:path w="571500" h="120650">
                <a:moveTo>
                  <a:pt x="497946" y="47237"/>
                </a:moveTo>
                <a:lnTo>
                  <a:pt x="520146" y="60281"/>
                </a:lnTo>
                <a:lnTo>
                  <a:pt x="539368" y="49149"/>
                </a:lnTo>
                <a:lnTo>
                  <a:pt x="545846" y="49149"/>
                </a:lnTo>
                <a:lnTo>
                  <a:pt x="545846" y="47370"/>
                </a:lnTo>
                <a:lnTo>
                  <a:pt x="497946" y="47237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480559" y="2461260"/>
            <a:ext cx="233172" cy="7208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547742" y="2486405"/>
            <a:ext cx="120650" cy="601980"/>
          </a:xfrm>
          <a:custGeom>
            <a:avLst/>
            <a:gdLst/>
            <a:ahLst/>
            <a:cxnLst/>
            <a:rect l="l" t="t" r="r" b="b"/>
            <a:pathLst>
              <a:path w="120650" h="601980">
                <a:moveTo>
                  <a:pt x="14351" y="483489"/>
                </a:moveTo>
                <a:lnTo>
                  <a:pt x="2032" y="490728"/>
                </a:lnTo>
                <a:lnTo>
                  <a:pt x="0" y="498602"/>
                </a:lnTo>
                <a:lnTo>
                  <a:pt x="3556" y="504825"/>
                </a:lnTo>
                <a:lnTo>
                  <a:pt x="60071" y="601726"/>
                </a:lnTo>
                <a:lnTo>
                  <a:pt x="75033" y="576072"/>
                </a:lnTo>
                <a:lnTo>
                  <a:pt x="47117" y="576072"/>
                </a:lnTo>
                <a:lnTo>
                  <a:pt x="47117" y="528102"/>
                </a:lnTo>
                <a:lnTo>
                  <a:pt x="25908" y="491744"/>
                </a:lnTo>
                <a:lnTo>
                  <a:pt x="22352" y="485521"/>
                </a:lnTo>
                <a:lnTo>
                  <a:pt x="14351" y="483489"/>
                </a:lnTo>
                <a:close/>
              </a:path>
              <a:path w="120650" h="601980">
                <a:moveTo>
                  <a:pt x="47117" y="528102"/>
                </a:moveTo>
                <a:lnTo>
                  <a:pt x="47117" y="576072"/>
                </a:lnTo>
                <a:lnTo>
                  <a:pt x="73025" y="576072"/>
                </a:lnTo>
                <a:lnTo>
                  <a:pt x="73025" y="569468"/>
                </a:lnTo>
                <a:lnTo>
                  <a:pt x="48895" y="569468"/>
                </a:lnTo>
                <a:lnTo>
                  <a:pt x="60071" y="550309"/>
                </a:lnTo>
                <a:lnTo>
                  <a:pt x="47117" y="528102"/>
                </a:lnTo>
                <a:close/>
              </a:path>
              <a:path w="120650" h="601980">
                <a:moveTo>
                  <a:pt x="105791" y="483489"/>
                </a:moveTo>
                <a:lnTo>
                  <a:pt x="97790" y="485521"/>
                </a:lnTo>
                <a:lnTo>
                  <a:pt x="94234" y="491744"/>
                </a:lnTo>
                <a:lnTo>
                  <a:pt x="73025" y="528102"/>
                </a:lnTo>
                <a:lnTo>
                  <a:pt x="73025" y="576072"/>
                </a:lnTo>
                <a:lnTo>
                  <a:pt x="75033" y="576072"/>
                </a:lnTo>
                <a:lnTo>
                  <a:pt x="116586" y="504825"/>
                </a:lnTo>
                <a:lnTo>
                  <a:pt x="120142" y="498602"/>
                </a:lnTo>
                <a:lnTo>
                  <a:pt x="118110" y="490728"/>
                </a:lnTo>
                <a:lnTo>
                  <a:pt x="105791" y="483489"/>
                </a:lnTo>
                <a:close/>
              </a:path>
              <a:path w="120650" h="601980">
                <a:moveTo>
                  <a:pt x="60071" y="550309"/>
                </a:moveTo>
                <a:lnTo>
                  <a:pt x="48895" y="569468"/>
                </a:lnTo>
                <a:lnTo>
                  <a:pt x="71247" y="569468"/>
                </a:lnTo>
                <a:lnTo>
                  <a:pt x="60071" y="550309"/>
                </a:lnTo>
                <a:close/>
              </a:path>
              <a:path w="120650" h="601980">
                <a:moveTo>
                  <a:pt x="73025" y="528102"/>
                </a:moveTo>
                <a:lnTo>
                  <a:pt x="60071" y="550309"/>
                </a:lnTo>
                <a:lnTo>
                  <a:pt x="71247" y="569468"/>
                </a:lnTo>
                <a:lnTo>
                  <a:pt x="73025" y="569468"/>
                </a:lnTo>
                <a:lnTo>
                  <a:pt x="73025" y="528102"/>
                </a:lnTo>
                <a:close/>
              </a:path>
              <a:path w="120650" h="601980">
                <a:moveTo>
                  <a:pt x="48768" y="287909"/>
                </a:moveTo>
                <a:lnTo>
                  <a:pt x="47117" y="287909"/>
                </a:lnTo>
                <a:lnTo>
                  <a:pt x="47117" y="528102"/>
                </a:lnTo>
                <a:lnTo>
                  <a:pt x="60071" y="550309"/>
                </a:lnTo>
                <a:lnTo>
                  <a:pt x="73025" y="528102"/>
                </a:lnTo>
                <a:lnTo>
                  <a:pt x="73025" y="313817"/>
                </a:lnTo>
                <a:lnTo>
                  <a:pt x="60071" y="313817"/>
                </a:lnTo>
                <a:lnTo>
                  <a:pt x="73025" y="300863"/>
                </a:lnTo>
                <a:lnTo>
                  <a:pt x="48768" y="300863"/>
                </a:lnTo>
                <a:lnTo>
                  <a:pt x="48768" y="287909"/>
                </a:lnTo>
                <a:close/>
              </a:path>
              <a:path w="120650" h="601980">
                <a:moveTo>
                  <a:pt x="73025" y="300863"/>
                </a:moveTo>
                <a:lnTo>
                  <a:pt x="60071" y="313817"/>
                </a:lnTo>
                <a:lnTo>
                  <a:pt x="73025" y="313817"/>
                </a:lnTo>
                <a:lnTo>
                  <a:pt x="73025" y="300863"/>
                </a:lnTo>
                <a:close/>
              </a:path>
              <a:path w="120650" h="601980">
                <a:moveTo>
                  <a:pt x="74676" y="287909"/>
                </a:moveTo>
                <a:lnTo>
                  <a:pt x="61722" y="287909"/>
                </a:lnTo>
                <a:lnTo>
                  <a:pt x="48768" y="300863"/>
                </a:lnTo>
                <a:lnTo>
                  <a:pt x="73025" y="300863"/>
                </a:lnTo>
                <a:lnTo>
                  <a:pt x="73025" y="313817"/>
                </a:lnTo>
                <a:lnTo>
                  <a:pt x="74676" y="313817"/>
                </a:lnTo>
                <a:lnTo>
                  <a:pt x="74676" y="287909"/>
                </a:lnTo>
                <a:close/>
              </a:path>
              <a:path w="120650" h="601980">
                <a:moveTo>
                  <a:pt x="74676" y="0"/>
                </a:moveTo>
                <a:lnTo>
                  <a:pt x="48768" y="0"/>
                </a:lnTo>
                <a:lnTo>
                  <a:pt x="48768" y="300863"/>
                </a:lnTo>
                <a:lnTo>
                  <a:pt x="61722" y="287909"/>
                </a:lnTo>
                <a:lnTo>
                  <a:pt x="74676" y="287909"/>
                </a:lnTo>
                <a:lnTo>
                  <a:pt x="74676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202935" y="3299459"/>
            <a:ext cx="762000" cy="2331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215890" y="3378834"/>
            <a:ext cx="643255" cy="120650"/>
          </a:xfrm>
          <a:custGeom>
            <a:avLst/>
            <a:gdLst/>
            <a:ahLst/>
            <a:cxnLst/>
            <a:rect l="l" t="t" r="r" b="b"/>
            <a:pathLst>
              <a:path w="643254" h="120650">
                <a:moveTo>
                  <a:pt x="591475" y="60134"/>
                </a:moveTo>
                <a:lnTo>
                  <a:pt x="526796" y="97916"/>
                </a:lnTo>
                <a:lnTo>
                  <a:pt x="524763" y="105790"/>
                </a:lnTo>
                <a:lnTo>
                  <a:pt x="528320" y="112013"/>
                </a:lnTo>
                <a:lnTo>
                  <a:pt x="532002" y="118237"/>
                </a:lnTo>
                <a:lnTo>
                  <a:pt x="539876" y="120268"/>
                </a:lnTo>
                <a:lnTo>
                  <a:pt x="546100" y="116712"/>
                </a:lnTo>
                <a:lnTo>
                  <a:pt x="620839" y="73025"/>
                </a:lnTo>
                <a:lnTo>
                  <a:pt x="617347" y="73025"/>
                </a:lnTo>
                <a:lnTo>
                  <a:pt x="617347" y="71374"/>
                </a:lnTo>
                <a:lnTo>
                  <a:pt x="610743" y="71374"/>
                </a:lnTo>
                <a:lnTo>
                  <a:pt x="591475" y="60134"/>
                </a:lnTo>
                <a:close/>
              </a:path>
              <a:path w="643254" h="120650">
                <a:moveTo>
                  <a:pt x="308483" y="58547"/>
                </a:moveTo>
                <a:lnTo>
                  <a:pt x="308483" y="73025"/>
                </a:lnTo>
                <a:lnTo>
                  <a:pt x="569377" y="73025"/>
                </a:lnTo>
                <a:lnTo>
                  <a:pt x="571989" y="71500"/>
                </a:lnTo>
                <a:lnTo>
                  <a:pt x="321437" y="71500"/>
                </a:lnTo>
                <a:lnTo>
                  <a:pt x="308483" y="58547"/>
                </a:lnTo>
                <a:close/>
              </a:path>
              <a:path w="643254" h="120650">
                <a:moveTo>
                  <a:pt x="620789" y="47116"/>
                </a:moveTo>
                <a:lnTo>
                  <a:pt x="617347" y="47116"/>
                </a:lnTo>
                <a:lnTo>
                  <a:pt x="617347" y="73025"/>
                </a:lnTo>
                <a:lnTo>
                  <a:pt x="620839" y="73025"/>
                </a:lnTo>
                <a:lnTo>
                  <a:pt x="643001" y="60070"/>
                </a:lnTo>
                <a:lnTo>
                  <a:pt x="620789" y="47116"/>
                </a:lnTo>
                <a:close/>
              </a:path>
              <a:path w="643254" h="120650">
                <a:moveTo>
                  <a:pt x="334390" y="45592"/>
                </a:moveTo>
                <a:lnTo>
                  <a:pt x="0" y="45592"/>
                </a:lnTo>
                <a:lnTo>
                  <a:pt x="0" y="71500"/>
                </a:lnTo>
                <a:lnTo>
                  <a:pt x="308483" y="71500"/>
                </a:lnTo>
                <a:lnTo>
                  <a:pt x="308483" y="58547"/>
                </a:lnTo>
                <a:lnTo>
                  <a:pt x="332867" y="58547"/>
                </a:lnTo>
                <a:lnTo>
                  <a:pt x="321437" y="47116"/>
                </a:lnTo>
                <a:lnTo>
                  <a:pt x="334390" y="47116"/>
                </a:lnTo>
                <a:lnTo>
                  <a:pt x="334390" y="45592"/>
                </a:lnTo>
                <a:close/>
              </a:path>
              <a:path w="643254" h="120650">
                <a:moveTo>
                  <a:pt x="332867" y="58547"/>
                </a:moveTo>
                <a:lnTo>
                  <a:pt x="308483" y="58547"/>
                </a:lnTo>
                <a:lnTo>
                  <a:pt x="321437" y="71500"/>
                </a:lnTo>
                <a:lnTo>
                  <a:pt x="571989" y="71500"/>
                </a:lnTo>
                <a:lnTo>
                  <a:pt x="591475" y="60134"/>
                </a:lnTo>
                <a:lnTo>
                  <a:pt x="334390" y="60070"/>
                </a:lnTo>
                <a:lnTo>
                  <a:pt x="332867" y="58547"/>
                </a:lnTo>
                <a:close/>
              </a:path>
              <a:path w="643254" h="120650">
                <a:moveTo>
                  <a:pt x="610743" y="48894"/>
                </a:moveTo>
                <a:lnTo>
                  <a:pt x="591475" y="60134"/>
                </a:lnTo>
                <a:lnTo>
                  <a:pt x="610743" y="71374"/>
                </a:lnTo>
                <a:lnTo>
                  <a:pt x="610743" y="48894"/>
                </a:lnTo>
                <a:close/>
              </a:path>
              <a:path w="643254" h="120650">
                <a:moveTo>
                  <a:pt x="617347" y="48894"/>
                </a:moveTo>
                <a:lnTo>
                  <a:pt x="610743" y="48894"/>
                </a:lnTo>
                <a:lnTo>
                  <a:pt x="610743" y="71374"/>
                </a:lnTo>
                <a:lnTo>
                  <a:pt x="617347" y="71374"/>
                </a:lnTo>
                <a:lnTo>
                  <a:pt x="617347" y="48894"/>
                </a:lnTo>
                <a:close/>
              </a:path>
              <a:path w="643254" h="120650">
                <a:moveTo>
                  <a:pt x="539876" y="0"/>
                </a:moveTo>
                <a:lnTo>
                  <a:pt x="532002" y="2031"/>
                </a:lnTo>
                <a:lnTo>
                  <a:pt x="528320" y="8254"/>
                </a:lnTo>
                <a:lnTo>
                  <a:pt x="524763" y="14477"/>
                </a:lnTo>
                <a:lnTo>
                  <a:pt x="526796" y="22351"/>
                </a:lnTo>
                <a:lnTo>
                  <a:pt x="591475" y="60134"/>
                </a:lnTo>
                <a:lnTo>
                  <a:pt x="610743" y="48894"/>
                </a:lnTo>
                <a:lnTo>
                  <a:pt x="617347" y="48894"/>
                </a:lnTo>
                <a:lnTo>
                  <a:pt x="617347" y="47116"/>
                </a:lnTo>
                <a:lnTo>
                  <a:pt x="620789" y="47116"/>
                </a:lnTo>
                <a:lnTo>
                  <a:pt x="546100" y="3555"/>
                </a:lnTo>
                <a:lnTo>
                  <a:pt x="539876" y="0"/>
                </a:lnTo>
                <a:close/>
              </a:path>
              <a:path w="643254" h="120650">
                <a:moveTo>
                  <a:pt x="334390" y="47116"/>
                </a:moveTo>
                <a:lnTo>
                  <a:pt x="321437" y="47116"/>
                </a:lnTo>
                <a:lnTo>
                  <a:pt x="334390" y="60070"/>
                </a:lnTo>
                <a:lnTo>
                  <a:pt x="334390" y="47116"/>
                </a:lnTo>
                <a:close/>
              </a:path>
              <a:path w="643254" h="120650">
                <a:moveTo>
                  <a:pt x="569159" y="47116"/>
                </a:moveTo>
                <a:lnTo>
                  <a:pt x="334390" y="47116"/>
                </a:lnTo>
                <a:lnTo>
                  <a:pt x="334390" y="60070"/>
                </a:lnTo>
                <a:lnTo>
                  <a:pt x="591366" y="60070"/>
                </a:lnTo>
                <a:lnTo>
                  <a:pt x="569159" y="47116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060692" y="3284220"/>
            <a:ext cx="762000" cy="2331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073645" y="3363595"/>
            <a:ext cx="643255" cy="120650"/>
          </a:xfrm>
          <a:custGeom>
            <a:avLst/>
            <a:gdLst/>
            <a:ahLst/>
            <a:cxnLst/>
            <a:rect l="l" t="t" r="r" b="b"/>
            <a:pathLst>
              <a:path w="643254" h="120650">
                <a:moveTo>
                  <a:pt x="591584" y="60070"/>
                </a:moveTo>
                <a:lnTo>
                  <a:pt x="533019" y="94233"/>
                </a:lnTo>
                <a:lnTo>
                  <a:pt x="526796" y="97789"/>
                </a:lnTo>
                <a:lnTo>
                  <a:pt x="524763" y="105790"/>
                </a:lnTo>
                <a:lnTo>
                  <a:pt x="528320" y="111887"/>
                </a:lnTo>
                <a:lnTo>
                  <a:pt x="532002" y="118109"/>
                </a:lnTo>
                <a:lnTo>
                  <a:pt x="539876" y="120141"/>
                </a:lnTo>
                <a:lnTo>
                  <a:pt x="546100" y="116585"/>
                </a:lnTo>
                <a:lnTo>
                  <a:pt x="620789" y="73025"/>
                </a:lnTo>
                <a:lnTo>
                  <a:pt x="617347" y="73025"/>
                </a:lnTo>
                <a:lnTo>
                  <a:pt x="617347" y="71246"/>
                </a:lnTo>
                <a:lnTo>
                  <a:pt x="610743" y="71246"/>
                </a:lnTo>
                <a:lnTo>
                  <a:pt x="591584" y="60070"/>
                </a:lnTo>
                <a:close/>
              </a:path>
              <a:path w="643254" h="120650">
                <a:moveTo>
                  <a:pt x="308482" y="61467"/>
                </a:moveTo>
                <a:lnTo>
                  <a:pt x="0" y="61467"/>
                </a:lnTo>
                <a:lnTo>
                  <a:pt x="0" y="87375"/>
                </a:lnTo>
                <a:lnTo>
                  <a:pt x="334390" y="87375"/>
                </a:lnTo>
                <a:lnTo>
                  <a:pt x="334390" y="74421"/>
                </a:lnTo>
                <a:lnTo>
                  <a:pt x="308482" y="74421"/>
                </a:lnTo>
                <a:lnTo>
                  <a:pt x="308482" y="61467"/>
                </a:lnTo>
                <a:close/>
              </a:path>
              <a:path w="643254" h="120650">
                <a:moveTo>
                  <a:pt x="569377" y="47116"/>
                </a:moveTo>
                <a:lnTo>
                  <a:pt x="308482" y="47116"/>
                </a:lnTo>
                <a:lnTo>
                  <a:pt x="308482" y="74421"/>
                </a:lnTo>
                <a:lnTo>
                  <a:pt x="321436" y="61467"/>
                </a:lnTo>
                <a:lnTo>
                  <a:pt x="332993" y="61467"/>
                </a:lnTo>
                <a:lnTo>
                  <a:pt x="334390" y="60070"/>
                </a:lnTo>
                <a:lnTo>
                  <a:pt x="591584" y="60070"/>
                </a:lnTo>
                <a:lnTo>
                  <a:pt x="569377" y="47116"/>
                </a:lnTo>
                <a:close/>
              </a:path>
              <a:path w="643254" h="120650">
                <a:moveTo>
                  <a:pt x="332993" y="61467"/>
                </a:moveTo>
                <a:lnTo>
                  <a:pt x="321436" y="61467"/>
                </a:lnTo>
                <a:lnTo>
                  <a:pt x="308482" y="74421"/>
                </a:lnTo>
                <a:lnTo>
                  <a:pt x="334390" y="74421"/>
                </a:lnTo>
                <a:lnTo>
                  <a:pt x="334390" y="73025"/>
                </a:lnTo>
                <a:lnTo>
                  <a:pt x="321436" y="73025"/>
                </a:lnTo>
                <a:lnTo>
                  <a:pt x="332993" y="61467"/>
                </a:lnTo>
                <a:close/>
              </a:path>
              <a:path w="643254" h="120650">
                <a:moveTo>
                  <a:pt x="334390" y="60070"/>
                </a:moveTo>
                <a:lnTo>
                  <a:pt x="321436" y="73025"/>
                </a:lnTo>
                <a:lnTo>
                  <a:pt x="334390" y="73025"/>
                </a:lnTo>
                <a:lnTo>
                  <a:pt x="334390" y="60070"/>
                </a:lnTo>
                <a:close/>
              </a:path>
              <a:path w="643254" h="120650">
                <a:moveTo>
                  <a:pt x="591584" y="60070"/>
                </a:moveTo>
                <a:lnTo>
                  <a:pt x="334390" y="60070"/>
                </a:lnTo>
                <a:lnTo>
                  <a:pt x="334390" y="73025"/>
                </a:lnTo>
                <a:lnTo>
                  <a:pt x="569377" y="73025"/>
                </a:lnTo>
                <a:lnTo>
                  <a:pt x="591584" y="60070"/>
                </a:lnTo>
                <a:close/>
              </a:path>
              <a:path w="643254" h="120650">
                <a:moveTo>
                  <a:pt x="620789" y="47116"/>
                </a:moveTo>
                <a:lnTo>
                  <a:pt x="617347" y="47116"/>
                </a:lnTo>
                <a:lnTo>
                  <a:pt x="617347" y="73025"/>
                </a:lnTo>
                <a:lnTo>
                  <a:pt x="620789" y="73025"/>
                </a:lnTo>
                <a:lnTo>
                  <a:pt x="643001" y="60070"/>
                </a:lnTo>
                <a:lnTo>
                  <a:pt x="620789" y="47116"/>
                </a:lnTo>
                <a:close/>
              </a:path>
              <a:path w="643254" h="120650">
                <a:moveTo>
                  <a:pt x="610743" y="48894"/>
                </a:moveTo>
                <a:lnTo>
                  <a:pt x="591584" y="60070"/>
                </a:lnTo>
                <a:lnTo>
                  <a:pt x="610743" y="71246"/>
                </a:lnTo>
                <a:lnTo>
                  <a:pt x="610743" y="48894"/>
                </a:lnTo>
                <a:close/>
              </a:path>
              <a:path w="643254" h="120650">
                <a:moveTo>
                  <a:pt x="617347" y="48894"/>
                </a:moveTo>
                <a:lnTo>
                  <a:pt x="610743" y="48894"/>
                </a:lnTo>
                <a:lnTo>
                  <a:pt x="610743" y="71246"/>
                </a:lnTo>
                <a:lnTo>
                  <a:pt x="617347" y="71246"/>
                </a:lnTo>
                <a:lnTo>
                  <a:pt x="617347" y="48894"/>
                </a:lnTo>
                <a:close/>
              </a:path>
              <a:path w="643254" h="120650">
                <a:moveTo>
                  <a:pt x="539876" y="0"/>
                </a:moveTo>
                <a:lnTo>
                  <a:pt x="532002" y="2031"/>
                </a:lnTo>
                <a:lnTo>
                  <a:pt x="528320" y="8254"/>
                </a:lnTo>
                <a:lnTo>
                  <a:pt x="524763" y="14350"/>
                </a:lnTo>
                <a:lnTo>
                  <a:pt x="526796" y="22351"/>
                </a:lnTo>
                <a:lnTo>
                  <a:pt x="533019" y="25907"/>
                </a:lnTo>
                <a:lnTo>
                  <a:pt x="591584" y="60070"/>
                </a:lnTo>
                <a:lnTo>
                  <a:pt x="610743" y="48894"/>
                </a:lnTo>
                <a:lnTo>
                  <a:pt x="617347" y="48894"/>
                </a:lnTo>
                <a:lnTo>
                  <a:pt x="617347" y="47116"/>
                </a:lnTo>
                <a:lnTo>
                  <a:pt x="620789" y="47116"/>
                </a:lnTo>
                <a:lnTo>
                  <a:pt x="546100" y="3555"/>
                </a:lnTo>
                <a:lnTo>
                  <a:pt x="539876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274564" y="4500371"/>
            <a:ext cx="690372" cy="23317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287517" y="4579746"/>
            <a:ext cx="571500" cy="120650"/>
          </a:xfrm>
          <a:custGeom>
            <a:avLst/>
            <a:gdLst/>
            <a:ahLst/>
            <a:cxnLst/>
            <a:rect l="l" t="t" r="r" b="b"/>
            <a:pathLst>
              <a:path w="571500" h="120650">
                <a:moveTo>
                  <a:pt x="520101" y="60134"/>
                </a:moveTo>
                <a:lnTo>
                  <a:pt x="455422" y="97916"/>
                </a:lnTo>
                <a:lnTo>
                  <a:pt x="453390" y="105790"/>
                </a:lnTo>
                <a:lnTo>
                  <a:pt x="460502" y="118236"/>
                </a:lnTo>
                <a:lnTo>
                  <a:pt x="468503" y="120268"/>
                </a:lnTo>
                <a:lnTo>
                  <a:pt x="549336" y="73025"/>
                </a:lnTo>
                <a:lnTo>
                  <a:pt x="545846" y="73025"/>
                </a:lnTo>
                <a:lnTo>
                  <a:pt x="545846" y="71373"/>
                </a:lnTo>
                <a:lnTo>
                  <a:pt x="539369" y="71373"/>
                </a:lnTo>
                <a:lnTo>
                  <a:pt x="520101" y="60134"/>
                </a:lnTo>
                <a:close/>
              </a:path>
              <a:path w="571500" h="120650">
                <a:moveTo>
                  <a:pt x="272796" y="58546"/>
                </a:moveTo>
                <a:lnTo>
                  <a:pt x="272796" y="73025"/>
                </a:lnTo>
                <a:lnTo>
                  <a:pt x="498003" y="73025"/>
                </a:lnTo>
                <a:lnTo>
                  <a:pt x="500615" y="71500"/>
                </a:lnTo>
                <a:lnTo>
                  <a:pt x="285750" y="71500"/>
                </a:lnTo>
                <a:lnTo>
                  <a:pt x="272796" y="58546"/>
                </a:lnTo>
                <a:close/>
              </a:path>
              <a:path w="571500" h="120650">
                <a:moveTo>
                  <a:pt x="549288" y="47116"/>
                </a:moveTo>
                <a:lnTo>
                  <a:pt x="545846" y="47116"/>
                </a:lnTo>
                <a:lnTo>
                  <a:pt x="545846" y="73025"/>
                </a:lnTo>
                <a:lnTo>
                  <a:pt x="549336" y="73025"/>
                </a:lnTo>
                <a:lnTo>
                  <a:pt x="571500" y="60070"/>
                </a:lnTo>
                <a:lnTo>
                  <a:pt x="549288" y="47116"/>
                </a:lnTo>
                <a:close/>
              </a:path>
              <a:path w="571500" h="120650">
                <a:moveTo>
                  <a:pt x="298704" y="45592"/>
                </a:moveTo>
                <a:lnTo>
                  <a:pt x="0" y="45592"/>
                </a:lnTo>
                <a:lnTo>
                  <a:pt x="0" y="71500"/>
                </a:lnTo>
                <a:lnTo>
                  <a:pt x="272796" y="71500"/>
                </a:lnTo>
                <a:lnTo>
                  <a:pt x="272796" y="58546"/>
                </a:lnTo>
                <a:lnTo>
                  <a:pt x="297180" y="58546"/>
                </a:lnTo>
                <a:lnTo>
                  <a:pt x="285750" y="47116"/>
                </a:lnTo>
                <a:lnTo>
                  <a:pt x="298704" y="47116"/>
                </a:lnTo>
                <a:lnTo>
                  <a:pt x="298704" y="45592"/>
                </a:lnTo>
                <a:close/>
              </a:path>
              <a:path w="571500" h="120650">
                <a:moveTo>
                  <a:pt x="297180" y="58546"/>
                </a:moveTo>
                <a:lnTo>
                  <a:pt x="272796" y="58546"/>
                </a:lnTo>
                <a:lnTo>
                  <a:pt x="285750" y="71500"/>
                </a:lnTo>
                <a:lnTo>
                  <a:pt x="500615" y="71500"/>
                </a:lnTo>
                <a:lnTo>
                  <a:pt x="520101" y="60134"/>
                </a:lnTo>
                <a:lnTo>
                  <a:pt x="298704" y="60070"/>
                </a:lnTo>
                <a:lnTo>
                  <a:pt x="297180" y="58546"/>
                </a:lnTo>
                <a:close/>
              </a:path>
              <a:path w="571500" h="120650">
                <a:moveTo>
                  <a:pt x="539369" y="48894"/>
                </a:moveTo>
                <a:lnTo>
                  <a:pt x="520101" y="60134"/>
                </a:lnTo>
                <a:lnTo>
                  <a:pt x="539369" y="71373"/>
                </a:lnTo>
                <a:lnTo>
                  <a:pt x="539369" y="48894"/>
                </a:lnTo>
                <a:close/>
              </a:path>
              <a:path w="571500" h="120650">
                <a:moveTo>
                  <a:pt x="545846" y="48894"/>
                </a:moveTo>
                <a:lnTo>
                  <a:pt x="539369" y="48894"/>
                </a:lnTo>
                <a:lnTo>
                  <a:pt x="539369" y="71373"/>
                </a:lnTo>
                <a:lnTo>
                  <a:pt x="545846" y="71373"/>
                </a:lnTo>
                <a:lnTo>
                  <a:pt x="545846" y="48894"/>
                </a:lnTo>
                <a:close/>
              </a:path>
              <a:path w="571500" h="120650">
                <a:moveTo>
                  <a:pt x="468503" y="0"/>
                </a:moveTo>
                <a:lnTo>
                  <a:pt x="460502" y="2031"/>
                </a:lnTo>
                <a:lnTo>
                  <a:pt x="453390" y="14477"/>
                </a:lnTo>
                <a:lnTo>
                  <a:pt x="455422" y="22351"/>
                </a:lnTo>
                <a:lnTo>
                  <a:pt x="520101" y="60134"/>
                </a:lnTo>
                <a:lnTo>
                  <a:pt x="539369" y="48894"/>
                </a:lnTo>
                <a:lnTo>
                  <a:pt x="545846" y="48894"/>
                </a:lnTo>
                <a:lnTo>
                  <a:pt x="545846" y="47116"/>
                </a:lnTo>
                <a:lnTo>
                  <a:pt x="549288" y="47116"/>
                </a:lnTo>
                <a:lnTo>
                  <a:pt x="468503" y="0"/>
                </a:lnTo>
                <a:close/>
              </a:path>
              <a:path w="571500" h="120650">
                <a:moveTo>
                  <a:pt x="298704" y="47116"/>
                </a:moveTo>
                <a:lnTo>
                  <a:pt x="285750" y="47116"/>
                </a:lnTo>
                <a:lnTo>
                  <a:pt x="298704" y="60070"/>
                </a:lnTo>
                <a:lnTo>
                  <a:pt x="298704" y="47116"/>
                </a:lnTo>
                <a:close/>
              </a:path>
              <a:path w="571500" h="120650">
                <a:moveTo>
                  <a:pt x="497785" y="47116"/>
                </a:moveTo>
                <a:lnTo>
                  <a:pt x="298704" y="47116"/>
                </a:lnTo>
                <a:lnTo>
                  <a:pt x="298704" y="60070"/>
                </a:lnTo>
                <a:lnTo>
                  <a:pt x="519992" y="60070"/>
                </a:lnTo>
                <a:lnTo>
                  <a:pt x="497785" y="47116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060692" y="3633215"/>
            <a:ext cx="1370076" cy="9966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073645" y="3772661"/>
            <a:ext cx="1311275" cy="878205"/>
          </a:xfrm>
          <a:custGeom>
            <a:avLst/>
            <a:gdLst/>
            <a:ahLst/>
            <a:cxnLst/>
            <a:rect l="l" t="t" r="r" b="b"/>
            <a:pathLst>
              <a:path w="1311275" h="878204">
                <a:moveTo>
                  <a:pt x="1237996" y="852296"/>
                </a:moveTo>
                <a:lnTo>
                  <a:pt x="0" y="852296"/>
                </a:lnTo>
                <a:lnTo>
                  <a:pt x="0" y="878205"/>
                </a:lnTo>
                <a:lnTo>
                  <a:pt x="1263903" y="878205"/>
                </a:lnTo>
                <a:lnTo>
                  <a:pt x="1263903" y="865251"/>
                </a:lnTo>
                <a:lnTo>
                  <a:pt x="1237996" y="865251"/>
                </a:lnTo>
                <a:lnTo>
                  <a:pt x="1237996" y="852296"/>
                </a:lnTo>
                <a:close/>
              </a:path>
              <a:path w="1311275" h="878204">
                <a:moveTo>
                  <a:pt x="1250950" y="51289"/>
                </a:moveTo>
                <a:lnTo>
                  <a:pt x="1237996" y="73496"/>
                </a:lnTo>
                <a:lnTo>
                  <a:pt x="1237996" y="865251"/>
                </a:lnTo>
                <a:lnTo>
                  <a:pt x="1250950" y="852296"/>
                </a:lnTo>
                <a:lnTo>
                  <a:pt x="1263903" y="852296"/>
                </a:lnTo>
                <a:lnTo>
                  <a:pt x="1263903" y="73496"/>
                </a:lnTo>
                <a:lnTo>
                  <a:pt x="1250950" y="51289"/>
                </a:lnTo>
                <a:close/>
              </a:path>
              <a:path w="1311275" h="878204">
                <a:moveTo>
                  <a:pt x="1263903" y="852296"/>
                </a:moveTo>
                <a:lnTo>
                  <a:pt x="1250950" y="852296"/>
                </a:lnTo>
                <a:lnTo>
                  <a:pt x="1237996" y="865251"/>
                </a:lnTo>
                <a:lnTo>
                  <a:pt x="1263903" y="865251"/>
                </a:lnTo>
                <a:lnTo>
                  <a:pt x="1263903" y="852296"/>
                </a:lnTo>
                <a:close/>
              </a:path>
              <a:path w="1311275" h="878204">
                <a:moveTo>
                  <a:pt x="1250950" y="0"/>
                </a:moveTo>
                <a:lnTo>
                  <a:pt x="1194434" y="96900"/>
                </a:lnTo>
                <a:lnTo>
                  <a:pt x="1190752" y="102996"/>
                </a:lnTo>
                <a:lnTo>
                  <a:pt x="1192910" y="110998"/>
                </a:lnTo>
                <a:lnTo>
                  <a:pt x="1199133" y="114554"/>
                </a:lnTo>
                <a:lnTo>
                  <a:pt x="1205229" y="118110"/>
                </a:lnTo>
                <a:lnTo>
                  <a:pt x="1213230" y="116077"/>
                </a:lnTo>
                <a:lnTo>
                  <a:pt x="1216786" y="109855"/>
                </a:lnTo>
                <a:lnTo>
                  <a:pt x="1237995" y="73496"/>
                </a:lnTo>
                <a:lnTo>
                  <a:pt x="1237996" y="25654"/>
                </a:lnTo>
                <a:lnTo>
                  <a:pt x="1265912" y="25654"/>
                </a:lnTo>
                <a:lnTo>
                  <a:pt x="1250950" y="0"/>
                </a:lnTo>
                <a:close/>
              </a:path>
              <a:path w="1311275" h="878204">
                <a:moveTo>
                  <a:pt x="1265912" y="25654"/>
                </a:moveTo>
                <a:lnTo>
                  <a:pt x="1263903" y="25654"/>
                </a:lnTo>
                <a:lnTo>
                  <a:pt x="1263903" y="73496"/>
                </a:lnTo>
                <a:lnTo>
                  <a:pt x="1285112" y="109855"/>
                </a:lnTo>
                <a:lnTo>
                  <a:pt x="1288669" y="116077"/>
                </a:lnTo>
                <a:lnTo>
                  <a:pt x="1296670" y="118110"/>
                </a:lnTo>
                <a:lnTo>
                  <a:pt x="1302765" y="114554"/>
                </a:lnTo>
                <a:lnTo>
                  <a:pt x="1308988" y="110998"/>
                </a:lnTo>
                <a:lnTo>
                  <a:pt x="1311021" y="102996"/>
                </a:lnTo>
                <a:lnTo>
                  <a:pt x="1265912" y="25654"/>
                </a:lnTo>
                <a:close/>
              </a:path>
              <a:path w="1311275" h="878204">
                <a:moveTo>
                  <a:pt x="1263903" y="25654"/>
                </a:moveTo>
                <a:lnTo>
                  <a:pt x="1237996" y="25654"/>
                </a:lnTo>
                <a:lnTo>
                  <a:pt x="1237996" y="73496"/>
                </a:lnTo>
                <a:lnTo>
                  <a:pt x="1250950" y="51289"/>
                </a:lnTo>
                <a:lnTo>
                  <a:pt x="1239774" y="32131"/>
                </a:lnTo>
                <a:lnTo>
                  <a:pt x="1263903" y="32131"/>
                </a:lnTo>
                <a:lnTo>
                  <a:pt x="1263903" y="25654"/>
                </a:lnTo>
                <a:close/>
              </a:path>
              <a:path w="1311275" h="878204">
                <a:moveTo>
                  <a:pt x="1263903" y="32131"/>
                </a:moveTo>
                <a:lnTo>
                  <a:pt x="1262126" y="32131"/>
                </a:lnTo>
                <a:lnTo>
                  <a:pt x="1250950" y="51289"/>
                </a:lnTo>
                <a:lnTo>
                  <a:pt x="1263903" y="73496"/>
                </a:lnTo>
                <a:lnTo>
                  <a:pt x="1263903" y="32131"/>
                </a:lnTo>
                <a:close/>
              </a:path>
              <a:path w="1311275" h="878204">
                <a:moveTo>
                  <a:pt x="1262126" y="32131"/>
                </a:moveTo>
                <a:lnTo>
                  <a:pt x="1239774" y="32131"/>
                </a:lnTo>
                <a:lnTo>
                  <a:pt x="1250950" y="51289"/>
                </a:lnTo>
                <a:lnTo>
                  <a:pt x="1262126" y="32131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082039" y="3747515"/>
            <a:ext cx="1239011" cy="9845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094232" y="3772661"/>
            <a:ext cx="1121410" cy="925830"/>
          </a:xfrm>
          <a:custGeom>
            <a:avLst/>
            <a:gdLst/>
            <a:ahLst/>
            <a:cxnLst/>
            <a:rect l="l" t="t" r="r" b="b"/>
            <a:pathLst>
              <a:path w="1121410" h="925829">
                <a:moveTo>
                  <a:pt x="1099035" y="852296"/>
                </a:moveTo>
                <a:lnTo>
                  <a:pt x="1095375" y="852296"/>
                </a:lnTo>
                <a:lnTo>
                  <a:pt x="1095375" y="878077"/>
                </a:lnTo>
                <a:lnTo>
                  <a:pt x="1047522" y="878083"/>
                </a:lnTo>
                <a:lnTo>
                  <a:pt x="1004951" y="902969"/>
                </a:lnTo>
                <a:lnTo>
                  <a:pt x="1002919" y="910844"/>
                </a:lnTo>
                <a:lnTo>
                  <a:pt x="1010031" y="923289"/>
                </a:lnTo>
                <a:lnTo>
                  <a:pt x="1018032" y="925321"/>
                </a:lnTo>
                <a:lnTo>
                  <a:pt x="1121029" y="865124"/>
                </a:lnTo>
                <a:lnTo>
                  <a:pt x="1099035" y="852296"/>
                </a:lnTo>
                <a:close/>
              </a:path>
              <a:path w="1121410" h="925829">
                <a:moveTo>
                  <a:pt x="25908" y="0"/>
                </a:moveTo>
                <a:lnTo>
                  <a:pt x="0" y="0"/>
                </a:lnTo>
                <a:lnTo>
                  <a:pt x="0" y="878205"/>
                </a:lnTo>
                <a:lnTo>
                  <a:pt x="1047532" y="878077"/>
                </a:lnTo>
                <a:lnTo>
                  <a:pt x="1069630" y="865187"/>
                </a:lnTo>
                <a:lnTo>
                  <a:pt x="25908" y="865124"/>
                </a:lnTo>
                <a:lnTo>
                  <a:pt x="12954" y="852296"/>
                </a:lnTo>
                <a:lnTo>
                  <a:pt x="25908" y="852296"/>
                </a:lnTo>
                <a:lnTo>
                  <a:pt x="25908" y="0"/>
                </a:lnTo>
                <a:close/>
              </a:path>
              <a:path w="1121410" h="925829">
                <a:moveTo>
                  <a:pt x="1069630" y="865187"/>
                </a:moveTo>
                <a:lnTo>
                  <a:pt x="1047522" y="878083"/>
                </a:lnTo>
                <a:lnTo>
                  <a:pt x="1095375" y="878077"/>
                </a:lnTo>
                <a:lnTo>
                  <a:pt x="1095375" y="876426"/>
                </a:lnTo>
                <a:lnTo>
                  <a:pt x="1088898" y="876426"/>
                </a:lnTo>
                <a:lnTo>
                  <a:pt x="1069630" y="865187"/>
                </a:lnTo>
                <a:close/>
              </a:path>
              <a:path w="1121410" h="925829">
                <a:moveTo>
                  <a:pt x="1088898" y="853948"/>
                </a:moveTo>
                <a:lnTo>
                  <a:pt x="1069630" y="865187"/>
                </a:lnTo>
                <a:lnTo>
                  <a:pt x="1088898" y="876426"/>
                </a:lnTo>
                <a:lnTo>
                  <a:pt x="1088898" y="853948"/>
                </a:lnTo>
                <a:close/>
              </a:path>
              <a:path w="1121410" h="925829">
                <a:moveTo>
                  <a:pt x="1095375" y="853948"/>
                </a:moveTo>
                <a:lnTo>
                  <a:pt x="1088898" y="853948"/>
                </a:lnTo>
                <a:lnTo>
                  <a:pt x="1088898" y="876426"/>
                </a:lnTo>
                <a:lnTo>
                  <a:pt x="1095375" y="876426"/>
                </a:lnTo>
                <a:lnTo>
                  <a:pt x="1095375" y="853948"/>
                </a:lnTo>
                <a:close/>
              </a:path>
              <a:path w="1121410" h="925829">
                <a:moveTo>
                  <a:pt x="1018032" y="805052"/>
                </a:moveTo>
                <a:lnTo>
                  <a:pt x="1010031" y="807085"/>
                </a:lnTo>
                <a:lnTo>
                  <a:pt x="1002919" y="819531"/>
                </a:lnTo>
                <a:lnTo>
                  <a:pt x="1004951" y="827405"/>
                </a:lnTo>
                <a:lnTo>
                  <a:pt x="1069630" y="865187"/>
                </a:lnTo>
                <a:lnTo>
                  <a:pt x="1088898" y="853948"/>
                </a:lnTo>
                <a:lnTo>
                  <a:pt x="1095375" y="853948"/>
                </a:lnTo>
                <a:lnTo>
                  <a:pt x="1095375" y="852296"/>
                </a:lnTo>
                <a:lnTo>
                  <a:pt x="1099035" y="852296"/>
                </a:lnTo>
                <a:lnTo>
                  <a:pt x="1018032" y="805052"/>
                </a:lnTo>
                <a:close/>
              </a:path>
              <a:path w="1121410" h="925829">
                <a:moveTo>
                  <a:pt x="25908" y="852296"/>
                </a:moveTo>
                <a:lnTo>
                  <a:pt x="12954" y="852296"/>
                </a:lnTo>
                <a:lnTo>
                  <a:pt x="25908" y="865124"/>
                </a:lnTo>
                <a:lnTo>
                  <a:pt x="25908" y="852296"/>
                </a:lnTo>
                <a:close/>
              </a:path>
              <a:path w="1121410" h="925829">
                <a:moveTo>
                  <a:pt x="1047532" y="852296"/>
                </a:moveTo>
                <a:lnTo>
                  <a:pt x="25908" y="852296"/>
                </a:lnTo>
                <a:lnTo>
                  <a:pt x="25908" y="865124"/>
                </a:lnTo>
                <a:lnTo>
                  <a:pt x="1069521" y="865124"/>
                </a:lnTo>
                <a:lnTo>
                  <a:pt x="1047532" y="852296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416808" y="4500371"/>
            <a:ext cx="762000" cy="2331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429761" y="4579746"/>
            <a:ext cx="643255" cy="120650"/>
          </a:xfrm>
          <a:custGeom>
            <a:avLst/>
            <a:gdLst/>
            <a:ahLst/>
            <a:cxnLst/>
            <a:rect l="l" t="t" r="r" b="b"/>
            <a:pathLst>
              <a:path w="643254" h="120650">
                <a:moveTo>
                  <a:pt x="591475" y="60134"/>
                </a:moveTo>
                <a:lnTo>
                  <a:pt x="526796" y="97916"/>
                </a:lnTo>
                <a:lnTo>
                  <a:pt x="524763" y="105790"/>
                </a:lnTo>
                <a:lnTo>
                  <a:pt x="528320" y="112013"/>
                </a:lnTo>
                <a:lnTo>
                  <a:pt x="532002" y="118236"/>
                </a:lnTo>
                <a:lnTo>
                  <a:pt x="539876" y="120268"/>
                </a:lnTo>
                <a:lnTo>
                  <a:pt x="546100" y="116712"/>
                </a:lnTo>
                <a:lnTo>
                  <a:pt x="620839" y="73025"/>
                </a:lnTo>
                <a:lnTo>
                  <a:pt x="617347" y="73025"/>
                </a:lnTo>
                <a:lnTo>
                  <a:pt x="617347" y="71373"/>
                </a:lnTo>
                <a:lnTo>
                  <a:pt x="610742" y="71373"/>
                </a:lnTo>
                <a:lnTo>
                  <a:pt x="591475" y="60134"/>
                </a:lnTo>
                <a:close/>
              </a:path>
              <a:path w="643254" h="120650">
                <a:moveTo>
                  <a:pt x="308483" y="58546"/>
                </a:moveTo>
                <a:lnTo>
                  <a:pt x="308483" y="73025"/>
                </a:lnTo>
                <a:lnTo>
                  <a:pt x="569377" y="73025"/>
                </a:lnTo>
                <a:lnTo>
                  <a:pt x="571989" y="71500"/>
                </a:lnTo>
                <a:lnTo>
                  <a:pt x="321437" y="71500"/>
                </a:lnTo>
                <a:lnTo>
                  <a:pt x="308483" y="58546"/>
                </a:lnTo>
                <a:close/>
              </a:path>
              <a:path w="643254" h="120650">
                <a:moveTo>
                  <a:pt x="620789" y="47116"/>
                </a:moveTo>
                <a:lnTo>
                  <a:pt x="617347" y="47116"/>
                </a:lnTo>
                <a:lnTo>
                  <a:pt x="617347" y="73025"/>
                </a:lnTo>
                <a:lnTo>
                  <a:pt x="620839" y="73025"/>
                </a:lnTo>
                <a:lnTo>
                  <a:pt x="643001" y="60070"/>
                </a:lnTo>
                <a:lnTo>
                  <a:pt x="620789" y="47116"/>
                </a:lnTo>
                <a:close/>
              </a:path>
              <a:path w="643254" h="120650">
                <a:moveTo>
                  <a:pt x="334390" y="45592"/>
                </a:moveTo>
                <a:lnTo>
                  <a:pt x="0" y="45592"/>
                </a:lnTo>
                <a:lnTo>
                  <a:pt x="0" y="71500"/>
                </a:lnTo>
                <a:lnTo>
                  <a:pt x="308483" y="71500"/>
                </a:lnTo>
                <a:lnTo>
                  <a:pt x="308483" y="58546"/>
                </a:lnTo>
                <a:lnTo>
                  <a:pt x="332866" y="58546"/>
                </a:lnTo>
                <a:lnTo>
                  <a:pt x="321437" y="47116"/>
                </a:lnTo>
                <a:lnTo>
                  <a:pt x="334390" y="47116"/>
                </a:lnTo>
                <a:lnTo>
                  <a:pt x="334390" y="45592"/>
                </a:lnTo>
                <a:close/>
              </a:path>
              <a:path w="643254" h="120650">
                <a:moveTo>
                  <a:pt x="332866" y="58546"/>
                </a:moveTo>
                <a:lnTo>
                  <a:pt x="308483" y="58546"/>
                </a:lnTo>
                <a:lnTo>
                  <a:pt x="321437" y="71500"/>
                </a:lnTo>
                <a:lnTo>
                  <a:pt x="571989" y="71500"/>
                </a:lnTo>
                <a:lnTo>
                  <a:pt x="591475" y="60134"/>
                </a:lnTo>
                <a:lnTo>
                  <a:pt x="334390" y="60070"/>
                </a:lnTo>
                <a:lnTo>
                  <a:pt x="332866" y="58546"/>
                </a:lnTo>
                <a:close/>
              </a:path>
              <a:path w="643254" h="120650">
                <a:moveTo>
                  <a:pt x="610742" y="48894"/>
                </a:moveTo>
                <a:lnTo>
                  <a:pt x="591475" y="60134"/>
                </a:lnTo>
                <a:lnTo>
                  <a:pt x="610742" y="71373"/>
                </a:lnTo>
                <a:lnTo>
                  <a:pt x="610742" y="48894"/>
                </a:lnTo>
                <a:close/>
              </a:path>
              <a:path w="643254" h="120650">
                <a:moveTo>
                  <a:pt x="617347" y="48894"/>
                </a:moveTo>
                <a:lnTo>
                  <a:pt x="610742" y="48894"/>
                </a:lnTo>
                <a:lnTo>
                  <a:pt x="610742" y="71373"/>
                </a:lnTo>
                <a:lnTo>
                  <a:pt x="617347" y="71373"/>
                </a:lnTo>
                <a:lnTo>
                  <a:pt x="617347" y="48894"/>
                </a:lnTo>
                <a:close/>
              </a:path>
              <a:path w="643254" h="120650">
                <a:moveTo>
                  <a:pt x="539876" y="0"/>
                </a:moveTo>
                <a:lnTo>
                  <a:pt x="532002" y="2031"/>
                </a:lnTo>
                <a:lnTo>
                  <a:pt x="528320" y="8254"/>
                </a:lnTo>
                <a:lnTo>
                  <a:pt x="524763" y="14477"/>
                </a:lnTo>
                <a:lnTo>
                  <a:pt x="526796" y="22351"/>
                </a:lnTo>
                <a:lnTo>
                  <a:pt x="591475" y="60134"/>
                </a:lnTo>
                <a:lnTo>
                  <a:pt x="610742" y="48894"/>
                </a:lnTo>
                <a:lnTo>
                  <a:pt x="617347" y="48894"/>
                </a:lnTo>
                <a:lnTo>
                  <a:pt x="617347" y="47116"/>
                </a:lnTo>
                <a:lnTo>
                  <a:pt x="620789" y="47116"/>
                </a:lnTo>
                <a:lnTo>
                  <a:pt x="546100" y="3555"/>
                </a:lnTo>
                <a:lnTo>
                  <a:pt x="539876" y="0"/>
                </a:lnTo>
                <a:close/>
              </a:path>
              <a:path w="643254" h="120650">
                <a:moveTo>
                  <a:pt x="334390" y="47116"/>
                </a:moveTo>
                <a:lnTo>
                  <a:pt x="321437" y="47116"/>
                </a:lnTo>
                <a:lnTo>
                  <a:pt x="334390" y="60070"/>
                </a:lnTo>
                <a:lnTo>
                  <a:pt x="334390" y="47116"/>
                </a:lnTo>
                <a:close/>
              </a:path>
              <a:path w="643254" h="120650">
                <a:moveTo>
                  <a:pt x="569159" y="47116"/>
                </a:moveTo>
                <a:lnTo>
                  <a:pt x="334390" y="47116"/>
                </a:lnTo>
                <a:lnTo>
                  <a:pt x="334390" y="60070"/>
                </a:lnTo>
                <a:lnTo>
                  <a:pt x="591366" y="60070"/>
                </a:lnTo>
                <a:lnTo>
                  <a:pt x="569159" y="47116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 txBox="1"/>
          <p:nvPr/>
        </p:nvSpPr>
        <p:spPr>
          <a:xfrm>
            <a:off x="507593" y="2851785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471422" y="2851785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2257170" y="1525904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2293747" y="4066794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3257550" y="4098416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10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151123" y="1525904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15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4049648" y="1525904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15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5050028" y="1525904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30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079875" y="285178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30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5050028" y="2812161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40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4049648" y="4098416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10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5121655" y="4098416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15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5836158" y="4098416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15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6764781" y="4026484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20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5836158" y="2883230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40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6907783" y="2883230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50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7765160" y="2883230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50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8724138" y="2852127"/>
            <a:ext cx="194945" cy="3917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340"/>
              </a:spcBef>
            </a:pPr>
            <a:r>
              <a:rPr sz="1000" spc="-10" dirty="0">
                <a:latin typeface="Calibri"/>
                <a:cs typeface="Calibri"/>
              </a:rPr>
              <a:t>60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00" spc="-5" dirty="0">
                <a:latin typeface="Calibri"/>
                <a:cs typeface="Calibri"/>
              </a:rPr>
              <a:t>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6866381" y="3098037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5008879" y="3169411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5043678" y="1811781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3222498" y="1811781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579244" y="3098037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6830059" y="431266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30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5080253" y="4352290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30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3151123" y="431266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30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0234" y="496950"/>
            <a:ext cx="73259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Método </a:t>
            </a:r>
            <a:r>
              <a:rPr spc="-5" dirty="0"/>
              <a:t>de la </a:t>
            </a:r>
            <a:r>
              <a:rPr spc="-15" dirty="0"/>
              <a:t>ruta </a:t>
            </a:r>
            <a:r>
              <a:rPr spc="-10" dirty="0"/>
              <a:t>crítica-</a:t>
            </a:r>
            <a:r>
              <a:rPr spc="-40" dirty="0"/>
              <a:t> </a:t>
            </a:r>
            <a:r>
              <a:rPr b="1" spc="-10" dirty="0">
                <a:latin typeface="Calibri"/>
                <a:cs typeface="Calibri"/>
              </a:rPr>
              <a:t>Fórmulas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1020"/>
            <a:ext cx="8072755" cy="431800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70" dirty="0">
                <a:latin typeface="Calibri"/>
                <a:cs typeface="Calibri"/>
              </a:rPr>
              <a:t>Total </a:t>
            </a:r>
            <a:r>
              <a:rPr sz="3200" spc="-10" dirty="0">
                <a:latin typeface="Calibri"/>
                <a:cs typeface="Calibri"/>
              </a:rPr>
              <a:t>Float </a:t>
            </a:r>
            <a:r>
              <a:rPr sz="3200" spc="-20" dirty="0">
                <a:latin typeface="Calibri"/>
                <a:cs typeface="Calibri"/>
              </a:rPr>
              <a:t>para </a:t>
            </a:r>
            <a:r>
              <a:rPr sz="3200" spc="-5" dirty="0">
                <a:latin typeface="Calibri"/>
                <a:cs typeface="Calibri"/>
              </a:rPr>
              <a:t>una </a:t>
            </a:r>
            <a:r>
              <a:rPr sz="3200" dirty="0">
                <a:latin typeface="Calibri"/>
                <a:cs typeface="Calibri"/>
              </a:rPr>
              <a:t>actividad =</a:t>
            </a:r>
            <a:r>
              <a:rPr sz="3200" spc="15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LS-ES</a:t>
            </a:r>
            <a:endParaRPr sz="3200">
              <a:latin typeface="Calibri"/>
              <a:cs typeface="Calibri"/>
            </a:endParaRPr>
          </a:p>
          <a:p>
            <a:pPr marL="355600" marR="6350" indent="-343535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15" dirty="0">
                <a:latin typeface="Calibri"/>
                <a:cs typeface="Calibri"/>
              </a:rPr>
              <a:t>Free</a:t>
            </a:r>
            <a:r>
              <a:rPr sz="3200" spc="6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Float </a:t>
            </a:r>
            <a:r>
              <a:rPr sz="3200" dirty="0">
                <a:latin typeface="Calibri"/>
                <a:cs typeface="Calibri"/>
              </a:rPr>
              <a:t>= </a:t>
            </a:r>
            <a:r>
              <a:rPr sz="3200" spc="-5" dirty="0">
                <a:latin typeface="Calibri"/>
                <a:cs typeface="Calibri"/>
              </a:rPr>
              <a:t>min(ES´s </a:t>
            </a:r>
            <a:r>
              <a:rPr sz="3200" dirty="0">
                <a:latin typeface="Calibri"/>
                <a:cs typeface="Calibri"/>
              </a:rPr>
              <a:t>de las actividades  </a:t>
            </a:r>
            <a:r>
              <a:rPr sz="3200" spc="-10" dirty="0">
                <a:latin typeface="Calibri"/>
                <a:cs typeface="Calibri"/>
              </a:rPr>
              <a:t>sucesoras) </a:t>
            </a:r>
            <a:r>
              <a:rPr sz="3200" dirty="0">
                <a:latin typeface="Calibri"/>
                <a:cs typeface="Calibri"/>
              </a:rPr>
              <a:t>– </a:t>
            </a:r>
            <a:r>
              <a:rPr sz="3200" spc="-5" dirty="0">
                <a:latin typeface="Calibri"/>
                <a:cs typeface="Calibri"/>
              </a:rPr>
              <a:t>EF de</a:t>
            </a:r>
            <a:r>
              <a:rPr sz="3200" dirty="0">
                <a:latin typeface="Calibri"/>
                <a:cs typeface="Calibri"/>
              </a:rPr>
              <a:t> Actividad</a:t>
            </a:r>
            <a:endParaRPr sz="320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Si </a:t>
            </a:r>
            <a:r>
              <a:rPr sz="3200" spc="-5" dirty="0">
                <a:latin typeface="Calibri"/>
                <a:cs typeface="Calibri"/>
              </a:rPr>
              <a:t>se </a:t>
            </a:r>
            <a:r>
              <a:rPr sz="3200" spc="-15" dirty="0">
                <a:latin typeface="Calibri"/>
                <a:cs typeface="Calibri"/>
              </a:rPr>
              <a:t>requiere  demorar</a:t>
            </a:r>
            <a:r>
              <a:rPr sz="3200" spc="6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actividades en </a:t>
            </a:r>
            <a:r>
              <a:rPr sz="3200" spc="-15" dirty="0">
                <a:latin typeface="Calibri"/>
                <a:cs typeface="Calibri"/>
              </a:rPr>
              <a:t>el  </a:t>
            </a:r>
            <a:r>
              <a:rPr sz="3200" spc="-25" dirty="0">
                <a:latin typeface="Calibri"/>
                <a:cs typeface="Calibri"/>
              </a:rPr>
              <a:t>proyecto, </a:t>
            </a:r>
            <a:r>
              <a:rPr sz="3200" dirty="0">
                <a:latin typeface="Calibri"/>
                <a:cs typeface="Calibri"/>
              </a:rPr>
              <a:t>las </a:t>
            </a:r>
            <a:r>
              <a:rPr sz="3200" spc="-10" dirty="0">
                <a:latin typeface="Calibri"/>
                <a:cs typeface="Calibri"/>
              </a:rPr>
              <a:t>candidatas </a:t>
            </a:r>
            <a:r>
              <a:rPr sz="3200" spc="-5" dirty="0">
                <a:latin typeface="Calibri"/>
                <a:cs typeface="Calibri"/>
              </a:rPr>
              <a:t>son aquellas </a:t>
            </a:r>
            <a:r>
              <a:rPr sz="3200" spc="-10" dirty="0">
                <a:latin typeface="Calibri"/>
                <a:cs typeface="Calibri"/>
              </a:rPr>
              <a:t>con Free  Float.</a:t>
            </a:r>
            <a:endParaRPr sz="320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Si </a:t>
            </a:r>
            <a:r>
              <a:rPr sz="3200" spc="-5" dirty="0">
                <a:latin typeface="Calibri"/>
                <a:cs typeface="Calibri"/>
              </a:rPr>
              <a:t>se </a:t>
            </a:r>
            <a:r>
              <a:rPr sz="3200" spc="-15" dirty="0">
                <a:latin typeface="Calibri"/>
                <a:cs typeface="Calibri"/>
              </a:rPr>
              <a:t>retrasan  </a:t>
            </a:r>
            <a:r>
              <a:rPr sz="3200" dirty="0">
                <a:latin typeface="Calibri"/>
                <a:cs typeface="Calibri"/>
              </a:rPr>
              <a:t>actividades </a:t>
            </a:r>
            <a:r>
              <a:rPr sz="3200" spc="-5" dirty="0">
                <a:latin typeface="Calibri"/>
                <a:cs typeface="Calibri"/>
              </a:rPr>
              <a:t>sin </a:t>
            </a:r>
            <a:r>
              <a:rPr sz="3200" spc="-10" dirty="0">
                <a:latin typeface="Calibri"/>
                <a:cs typeface="Calibri"/>
              </a:rPr>
              <a:t>Free Float,  entonces </a:t>
            </a:r>
            <a:r>
              <a:rPr sz="3200" dirty="0">
                <a:latin typeface="Calibri"/>
                <a:cs typeface="Calibri"/>
              </a:rPr>
              <a:t>el </a:t>
            </a:r>
            <a:r>
              <a:rPr sz="3200" spc="-20" dirty="0">
                <a:latin typeface="Calibri"/>
                <a:cs typeface="Calibri"/>
              </a:rPr>
              <a:t>proyecto </a:t>
            </a:r>
            <a:r>
              <a:rPr sz="3200" spc="-5" dirty="0">
                <a:latin typeface="Calibri"/>
                <a:cs typeface="Calibri"/>
              </a:rPr>
              <a:t>se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retrasará.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6548" y="461899"/>
            <a:ext cx="49333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Ruta crítica </a:t>
            </a:r>
            <a:r>
              <a:rPr sz="4400" dirty="0"/>
              <a:t>- </a:t>
            </a:r>
            <a:r>
              <a:rPr sz="4400" b="1" spc="-10" dirty="0">
                <a:latin typeface="Calibri"/>
                <a:cs typeface="Calibri"/>
              </a:rPr>
              <a:t>Ejercicio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7593" y="1241297"/>
            <a:ext cx="40474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libri"/>
                <a:cs typeface="Calibri"/>
              </a:rPr>
              <a:t>Encuentre </a:t>
            </a:r>
            <a:r>
              <a:rPr sz="3000" dirty="0">
                <a:latin typeface="Calibri"/>
                <a:cs typeface="Calibri"/>
              </a:rPr>
              <a:t>la </a:t>
            </a:r>
            <a:r>
              <a:rPr sz="3000" spc="-10" dirty="0">
                <a:latin typeface="Calibri"/>
                <a:cs typeface="Calibri"/>
              </a:rPr>
              <a:t>ruta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crítica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32560" y="2106167"/>
            <a:ext cx="6224028" cy="3895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9642" y="461899"/>
            <a:ext cx="42056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Crashing-</a:t>
            </a:r>
            <a:r>
              <a:rPr sz="4400" spc="-50" dirty="0"/>
              <a:t> </a:t>
            </a:r>
            <a:r>
              <a:rPr sz="4400" b="1" spc="-10" dirty="0">
                <a:latin typeface="Calibri"/>
                <a:cs typeface="Calibri"/>
              </a:rPr>
              <a:t>Ejercicio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79829"/>
            <a:ext cx="583374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500" spc="-5" dirty="0">
                <a:latin typeface="Calibri"/>
                <a:cs typeface="Calibri"/>
              </a:rPr>
              <a:t>Project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Float=-3</a:t>
            </a:r>
            <a:endParaRPr sz="15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500" spc="-5" dirty="0">
                <a:latin typeface="Calibri"/>
                <a:cs typeface="Calibri"/>
              </a:rPr>
              <a:t>¿Cuales </a:t>
            </a:r>
            <a:r>
              <a:rPr sz="1500" spc="-10" dirty="0">
                <a:latin typeface="Calibri"/>
                <a:cs typeface="Calibri"/>
              </a:rPr>
              <a:t>tareas </a:t>
            </a:r>
            <a:r>
              <a:rPr sz="1500" dirty="0">
                <a:latin typeface="Calibri"/>
                <a:cs typeface="Calibri"/>
              </a:rPr>
              <a:t>debería </a:t>
            </a:r>
            <a:r>
              <a:rPr sz="1500" spc="-5" dirty="0">
                <a:latin typeface="Calibri"/>
                <a:cs typeface="Calibri"/>
              </a:rPr>
              <a:t>comprimir? ¿Cuál </a:t>
            </a:r>
            <a:r>
              <a:rPr sz="1500" dirty="0">
                <a:latin typeface="Calibri"/>
                <a:cs typeface="Calibri"/>
              </a:rPr>
              <a:t>es el </a:t>
            </a:r>
            <a:r>
              <a:rPr sz="1500" spc="-10" dirty="0">
                <a:latin typeface="Calibri"/>
                <a:cs typeface="Calibri"/>
              </a:rPr>
              <a:t>costo </a:t>
            </a:r>
            <a:r>
              <a:rPr sz="1500" dirty="0">
                <a:latin typeface="Calibri"/>
                <a:cs typeface="Calibri"/>
              </a:rPr>
              <a:t>de la </a:t>
            </a:r>
            <a:r>
              <a:rPr sz="1500" spc="-5" dirty="0">
                <a:latin typeface="Calibri"/>
                <a:cs typeface="Calibri"/>
              </a:rPr>
              <a:t>compresión?</a:t>
            </a:r>
            <a:endParaRPr sz="15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-6350" y="2565400"/>
          <a:ext cx="9163050" cy="3585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4765"/>
                <a:gridCol w="1213485"/>
                <a:gridCol w="1213485"/>
                <a:gridCol w="1375410"/>
                <a:gridCol w="1132839"/>
                <a:gridCol w="841374"/>
                <a:gridCol w="928370"/>
                <a:gridCol w="1143000"/>
              </a:tblGrid>
              <a:tr h="123050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Actividad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59079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aci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ó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  original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59079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aci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ó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 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Crash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588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Ahorro  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 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Tie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mpo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838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Costo 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igi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08279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 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952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Extra 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2978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Costo  Por 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riodo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F81BC"/>
                    </a:solidFill>
                  </a:tcPr>
                </a:tc>
              </a:tr>
              <a:tr h="45313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17000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27000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10000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5000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4720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27000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36000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9000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47205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10000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14000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4720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14000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16000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4720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25000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26000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3642</Words>
  <Application>Microsoft Office PowerPoint</Application>
  <PresentationFormat>Presentación en pantalla (4:3)</PresentationFormat>
  <Paragraphs>781</Paragraphs>
  <Slides>57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57</vt:i4>
      </vt:variant>
    </vt:vector>
  </HeadingPairs>
  <TitlesOfParts>
    <vt:vector size="61" baseType="lpstr">
      <vt:lpstr>Arial</vt:lpstr>
      <vt:lpstr>Calibri</vt:lpstr>
      <vt:lpstr>Times New Roman</vt:lpstr>
      <vt:lpstr>Office Theme</vt:lpstr>
      <vt:lpstr>Agenda</vt:lpstr>
      <vt:lpstr>Grupos de proceso-áreas de conocimiento</vt:lpstr>
      <vt:lpstr>Agenda</vt:lpstr>
      <vt:lpstr>Planificar la Gestión del  Cronograma</vt:lpstr>
      <vt:lpstr>Planificar la Gestión del  Cronograma - Entradas</vt:lpstr>
      <vt:lpstr>Planificar la Gestión del Cronograma– Técnicas y Herramientas</vt:lpstr>
      <vt:lpstr>Planificar la Gestión del  Cronograma – Salidas</vt:lpstr>
      <vt:lpstr>Agenda</vt:lpstr>
      <vt:lpstr>Definir las Actividades</vt:lpstr>
      <vt:lpstr>Definir las Actividades - Entradas</vt:lpstr>
      <vt:lpstr>Definir las Actividades – Técnicas y  Herramientas</vt:lpstr>
      <vt:lpstr>Definir las Actividades – Salidas</vt:lpstr>
      <vt:lpstr>Definir las Actividades – Salidas</vt:lpstr>
      <vt:lpstr>Agenda</vt:lpstr>
      <vt:lpstr>Secuenciar las Actividades</vt:lpstr>
      <vt:lpstr>Secuenciar las Actividades – Entradas</vt:lpstr>
      <vt:lpstr>Secuenciar las Actividades – Técnicas y  Herramientas</vt:lpstr>
      <vt:lpstr>Secuenciar las Actividades – Técnicas y  Herramientas</vt:lpstr>
      <vt:lpstr>Secuenciar las Actividades – Técnicas y  Herramientas</vt:lpstr>
      <vt:lpstr>Secuenciar las Actividades – Técnicas y  Herramientas</vt:lpstr>
      <vt:lpstr>Secuenciar las Actividades – Técnicas y  Herramientas</vt:lpstr>
      <vt:lpstr>Secuenciar las Actividades – Salidas</vt:lpstr>
      <vt:lpstr>Presentación de PowerPoint</vt:lpstr>
      <vt:lpstr>Agenda</vt:lpstr>
      <vt:lpstr>Estimar los Recursos de las Actividades</vt:lpstr>
      <vt:lpstr>Estimar los Recursos de las  Actividades- Entradas</vt:lpstr>
      <vt:lpstr>Estimar los Recursos de las  Actividades- Técnicas y Herramientas</vt:lpstr>
      <vt:lpstr>Estimar los Recursos de las  Actividades- Salidas</vt:lpstr>
      <vt:lpstr>Agenda</vt:lpstr>
      <vt:lpstr>Estimar la Duración de las Actividades</vt:lpstr>
      <vt:lpstr>Estimar la Duración de las Actividades - Entradas</vt:lpstr>
      <vt:lpstr>Estimar la Duración de las Actividades- Técnicas y Herramientas</vt:lpstr>
      <vt:lpstr>Estimar la Duración de las Actividades- Técnicas y Herramientas</vt:lpstr>
      <vt:lpstr>Estimar la Duración de las Actividades- Técnicas y Herramientas</vt:lpstr>
      <vt:lpstr>Estimar la Duración de las Actividades- Salidas</vt:lpstr>
      <vt:lpstr>Agenda</vt:lpstr>
      <vt:lpstr>Desarrollar el Cronograma</vt:lpstr>
      <vt:lpstr>Desarrollar el Cronograma- Entradas</vt:lpstr>
      <vt:lpstr>Desarrollar el Cronograma- Entradas</vt:lpstr>
      <vt:lpstr>Desarrollar el Cronograma- Técnicas y  Herramientas</vt:lpstr>
      <vt:lpstr>Desarrollar el Cronograma- Técnicas y  Herramientas</vt:lpstr>
      <vt:lpstr>Desarrollar el Cronograma- Técnicas y  Herramientas</vt:lpstr>
      <vt:lpstr>Desarrollar el Cronograma- Salidas</vt:lpstr>
      <vt:lpstr>Desarrollar el Cronograma- Salidas</vt:lpstr>
      <vt:lpstr>Desarrollar el Cronograma- Salidas</vt:lpstr>
      <vt:lpstr>Método de la Cadena Crítica</vt:lpstr>
      <vt:lpstr>La cadena crítica y la ruta crítica</vt:lpstr>
      <vt:lpstr>Método de la Ruta Crítica</vt:lpstr>
      <vt:lpstr>Método de la ruta crítica</vt:lpstr>
      <vt:lpstr>Método de la ruta crítica</vt:lpstr>
      <vt:lpstr>Método de la ruta crítica</vt:lpstr>
      <vt:lpstr>Método de la ruta crítica- Pasada  hacia adelante</vt:lpstr>
      <vt:lpstr>Método de la ruta crítica- Pasada  hacia atrás</vt:lpstr>
      <vt:lpstr>Método de la ruta crítica- Total Float</vt:lpstr>
      <vt:lpstr>Método de la ruta crítica- Fórmulas</vt:lpstr>
      <vt:lpstr>Ruta crítica - Ejercicio</vt:lpstr>
      <vt:lpstr>Crashing- Ejercicio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GERENCIA DE PROYECTOS</dc:title>
  <dc:creator>JuanCarlos</dc:creator>
  <cp:lastModifiedBy>IVAN ALARCON</cp:lastModifiedBy>
  <cp:revision>2</cp:revision>
  <dcterms:created xsi:type="dcterms:W3CDTF">2020-04-15T00:55:47Z</dcterms:created>
  <dcterms:modified xsi:type="dcterms:W3CDTF">2020-09-23T15:33:27Z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2015-02-02T00:00:00Z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2020-04-15T00:00:00Z</vt:filetime>
  </property>
</Properties>
</file>