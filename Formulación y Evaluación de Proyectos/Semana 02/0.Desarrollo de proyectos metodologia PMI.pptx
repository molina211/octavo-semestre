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sldIdLst>
    <p:sldId id="313" r:id="rId2"/>
    <p:sldId id="258" r:id="rId3"/>
    <p:sldId id="259" r:id="rId4"/>
    <p:sldId id="260" r:id="rId5"/>
    <p:sldId id="262" r:id="rId6"/>
    <p:sldId id="265" r:id="rId7"/>
    <p:sldId id="266" r:id="rId8"/>
    <p:sldId id="263" r:id="rId9"/>
    <p:sldId id="264" r:id="rId10"/>
    <p:sldId id="267" r:id="rId11"/>
    <p:sldId id="268" r:id="rId12"/>
    <p:sldId id="269" r:id="rId13"/>
    <p:sldId id="270" r:id="rId14"/>
    <p:sldId id="271" r:id="rId15"/>
    <p:sldId id="272" r:id="rId16"/>
    <p:sldId id="273" r:id="rId17"/>
    <p:sldId id="274" r:id="rId18"/>
    <p:sldId id="275" r:id="rId19"/>
    <p:sldId id="276" r:id="rId20"/>
    <p:sldId id="314" r:id="rId21"/>
    <p:sldId id="277" r:id="rId22"/>
    <p:sldId id="316" r:id="rId23"/>
    <p:sldId id="318" r:id="rId24"/>
    <p:sldId id="315" r:id="rId25"/>
    <p:sldId id="278" r:id="rId26"/>
    <p:sldId id="279" r:id="rId27"/>
    <p:sldId id="280" r:id="rId28"/>
    <p:sldId id="281" r:id="rId29"/>
    <p:sldId id="282" r:id="rId30"/>
    <p:sldId id="283" r:id="rId31"/>
    <p:sldId id="284" r:id="rId32"/>
    <p:sldId id="285" r:id="rId33"/>
    <p:sldId id="286" r:id="rId34"/>
    <p:sldId id="287" r:id="rId35"/>
    <p:sldId id="289" r:id="rId36"/>
    <p:sldId id="288" r:id="rId37"/>
    <p:sldId id="290" r:id="rId38"/>
    <p:sldId id="291" r:id="rId39"/>
    <p:sldId id="292" r:id="rId40"/>
    <p:sldId id="293" r:id="rId41"/>
    <p:sldId id="294" r:id="rId42"/>
    <p:sldId id="319" r:id="rId43"/>
    <p:sldId id="320" r:id="rId44"/>
    <p:sldId id="295" r:id="rId45"/>
    <p:sldId id="296" r:id="rId46"/>
    <p:sldId id="297" r:id="rId47"/>
    <p:sldId id="298" r:id="rId48"/>
    <p:sldId id="299" r:id="rId49"/>
    <p:sldId id="304" r:id="rId50"/>
    <p:sldId id="300" r:id="rId51"/>
    <p:sldId id="301" r:id="rId52"/>
    <p:sldId id="302" r:id="rId53"/>
    <p:sldId id="303" r:id="rId54"/>
    <p:sldId id="307" r:id="rId55"/>
    <p:sldId id="305" r:id="rId56"/>
    <p:sldId id="306" r:id="rId57"/>
    <p:sldId id="308" r:id="rId58"/>
    <p:sldId id="309" r:id="rId59"/>
    <p:sldId id="311" r:id="rId60"/>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6600"/>
    <a:srgbClr val="CCFF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4660"/>
  </p:normalViewPr>
  <p:slideViewPr>
    <p:cSldViewPr snapToGrid="0">
      <p:cViewPr varScale="1">
        <p:scale>
          <a:sx n="72" d="100"/>
          <a:sy n="72" d="100"/>
        </p:scale>
        <p:origin x="133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668355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184575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789797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FF136362-47EC-45F2-AD57-9813F6805AA5}" type="datetimeFigureOut">
              <a:rPr lang="es-CO" smtClean="0"/>
              <a:t>16/02/2024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2822416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FF136362-47EC-45F2-AD57-9813F6805AA5}" type="datetimeFigureOut">
              <a:rPr lang="es-CO" smtClean="0"/>
              <a:t>16/02/2024</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2204880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FF136362-47EC-45F2-AD57-9813F6805AA5}" type="datetimeFigureOut">
              <a:rPr lang="es-CO" smtClean="0"/>
              <a:t>16/02/2024</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22612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136362-47EC-45F2-AD57-9813F6805AA5}" type="datetimeFigureOut">
              <a:rPr lang="es-CO" smtClean="0"/>
              <a:t>16/02/2024</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1032988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FF136362-47EC-45F2-AD57-9813F6805AA5}" type="datetimeFigureOut">
              <a:rPr lang="es-CO" smtClean="0"/>
              <a:t>16/02/2024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63066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FF136362-47EC-45F2-AD57-9813F6805AA5}" type="datetimeFigureOut">
              <a:rPr lang="es-CO" smtClean="0"/>
              <a:t>16/02/2024</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333660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245009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75262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763964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600273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el estilo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748866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1165580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FF136362-47EC-45F2-AD57-9813F6805AA5}" type="datetimeFigureOut">
              <a:rPr lang="es-CO" smtClean="0"/>
              <a:t>16/02/2024</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DE56CF09-9B9B-4EF0-A6D0-99FCB328D328}" type="slidenum">
              <a:rPr lang="es-CO" smtClean="0"/>
              <a:t>‹Nº›</a:t>
            </a:fld>
            <a:endParaRPr lang="es-CO"/>
          </a:p>
        </p:txBody>
      </p:sp>
    </p:spTree>
    <p:extLst>
      <p:ext uri="{BB962C8B-B14F-4D97-AF65-F5344CB8AC3E}">
        <p14:creationId xmlns:p14="http://schemas.microsoft.com/office/powerpoint/2010/main" val="3046043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F136362-47EC-45F2-AD57-9813F6805AA5}" type="datetimeFigureOut">
              <a:rPr lang="es-CO" smtClean="0"/>
              <a:t>16/02/2024</a:t>
            </a:fld>
            <a:endParaRPr lang="es-CO"/>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DE56CF09-9B9B-4EF0-A6D0-99FCB328D328}" type="slidenum">
              <a:rPr lang="es-CO" smtClean="0"/>
              <a:t>‹Nº›</a:t>
            </a:fld>
            <a:endParaRPr lang="es-CO"/>
          </a:p>
        </p:txBody>
      </p:sp>
    </p:spTree>
    <p:extLst>
      <p:ext uri="{BB962C8B-B14F-4D97-AF65-F5344CB8AC3E}">
        <p14:creationId xmlns:p14="http://schemas.microsoft.com/office/powerpoint/2010/main" val="1415166969"/>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s://www.pmi.org/"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8.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8.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5.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emf"/><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59.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230" y="527566"/>
            <a:ext cx="1023871" cy="924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uadroTexto 5"/>
          <p:cNvSpPr txBox="1"/>
          <p:nvPr/>
        </p:nvSpPr>
        <p:spPr>
          <a:xfrm>
            <a:off x="1184856" y="1452137"/>
            <a:ext cx="6593984" cy="1200329"/>
          </a:xfrm>
          <a:prstGeom prst="rect">
            <a:avLst/>
          </a:prstGeom>
          <a:noFill/>
        </p:spPr>
        <p:txBody>
          <a:bodyPr wrap="square" rtlCol="0">
            <a:spAutoFit/>
          </a:bodyPr>
          <a:lstStyle/>
          <a:p>
            <a:pPr algn="ctr"/>
            <a:r>
              <a:rPr lang="es-CO" sz="2400" b="1" dirty="0">
                <a:latin typeface="Arial" panose="020B0604020202020204" pitchFamily="34" charset="0"/>
                <a:cs typeface="Arial" panose="020B0604020202020204" pitchFamily="34" charset="0"/>
              </a:rPr>
              <a:t>FORMULACIÓN  EVALUACIÓN DE PROYECTOS</a:t>
            </a:r>
          </a:p>
          <a:p>
            <a:pPr algn="ctr"/>
            <a:endParaRPr lang="es-CO" sz="2400" b="1" dirty="0">
              <a:latin typeface="Arial" panose="020B0604020202020204" pitchFamily="34" charset="0"/>
              <a:cs typeface="Arial" panose="020B0604020202020204" pitchFamily="34" charset="0"/>
            </a:endParaRPr>
          </a:p>
        </p:txBody>
      </p:sp>
      <p:pic>
        <p:nvPicPr>
          <p:cNvPr id="7" name="Imagen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527566"/>
            <a:ext cx="574675" cy="971550"/>
          </a:xfrm>
          <a:prstGeom prst="rect">
            <a:avLst/>
          </a:prstGeom>
          <a:noFill/>
          <a:ln>
            <a:noFill/>
          </a:ln>
        </p:spPr>
      </p:pic>
      <p:sp>
        <p:nvSpPr>
          <p:cNvPr id="2" name="CuadroTexto 1"/>
          <p:cNvSpPr txBox="1"/>
          <p:nvPr/>
        </p:nvSpPr>
        <p:spPr>
          <a:xfrm>
            <a:off x="1867437" y="3577037"/>
            <a:ext cx="4984123" cy="461665"/>
          </a:xfrm>
          <a:prstGeom prst="rect">
            <a:avLst/>
          </a:prstGeom>
          <a:noFill/>
        </p:spPr>
        <p:txBody>
          <a:bodyPr wrap="square" rtlCol="0">
            <a:spAutoFit/>
          </a:bodyPr>
          <a:lstStyle/>
          <a:p>
            <a:pPr algn="ctr"/>
            <a:r>
              <a:rPr lang="es-CO" sz="2400" b="1" dirty="0">
                <a:latin typeface="Arial" panose="020B0604020202020204" pitchFamily="34" charset="0"/>
                <a:cs typeface="Arial" panose="020B0604020202020204" pitchFamily="34" charset="0"/>
              </a:rPr>
              <a:t>CONCEPTO DE PROYECTO</a:t>
            </a:r>
          </a:p>
        </p:txBody>
      </p:sp>
      <p:sp>
        <p:nvSpPr>
          <p:cNvPr id="3" name="CuadroTexto 2"/>
          <p:cNvSpPr txBox="1"/>
          <p:nvPr/>
        </p:nvSpPr>
        <p:spPr>
          <a:xfrm>
            <a:off x="5499279" y="5653825"/>
            <a:ext cx="3400022" cy="646331"/>
          </a:xfrm>
          <a:prstGeom prst="rect">
            <a:avLst/>
          </a:prstGeom>
          <a:noFill/>
        </p:spPr>
        <p:txBody>
          <a:bodyPr wrap="square" rtlCol="0">
            <a:spAutoFit/>
          </a:bodyPr>
          <a:lstStyle/>
          <a:p>
            <a:r>
              <a:rPr lang="es-CO" dirty="0"/>
              <a:t>Ing. Iván Alarcón </a:t>
            </a:r>
            <a:r>
              <a:rPr lang="es-CO" dirty="0" err="1"/>
              <a:t>Avila</a:t>
            </a:r>
            <a:endParaRPr lang="es-CO" dirty="0"/>
          </a:p>
          <a:p>
            <a:r>
              <a:rPr lang="es-CO" dirty="0"/>
              <a:t>Programa de Ing. de Sistemas</a:t>
            </a:r>
          </a:p>
        </p:txBody>
      </p:sp>
    </p:spTree>
    <p:extLst>
      <p:ext uri="{BB962C8B-B14F-4D97-AF65-F5344CB8AC3E}">
        <p14:creationId xmlns:p14="http://schemas.microsoft.com/office/powerpoint/2010/main" val="747969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136" y="360609"/>
            <a:ext cx="978795" cy="96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72400" y="527566"/>
            <a:ext cx="574675" cy="971550"/>
          </a:xfrm>
          <a:prstGeom prst="rect">
            <a:avLst/>
          </a:prstGeom>
          <a:noFill/>
          <a:ln>
            <a:noFill/>
          </a:ln>
        </p:spPr>
      </p:pic>
      <p:grpSp>
        <p:nvGrpSpPr>
          <p:cNvPr id="7" name="Grupo 6"/>
          <p:cNvGrpSpPr/>
          <p:nvPr/>
        </p:nvGrpSpPr>
        <p:grpSpPr>
          <a:xfrm>
            <a:off x="387120" y="1331693"/>
            <a:ext cx="8210780" cy="5232372"/>
            <a:chOff x="387120" y="1331693"/>
            <a:chExt cx="8210780" cy="5232372"/>
          </a:xfrm>
        </p:grpSpPr>
        <p:pic>
          <p:nvPicPr>
            <p:cNvPr id="5" name="Imagen 4"/>
            <p:cNvPicPr>
              <a:picLocks noChangeAspect="1"/>
            </p:cNvPicPr>
            <p:nvPr/>
          </p:nvPicPr>
          <p:blipFill>
            <a:blip r:embed="rId4"/>
            <a:stretch>
              <a:fillRect/>
            </a:stretch>
          </p:blipFill>
          <p:spPr>
            <a:xfrm>
              <a:off x="387120" y="1331693"/>
              <a:ext cx="7785280" cy="4658978"/>
            </a:xfrm>
            <a:prstGeom prst="rect">
              <a:avLst/>
            </a:prstGeom>
          </p:spPr>
        </p:pic>
        <p:sp>
          <p:nvSpPr>
            <p:cNvPr id="2" name="CuadroTexto 1"/>
            <p:cNvSpPr txBox="1"/>
            <p:nvPr/>
          </p:nvSpPr>
          <p:spPr>
            <a:xfrm>
              <a:off x="952500" y="5856179"/>
              <a:ext cx="7645400" cy="707886"/>
            </a:xfrm>
            <a:prstGeom prst="rect">
              <a:avLst/>
            </a:prstGeom>
            <a:noFill/>
          </p:spPr>
          <p:txBody>
            <a:bodyPr wrap="square" rtlCol="0">
              <a:spAutoFit/>
            </a:bodyPr>
            <a:lstStyle/>
            <a:p>
              <a:r>
                <a:rPr lang="es-CO" sz="2000" b="1" dirty="0"/>
                <a:t>Ideas Claves: </a:t>
              </a:r>
              <a:r>
                <a:rPr lang="es-CO" sz="2000" b="1" dirty="0">
                  <a:solidFill>
                    <a:srgbClr val="FF0000"/>
                  </a:solidFill>
                </a:rPr>
                <a:t>Esfuerzo Temporal </a:t>
              </a:r>
              <a:r>
                <a:rPr lang="es-CO" sz="2000" b="1" dirty="0"/>
                <a:t>– </a:t>
              </a:r>
              <a:r>
                <a:rPr lang="es-CO" sz="2000" b="1" dirty="0">
                  <a:solidFill>
                    <a:srgbClr val="FF0000"/>
                  </a:solidFill>
                </a:rPr>
                <a:t>Producto</a:t>
              </a:r>
              <a:r>
                <a:rPr lang="es-CO" sz="2000" b="1" dirty="0"/>
                <a:t> –</a:t>
              </a:r>
              <a:r>
                <a:rPr lang="es-CO" sz="2000" b="1" dirty="0">
                  <a:solidFill>
                    <a:srgbClr val="FF0000"/>
                  </a:solidFill>
                </a:rPr>
                <a:t>Servicio</a:t>
              </a:r>
              <a:r>
                <a:rPr lang="es-CO" sz="2000" b="1" dirty="0"/>
                <a:t> – </a:t>
              </a:r>
              <a:r>
                <a:rPr lang="es-CO" sz="2000" b="1" dirty="0">
                  <a:solidFill>
                    <a:srgbClr val="FF0000"/>
                  </a:solidFill>
                </a:rPr>
                <a:t>Cumplir Objetivos</a:t>
              </a:r>
              <a:r>
                <a:rPr lang="es-CO" sz="2000" b="1" dirty="0"/>
                <a:t> –</a:t>
              </a:r>
              <a:r>
                <a:rPr lang="es-CO" sz="2000" b="1" dirty="0">
                  <a:solidFill>
                    <a:srgbClr val="FF0000"/>
                  </a:solidFill>
                </a:rPr>
                <a:t>Necesidad</a:t>
              </a:r>
              <a:r>
                <a:rPr lang="es-CO" sz="2000" b="1" dirty="0"/>
                <a:t> – </a:t>
              </a:r>
              <a:r>
                <a:rPr lang="es-CO" sz="2000" b="1" dirty="0">
                  <a:solidFill>
                    <a:srgbClr val="FF0000"/>
                  </a:solidFill>
                </a:rPr>
                <a:t>Alcance</a:t>
              </a:r>
            </a:p>
          </p:txBody>
        </p:sp>
        <p:sp>
          <p:nvSpPr>
            <p:cNvPr id="3" name="Rectángulo 2"/>
            <p:cNvSpPr/>
            <p:nvPr/>
          </p:nvSpPr>
          <p:spPr>
            <a:xfrm>
              <a:off x="1605453" y="2845088"/>
              <a:ext cx="3049233" cy="338554"/>
            </a:xfrm>
            <a:prstGeom prst="rect">
              <a:avLst/>
            </a:prstGeom>
          </p:spPr>
          <p:txBody>
            <a:bodyPr wrap="none">
              <a:spAutoFit/>
            </a:bodyPr>
            <a:lstStyle/>
            <a:p>
              <a:r>
                <a:rPr lang="es-CO" sz="1600" b="1" dirty="0">
                  <a:latin typeface="arial" panose="020B0604020202020204" pitchFamily="34" charset="0"/>
                </a:rPr>
                <a:t>Project Management Institute</a:t>
              </a:r>
              <a:endParaRPr lang="es-CO" sz="1600" b="1" i="0" dirty="0">
                <a:effectLst/>
                <a:latin typeface="arial" panose="020B0604020202020204" pitchFamily="34" charset="0"/>
                <a:hlinkClick r:id="rId5"/>
              </a:endParaRPr>
            </a:p>
          </p:txBody>
        </p:sp>
      </p:grpSp>
    </p:spTree>
    <p:extLst>
      <p:ext uri="{BB962C8B-B14F-4D97-AF65-F5344CB8AC3E}">
        <p14:creationId xmlns:p14="http://schemas.microsoft.com/office/powerpoint/2010/main" val="3343333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magen 1"/>
          <p:cNvPicPr>
            <a:picLocks noChangeAspect="1"/>
          </p:cNvPicPr>
          <p:nvPr/>
        </p:nvPicPr>
        <p:blipFill>
          <a:blip r:embed="rId3"/>
          <a:stretch>
            <a:fillRect/>
          </a:stretch>
        </p:blipFill>
        <p:spPr>
          <a:xfrm>
            <a:off x="0" y="940157"/>
            <a:ext cx="9002332" cy="4776476"/>
          </a:xfrm>
          <a:prstGeom prst="rect">
            <a:avLst/>
          </a:prstGeom>
        </p:spPr>
      </p:pic>
      <p:sp>
        <p:nvSpPr>
          <p:cNvPr id="6" name="CuadroTexto 5"/>
          <p:cNvSpPr txBox="1"/>
          <p:nvPr/>
        </p:nvSpPr>
        <p:spPr>
          <a:xfrm>
            <a:off x="167425" y="5781028"/>
            <a:ext cx="8976575" cy="707886"/>
          </a:xfrm>
          <a:prstGeom prst="rect">
            <a:avLst/>
          </a:prstGeom>
          <a:noFill/>
        </p:spPr>
        <p:txBody>
          <a:bodyPr wrap="square" rtlCol="0">
            <a:spAutoFit/>
          </a:bodyPr>
          <a:lstStyle/>
          <a:p>
            <a:r>
              <a:rPr lang="es-CO" sz="2000" b="1" dirty="0"/>
              <a:t>Ideas Claves: </a:t>
            </a:r>
            <a:r>
              <a:rPr lang="es-CO" sz="2000" b="1" dirty="0">
                <a:solidFill>
                  <a:srgbClr val="FF0000"/>
                </a:solidFill>
              </a:rPr>
              <a:t>Proyecto </a:t>
            </a:r>
            <a:r>
              <a:rPr lang="es-CO" sz="2000" b="1" dirty="0"/>
              <a:t>– </a:t>
            </a:r>
            <a:r>
              <a:rPr lang="es-CO" sz="2000" b="1" dirty="0">
                <a:solidFill>
                  <a:srgbClr val="FF0000"/>
                </a:solidFill>
              </a:rPr>
              <a:t>Situación Actual </a:t>
            </a:r>
            <a:r>
              <a:rPr lang="es-CO" sz="2000" b="1" dirty="0"/>
              <a:t>– </a:t>
            </a:r>
            <a:r>
              <a:rPr lang="es-CO" sz="2000" b="1" dirty="0">
                <a:solidFill>
                  <a:srgbClr val="FF0000"/>
                </a:solidFill>
              </a:rPr>
              <a:t>Situación esperada </a:t>
            </a:r>
            <a:r>
              <a:rPr lang="es-CO" sz="2000" b="1" dirty="0"/>
              <a:t>– </a:t>
            </a:r>
            <a:r>
              <a:rPr lang="es-CO" sz="2000" b="1" dirty="0">
                <a:solidFill>
                  <a:srgbClr val="FF0000"/>
                </a:solidFill>
              </a:rPr>
              <a:t>Problema </a:t>
            </a:r>
            <a:r>
              <a:rPr lang="es-CO" sz="2000" b="1" dirty="0"/>
              <a:t>–</a:t>
            </a:r>
            <a:r>
              <a:rPr lang="es-CO" sz="2000" b="1" dirty="0">
                <a:solidFill>
                  <a:srgbClr val="FF0000"/>
                </a:solidFill>
              </a:rPr>
              <a:t>Duración</a:t>
            </a:r>
            <a:r>
              <a:rPr lang="es-CO" sz="2000" b="1" dirty="0"/>
              <a:t> – </a:t>
            </a:r>
            <a:r>
              <a:rPr lang="es-CO" sz="2000" b="1" dirty="0">
                <a:solidFill>
                  <a:srgbClr val="FF0000"/>
                </a:solidFill>
              </a:rPr>
              <a:t>Elementos Repetitivos - Experiencias</a:t>
            </a:r>
          </a:p>
        </p:txBody>
      </p:sp>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813939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8788" y="1416675"/>
            <a:ext cx="8886423" cy="513867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32220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976312" y="1023937"/>
            <a:ext cx="7191375" cy="5248074"/>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269149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13209" y="1285003"/>
            <a:ext cx="7267575" cy="506428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946730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93183" y="901520"/>
            <a:ext cx="7559899" cy="4906852"/>
          </a:xfrm>
          <a:prstGeom prst="rect">
            <a:avLst/>
          </a:prstGeom>
        </p:spPr>
      </p:pic>
      <p:sp>
        <p:nvSpPr>
          <p:cNvPr id="5" name="CuadroTexto 4"/>
          <p:cNvSpPr txBox="1"/>
          <p:nvPr/>
        </p:nvSpPr>
        <p:spPr>
          <a:xfrm>
            <a:off x="218941" y="6024139"/>
            <a:ext cx="8706118" cy="461665"/>
          </a:xfrm>
          <a:prstGeom prst="rect">
            <a:avLst/>
          </a:prstGeom>
          <a:noFill/>
        </p:spPr>
        <p:txBody>
          <a:bodyPr wrap="square" rtlCol="0">
            <a:spAutoFit/>
          </a:bodyPr>
          <a:lstStyle/>
          <a:p>
            <a:r>
              <a:rPr lang="es-CO" sz="2400" b="1" dirty="0"/>
              <a:t>Ideas Claves:  </a:t>
            </a:r>
            <a:r>
              <a:rPr lang="es-CO" sz="2400" b="1" dirty="0">
                <a:solidFill>
                  <a:srgbClr val="FF0000"/>
                </a:solidFill>
              </a:rPr>
              <a:t>Producto</a:t>
            </a:r>
            <a:r>
              <a:rPr lang="es-CO" sz="2400" b="1" dirty="0"/>
              <a:t> –</a:t>
            </a:r>
            <a:r>
              <a:rPr lang="es-CO" sz="2400" b="1" dirty="0">
                <a:solidFill>
                  <a:srgbClr val="FF0000"/>
                </a:solidFill>
              </a:rPr>
              <a:t>Servicio</a:t>
            </a:r>
            <a:r>
              <a:rPr lang="es-CO" sz="2400" b="1" dirty="0"/>
              <a:t> – </a:t>
            </a:r>
            <a:r>
              <a:rPr lang="es-CO" sz="2400" b="1" dirty="0">
                <a:solidFill>
                  <a:srgbClr val="FF0000"/>
                </a:solidFill>
              </a:rPr>
              <a:t>Tangible  - Resultado - Evidencia</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338484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32197" y="639854"/>
            <a:ext cx="7765961" cy="4958367"/>
          </a:xfrm>
          <a:prstGeom prst="rect">
            <a:avLst/>
          </a:prstGeom>
        </p:spPr>
      </p:pic>
      <p:sp>
        <p:nvSpPr>
          <p:cNvPr id="5" name="CuadroTexto 4"/>
          <p:cNvSpPr txBox="1"/>
          <p:nvPr/>
        </p:nvSpPr>
        <p:spPr>
          <a:xfrm>
            <a:off x="428933" y="5858374"/>
            <a:ext cx="8343900" cy="707886"/>
          </a:xfrm>
          <a:prstGeom prst="rect">
            <a:avLst/>
          </a:prstGeom>
          <a:noFill/>
        </p:spPr>
        <p:txBody>
          <a:bodyPr wrap="square" rtlCol="0">
            <a:spAutoFit/>
          </a:bodyPr>
          <a:lstStyle/>
          <a:p>
            <a:r>
              <a:rPr lang="es-CO" sz="2000" b="1" dirty="0"/>
              <a:t>Ideas Claves: </a:t>
            </a:r>
            <a:r>
              <a:rPr lang="es-CO" sz="2000" b="1" i="1" u="sng" dirty="0">
                <a:solidFill>
                  <a:srgbClr val="0070C0"/>
                </a:solidFill>
              </a:rPr>
              <a:t>Alcance – Tiempo – Costo </a:t>
            </a:r>
            <a:r>
              <a:rPr lang="es-CO" sz="2000" b="1" dirty="0"/>
              <a:t>–   </a:t>
            </a:r>
            <a:r>
              <a:rPr lang="es-CO" sz="2000" b="1" dirty="0">
                <a:solidFill>
                  <a:srgbClr val="FF0000"/>
                </a:solidFill>
              </a:rPr>
              <a:t>Restricciones – Ejecución- Entregas - Impacto</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438934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29672" y="901520"/>
            <a:ext cx="7381741" cy="4765184"/>
          </a:xfrm>
          <a:prstGeom prst="rect">
            <a:avLst/>
          </a:prstGeom>
        </p:spPr>
      </p:pic>
      <p:sp>
        <p:nvSpPr>
          <p:cNvPr id="5" name="CuadroTexto 4"/>
          <p:cNvSpPr txBox="1"/>
          <p:nvPr/>
        </p:nvSpPr>
        <p:spPr>
          <a:xfrm>
            <a:off x="425004" y="5805198"/>
            <a:ext cx="8474298" cy="461665"/>
          </a:xfrm>
          <a:prstGeom prst="rect">
            <a:avLst/>
          </a:prstGeom>
          <a:noFill/>
        </p:spPr>
        <p:txBody>
          <a:bodyPr wrap="square" rtlCol="0">
            <a:spAutoFit/>
          </a:bodyPr>
          <a:lstStyle/>
          <a:p>
            <a:r>
              <a:rPr lang="es-CO" sz="2400" b="1" dirty="0"/>
              <a:t>Ideas Claves: </a:t>
            </a:r>
            <a:r>
              <a:rPr lang="es-CO" sz="2400" b="1" dirty="0">
                <a:solidFill>
                  <a:srgbClr val="FF0000"/>
                </a:solidFill>
              </a:rPr>
              <a:t>Disponibilidad – Presupuesto - Resultado </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479166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308825" y="1001936"/>
            <a:ext cx="7277100" cy="5343525"/>
          </a:xfrm>
          <a:prstGeom prst="rect">
            <a:avLst/>
          </a:prstGeom>
        </p:spPr>
      </p:pic>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369488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40161" y="1030310"/>
            <a:ext cx="7609133" cy="5511823"/>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248207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11147" y="1195052"/>
            <a:ext cx="7324725" cy="527014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4034637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9245" y="748249"/>
            <a:ext cx="7894749" cy="5174130"/>
          </a:xfrm>
          <a:prstGeom prst="rect">
            <a:avLst/>
          </a:prstGeom>
        </p:spPr>
      </p:pic>
      <p:sp>
        <p:nvSpPr>
          <p:cNvPr id="5" name="CuadroTexto 4"/>
          <p:cNvSpPr txBox="1"/>
          <p:nvPr/>
        </p:nvSpPr>
        <p:spPr>
          <a:xfrm>
            <a:off x="955541" y="5936984"/>
            <a:ext cx="8706118" cy="707886"/>
          </a:xfrm>
          <a:prstGeom prst="rect">
            <a:avLst/>
          </a:prstGeom>
          <a:noFill/>
        </p:spPr>
        <p:txBody>
          <a:bodyPr wrap="square" rtlCol="0">
            <a:spAutoFit/>
          </a:bodyPr>
          <a:lstStyle/>
          <a:p>
            <a:r>
              <a:rPr lang="es-CO" sz="2000" b="1" dirty="0"/>
              <a:t>Ideas Claves: </a:t>
            </a:r>
            <a:r>
              <a:rPr lang="es-CO" sz="2000" b="1" dirty="0">
                <a:solidFill>
                  <a:srgbClr val="FF0000"/>
                </a:solidFill>
              </a:rPr>
              <a:t>Conocimientos </a:t>
            </a:r>
            <a:r>
              <a:rPr lang="es-CO" sz="2000" b="1" dirty="0"/>
              <a:t>– </a:t>
            </a:r>
            <a:r>
              <a:rPr lang="es-CO" sz="2000" b="1" dirty="0">
                <a:solidFill>
                  <a:srgbClr val="FF0000"/>
                </a:solidFill>
              </a:rPr>
              <a:t>Habilidades</a:t>
            </a:r>
            <a:r>
              <a:rPr lang="es-CO" sz="2000" b="1" dirty="0"/>
              <a:t> –</a:t>
            </a:r>
            <a:r>
              <a:rPr lang="es-CO" sz="2000" b="1" dirty="0">
                <a:solidFill>
                  <a:srgbClr val="FF0000"/>
                </a:solidFill>
              </a:rPr>
              <a:t>Técnicas</a:t>
            </a:r>
            <a:r>
              <a:rPr lang="es-CO" sz="2000" b="1" dirty="0"/>
              <a:t> – </a:t>
            </a:r>
            <a:r>
              <a:rPr lang="es-CO" sz="2000" b="1" dirty="0">
                <a:solidFill>
                  <a:srgbClr val="FF0000"/>
                </a:solidFill>
              </a:rPr>
              <a:t>Cumplir Objetivos</a:t>
            </a:r>
            <a:r>
              <a:rPr lang="es-CO" sz="2000" b="1" dirty="0"/>
              <a:t> –</a:t>
            </a:r>
            <a:r>
              <a:rPr lang="es-CO" sz="2000" b="1" dirty="0">
                <a:solidFill>
                  <a:srgbClr val="FF0000"/>
                </a:solidFill>
              </a:rPr>
              <a:t>Necesidad</a:t>
            </a:r>
            <a:r>
              <a:rPr lang="es-CO" sz="2000" b="1" dirty="0"/>
              <a:t> – </a:t>
            </a:r>
            <a:r>
              <a:rPr lang="es-CO" sz="2000" b="1" dirty="0">
                <a:solidFill>
                  <a:srgbClr val="FF0000"/>
                </a:solidFill>
              </a:rPr>
              <a:t>Alcance - Procesos</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61599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901520"/>
            <a:ext cx="7753082" cy="4804759"/>
          </a:xfrm>
          <a:prstGeom prst="rect">
            <a:avLst/>
          </a:prstGeom>
        </p:spPr>
      </p:pic>
      <p:sp>
        <p:nvSpPr>
          <p:cNvPr id="5" name="CuadroTexto 4"/>
          <p:cNvSpPr txBox="1"/>
          <p:nvPr/>
        </p:nvSpPr>
        <p:spPr>
          <a:xfrm>
            <a:off x="293352" y="5874155"/>
            <a:ext cx="9053848" cy="707886"/>
          </a:xfrm>
          <a:prstGeom prst="rect">
            <a:avLst/>
          </a:prstGeom>
          <a:noFill/>
        </p:spPr>
        <p:txBody>
          <a:bodyPr wrap="square" rtlCol="0">
            <a:spAutoFit/>
          </a:bodyPr>
          <a:lstStyle/>
          <a:p>
            <a:r>
              <a:rPr lang="es-CO" sz="2000" b="1" dirty="0"/>
              <a:t>Ideas Claves: </a:t>
            </a:r>
            <a:r>
              <a:rPr lang="es-CO" sz="2000" b="1" dirty="0">
                <a:solidFill>
                  <a:srgbClr val="FF0000"/>
                </a:solidFill>
              </a:rPr>
              <a:t>Ejecutar</a:t>
            </a:r>
            <a:r>
              <a:rPr lang="es-CO" sz="2000" b="1" dirty="0"/>
              <a:t> – </a:t>
            </a:r>
            <a:r>
              <a:rPr lang="es-CO" sz="2000" b="1" dirty="0">
                <a:solidFill>
                  <a:srgbClr val="FF0000"/>
                </a:solidFill>
              </a:rPr>
              <a:t>Actividades</a:t>
            </a:r>
            <a:r>
              <a:rPr lang="es-CO" sz="2000" b="1" dirty="0"/>
              <a:t> – </a:t>
            </a:r>
            <a:r>
              <a:rPr lang="es-CO" sz="2000" b="1" dirty="0">
                <a:solidFill>
                  <a:srgbClr val="FF0000"/>
                </a:solidFill>
              </a:rPr>
              <a:t>Recursos</a:t>
            </a:r>
            <a:r>
              <a:rPr lang="es-CO" sz="2000" b="1" dirty="0"/>
              <a:t> – </a:t>
            </a:r>
            <a:r>
              <a:rPr lang="es-CO" sz="2000" b="1" dirty="0">
                <a:solidFill>
                  <a:srgbClr val="FF0000"/>
                </a:solidFill>
              </a:rPr>
              <a:t>Gerencia</a:t>
            </a:r>
            <a:r>
              <a:rPr lang="es-CO" sz="2000" b="1" dirty="0"/>
              <a:t> – </a:t>
            </a:r>
            <a:r>
              <a:rPr lang="es-CO" sz="2000" b="1" dirty="0">
                <a:solidFill>
                  <a:srgbClr val="FF0000"/>
                </a:solidFill>
              </a:rPr>
              <a:t>Comunicación </a:t>
            </a:r>
            <a:r>
              <a:rPr lang="es-CO" sz="2000" b="1" dirty="0"/>
              <a:t>– </a:t>
            </a:r>
            <a:r>
              <a:rPr lang="es-CO" sz="2000" b="1" dirty="0">
                <a:solidFill>
                  <a:srgbClr val="FF0000"/>
                </a:solidFill>
              </a:rPr>
              <a:t>Talento Humano</a:t>
            </a:r>
            <a:r>
              <a:rPr lang="es-CO" sz="2000" b="1" dirty="0"/>
              <a:t>. </a:t>
            </a:r>
            <a:endParaRPr lang="es-CO" sz="2000" b="1" dirty="0">
              <a:solidFill>
                <a:srgbClr val="FF0000"/>
              </a:solidFill>
            </a:endParaRP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940027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21782" y="1352281"/>
            <a:ext cx="7035085" cy="4919730"/>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75017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144274"/>
            <a:ext cx="7765961" cy="5359557"/>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85387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15910" y="1030310"/>
            <a:ext cx="8783391" cy="5547530"/>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847600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240530"/>
            <a:ext cx="8860665" cy="5617470"/>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4132422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639854"/>
            <a:ext cx="8603086" cy="5425268"/>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622899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Rectangle 2"/>
          <p:cNvSpPr>
            <a:spLocks noChangeArrowheads="1"/>
          </p:cNvSpPr>
          <p:nvPr/>
        </p:nvSpPr>
        <p:spPr bwMode="auto">
          <a:xfrm>
            <a:off x="381000" y="1400181"/>
            <a:ext cx="8507895"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286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28600" algn="just" defTabSz="914400" rtl="0" eaLnBrk="0" fontAlgn="base" latinLnBrk="0" hangingPunct="0">
              <a:lnSpc>
                <a:spcPct val="100000"/>
              </a:lnSpc>
              <a:spcBef>
                <a:spcPct val="0"/>
              </a:spcBef>
              <a:spcAft>
                <a:spcPct val="0"/>
              </a:spcAft>
              <a:buClrTx/>
              <a:buSzTx/>
              <a:buFontTx/>
              <a:buNone/>
              <a:tabLst/>
            </a:pPr>
            <a:r>
              <a:rPr kumimoji="0" lang="es-CO"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Financiera</a:t>
            </a:r>
            <a:endParaRPr kumimoji="0" lang="es-CO" sz="2000" b="0" i="0" u="none" strike="noStrike" cap="none" normalizeH="0" baseline="0" dirty="0">
              <a:ln>
                <a:noFill/>
              </a:ln>
              <a:solidFill>
                <a:schemeClr val="tx1"/>
              </a:solidFill>
              <a:effectLst/>
            </a:endParaRPr>
          </a:p>
          <a:p>
            <a:pPr marL="0" marR="0" lvl="0" indent="228600" algn="just" defTabSz="914400" rtl="0" eaLnBrk="0" fontAlgn="base" latinLnBrk="0" hangingPunct="0">
              <a:lnSpc>
                <a:spcPct val="100000"/>
              </a:lnSpc>
              <a:spcBef>
                <a:spcPct val="0"/>
              </a:spcBef>
              <a:spcAft>
                <a:spcPct val="0"/>
              </a:spcAft>
              <a:buClrTx/>
              <a:buSzTx/>
              <a:buFontTx/>
              <a:buNone/>
              <a:tabLst/>
            </a:pPr>
            <a:r>
              <a:rPr kumimoji="0" lang="es-CO" sz="20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Sistematización financiera</a:t>
            </a:r>
          </a:p>
          <a:p>
            <a:pPr marL="0" marR="0" lvl="0" indent="228600" algn="just" defTabSz="914400" rtl="0" eaLnBrk="0" fontAlgn="base" latinLnBrk="0" hangingPunct="0">
              <a:lnSpc>
                <a:spcPct val="100000"/>
              </a:lnSpc>
              <a:spcBef>
                <a:spcPct val="0"/>
              </a:spcBef>
              <a:spcAft>
                <a:spcPct val="0"/>
              </a:spcAft>
              <a:buClrTx/>
              <a:buSzTx/>
              <a:buFontTx/>
              <a:buNone/>
              <a:tabLst/>
            </a:pPr>
            <a:r>
              <a:rPr kumimoji="0" lang="es-ES" sz="20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Consiste en identificar y ordenar todos los ítems de inversiones, costos e ingresos que puedan deducirse de los estudios previos. Debido a que no se ha proporcionado toda la información necesaria para la evaluación, en esta etapa deben definirse todos aquellos elementos, que siendo necesarios para la evaluación, debe suministrar el propio estudio financiero.</a:t>
            </a:r>
            <a:endParaRPr kumimoji="0" lang="es-CO" sz="2000" b="0" i="0" u="none" strike="noStrike" cap="none" normalizeH="0" baseline="0" dirty="0">
              <a:ln>
                <a:noFill/>
              </a:ln>
              <a:solidFill>
                <a:schemeClr val="tx1"/>
              </a:solidFill>
              <a:effectLst/>
            </a:endParaRPr>
          </a:p>
          <a:p>
            <a:pPr marL="0" marR="0" lvl="0" indent="228600" algn="just" defTabSz="914400" rtl="0" eaLnBrk="0" fontAlgn="base" latinLnBrk="0" hangingPunct="0">
              <a:lnSpc>
                <a:spcPct val="100000"/>
              </a:lnSpc>
              <a:spcBef>
                <a:spcPct val="0"/>
              </a:spcBef>
              <a:spcAft>
                <a:spcPct val="0"/>
              </a:spcAft>
              <a:buClrTx/>
              <a:buSzTx/>
              <a:buFontTx/>
              <a:buNone/>
              <a:tabLst/>
            </a:pPr>
            <a:endParaRPr kumimoji="0" lang="es-CO" sz="2000" b="0" i="0" u="none" strike="noStrike" cap="none" normalizeH="0" baseline="0" dirty="0">
              <a:ln>
                <a:noFill/>
              </a:ln>
              <a:solidFill>
                <a:schemeClr val="tx1"/>
              </a:solidFill>
              <a:effectLst/>
            </a:endParaRPr>
          </a:p>
        </p:txBody>
      </p:sp>
      <p:pic>
        <p:nvPicPr>
          <p:cNvPr id="1025" name="Imagen 1" descr="https://sites.google.com/site/admdeproyectinginf/_/rsrc/1367198094253/temario/unidad-ii-inicio-del-proyecto/2-5-estudio-de-factibilidad/2-5-1-factibilidad-financiera-tecnica-y-operativa/f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730" y="3578086"/>
            <a:ext cx="6109253" cy="31540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0" y="30670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O"/>
          </a:p>
        </p:txBody>
      </p:sp>
      <p:sp>
        <p:nvSpPr>
          <p:cNvPr id="7" name="Rectángulo 6"/>
          <p:cNvSpPr/>
          <p:nvPr/>
        </p:nvSpPr>
        <p:spPr>
          <a:xfrm>
            <a:off x="1755913" y="446074"/>
            <a:ext cx="5758070" cy="954107"/>
          </a:xfrm>
          <a:prstGeom prst="rect">
            <a:avLst/>
          </a:prstGeom>
        </p:spPr>
        <p:txBody>
          <a:bodyPr wrap="square">
            <a:spAutoFit/>
          </a:bodyPr>
          <a:lstStyle/>
          <a:p>
            <a:r>
              <a:rPr lang="es-CO" sz="2800" b="1" dirty="0">
                <a:solidFill>
                  <a:srgbClr val="2A3B64"/>
                </a:solidFill>
                <a:latin typeface="Georgia" panose="02040502050405020303" pitchFamily="18" charset="0"/>
                <a:ea typeface="Times New Roman" panose="02020603050405020304" pitchFamily="18" charset="0"/>
                <a:cs typeface="Times New Roman" panose="02020603050405020304" pitchFamily="18" charset="0"/>
              </a:rPr>
              <a:t>Factibilidad financiera, técnica y operativa</a:t>
            </a:r>
            <a:endParaRPr lang="es-CO" sz="2800" dirty="0"/>
          </a:p>
        </p:txBody>
      </p:sp>
    </p:spTree>
    <p:extLst>
      <p:ext uri="{BB962C8B-B14F-4D97-AF65-F5344CB8AC3E}">
        <p14:creationId xmlns:p14="http://schemas.microsoft.com/office/powerpoint/2010/main" val="4214585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2" name="Rectángulo 1"/>
          <p:cNvSpPr/>
          <p:nvPr/>
        </p:nvSpPr>
        <p:spPr>
          <a:xfrm>
            <a:off x="978794" y="1125629"/>
            <a:ext cx="7482625" cy="4729500"/>
          </a:xfrm>
          <a:prstGeom prst="rect">
            <a:avLst/>
          </a:prstGeom>
        </p:spPr>
        <p:txBody>
          <a:bodyPr wrap="square">
            <a:spAutoFit/>
          </a:bodyPr>
          <a:lstStyle/>
          <a:p>
            <a:pPr indent="449580" algn="just">
              <a:spcAft>
                <a:spcPts val="800"/>
              </a:spcAft>
            </a:pPr>
            <a:r>
              <a:rPr lang="es-CO" b="1" dirty="0">
                <a:latin typeface="Arial" panose="020B0604020202020204" pitchFamily="34" charset="0"/>
                <a:ea typeface="Times New Roman" panose="02020603050405020304" pitchFamily="18" charset="0"/>
                <a:cs typeface="Arial" panose="020B0604020202020204" pitchFamily="34" charset="0"/>
              </a:rPr>
              <a:t>Técnica</a:t>
            </a:r>
            <a:endParaRPr lang="es-CO" sz="1600" dirty="0">
              <a:latin typeface="Arial" panose="020B0604020202020204" pitchFamily="34" charset="0"/>
              <a:ea typeface="Calibri" panose="020F0502020204030204" pitchFamily="34" charset="0"/>
              <a:cs typeface="Arial" panose="020B0604020202020204" pitchFamily="34" charset="0"/>
            </a:endParaRPr>
          </a:p>
          <a:p>
            <a:pPr algn="just">
              <a:spcAft>
                <a:spcPts val="800"/>
              </a:spcAft>
            </a:pPr>
            <a:r>
              <a:rPr lang="es-CO" dirty="0">
                <a:latin typeface="Arial" panose="020B0604020202020204" pitchFamily="34" charset="0"/>
                <a:ea typeface="Times New Roman" panose="02020603050405020304" pitchFamily="18" charset="0"/>
                <a:cs typeface="Arial" panose="020B0604020202020204" pitchFamily="34" charset="0"/>
              </a:rPr>
              <a:t>Se refiere a los recursos necesarios como herramientas, conocimientos, habilidades, experiencia, etc., que son  necesarios para efectuar las actividades o procesos que requiere el  proyecto. Generalmente nos referimos a elementos tangibles (medibles).</a:t>
            </a:r>
            <a:endParaRPr lang="es-CO" dirty="0">
              <a:latin typeface="Arial" panose="020B0604020202020204" pitchFamily="34" charset="0"/>
              <a:ea typeface="Calibri" panose="020F0502020204030204" pitchFamily="34" charset="0"/>
              <a:cs typeface="Arial" panose="020B0604020202020204" pitchFamily="34" charset="0"/>
            </a:endParaRPr>
          </a:p>
          <a:p>
            <a:pPr algn="just">
              <a:spcAft>
                <a:spcPts val="800"/>
              </a:spcAft>
            </a:pPr>
            <a:r>
              <a:rPr lang="es-CO" dirty="0">
                <a:latin typeface="Arial" panose="020B0604020202020204" pitchFamily="34" charset="0"/>
                <a:ea typeface="Times New Roman" panose="02020603050405020304" pitchFamily="18" charset="0"/>
                <a:cs typeface="Arial" panose="020B0604020202020204" pitchFamily="34" charset="0"/>
              </a:rPr>
              <a:t>El proyecto debe considerar si los recursos técnicos actuales son  suficientes o deben complementarse.</a:t>
            </a:r>
            <a:r>
              <a:rPr lang="es-CO" dirty="0">
                <a:latin typeface="Arial" panose="020B0604020202020204" pitchFamily="34" charset="0"/>
                <a:cs typeface="Arial" panose="020B0604020202020204" pitchFamily="34" charset="0"/>
              </a:rPr>
              <a:t> </a:t>
            </a:r>
          </a:p>
          <a:p>
            <a:pPr algn="just">
              <a:spcAft>
                <a:spcPts val="800"/>
              </a:spcAft>
            </a:pPr>
            <a:endParaRPr lang="es-CO" dirty="0">
              <a:latin typeface="Arial" panose="020B0604020202020204" pitchFamily="34" charset="0"/>
              <a:cs typeface="Arial" panose="020B0604020202020204" pitchFamily="34" charset="0"/>
            </a:endParaRPr>
          </a:p>
          <a:p>
            <a:pPr algn="just">
              <a:spcAft>
                <a:spcPts val="800"/>
              </a:spcAft>
            </a:pPr>
            <a:r>
              <a:rPr lang="es-CO" dirty="0">
                <a:latin typeface="Arial" panose="020B0604020202020204" pitchFamily="34" charset="0"/>
                <a:cs typeface="Arial" panose="020B0604020202020204" pitchFamily="34" charset="0"/>
              </a:rPr>
              <a:t>La factibilidad técnica “Indica si se dispone de los conocimientos y habilidades en el manejo métodos, procedimientos y funciones requeridas para el desarrollo e implantación del </a:t>
            </a:r>
            <a:r>
              <a:rPr lang="es-CO" dirty="0" err="1">
                <a:latin typeface="Arial" panose="020B0604020202020204" pitchFamily="34" charset="0"/>
                <a:cs typeface="Arial" panose="020B0604020202020204" pitchFamily="34" charset="0"/>
              </a:rPr>
              <a:t>proyecto.Además</a:t>
            </a:r>
            <a:r>
              <a:rPr lang="es-CO" dirty="0">
                <a:latin typeface="Arial" panose="020B0604020202020204" pitchFamily="34" charset="0"/>
                <a:cs typeface="Arial" panose="020B0604020202020204" pitchFamily="34" charset="0"/>
              </a:rPr>
              <a:t> indica si se dispone del equipo y herramientas para llevarlo a cabo, de no ser así, si existe la posibilidad de generarlos o crearlos en el tiempo requerido por el proyecto”.</a:t>
            </a:r>
          </a:p>
          <a:p>
            <a:pPr algn="just">
              <a:spcAft>
                <a:spcPts val="800"/>
              </a:spcAft>
            </a:pPr>
            <a:endParaRPr lang="es-CO" sz="16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3880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Rectángulo 2"/>
          <p:cNvSpPr/>
          <p:nvPr/>
        </p:nvSpPr>
        <p:spPr>
          <a:xfrm>
            <a:off x="1249252" y="1030310"/>
            <a:ext cx="6194737" cy="4278094"/>
          </a:xfrm>
          <a:prstGeom prst="rect">
            <a:avLst/>
          </a:prstGeom>
        </p:spPr>
        <p:txBody>
          <a:bodyPr wrap="square">
            <a:spAutoFit/>
          </a:bodyPr>
          <a:lstStyle/>
          <a:p>
            <a:pPr indent="449580" algn="just">
              <a:spcAft>
                <a:spcPts val="800"/>
              </a:spcAft>
            </a:pPr>
            <a:r>
              <a:rPr lang="es-CO" b="1" dirty="0">
                <a:latin typeface="Arial" panose="020B0604020202020204" pitchFamily="34" charset="0"/>
                <a:ea typeface="Times New Roman" panose="02020603050405020304" pitchFamily="18" charset="0"/>
                <a:cs typeface="Arial" panose="020B0604020202020204" pitchFamily="34" charset="0"/>
              </a:rPr>
              <a:t>Operativa</a:t>
            </a:r>
            <a:endParaRPr lang="es-CO" dirty="0">
              <a:latin typeface="Arial" panose="020B0604020202020204" pitchFamily="34" charset="0"/>
              <a:ea typeface="Calibri" panose="020F0502020204030204" pitchFamily="34" charset="0"/>
              <a:cs typeface="Arial" panose="020B0604020202020204" pitchFamily="34" charset="0"/>
            </a:endParaRPr>
          </a:p>
          <a:p>
            <a:pPr algn="just">
              <a:spcAft>
                <a:spcPts val="800"/>
              </a:spcAft>
            </a:pPr>
            <a:r>
              <a:rPr lang="es-CO" dirty="0">
                <a:latin typeface="Arial" panose="020B0604020202020204" pitchFamily="34" charset="0"/>
                <a:ea typeface="Times New Roman" panose="02020603050405020304" pitchFamily="18" charset="0"/>
                <a:cs typeface="Arial" panose="020B0604020202020204" pitchFamily="34" charset="0"/>
              </a:rPr>
              <a:t>Se refiere a todos aquellos recursos donde interviene algún tipo de actividad (Procesos), depende de los recursos humanos que participen durante la operación del proyecto. Durante esta etapa se identifican todas aquellas actividades que son necesarias para lograr el objetivo y se evalúa y determina todo lo necesario para llevarla a cabo.</a:t>
            </a:r>
          </a:p>
          <a:p>
            <a:pPr algn="just">
              <a:spcAft>
                <a:spcPts val="800"/>
              </a:spcAft>
            </a:pPr>
            <a:r>
              <a:rPr lang="es-CO" dirty="0">
                <a:latin typeface="Arial" panose="020B0604020202020204" pitchFamily="34" charset="0"/>
                <a:cs typeface="Arial" panose="020B0604020202020204" pitchFamily="34" charset="0"/>
              </a:rPr>
              <a:t>Si los recursos se técnicos y económicos se aprobaron adecuadamente, el analista de sistema debe evaluar la factibilidad operativa del proyecto solicitado. La factibilidad operativa depende de los recursos humanos disponibles para el proyecto e implica determinar si el sistema funcionara y será usado una vez que se instales.</a:t>
            </a:r>
          </a:p>
          <a:p>
            <a:pPr algn="just">
              <a:spcAft>
                <a:spcPts val="800"/>
              </a:spcAft>
            </a:pPr>
            <a:endParaRPr lang="es-CO"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57671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Rectángulo 2"/>
          <p:cNvSpPr/>
          <p:nvPr/>
        </p:nvSpPr>
        <p:spPr>
          <a:xfrm>
            <a:off x="818564" y="1596980"/>
            <a:ext cx="7243610" cy="2862322"/>
          </a:xfrm>
          <a:prstGeom prst="rect">
            <a:avLst/>
          </a:prstGeom>
        </p:spPr>
        <p:txBody>
          <a:bodyPr wrap="square">
            <a:spAutoFit/>
          </a:bodyPr>
          <a:lstStyle/>
          <a:p>
            <a:pPr algn="just">
              <a:spcAft>
                <a:spcPts val="800"/>
              </a:spcAft>
            </a:pPr>
            <a:r>
              <a:rPr lang="es-CO" dirty="0"/>
              <a:t>La Factibilidad operativa “Es una medida del correcto funcionamiento de una posible solución a los problemas dentro de una organización. También es una medida de los sentimientos que despierta un sistema o un proyecto en las personas que en él participan, miden la urgencia del problema y la aceptabilidad de la solución.” La factibilidad Operativa “se refiere a que debe existir el personal capacitado requerido para llevar a cabo el proyecto y así mismo, deben existir usuarios finales dispuestos a emplear los productos o servicios generados por el proyecto o sistema desarrollado</a:t>
            </a:r>
            <a:endParaRPr lang="es-CO"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649831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115909" y="1056403"/>
            <a:ext cx="7894749" cy="5460307"/>
          </a:xfrm>
          <a:prstGeom prst="rect">
            <a:avLst/>
          </a:prstGeom>
        </p:spPr>
      </p:pic>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5794309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252425"/>
            <a:ext cx="8925060" cy="5640948"/>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601287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15910" y="1087593"/>
            <a:ext cx="7512877" cy="5390479"/>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077112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75475" y="1063244"/>
            <a:ext cx="7543800" cy="5092857"/>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806825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32582" y="1072233"/>
            <a:ext cx="7248525" cy="5225536"/>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655351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901520"/>
            <a:ext cx="7778839" cy="5850185"/>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743844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043189"/>
            <a:ext cx="7598535" cy="546064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343302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18056" y="1142664"/>
            <a:ext cx="7467600" cy="5567229"/>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9375586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61212" y="1179691"/>
            <a:ext cx="7172325" cy="5311261"/>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8708854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045133"/>
            <a:ext cx="7894749" cy="5510213"/>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4163134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901521"/>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3" name="Imagen 2"/>
          <p:cNvPicPr>
            <a:picLocks noChangeAspect="1"/>
          </p:cNvPicPr>
          <p:nvPr/>
        </p:nvPicPr>
        <p:blipFill>
          <a:blip r:embed="rId2"/>
          <a:stretch>
            <a:fillRect/>
          </a:stretch>
        </p:blipFill>
        <p:spPr>
          <a:xfrm>
            <a:off x="0" y="656823"/>
            <a:ext cx="9144000" cy="6201177"/>
          </a:xfrm>
          <a:prstGeom prst="rect">
            <a:avLst/>
          </a:prstGeom>
        </p:spPr>
      </p:pic>
      <p:sp>
        <p:nvSpPr>
          <p:cNvPr id="5" name="CuadroTexto 4"/>
          <p:cNvSpPr txBox="1"/>
          <p:nvPr/>
        </p:nvSpPr>
        <p:spPr>
          <a:xfrm>
            <a:off x="115910" y="10492"/>
            <a:ext cx="8912179" cy="646331"/>
          </a:xfrm>
          <a:prstGeom prst="rect">
            <a:avLst/>
          </a:prstGeom>
          <a:noFill/>
        </p:spPr>
        <p:txBody>
          <a:bodyPr wrap="square" rtlCol="0">
            <a:spAutoFit/>
          </a:bodyPr>
          <a:lstStyle/>
          <a:p>
            <a:pPr algn="ctr"/>
            <a:r>
              <a:rPr lang="es-CO" b="1" dirty="0">
                <a:solidFill>
                  <a:schemeClr val="bg1"/>
                </a:solidFill>
                <a:latin typeface="Arial" panose="020B0604020202020204" pitchFamily="34" charset="0"/>
                <a:cs typeface="Arial" panose="020B0604020202020204" pitchFamily="34" charset="0"/>
              </a:rPr>
              <a:t>GRUPOS DE PROCESO Y AREAS DE CONOCIMIENTO </a:t>
            </a:r>
          </a:p>
          <a:p>
            <a:pPr algn="ctr"/>
            <a:r>
              <a:rPr lang="es-CO" b="1" dirty="0">
                <a:solidFill>
                  <a:schemeClr val="bg1"/>
                </a:solidFill>
                <a:latin typeface="Arial" panose="020B0604020202020204" pitchFamily="34" charset="0"/>
                <a:cs typeface="Arial" panose="020B0604020202020204" pitchFamily="34" charset="0"/>
              </a:rPr>
              <a:t>- PMI (Project Management Institute)</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911" y="10492"/>
            <a:ext cx="94015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88487" y="0"/>
            <a:ext cx="437009" cy="646331"/>
          </a:xfrm>
          <a:prstGeom prst="rect">
            <a:avLst/>
          </a:prstGeom>
          <a:noFill/>
          <a:ln>
            <a:noFill/>
          </a:ln>
        </p:spPr>
      </p:pic>
    </p:spTree>
    <p:extLst>
      <p:ext uri="{BB962C8B-B14F-4D97-AF65-F5344CB8AC3E}">
        <p14:creationId xmlns:p14="http://schemas.microsoft.com/office/powerpoint/2010/main" val="2185700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244697" y="3850783"/>
            <a:ext cx="8654603" cy="2308324"/>
          </a:xfrm>
          <a:prstGeom prst="rect">
            <a:avLst/>
          </a:prstGeom>
          <a:noFill/>
        </p:spPr>
        <p:txBody>
          <a:bodyPr wrap="square" rtlCol="0">
            <a:spAutoFit/>
          </a:bodyPr>
          <a:lstStyle/>
          <a:p>
            <a:pPr algn="just"/>
            <a:r>
              <a:rPr lang="es-CO" sz="2400" dirty="0">
                <a:latin typeface="Arial" panose="020B0604020202020204" pitchFamily="34" charset="0"/>
                <a:cs typeface="Arial" panose="020B0604020202020204" pitchFamily="34" charset="0"/>
              </a:rPr>
              <a:t>El Project Management Institute – PMI (Instituto de Gestión de Proyectos) es una organización dedicada al estudio y divulgación del conocimiento sobre Gestión o Dirección de Proyectos. Desde su fundación en 1969, en Estados Unidos, ha crecido hasta convertirse en la mayor organización sin ánimo de lucro que reúne a profesionales en todo el mundo. </a:t>
            </a:r>
          </a:p>
        </p:txBody>
      </p:sp>
      <p:sp>
        <p:nvSpPr>
          <p:cNvPr id="3" name="CuadroTexto 2"/>
          <p:cNvSpPr txBox="1"/>
          <p:nvPr/>
        </p:nvSpPr>
        <p:spPr>
          <a:xfrm>
            <a:off x="3000778" y="219927"/>
            <a:ext cx="1893194" cy="461665"/>
          </a:xfrm>
          <a:prstGeom prst="rect">
            <a:avLst/>
          </a:prstGeom>
          <a:noFill/>
        </p:spPr>
        <p:txBody>
          <a:bodyPr wrap="square" rtlCol="0">
            <a:spAutoFit/>
          </a:bodyPr>
          <a:lstStyle/>
          <a:p>
            <a:pPr algn="ctr"/>
            <a:r>
              <a:rPr lang="es-CO" sz="2400" b="1" dirty="0">
                <a:solidFill>
                  <a:schemeClr val="bg1"/>
                </a:solidFill>
                <a:latin typeface="Arial" panose="020B0604020202020204" pitchFamily="34" charset="0"/>
                <a:cs typeface="Arial" panose="020B0604020202020204" pitchFamily="34" charset="0"/>
              </a:rPr>
              <a:t>PMBOK</a:t>
            </a:r>
          </a:p>
        </p:txBody>
      </p:sp>
      <p:sp>
        <p:nvSpPr>
          <p:cNvPr id="5" name="CuadroTexto 4"/>
          <p:cNvSpPr txBox="1"/>
          <p:nvPr/>
        </p:nvSpPr>
        <p:spPr>
          <a:xfrm>
            <a:off x="244697" y="1414885"/>
            <a:ext cx="8783392" cy="1200329"/>
          </a:xfrm>
          <a:prstGeom prst="rect">
            <a:avLst/>
          </a:prstGeom>
          <a:noFill/>
        </p:spPr>
        <p:txBody>
          <a:bodyPr wrap="square" rtlCol="0">
            <a:spAutoFit/>
          </a:bodyPr>
          <a:lstStyle/>
          <a:p>
            <a:pPr algn="just"/>
            <a:r>
              <a:rPr lang="es-CO" sz="2400" dirty="0"/>
              <a:t>PMBOK® </a:t>
            </a:r>
            <a:r>
              <a:rPr lang="es-CO" sz="2400" dirty="0" err="1"/>
              <a:t>Guide</a:t>
            </a:r>
            <a:r>
              <a:rPr lang="es-CO" sz="2400" dirty="0"/>
              <a:t>, es el acrónimo de Project Management </a:t>
            </a:r>
            <a:r>
              <a:rPr lang="es-CO" sz="2400" dirty="0" err="1"/>
              <a:t>Body</a:t>
            </a:r>
            <a:r>
              <a:rPr lang="es-CO" sz="2400" dirty="0"/>
              <a:t> of </a:t>
            </a:r>
            <a:r>
              <a:rPr lang="es-CO" sz="2400" dirty="0" err="1"/>
              <a:t>Knowledge</a:t>
            </a:r>
            <a:r>
              <a:rPr lang="es-CO" sz="2400" dirty="0"/>
              <a:t>®. Es el libro o guía que edita PMI® con el conjunto de buenas prácticas en Gestión de Proyectos</a:t>
            </a:r>
          </a:p>
        </p:txBody>
      </p:sp>
      <p:sp>
        <p:nvSpPr>
          <p:cNvPr id="6" name="CuadroTexto 5"/>
          <p:cNvSpPr txBox="1"/>
          <p:nvPr/>
        </p:nvSpPr>
        <p:spPr>
          <a:xfrm>
            <a:off x="2781837" y="3026535"/>
            <a:ext cx="2498501" cy="461665"/>
          </a:xfrm>
          <a:prstGeom prst="rect">
            <a:avLst/>
          </a:prstGeom>
          <a:noFill/>
        </p:spPr>
        <p:txBody>
          <a:bodyPr wrap="square" rtlCol="0">
            <a:spAutoFit/>
          </a:bodyPr>
          <a:lstStyle/>
          <a:p>
            <a:pPr algn="ctr"/>
            <a:r>
              <a:rPr lang="es-CO" sz="2400" b="1" dirty="0">
                <a:solidFill>
                  <a:schemeClr val="bg1"/>
                </a:solidFill>
                <a:latin typeface="Arial" panose="020B0604020202020204" pitchFamily="34" charset="0"/>
                <a:cs typeface="Arial" panose="020B0604020202020204" pitchFamily="34" charset="0"/>
              </a:rPr>
              <a:t>PMI</a:t>
            </a:r>
          </a:p>
        </p:txBody>
      </p:sp>
      <p:pic>
        <p:nvPicPr>
          <p:cNvPr id="9"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Imagen 9"/>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8" name="CuadroTexto 7"/>
          <p:cNvSpPr txBox="1"/>
          <p:nvPr/>
        </p:nvSpPr>
        <p:spPr>
          <a:xfrm>
            <a:off x="3799268" y="2952039"/>
            <a:ext cx="1094704" cy="584775"/>
          </a:xfrm>
          <a:prstGeom prst="rect">
            <a:avLst/>
          </a:prstGeom>
          <a:noFill/>
        </p:spPr>
        <p:txBody>
          <a:bodyPr wrap="square" rtlCol="0">
            <a:spAutoFit/>
          </a:bodyPr>
          <a:lstStyle/>
          <a:p>
            <a:r>
              <a:rPr lang="es-CO" sz="3200" dirty="0"/>
              <a:t>PMI</a:t>
            </a:r>
          </a:p>
        </p:txBody>
      </p:sp>
      <p:sp>
        <p:nvSpPr>
          <p:cNvPr id="11" name="CuadroTexto 10"/>
          <p:cNvSpPr txBox="1"/>
          <p:nvPr/>
        </p:nvSpPr>
        <p:spPr>
          <a:xfrm>
            <a:off x="3567448" y="424395"/>
            <a:ext cx="1558343" cy="523220"/>
          </a:xfrm>
          <a:prstGeom prst="rect">
            <a:avLst/>
          </a:prstGeom>
          <a:noFill/>
        </p:spPr>
        <p:txBody>
          <a:bodyPr wrap="square" rtlCol="0">
            <a:spAutoFit/>
          </a:bodyPr>
          <a:lstStyle/>
          <a:p>
            <a:r>
              <a:rPr lang="es-CO" sz="2800" b="1" dirty="0"/>
              <a:t>PMBOK</a:t>
            </a:r>
          </a:p>
        </p:txBody>
      </p:sp>
    </p:spTree>
    <p:extLst>
      <p:ext uri="{BB962C8B-B14F-4D97-AF65-F5344CB8AC3E}">
        <p14:creationId xmlns:p14="http://schemas.microsoft.com/office/powerpoint/2010/main" val="3971906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60608" y="1552575"/>
            <a:ext cx="8384147" cy="4861104"/>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CuadroTexto 2"/>
          <p:cNvSpPr txBox="1"/>
          <p:nvPr/>
        </p:nvSpPr>
        <p:spPr>
          <a:xfrm>
            <a:off x="1803042" y="540913"/>
            <a:ext cx="5808372" cy="369332"/>
          </a:xfrm>
          <a:prstGeom prst="rect">
            <a:avLst/>
          </a:prstGeom>
          <a:noFill/>
        </p:spPr>
        <p:txBody>
          <a:bodyPr wrap="square" rtlCol="0">
            <a:spAutoFit/>
          </a:bodyPr>
          <a:lstStyle/>
          <a:p>
            <a:r>
              <a:rPr lang="es-CO" dirty="0"/>
              <a:t>CICLO DE VIDA DE UN PROYECTO</a:t>
            </a:r>
          </a:p>
        </p:txBody>
      </p:sp>
    </p:spTree>
    <p:extLst>
      <p:ext uri="{BB962C8B-B14F-4D97-AF65-F5344CB8AC3E}">
        <p14:creationId xmlns:p14="http://schemas.microsoft.com/office/powerpoint/2010/main" val="18335078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37882" y="1030310"/>
            <a:ext cx="7894749" cy="5639040"/>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CuadroTexto 2"/>
          <p:cNvSpPr txBox="1"/>
          <p:nvPr/>
        </p:nvSpPr>
        <p:spPr>
          <a:xfrm>
            <a:off x="5847009" y="5499280"/>
            <a:ext cx="2923504" cy="923330"/>
          </a:xfrm>
          <a:prstGeom prst="rect">
            <a:avLst/>
          </a:prstGeom>
          <a:noFill/>
        </p:spPr>
        <p:txBody>
          <a:bodyPr wrap="square" rtlCol="0">
            <a:spAutoFit/>
          </a:bodyPr>
          <a:lstStyle/>
          <a:p>
            <a:r>
              <a:rPr lang="es-CO" dirty="0"/>
              <a:t>Tareas, actividades o artefactos = resultado de una tarea</a:t>
            </a:r>
          </a:p>
        </p:txBody>
      </p:sp>
    </p:spTree>
    <p:extLst>
      <p:ext uri="{BB962C8B-B14F-4D97-AF65-F5344CB8AC3E}">
        <p14:creationId xmlns:p14="http://schemas.microsoft.com/office/powerpoint/2010/main" val="1088776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811368" y="1318267"/>
            <a:ext cx="7031865" cy="5166246"/>
          </a:xfrm>
          <a:prstGeom prst="rect">
            <a:avLst/>
          </a:prstGeom>
        </p:spPr>
      </p:pic>
      <p:sp>
        <p:nvSpPr>
          <p:cNvPr id="3" name="CuadroTexto 2"/>
          <p:cNvSpPr txBox="1"/>
          <p:nvPr/>
        </p:nvSpPr>
        <p:spPr>
          <a:xfrm>
            <a:off x="1184857" y="219927"/>
            <a:ext cx="5525036" cy="461665"/>
          </a:xfrm>
          <a:prstGeom prst="rect">
            <a:avLst/>
          </a:prstGeom>
          <a:noFill/>
        </p:spPr>
        <p:txBody>
          <a:bodyPr wrap="square" rtlCol="0">
            <a:spAutoFit/>
          </a:bodyPr>
          <a:lstStyle/>
          <a:p>
            <a:r>
              <a:rPr lang="es-CO" sz="2400" b="1" dirty="0">
                <a:solidFill>
                  <a:schemeClr val="bg1"/>
                </a:solidFill>
                <a:latin typeface="Arial" panose="020B0604020202020204" pitchFamily="34" charset="0"/>
                <a:cs typeface="Arial" panose="020B0604020202020204" pitchFamily="34" charset="0"/>
              </a:rPr>
              <a:t>Causas de fracaso  en los proyectos</a:t>
            </a:r>
          </a:p>
        </p:txBody>
      </p:sp>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5" name="CuadroTexto 4"/>
          <p:cNvSpPr txBox="1"/>
          <p:nvPr/>
        </p:nvSpPr>
        <p:spPr>
          <a:xfrm>
            <a:off x="1249251" y="563817"/>
            <a:ext cx="6948907" cy="523220"/>
          </a:xfrm>
          <a:prstGeom prst="rect">
            <a:avLst/>
          </a:prstGeom>
          <a:noFill/>
        </p:spPr>
        <p:txBody>
          <a:bodyPr wrap="square" rtlCol="0">
            <a:spAutoFit/>
          </a:bodyPr>
          <a:lstStyle/>
          <a:p>
            <a:r>
              <a:rPr lang="es-CO" sz="2800" b="1" dirty="0"/>
              <a:t>CAUSAS DE FRACASOS EN LOS PROECTOS</a:t>
            </a:r>
          </a:p>
        </p:txBody>
      </p:sp>
    </p:spTree>
    <p:extLst>
      <p:ext uri="{BB962C8B-B14F-4D97-AF65-F5344CB8AC3E}">
        <p14:creationId xmlns:p14="http://schemas.microsoft.com/office/powerpoint/2010/main" val="2852110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901521"/>
            <a:ext cx="7753082" cy="5847009"/>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460407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732101" y="833369"/>
            <a:ext cx="7466057" cy="5271215"/>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1579693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296213" y="1030310"/>
            <a:ext cx="7469747" cy="5454807"/>
          </a:xfrm>
          <a:prstGeom prst="rect">
            <a:avLst/>
          </a:prstGeom>
        </p:spPr>
      </p:pic>
      <p:pic>
        <p:nvPicPr>
          <p:cNvPr id="3" name="Imagen 2"/>
          <p:cNvPicPr>
            <a:picLocks noChangeAspect="1"/>
          </p:cNvPicPr>
          <p:nvPr/>
        </p:nvPicPr>
        <p:blipFill>
          <a:blip r:embed="rId3"/>
          <a:stretch>
            <a:fillRect/>
          </a:stretch>
        </p:blipFill>
        <p:spPr>
          <a:xfrm>
            <a:off x="6201427" y="3322749"/>
            <a:ext cx="2871488" cy="3245476"/>
          </a:xfrm>
          <a:prstGeom prst="rect">
            <a:avLst/>
          </a:prstGeom>
        </p:spPr>
      </p:pic>
      <p:pic>
        <p:nvPicPr>
          <p:cNvPr id="6" name="Imagen 1" descr="J:\CORHUILA\Imagen Corporativa\logo_u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1557108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33846" y="154079"/>
            <a:ext cx="6347713" cy="1320800"/>
          </a:xfrm>
        </p:spPr>
        <p:txBody>
          <a:bodyPr/>
          <a:lstStyle/>
          <a:p>
            <a:r>
              <a:rPr lang="es-CO" dirty="0"/>
              <a:t>Project </a:t>
            </a:r>
            <a:r>
              <a:rPr lang="es-CO" dirty="0" err="1"/>
              <a:t>Charter</a:t>
            </a:r>
            <a:r>
              <a:rPr lang="es-CO" dirty="0"/>
              <a:t> o Acta de Constitución de Proyecto</a:t>
            </a:r>
          </a:p>
        </p:txBody>
      </p:sp>
      <p:pic>
        <p:nvPicPr>
          <p:cNvPr id="4"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7" name="Rectángulo 6"/>
          <p:cNvSpPr/>
          <p:nvPr/>
        </p:nvSpPr>
        <p:spPr>
          <a:xfrm>
            <a:off x="624625" y="1474879"/>
            <a:ext cx="7438487" cy="5078313"/>
          </a:xfrm>
          <a:prstGeom prst="rect">
            <a:avLst/>
          </a:prstGeom>
        </p:spPr>
        <p:txBody>
          <a:bodyPr wrap="square">
            <a:spAutoFit/>
          </a:bodyPr>
          <a:lstStyle/>
          <a:p>
            <a:pPr algn="just"/>
            <a:r>
              <a:rPr lang="es-CO" dirty="0">
                <a:solidFill>
                  <a:srgbClr val="000000"/>
                </a:solidFill>
                <a:latin typeface="Helvetica Neue"/>
              </a:rPr>
              <a:t>El cuerpo se dé un Acta constitutiva contendrá los siguientes  puntos:</a:t>
            </a:r>
          </a:p>
          <a:p>
            <a:pPr algn="just"/>
            <a:endParaRPr lang="es-CO" dirty="0">
              <a:solidFill>
                <a:srgbClr val="000000"/>
              </a:solidFill>
              <a:latin typeface="Helvetica Neue"/>
            </a:endParaRPr>
          </a:p>
          <a:p>
            <a:pPr algn="just"/>
            <a:r>
              <a:rPr lang="es-CO" dirty="0">
                <a:solidFill>
                  <a:srgbClr val="000000"/>
                </a:solidFill>
                <a:latin typeface="Helvetica Neue"/>
              </a:rPr>
              <a:t>Sección 1. Descripción  del Proyecto</a:t>
            </a:r>
          </a:p>
          <a:p>
            <a:pPr algn="just"/>
            <a:endParaRPr lang="es-CO" dirty="0">
              <a:solidFill>
                <a:srgbClr val="000000"/>
              </a:solidFill>
              <a:latin typeface="Helvetica Neue"/>
            </a:endParaRPr>
          </a:p>
          <a:p>
            <a:pPr algn="just"/>
            <a:r>
              <a:rPr lang="es-CO" dirty="0">
                <a:solidFill>
                  <a:srgbClr val="000000"/>
                </a:solidFill>
                <a:latin typeface="Helvetica Neue"/>
              </a:rPr>
              <a:t>Planteamiento del problema  / Descripción del Proyecto /Metas y objetivos del proyecto / Alcance del Proyecto / Factores críticos de éxito  / Supuestos / Restricciones</a:t>
            </a:r>
          </a:p>
          <a:p>
            <a:pPr algn="just"/>
            <a:endParaRPr lang="es-CO" dirty="0">
              <a:solidFill>
                <a:srgbClr val="000000"/>
              </a:solidFill>
              <a:latin typeface="Helvetica Neue"/>
            </a:endParaRPr>
          </a:p>
          <a:p>
            <a:pPr algn="just"/>
            <a:r>
              <a:rPr lang="es-CO" dirty="0">
                <a:solidFill>
                  <a:srgbClr val="000000"/>
                </a:solidFill>
                <a:latin typeface="Helvetica Neue"/>
              </a:rPr>
              <a:t>Sección 2.  Responsables  del proyecto e hitos</a:t>
            </a:r>
          </a:p>
          <a:p>
            <a:pPr algn="just"/>
            <a:endParaRPr lang="es-CO" dirty="0">
              <a:solidFill>
                <a:srgbClr val="000000"/>
              </a:solidFill>
              <a:latin typeface="Helvetica Neue"/>
            </a:endParaRPr>
          </a:p>
          <a:p>
            <a:pPr algn="just"/>
            <a:r>
              <a:rPr lang="es-CO" dirty="0">
                <a:solidFill>
                  <a:srgbClr val="000000"/>
                </a:solidFill>
                <a:latin typeface="Helvetica Neue"/>
              </a:rPr>
              <a:t>Responsable de financiamiento / Responsable de Supervisar el proyecto / Principales  hitos del proyecto</a:t>
            </a:r>
          </a:p>
          <a:p>
            <a:pPr algn="just"/>
            <a:endParaRPr lang="es-CO" dirty="0">
              <a:solidFill>
                <a:srgbClr val="000000"/>
              </a:solidFill>
              <a:latin typeface="Helvetica Neue"/>
            </a:endParaRPr>
          </a:p>
          <a:p>
            <a:pPr algn="just"/>
            <a:r>
              <a:rPr lang="es-CO" dirty="0">
                <a:solidFill>
                  <a:srgbClr val="000000"/>
                </a:solidFill>
                <a:latin typeface="Helvetica Neue"/>
              </a:rPr>
              <a:t>Sección 3.  Organización  del Proyecto</a:t>
            </a:r>
          </a:p>
          <a:p>
            <a:pPr algn="just"/>
            <a:endParaRPr lang="es-CO" dirty="0">
              <a:solidFill>
                <a:srgbClr val="000000"/>
              </a:solidFill>
              <a:latin typeface="Helvetica Neue"/>
            </a:endParaRPr>
          </a:p>
          <a:p>
            <a:pPr algn="just"/>
            <a:r>
              <a:rPr lang="es-CO" dirty="0">
                <a:solidFill>
                  <a:srgbClr val="000000"/>
                </a:solidFill>
                <a:latin typeface="Helvetica Neue"/>
              </a:rPr>
              <a:t>Estructura del Proyecto  /Roles y Responsabilidades / Matriz de Responsabilidades /Instalaciones y  recursos del Proyecto</a:t>
            </a:r>
          </a:p>
          <a:p>
            <a:pPr algn="just"/>
            <a:endParaRPr lang="es-CO" b="0" i="0" dirty="0">
              <a:solidFill>
                <a:srgbClr val="000000"/>
              </a:solidFill>
              <a:effectLst/>
              <a:latin typeface="Helvetica Neue"/>
            </a:endParaRPr>
          </a:p>
        </p:txBody>
      </p:sp>
    </p:spTree>
    <p:extLst>
      <p:ext uri="{BB962C8B-B14F-4D97-AF65-F5344CB8AC3E}">
        <p14:creationId xmlns:p14="http://schemas.microsoft.com/office/powerpoint/2010/main" val="10824739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43031" y="369910"/>
            <a:ext cx="5636563" cy="1320800"/>
          </a:xfrm>
        </p:spPr>
        <p:txBody>
          <a:bodyPr/>
          <a:lstStyle/>
          <a:p>
            <a:r>
              <a:rPr lang="es-CO" dirty="0"/>
              <a:t>Project </a:t>
            </a:r>
            <a:r>
              <a:rPr lang="es-CO" dirty="0" err="1"/>
              <a:t>Charter</a:t>
            </a:r>
            <a:r>
              <a:rPr lang="es-CO" dirty="0"/>
              <a:t> o Acta de Constitución de Proyecto</a:t>
            </a:r>
          </a:p>
        </p:txBody>
      </p:sp>
      <p:pic>
        <p:nvPicPr>
          <p:cNvPr id="4"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7" name="Rectángulo 6"/>
          <p:cNvSpPr/>
          <p:nvPr/>
        </p:nvSpPr>
        <p:spPr>
          <a:xfrm>
            <a:off x="1343695" y="2110704"/>
            <a:ext cx="4644981" cy="2031325"/>
          </a:xfrm>
          <a:prstGeom prst="rect">
            <a:avLst/>
          </a:prstGeom>
        </p:spPr>
        <p:txBody>
          <a:bodyPr wrap="square">
            <a:spAutoFit/>
          </a:bodyPr>
          <a:lstStyle/>
          <a:p>
            <a:pPr algn="just"/>
            <a:r>
              <a:rPr lang="es-CO" dirty="0">
                <a:solidFill>
                  <a:srgbClr val="000000"/>
                </a:solidFill>
                <a:latin typeface="Helvetica Neue"/>
              </a:rPr>
              <a:t>Sección 4.           Puntos  de Contacto</a:t>
            </a:r>
          </a:p>
          <a:p>
            <a:pPr algn="just"/>
            <a:endParaRPr lang="es-CO" dirty="0">
              <a:solidFill>
                <a:srgbClr val="000000"/>
              </a:solidFill>
              <a:latin typeface="Helvetica Neue"/>
            </a:endParaRPr>
          </a:p>
          <a:p>
            <a:pPr algn="just"/>
            <a:r>
              <a:rPr lang="es-CO" dirty="0">
                <a:solidFill>
                  <a:srgbClr val="000000"/>
                </a:solidFill>
                <a:latin typeface="Helvetica Neue"/>
              </a:rPr>
              <a:t>Sección 5.           Glosario</a:t>
            </a:r>
          </a:p>
          <a:p>
            <a:pPr algn="just"/>
            <a:endParaRPr lang="es-CO" dirty="0">
              <a:solidFill>
                <a:srgbClr val="000000"/>
              </a:solidFill>
              <a:latin typeface="Helvetica Neue"/>
            </a:endParaRPr>
          </a:p>
          <a:p>
            <a:pPr algn="just"/>
            <a:r>
              <a:rPr lang="es-CO" dirty="0">
                <a:solidFill>
                  <a:srgbClr val="000000"/>
                </a:solidFill>
                <a:latin typeface="Helvetica Neue"/>
              </a:rPr>
              <a:t>Sección 6.           Historial  de revisiones</a:t>
            </a:r>
          </a:p>
          <a:p>
            <a:pPr algn="just"/>
            <a:endParaRPr lang="es-CO" dirty="0">
              <a:solidFill>
                <a:srgbClr val="000000"/>
              </a:solidFill>
              <a:latin typeface="Helvetica Neue"/>
            </a:endParaRPr>
          </a:p>
          <a:p>
            <a:pPr algn="just"/>
            <a:r>
              <a:rPr lang="es-CO" dirty="0">
                <a:solidFill>
                  <a:srgbClr val="000000"/>
                </a:solidFill>
                <a:latin typeface="Helvetica Neue"/>
              </a:rPr>
              <a:t>Sección 7.           Anexos</a:t>
            </a:r>
            <a:endParaRPr lang="es-CO" b="0" i="0" dirty="0">
              <a:solidFill>
                <a:srgbClr val="000000"/>
              </a:solidFill>
              <a:effectLst/>
              <a:latin typeface="Helvetica Neue"/>
            </a:endParaRPr>
          </a:p>
        </p:txBody>
      </p:sp>
      <p:sp>
        <p:nvSpPr>
          <p:cNvPr id="6" name="Rectángulo 5"/>
          <p:cNvSpPr/>
          <p:nvPr/>
        </p:nvSpPr>
        <p:spPr>
          <a:xfrm>
            <a:off x="797083" y="4562023"/>
            <a:ext cx="7528457" cy="923330"/>
          </a:xfrm>
          <a:prstGeom prst="rect">
            <a:avLst/>
          </a:prstGeom>
        </p:spPr>
        <p:txBody>
          <a:bodyPr wrap="square">
            <a:spAutoFit/>
          </a:bodyPr>
          <a:lstStyle/>
          <a:p>
            <a:pPr algn="just"/>
            <a:r>
              <a:rPr lang="es-CO" dirty="0">
                <a:solidFill>
                  <a:srgbClr val="000000"/>
                </a:solidFill>
                <a:latin typeface="Helvetica Neue"/>
              </a:rPr>
              <a:t>Una redacción deficiente o mediocre de un Acta de Constitución  de Proyecto puede causar el fracaso o el incremento significativos de los  costes totales de un proyecto. </a:t>
            </a:r>
            <a:endParaRPr lang="es-CO" b="0" i="0" dirty="0">
              <a:solidFill>
                <a:srgbClr val="000000"/>
              </a:solidFill>
              <a:effectLst/>
              <a:latin typeface="Helvetica Neue"/>
            </a:endParaRPr>
          </a:p>
        </p:txBody>
      </p:sp>
    </p:spTree>
    <p:extLst>
      <p:ext uri="{BB962C8B-B14F-4D97-AF65-F5344CB8AC3E}">
        <p14:creationId xmlns:p14="http://schemas.microsoft.com/office/powerpoint/2010/main" val="30119260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535228" y="1030310"/>
            <a:ext cx="7662930" cy="5756857"/>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7953215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535077" y="1357312"/>
            <a:ext cx="7359672" cy="510788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41742806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93184" y="1188747"/>
            <a:ext cx="7598534" cy="5456752"/>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453733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30734" y="1098595"/>
            <a:ext cx="7519317" cy="5546904"/>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1155824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32637" y="1080550"/>
            <a:ext cx="7356050" cy="5242977"/>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4206658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59869" y="1132469"/>
            <a:ext cx="7418969" cy="5397120"/>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9687718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4749" y="350904"/>
            <a:ext cx="1249251" cy="110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n 2"/>
          <p:cNvPicPr>
            <a:picLocks noChangeAspect="1"/>
          </p:cNvPicPr>
          <p:nvPr/>
        </p:nvPicPr>
        <p:blipFill>
          <a:blip r:embed="rId3"/>
          <a:stretch>
            <a:fillRect/>
          </a:stretch>
        </p:blipFill>
        <p:spPr>
          <a:xfrm>
            <a:off x="0" y="1094704"/>
            <a:ext cx="7547020" cy="4333875"/>
          </a:xfrm>
          <a:prstGeom prst="rect">
            <a:avLst/>
          </a:prstGeom>
        </p:spPr>
      </p:pic>
      <p:sp>
        <p:nvSpPr>
          <p:cNvPr id="5" name="CuadroTexto 4"/>
          <p:cNvSpPr txBox="1"/>
          <p:nvPr/>
        </p:nvSpPr>
        <p:spPr>
          <a:xfrm>
            <a:off x="1700011" y="193183"/>
            <a:ext cx="2730321" cy="461665"/>
          </a:xfrm>
          <a:prstGeom prst="rect">
            <a:avLst/>
          </a:prstGeom>
          <a:noFill/>
        </p:spPr>
        <p:txBody>
          <a:bodyPr wrap="square" rtlCol="0">
            <a:spAutoFit/>
          </a:bodyPr>
          <a:lstStyle/>
          <a:p>
            <a:r>
              <a:rPr lang="es-CO" sz="2400" dirty="0">
                <a:solidFill>
                  <a:schemeClr val="bg1"/>
                </a:solidFill>
                <a:latin typeface="Arial" panose="020B0604020202020204" pitchFamily="34" charset="0"/>
                <a:cs typeface="Arial" panose="020B0604020202020204" pitchFamily="34" charset="0"/>
              </a:rPr>
              <a:t>ENTRADAS</a:t>
            </a:r>
          </a:p>
        </p:txBody>
      </p:sp>
      <p:pic>
        <p:nvPicPr>
          <p:cNvPr id="7" name="Imagen 6"/>
          <p:cNvPicPr>
            <a:picLocks noChangeAspect="1"/>
          </p:cNvPicPr>
          <p:nvPr/>
        </p:nvPicPr>
        <p:blipFill>
          <a:blip r:embed="rId4"/>
          <a:stretch>
            <a:fillRect/>
          </a:stretch>
        </p:blipFill>
        <p:spPr>
          <a:xfrm>
            <a:off x="154546" y="5283513"/>
            <a:ext cx="7392474" cy="1574487"/>
          </a:xfrm>
          <a:prstGeom prst="rect">
            <a:avLst/>
          </a:prstGeom>
        </p:spPr>
      </p:pic>
      <p:pic>
        <p:nvPicPr>
          <p:cNvPr id="8"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Imagen 8"/>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2" name="CuadroTexto 1"/>
          <p:cNvSpPr txBox="1"/>
          <p:nvPr/>
        </p:nvSpPr>
        <p:spPr>
          <a:xfrm>
            <a:off x="2434107" y="350904"/>
            <a:ext cx="2446985" cy="523220"/>
          </a:xfrm>
          <a:prstGeom prst="rect">
            <a:avLst/>
          </a:prstGeom>
          <a:noFill/>
        </p:spPr>
        <p:txBody>
          <a:bodyPr wrap="square" rtlCol="0">
            <a:spAutoFit/>
          </a:bodyPr>
          <a:lstStyle/>
          <a:p>
            <a:r>
              <a:rPr lang="es-CO" sz="2800" dirty="0"/>
              <a:t>ENTRADAS</a:t>
            </a:r>
          </a:p>
        </p:txBody>
      </p:sp>
    </p:spTree>
    <p:extLst>
      <p:ext uri="{BB962C8B-B14F-4D97-AF65-F5344CB8AC3E}">
        <p14:creationId xmlns:p14="http://schemas.microsoft.com/office/powerpoint/2010/main" val="31929490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452137"/>
            <a:ext cx="7899253" cy="5067747"/>
          </a:xfrm>
          <a:prstGeom prst="rect">
            <a:avLst/>
          </a:prstGeom>
        </p:spPr>
      </p:pic>
      <p:pic>
        <p:nvPicPr>
          <p:cNvPr id="6"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5" name="CuadroTexto 4"/>
          <p:cNvSpPr txBox="1"/>
          <p:nvPr/>
        </p:nvSpPr>
        <p:spPr>
          <a:xfrm>
            <a:off x="2498501" y="515155"/>
            <a:ext cx="2897747" cy="584775"/>
          </a:xfrm>
          <a:prstGeom prst="rect">
            <a:avLst/>
          </a:prstGeom>
          <a:noFill/>
        </p:spPr>
        <p:txBody>
          <a:bodyPr wrap="square" rtlCol="0">
            <a:spAutoFit/>
          </a:bodyPr>
          <a:lstStyle/>
          <a:p>
            <a:r>
              <a:rPr lang="es-CO" sz="3200" dirty="0"/>
              <a:t>TÉCNICAS</a:t>
            </a:r>
          </a:p>
        </p:txBody>
      </p:sp>
    </p:spTree>
    <p:extLst>
      <p:ext uri="{BB962C8B-B14F-4D97-AF65-F5344CB8AC3E}">
        <p14:creationId xmlns:p14="http://schemas.microsoft.com/office/powerpoint/2010/main" val="9039532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4749" y="350904"/>
            <a:ext cx="1249251" cy="110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Imagen 1"/>
          <p:cNvPicPr>
            <a:picLocks noChangeAspect="1"/>
          </p:cNvPicPr>
          <p:nvPr/>
        </p:nvPicPr>
        <p:blipFill>
          <a:blip r:embed="rId3"/>
          <a:stretch>
            <a:fillRect/>
          </a:stretch>
        </p:blipFill>
        <p:spPr>
          <a:xfrm>
            <a:off x="231821" y="1590674"/>
            <a:ext cx="6992892" cy="4655579"/>
          </a:xfrm>
          <a:prstGeom prst="rect">
            <a:avLst/>
          </a:prstGeom>
        </p:spPr>
      </p:pic>
      <p:pic>
        <p:nvPicPr>
          <p:cNvPr id="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3" name="CuadroTexto 2"/>
          <p:cNvSpPr txBox="1"/>
          <p:nvPr/>
        </p:nvSpPr>
        <p:spPr>
          <a:xfrm>
            <a:off x="2833352" y="350904"/>
            <a:ext cx="2820473" cy="584775"/>
          </a:xfrm>
          <a:prstGeom prst="rect">
            <a:avLst/>
          </a:prstGeom>
          <a:noFill/>
        </p:spPr>
        <p:txBody>
          <a:bodyPr wrap="square" rtlCol="0">
            <a:spAutoFit/>
          </a:bodyPr>
          <a:lstStyle/>
          <a:p>
            <a:r>
              <a:rPr lang="es-CO" sz="3200" dirty="0"/>
              <a:t>SALIDAS</a:t>
            </a:r>
          </a:p>
        </p:txBody>
      </p:sp>
    </p:spTree>
    <p:extLst>
      <p:ext uri="{BB962C8B-B14F-4D97-AF65-F5344CB8AC3E}">
        <p14:creationId xmlns:p14="http://schemas.microsoft.com/office/powerpoint/2010/main" val="34423085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385586"/>
            <a:ext cx="5074276" cy="5033426"/>
          </a:xfrm>
          <a:prstGeom prst="rect">
            <a:avLst/>
          </a:prstGeom>
        </p:spPr>
      </p:pic>
      <p:pic>
        <p:nvPicPr>
          <p:cNvPr id="3" name="Imagen 2"/>
          <p:cNvPicPr>
            <a:picLocks noChangeAspect="1"/>
          </p:cNvPicPr>
          <p:nvPr/>
        </p:nvPicPr>
        <p:blipFill>
          <a:blip r:embed="rId3"/>
          <a:stretch>
            <a:fillRect/>
          </a:stretch>
        </p:blipFill>
        <p:spPr>
          <a:xfrm>
            <a:off x="5074276" y="1803040"/>
            <a:ext cx="3902299" cy="2099259"/>
          </a:xfrm>
          <a:prstGeom prst="rect">
            <a:avLst/>
          </a:prstGeom>
        </p:spPr>
      </p:pic>
      <p:pic>
        <p:nvPicPr>
          <p:cNvPr id="6" name="Imagen 1" descr="J:\CORHUILA\Imagen Corporativa\logo_u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agen 6"/>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2014477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334852" y="1157287"/>
            <a:ext cx="7794736" cy="5539727"/>
          </a:xfrm>
          <a:prstGeom prst="rect">
            <a:avLst/>
          </a:prstGeom>
        </p:spPr>
      </p:pic>
      <p:pic>
        <p:nvPicPr>
          <p:cNvPr id="5"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051856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456" y="141200"/>
            <a:ext cx="858128" cy="984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agen 5"/>
          <p:cNvPicPr>
            <a:picLocks noChangeAspect="1"/>
          </p:cNvPicPr>
          <p:nvPr/>
        </p:nvPicPr>
        <p:blipFill>
          <a:blip r:embed="rId3"/>
          <a:stretch>
            <a:fillRect/>
          </a:stretch>
        </p:blipFill>
        <p:spPr>
          <a:xfrm>
            <a:off x="678520" y="1125629"/>
            <a:ext cx="7778838" cy="4961631"/>
          </a:xfrm>
          <a:prstGeom prst="rect">
            <a:avLst/>
          </a:prstGeom>
        </p:spPr>
      </p:pic>
      <p:pic>
        <p:nvPicPr>
          <p:cNvPr id="9" name="Imagen 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9750304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489397" y="1163473"/>
            <a:ext cx="7568753" cy="4889597"/>
          </a:xfrm>
          <a:prstGeom prst="rect">
            <a:avLst/>
          </a:prstGeom>
        </p:spPr>
      </p:pic>
      <p:sp>
        <p:nvSpPr>
          <p:cNvPr id="6" name="CuadroTexto 5"/>
          <p:cNvSpPr txBox="1"/>
          <p:nvPr/>
        </p:nvSpPr>
        <p:spPr>
          <a:xfrm>
            <a:off x="2524259" y="350904"/>
            <a:ext cx="2331076" cy="461665"/>
          </a:xfrm>
          <a:prstGeom prst="rect">
            <a:avLst/>
          </a:prstGeom>
          <a:noFill/>
        </p:spPr>
        <p:txBody>
          <a:bodyPr wrap="square" rtlCol="0">
            <a:spAutoFit/>
          </a:bodyPr>
          <a:lstStyle/>
          <a:p>
            <a:r>
              <a:rPr lang="es-CO" sz="2400" b="1" dirty="0">
                <a:solidFill>
                  <a:schemeClr val="bg1"/>
                </a:solidFill>
                <a:latin typeface="Arial" panose="020B0604020202020204" pitchFamily="34" charset="0"/>
                <a:cs typeface="Arial" panose="020B0604020202020204" pitchFamily="34" charset="0"/>
              </a:rPr>
              <a:t>ROL DEL GP</a:t>
            </a:r>
          </a:p>
        </p:txBody>
      </p:sp>
      <p:pic>
        <p:nvPicPr>
          <p:cNvPr id="7" name="Imagen 1" descr="J:\CORHUILA\Imagen Corporativa\logo_u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n 7"/>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2" name="CuadroTexto 1"/>
          <p:cNvSpPr txBox="1"/>
          <p:nvPr/>
        </p:nvSpPr>
        <p:spPr>
          <a:xfrm>
            <a:off x="2524259" y="350904"/>
            <a:ext cx="3464417" cy="646331"/>
          </a:xfrm>
          <a:prstGeom prst="rect">
            <a:avLst/>
          </a:prstGeom>
          <a:noFill/>
        </p:spPr>
        <p:txBody>
          <a:bodyPr wrap="square" rtlCol="0">
            <a:spAutoFit/>
          </a:bodyPr>
          <a:lstStyle/>
          <a:p>
            <a:r>
              <a:rPr lang="es-CO" sz="3600" b="1" dirty="0"/>
              <a:t>ROL DEL GP</a:t>
            </a:r>
          </a:p>
        </p:txBody>
      </p:sp>
    </p:spTree>
    <p:extLst>
      <p:ext uri="{BB962C8B-B14F-4D97-AF65-F5344CB8AC3E}">
        <p14:creationId xmlns:p14="http://schemas.microsoft.com/office/powerpoint/2010/main" val="1460478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303085" y="443049"/>
            <a:ext cx="7469747" cy="1138773"/>
          </a:xfrm>
          <a:prstGeom prst="rect">
            <a:avLst/>
          </a:prstGeom>
          <a:noFill/>
        </p:spPr>
        <p:txBody>
          <a:bodyPr wrap="square" rtlCol="0">
            <a:spAutoFit/>
          </a:bodyPr>
          <a:lstStyle/>
          <a:p>
            <a:r>
              <a:rPr lang="es-CO" sz="4400" dirty="0">
                <a:solidFill>
                  <a:srgbClr val="FF0000"/>
                </a:solidFill>
                <a:latin typeface="Arial" panose="020B0604020202020204" pitchFamily="34" charset="0"/>
                <a:cs typeface="Arial" panose="020B0604020202020204" pitchFamily="34" charset="0"/>
              </a:rPr>
              <a:t>¡AHORA LA PRACTICA!</a:t>
            </a:r>
          </a:p>
          <a:p>
            <a:r>
              <a:rPr lang="es-CO" sz="2400" dirty="0">
                <a:solidFill>
                  <a:srgbClr val="FF0000"/>
                </a:solidFill>
                <a:latin typeface="Arial" panose="020B0604020202020204" pitchFamily="34" charset="0"/>
                <a:cs typeface="Arial" panose="020B0604020202020204" pitchFamily="34" charset="0"/>
              </a:rPr>
              <a:t>                    EXPOSICIONES</a:t>
            </a:r>
          </a:p>
        </p:txBody>
      </p:sp>
      <p:pic>
        <p:nvPicPr>
          <p:cNvPr id="3" name="Imagen 1" descr="J:\CORHUILA\Imagen Corporativa\logo_u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n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
        <p:nvSpPr>
          <p:cNvPr id="6" name="CuadroTexto 5"/>
          <p:cNvSpPr txBox="1"/>
          <p:nvPr/>
        </p:nvSpPr>
        <p:spPr>
          <a:xfrm>
            <a:off x="1015748" y="1502688"/>
            <a:ext cx="7757084" cy="4524315"/>
          </a:xfrm>
          <a:prstGeom prst="rect">
            <a:avLst/>
          </a:prstGeom>
          <a:noFill/>
        </p:spPr>
        <p:txBody>
          <a:bodyPr wrap="square" rtlCol="0">
            <a:spAutoFit/>
          </a:bodyPr>
          <a:lstStyle/>
          <a:p>
            <a:pPr algn="just"/>
            <a:endParaRPr lang="es-CO" dirty="0">
              <a:solidFill>
                <a:schemeClr val="bg1"/>
              </a:solidFill>
            </a:endParaRPr>
          </a:p>
          <a:p>
            <a:pPr marL="342900" indent="-342900">
              <a:buFont typeface="+mj-lt"/>
              <a:buAutoNum type="arabicPeriod"/>
            </a:pPr>
            <a:r>
              <a:rPr lang="es-CO" dirty="0"/>
              <a:t>Formato  de propuesta, acta de constitución, acta de inicio, acta de cierre de un proyecto ( </a:t>
            </a:r>
            <a:r>
              <a:rPr lang="es-CO" dirty="0" err="1"/>
              <a:t>Katerine</a:t>
            </a:r>
            <a:r>
              <a:rPr lang="es-CO" dirty="0"/>
              <a:t> )</a:t>
            </a:r>
          </a:p>
          <a:p>
            <a:pPr marL="342900" indent="-342900">
              <a:buFont typeface="+mj-lt"/>
              <a:buAutoNum type="arabicPeriod"/>
            </a:pPr>
            <a:endParaRPr lang="es-CO" dirty="0"/>
          </a:p>
          <a:p>
            <a:pPr marL="342900" indent="-342900">
              <a:buFont typeface="+mj-lt"/>
              <a:buAutoNum type="arabicPeriod"/>
            </a:pPr>
            <a:r>
              <a:rPr lang="es-CO" dirty="0" err="1"/>
              <a:t>Bizagi</a:t>
            </a:r>
            <a:r>
              <a:rPr lang="es-CO" dirty="0"/>
              <a:t> </a:t>
            </a:r>
            <a:r>
              <a:rPr lang="es-CO" dirty="0" err="1"/>
              <a:t>Process</a:t>
            </a:r>
            <a:r>
              <a:rPr lang="es-CO" dirty="0"/>
              <a:t> </a:t>
            </a:r>
            <a:r>
              <a:rPr lang="es-CO" dirty="0" err="1"/>
              <a:t>Modeler</a:t>
            </a:r>
            <a:r>
              <a:rPr lang="es-CO" dirty="0"/>
              <a:t> es un modelo de software tipo </a:t>
            </a:r>
            <a:r>
              <a:rPr lang="es-CO" dirty="0" err="1"/>
              <a:t>Freemium</a:t>
            </a:r>
            <a:r>
              <a:rPr lang="es-CO" dirty="0"/>
              <a:t> para diagramar, documentar y simular procesos de manera gráfica. (Astudillo)</a:t>
            </a:r>
          </a:p>
          <a:p>
            <a:pPr marL="342900" indent="-342900">
              <a:buFont typeface="+mj-lt"/>
              <a:buAutoNum type="arabicPeriod"/>
            </a:pPr>
            <a:endParaRPr lang="es-CO" dirty="0"/>
          </a:p>
          <a:p>
            <a:pPr marL="342900" indent="-342900">
              <a:buFont typeface="+mj-lt"/>
              <a:buAutoNum type="arabicPeriod"/>
            </a:pPr>
            <a:r>
              <a:rPr lang="es-CO" dirty="0"/>
              <a:t>EDT La </a:t>
            </a:r>
            <a:r>
              <a:rPr lang="es-CO" b="1" dirty="0"/>
              <a:t>Estructura Desglosada de Trabajo</a:t>
            </a:r>
            <a:r>
              <a:rPr lang="es-CO" dirty="0"/>
              <a:t> (EDT), también conocida como </a:t>
            </a:r>
            <a:r>
              <a:rPr lang="es-CO" b="1" dirty="0"/>
              <a:t>WBS</a:t>
            </a:r>
            <a:r>
              <a:rPr lang="es-CO" dirty="0"/>
              <a:t> (es una Herramienta para elaborar la EDT)(</a:t>
            </a:r>
            <a:r>
              <a:rPr lang="es-CO" dirty="0" err="1"/>
              <a:t>Work</a:t>
            </a:r>
            <a:r>
              <a:rPr lang="es-CO" dirty="0"/>
              <a:t> </a:t>
            </a:r>
            <a:r>
              <a:rPr lang="es-CO" dirty="0" err="1"/>
              <a:t>Breakdown</a:t>
            </a:r>
            <a:r>
              <a:rPr lang="es-CO" dirty="0"/>
              <a:t> </a:t>
            </a:r>
            <a:r>
              <a:rPr lang="es-CO" dirty="0" err="1"/>
              <a:t>Structure</a:t>
            </a:r>
            <a:r>
              <a:rPr lang="es-CO" dirty="0"/>
              <a:t>) es una técnica muy conocida y de vital importancia para la gestión de proyectos ya sean pequeños, medianos o grandes. ( Lugo)</a:t>
            </a:r>
          </a:p>
          <a:p>
            <a:pPr marL="342900" indent="-342900">
              <a:buFont typeface="+mj-lt"/>
              <a:buAutoNum type="arabicPeriod"/>
            </a:pPr>
            <a:endParaRPr lang="es-CO" dirty="0"/>
          </a:p>
          <a:p>
            <a:pPr marL="342900" indent="-342900">
              <a:buFont typeface="+mj-lt"/>
              <a:buAutoNum type="arabicPeriod"/>
            </a:pPr>
            <a:r>
              <a:rPr lang="es-CO" dirty="0"/>
              <a:t>Matriz de riesgo de un proyecto (</a:t>
            </a:r>
            <a:r>
              <a:rPr lang="es-CO" dirty="0" err="1"/>
              <a:t>Delman</a:t>
            </a:r>
            <a:r>
              <a:rPr lang="es-CO" dirty="0"/>
              <a:t>)</a:t>
            </a:r>
          </a:p>
          <a:p>
            <a:endParaRPr lang="es-CO" dirty="0"/>
          </a:p>
        </p:txBody>
      </p:sp>
    </p:spTree>
    <p:extLst>
      <p:ext uri="{BB962C8B-B14F-4D97-AF65-F5344CB8AC3E}">
        <p14:creationId xmlns:p14="http://schemas.microsoft.com/office/powerpoint/2010/main" val="30640228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CuadroTexto 3"/>
          <p:cNvSpPr txBox="1"/>
          <p:nvPr/>
        </p:nvSpPr>
        <p:spPr>
          <a:xfrm>
            <a:off x="231821" y="1242813"/>
            <a:ext cx="8706117" cy="830997"/>
          </a:xfrm>
          <a:prstGeom prst="rect">
            <a:avLst/>
          </a:prstGeom>
          <a:noFill/>
        </p:spPr>
        <p:txBody>
          <a:bodyPr wrap="square" rtlCol="0">
            <a:spAutoFit/>
          </a:bodyPr>
          <a:lstStyle/>
          <a:p>
            <a:pPr algn="just"/>
            <a:r>
              <a:rPr lang="es-CO" sz="2400" dirty="0">
                <a:solidFill>
                  <a:schemeClr val="bg1"/>
                </a:solidFill>
              </a:rPr>
              <a:t>EJECUTAR UN PROYECTO DE DESARROLLO DE SOFTWARE APLICANDO  BUENAS PRACTICAS EN EL PROCESO DE DESARROLLO.</a:t>
            </a:r>
          </a:p>
        </p:txBody>
      </p:sp>
      <p:pic>
        <p:nvPicPr>
          <p:cNvPr id="6" name="Imagen 5"/>
          <p:cNvPicPr>
            <a:picLocks noChangeAspect="1"/>
          </p:cNvPicPr>
          <p:nvPr/>
        </p:nvPicPr>
        <p:blipFill>
          <a:blip r:embed="rId2"/>
          <a:stretch>
            <a:fillRect/>
          </a:stretch>
        </p:blipFill>
        <p:spPr>
          <a:xfrm>
            <a:off x="1970468" y="2556769"/>
            <a:ext cx="4649273" cy="3882668"/>
          </a:xfrm>
          <a:prstGeom prst="rect">
            <a:avLst/>
          </a:prstGeom>
        </p:spPr>
      </p:pic>
      <p:pic>
        <p:nvPicPr>
          <p:cNvPr id="8" name="Imagen 1" descr="J:\CORHUILA\Imagen Corporativa\logo_u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0"/>
            <a:ext cx="850006" cy="749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Imagen 1" descr="J:\CORHUILA\Imagen Corporativa\logo_u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5758"/>
            <a:ext cx="1249251" cy="1004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Imagen 13"/>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98158" y="154079"/>
            <a:ext cx="574675" cy="971550"/>
          </a:xfrm>
          <a:prstGeom prst="rect">
            <a:avLst/>
          </a:prstGeom>
          <a:noFill/>
          <a:ln>
            <a:noFill/>
          </a:ln>
        </p:spPr>
      </p:pic>
    </p:spTree>
    <p:extLst>
      <p:ext uri="{BB962C8B-B14F-4D97-AF65-F5344CB8AC3E}">
        <p14:creationId xmlns:p14="http://schemas.microsoft.com/office/powerpoint/2010/main" val="36311564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6600"/>
        </a:solidFill>
        <a:effectLst/>
      </p:bgPr>
    </p:bg>
    <p:spTree>
      <p:nvGrpSpPr>
        <p:cNvPr id="1" name=""/>
        <p:cNvGrpSpPr/>
        <p:nvPr/>
      </p:nvGrpSpPr>
      <p:grpSpPr>
        <a:xfrm>
          <a:off x="0" y="0"/>
          <a:ext cx="0" cy="0"/>
          <a:chOff x="0" y="0"/>
          <a:chExt cx="0" cy="0"/>
        </a:xfrm>
      </p:grpSpPr>
      <p:sp>
        <p:nvSpPr>
          <p:cNvPr id="4" name="CuadroTexto 3"/>
          <p:cNvSpPr txBox="1"/>
          <p:nvPr/>
        </p:nvSpPr>
        <p:spPr>
          <a:xfrm>
            <a:off x="128789" y="991675"/>
            <a:ext cx="8847785" cy="5262979"/>
          </a:xfrm>
          <a:prstGeom prst="rect">
            <a:avLst/>
          </a:prstGeom>
          <a:noFill/>
        </p:spPr>
        <p:txBody>
          <a:bodyPr wrap="square" rtlCol="0">
            <a:spAutoFit/>
          </a:bodyPr>
          <a:lstStyle/>
          <a:p>
            <a:pPr algn="just"/>
            <a:r>
              <a:rPr lang="es-CO" sz="2400" dirty="0">
                <a:solidFill>
                  <a:schemeClr val="bg1"/>
                </a:solidFill>
              </a:rPr>
              <a:t>ENTREGABLES “mínimos”:</a:t>
            </a:r>
          </a:p>
          <a:p>
            <a:pPr marL="342900" indent="-342900" algn="just">
              <a:buFont typeface="Arial" panose="020B0604020202020204" pitchFamily="34" charset="0"/>
              <a:buChar char="•"/>
            </a:pPr>
            <a:r>
              <a:rPr lang="es-CO" sz="2400" dirty="0">
                <a:solidFill>
                  <a:schemeClr val="bg1"/>
                </a:solidFill>
              </a:rPr>
              <a:t>Propuesta.</a:t>
            </a:r>
          </a:p>
          <a:p>
            <a:pPr marL="342900" indent="-342900" algn="just">
              <a:buFont typeface="Arial" panose="020B0604020202020204" pitchFamily="34" charset="0"/>
              <a:buChar char="•"/>
            </a:pPr>
            <a:r>
              <a:rPr lang="es-CO" sz="2400" dirty="0">
                <a:solidFill>
                  <a:schemeClr val="bg1"/>
                </a:solidFill>
              </a:rPr>
              <a:t>Acta de constitución del proyecto.</a:t>
            </a:r>
          </a:p>
          <a:p>
            <a:pPr marL="342900" indent="-342900" algn="just">
              <a:buFont typeface="Arial" panose="020B0604020202020204" pitchFamily="34" charset="0"/>
              <a:buChar char="•"/>
            </a:pPr>
            <a:r>
              <a:rPr lang="es-CO" sz="2400" dirty="0">
                <a:solidFill>
                  <a:schemeClr val="bg1"/>
                </a:solidFill>
              </a:rPr>
              <a:t>Proceso definido de grupo, para el desarrollo del proyecto (</a:t>
            </a:r>
            <a:r>
              <a:rPr lang="es-CO" sz="2400" dirty="0" err="1">
                <a:solidFill>
                  <a:schemeClr val="bg1"/>
                </a:solidFill>
              </a:rPr>
              <a:t>bizagi</a:t>
            </a:r>
            <a:r>
              <a:rPr lang="es-CO" sz="2400" dirty="0">
                <a:solidFill>
                  <a:schemeClr val="bg1"/>
                </a:solidFill>
              </a:rPr>
              <a:t>).</a:t>
            </a:r>
          </a:p>
          <a:p>
            <a:pPr marL="342900" indent="-342900" algn="just">
              <a:buFont typeface="Arial" panose="020B0604020202020204" pitchFamily="34" charset="0"/>
              <a:buChar char="•"/>
            </a:pPr>
            <a:r>
              <a:rPr lang="es-CO" sz="2400" dirty="0">
                <a:solidFill>
                  <a:schemeClr val="bg1"/>
                </a:solidFill>
              </a:rPr>
              <a:t>Identificación del  proceso de desarrollo (EDT y Evidencias de cada fase).</a:t>
            </a:r>
          </a:p>
          <a:p>
            <a:pPr marL="342900" indent="-342900" algn="just">
              <a:buFont typeface="Arial" panose="020B0604020202020204" pitchFamily="34" charset="0"/>
              <a:buChar char="•"/>
            </a:pPr>
            <a:r>
              <a:rPr lang="es-CO" sz="2400" dirty="0">
                <a:solidFill>
                  <a:schemeClr val="bg1"/>
                </a:solidFill>
              </a:rPr>
              <a:t>Elaboración de un matriz de riesgos (Mínimo 10).</a:t>
            </a:r>
          </a:p>
          <a:p>
            <a:pPr marL="342900" indent="-342900" algn="just">
              <a:buFont typeface="Arial" panose="020B0604020202020204" pitchFamily="34" charset="0"/>
              <a:buChar char="•"/>
            </a:pPr>
            <a:r>
              <a:rPr lang="es-CO" sz="2400" dirty="0">
                <a:solidFill>
                  <a:schemeClr val="bg1"/>
                </a:solidFill>
              </a:rPr>
              <a:t>Evidencias del control y monitoreo (Evidencias)</a:t>
            </a:r>
          </a:p>
          <a:p>
            <a:pPr marL="342900" indent="-342900" algn="just">
              <a:buFont typeface="Arial" panose="020B0604020202020204" pitchFamily="34" charset="0"/>
              <a:buChar char="•"/>
            </a:pPr>
            <a:r>
              <a:rPr lang="es-CO" sz="2400" dirty="0">
                <a:solidFill>
                  <a:schemeClr val="bg1"/>
                </a:solidFill>
              </a:rPr>
              <a:t>Acta de inicio y cierre.</a:t>
            </a:r>
          </a:p>
          <a:p>
            <a:pPr marL="342900" indent="-342900" algn="just">
              <a:buFont typeface="Arial" panose="020B0604020202020204" pitchFamily="34" charset="0"/>
              <a:buChar char="•"/>
            </a:pPr>
            <a:r>
              <a:rPr lang="es-CO" sz="2400" dirty="0">
                <a:solidFill>
                  <a:schemeClr val="bg1"/>
                </a:solidFill>
              </a:rPr>
              <a:t>Producto software.</a:t>
            </a:r>
          </a:p>
          <a:p>
            <a:pPr marL="342900" indent="-342900" algn="just">
              <a:buFont typeface="Arial" panose="020B0604020202020204" pitchFamily="34" charset="0"/>
              <a:buChar char="•"/>
            </a:pPr>
            <a:r>
              <a:rPr lang="es-CO" sz="2400" dirty="0">
                <a:solidFill>
                  <a:schemeClr val="bg1"/>
                </a:solidFill>
              </a:rPr>
              <a:t>Tiempo para el desarrollo del proyecto (10 - Horas)</a:t>
            </a:r>
          </a:p>
          <a:p>
            <a:pPr marL="342900" indent="-342900" algn="just">
              <a:buFont typeface="Arial" panose="020B0604020202020204" pitchFamily="34" charset="0"/>
              <a:buChar char="•"/>
            </a:pPr>
            <a:r>
              <a:rPr lang="es-CO" sz="2400" dirty="0">
                <a:solidFill>
                  <a:schemeClr val="bg1"/>
                </a:solidFill>
              </a:rPr>
              <a:t>Grupos integrados de 8 personas.</a:t>
            </a:r>
          </a:p>
          <a:p>
            <a:pPr marL="342900" indent="-342900" algn="just">
              <a:buFont typeface="Arial" panose="020B0604020202020204" pitchFamily="34" charset="0"/>
              <a:buChar char="•"/>
            </a:pPr>
            <a:r>
              <a:rPr lang="es-CO" sz="2400" dirty="0">
                <a:solidFill>
                  <a:schemeClr val="bg1"/>
                </a:solidFill>
              </a:rPr>
              <a:t>Se pueden apoyar con CMMI.</a:t>
            </a:r>
          </a:p>
          <a:p>
            <a:pPr algn="just"/>
            <a:endParaRPr lang="es-CO" sz="2400" dirty="0">
              <a:solidFill>
                <a:schemeClr val="bg1"/>
              </a:solidFill>
            </a:endParaRPr>
          </a:p>
        </p:txBody>
      </p:sp>
      <p:sp>
        <p:nvSpPr>
          <p:cNvPr id="5" name="Rectángulo 4"/>
          <p:cNvSpPr/>
          <p:nvPr/>
        </p:nvSpPr>
        <p:spPr>
          <a:xfrm>
            <a:off x="0" y="0"/>
            <a:ext cx="6619741" cy="759854"/>
          </a:xfrm>
          <a:prstGeom prst="rect">
            <a:avLst/>
          </a:prstGeom>
          <a:solidFill>
            <a:srgbClr val="FFC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sp>
        <p:nvSpPr>
          <p:cNvPr id="7" name="Rectángulo 6"/>
          <p:cNvSpPr/>
          <p:nvPr/>
        </p:nvSpPr>
        <p:spPr>
          <a:xfrm>
            <a:off x="6838682" y="0"/>
            <a:ext cx="1918953" cy="75985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8" name="Imagen 1" descr="J:\CORHUILA\Imagen Corporativa\logo_uh.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850006" cy="749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632220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1013</TotalTime>
  <Words>1040</Words>
  <Application>Microsoft Office PowerPoint</Application>
  <PresentationFormat>Presentación en pantalla (4:3)</PresentationFormat>
  <Paragraphs>89</Paragraphs>
  <Slides>59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59</vt:i4>
      </vt:variant>
    </vt:vector>
  </HeadingPairs>
  <TitlesOfParts>
    <vt:vector size="67" baseType="lpstr">
      <vt:lpstr>arial</vt:lpstr>
      <vt:lpstr>arial</vt:lpstr>
      <vt:lpstr>Calibri</vt:lpstr>
      <vt:lpstr>Georgia</vt:lpstr>
      <vt:lpstr>Helvetica Neue</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Project Charter o Acta de Constitución de Proyecto</vt:lpstr>
      <vt:lpstr>Project Charter o Acta de Constitución de Proyecto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Martinez</dc:creator>
  <cp:lastModifiedBy>ivan alarcon avila</cp:lastModifiedBy>
  <cp:revision>108</cp:revision>
  <dcterms:created xsi:type="dcterms:W3CDTF">2016-11-18T03:01:17Z</dcterms:created>
  <dcterms:modified xsi:type="dcterms:W3CDTF">2024-02-16T23:13:10Z</dcterms:modified>
</cp:coreProperties>
</file>