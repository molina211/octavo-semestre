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991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814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771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948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995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586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8745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122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248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536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32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143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710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2085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44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4831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49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066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2904" y="2596641"/>
            <a:ext cx="4905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Calibri"/>
                <a:cs typeface="Calibri"/>
              </a:rPr>
              <a:t>GERENCIA DE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spc="-35" dirty="0">
                <a:latin typeface="Calibri"/>
                <a:cs typeface="Calibri"/>
              </a:rPr>
              <a:t>PROYECTOS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3755" y="3154426"/>
            <a:ext cx="3468370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BAJO </a:t>
            </a:r>
            <a:r>
              <a:rPr sz="2400" b="1" dirty="0">
                <a:latin typeface="Calibri"/>
                <a:cs typeface="Calibri"/>
              </a:rPr>
              <a:t>EL </a:t>
            </a:r>
            <a:r>
              <a:rPr sz="2400" b="1" spc="-5" dirty="0">
                <a:latin typeface="Calibri"/>
                <a:cs typeface="Calibri"/>
              </a:rPr>
              <a:t>ENFOQUE DEL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lang="es-CO" sz="2400" b="1" spc="-100" dirty="0" smtClean="0">
                <a:latin typeface="Calibri"/>
                <a:cs typeface="Calibri"/>
              </a:rPr>
              <a:t>PMI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223" y="6248400"/>
            <a:ext cx="4341368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i="1" spc="-5" dirty="0" smtClean="0">
                <a:latin typeface="Arial"/>
                <a:cs typeface="Arial"/>
              </a:rPr>
              <a:t>Sacado de: </a:t>
            </a:r>
            <a:r>
              <a:rPr sz="1400" b="1" i="1" dirty="0" smtClean="0">
                <a:latin typeface="Arial"/>
                <a:cs typeface="Arial"/>
              </a:rPr>
              <a:t>Juan </a:t>
            </a:r>
            <a:r>
              <a:rPr sz="1400" b="1" i="1" dirty="0">
                <a:latin typeface="Arial"/>
                <a:cs typeface="Arial"/>
              </a:rPr>
              <a:t>Carlos Jimenez Sanz – </a:t>
            </a:r>
            <a:r>
              <a:rPr sz="1400" b="1" i="1" spc="-5" dirty="0">
                <a:latin typeface="Arial"/>
                <a:cs typeface="Arial"/>
              </a:rPr>
              <a:t>PMP</a:t>
            </a:r>
            <a:r>
              <a:rPr sz="1400" b="1" i="1" spc="-204" dirty="0">
                <a:latin typeface="Arial"/>
                <a:cs typeface="Arial"/>
              </a:rPr>
              <a:t> </a:t>
            </a:r>
            <a:r>
              <a:rPr sz="1400" dirty="0" smtClean="0">
                <a:latin typeface="Arial"/>
                <a:cs typeface="Arial"/>
              </a:rPr>
              <a:t>®</a:t>
            </a:r>
            <a:endParaRPr lang="es-CO" sz="140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dirty="0" smtClean="0">
                <a:latin typeface="Arial"/>
                <a:cs typeface="Arial"/>
              </a:rPr>
              <a:t>Exponente </a:t>
            </a:r>
            <a:r>
              <a:rPr lang="es-CO" sz="1400" dirty="0" smtClean="0">
                <a:latin typeface="Arial"/>
                <a:cs typeface="Arial"/>
              </a:rPr>
              <a:t>Iván Alarcón </a:t>
            </a:r>
            <a:r>
              <a:rPr lang="es-CO" sz="1400" dirty="0" err="1" smtClean="0">
                <a:latin typeface="Arial"/>
                <a:cs typeface="Arial"/>
              </a:rPr>
              <a:t>Avila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3542" y="3899244"/>
            <a:ext cx="638810" cy="0"/>
          </a:xfrm>
          <a:custGeom>
            <a:avLst/>
            <a:gdLst/>
            <a:ahLst/>
            <a:cxnLst/>
            <a:rect l="l" t="t" r="r" b="b"/>
            <a:pathLst>
              <a:path w="638810">
                <a:moveTo>
                  <a:pt x="0" y="0"/>
                </a:moveTo>
                <a:lnTo>
                  <a:pt x="638220" y="0"/>
                </a:lnTo>
              </a:path>
            </a:pathLst>
          </a:custGeom>
          <a:ln w="28594">
            <a:solidFill>
              <a:srgbClr val="E52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0276" y="3884946"/>
            <a:ext cx="3278504" cy="29209"/>
          </a:xfrm>
          <a:custGeom>
            <a:avLst/>
            <a:gdLst/>
            <a:ahLst/>
            <a:cxnLst/>
            <a:rect l="l" t="t" r="r" b="b"/>
            <a:pathLst>
              <a:path w="3278504" h="29210">
                <a:moveTo>
                  <a:pt x="0" y="28594"/>
                </a:moveTo>
                <a:lnTo>
                  <a:pt x="3278172" y="28594"/>
                </a:lnTo>
                <a:lnTo>
                  <a:pt x="3278172" y="0"/>
                </a:lnTo>
                <a:lnTo>
                  <a:pt x="0" y="0"/>
                </a:lnTo>
                <a:lnTo>
                  <a:pt x="0" y="28594"/>
                </a:lnTo>
                <a:close/>
              </a:path>
            </a:pathLst>
          </a:custGeom>
          <a:solidFill>
            <a:srgbClr val="E52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0276" y="3884946"/>
            <a:ext cx="3278504" cy="29209"/>
          </a:xfrm>
          <a:custGeom>
            <a:avLst/>
            <a:gdLst/>
            <a:ahLst/>
            <a:cxnLst/>
            <a:rect l="l" t="t" r="r" b="b"/>
            <a:pathLst>
              <a:path w="3278504" h="29210">
                <a:moveTo>
                  <a:pt x="0" y="28594"/>
                </a:moveTo>
                <a:lnTo>
                  <a:pt x="3278172" y="28594"/>
                </a:lnTo>
                <a:lnTo>
                  <a:pt x="3278172" y="0"/>
                </a:lnTo>
                <a:lnTo>
                  <a:pt x="0" y="0"/>
                </a:lnTo>
                <a:lnTo>
                  <a:pt x="0" y="28594"/>
                </a:lnTo>
                <a:close/>
              </a:path>
            </a:pathLst>
          </a:custGeom>
          <a:solidFill>
            <a:srgbClr val="E5213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93776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0" dirty="0"/>
              <a:t>g</a:t>
            </a:r>
            <a:r>
              <a:rPr sz="4400"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295400"/>
            <a:ext cx="8991600" cy="5347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GRUPO DE PROCESOS DE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INICIACION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Desarrollar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Acta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de Constitución del</a:t>
            </a:r>
            <a:r>
              <a:rPr sz="16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Entradas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Enunciado del Trabajo del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Caso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Negocio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Contrato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Factores Ambientales de la Empresa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ts val="12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Activos de los Procesos de la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Organización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ts val="132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Herramientas y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Técnicas</a:t>
            </a:r>
          </a:p>
          <a:p>
            <a:pPr marL="161290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Juicio Experto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ts val="12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Técnicas de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Facilitación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ts val="132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ts val="1195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Acta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constitución del Proyecto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7020">
              <a:lnSpc>
                <a:spcPts val="155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Identificar a los</a:t>
            </a:r>
            <a:r>
              <a:rPr sz="16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Interesados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Entradas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Acta de Constitución del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Documentos de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Adquisiciones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Factores Ambientales de la Empresa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ts val="12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Activos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los Procesos de la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Organización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ts val="132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Herramientas y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Técnicas</a:t>
            </a:r>
          </a:p>
          <a:p>
            <a:pPr marL="161290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Análisis de los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Interesados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ts val="12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Juicio Experto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5700" lvl="2" indent="-229235">
              <a:lnSpc>
                <a:spcPts val="132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Registro de los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Interesados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2900" lvl="3" indent="-229235">
              <a:lnSpc>
                <a:spcPct val="100000"/>
              </a:lnSpc>
              <a:buFont typeface="Arial"/>
              <a:buChar char="–"/>
              <a:tabLst>
                <a:tab pos="1612900" algn="l"/>
                <a:tab pos="1613535" algn="l"/>
              </a:tabLs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Estrategia de Gestión de los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Interesados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634" y="0"/>
            <a:ext cx="7864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Grupos </a:t>
            </a:r>
            <a:r>
              <a:rPr sz="3600" spc="-5" dirty="0"/>
              <a:t>de </a:t>
            </a:r>
            <a:r>
              <a:rPr sz="3600" spc="-10" dirty="0"/>
              <a:t>proceso-áreas </a:t>
            </a:r>
            <a:r>
              <a:rPr sz="3600" spc="-5" dirty="0"/>
              <a:t>de</a:t>
            </a:r>
            <a:r>
              <a:rPr sz="3600" spc="-75" dirty="0"/>
              <a:t> </a:t>
            </a:r>
            <a:r>
              <a:rPr sz="3600" spc="-15" dirty="0"/>
              <a:t>conocimiento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988732"/>
              </p:ext>
            </p:extLst>
          </p:nvPr>
        </p:nvGraphicFramePr>
        <p:xfrm>
          <a:off x="-6350" y="481714"/>
          <a:ext cx="9146539" cy="6265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6540"/>
                <a:gridCol w="1563370"/>
                <a:gridCol w="1560194"/>
                <a:gridCol w="1550035"/>
                <a:gridCol w="1550035"/>
                <a:gridCol w="1396365"/>
              </a:tblGrid>
              <a:tr h="170531">
                <a:tc>
                  <a:txBody>
                    <a:bodyPr/>
                    <a:lstStyle/>
                    <a:p>
                      <a:pPr marL="21590"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Área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Proceso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Iniciación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Planificación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Ejecución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Monitoreo y</a:t>
                      </a:r>
                      <a:r>
                        <a:rPr sz="11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Cierre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</a:tr>
              <a:tr h="540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la</a:t>
                      </a:r>
                      <a:r>
                        <a:rPr sz="9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Integración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228600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723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Acta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Constitución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40970">
                        <a:lnSpc>
                          <a:spcPct val="100000"/>
                        </a:lnSpc>
                        <a:spcBef>
                          <a:spcPts val="35"/>
                        </a:spcBef>
                        <a:buChar char="•"/>
                        <a:tabLst>
                          <a:tab pos="9017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Plan para</a:t>
                      </a:r>
                      <a:r>
                        <a:rPr sz="9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Dirección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556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trabajo  del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23558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Monitorear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Controlar el  trabajo del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4445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Control integrado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Cambios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Proyecto 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</a:tr>
              <a:tr h="674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31940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Recopilar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Requisitos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Crear la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EDT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Validar 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076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032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indent="-41910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la gestión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del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Secuenciar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 marR="7810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 los Recursos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 marR="168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Duración</a:t>
                      </a:r>
                      <a:r>
                        <a:rPr sz="9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las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540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1590"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163830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ts val="994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Determinar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Presupuesto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74258"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517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Aseguramiento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6763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2445" marR="73660" indent="-40894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Recursos  Humanos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14160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RR.HH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0894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Adquirir el Equipo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24193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el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Equipo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ts val="101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el Equipo del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331553">
                <a:tc>
                  <a:txBody>
                    <a:bodyPr/>
                    <a:lstStyle/>
                    <a:p>
                      <a:pPr marL="314325" marR="286385" indent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las 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10985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las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826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comunicaciones del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105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  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uni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io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07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22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los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9055" indent="-41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Cualitativo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 marR="1270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Cuantitativo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 marR="4889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Respuesta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74220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82905">
                        <a:lnSpc>
                          <a:spcPts val="1015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indent="-4191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7780">
                        <a:lnSpc>
                          <a:spcPts val="99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Efectuar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</a:tr>
              <a:tr h="274231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 los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6764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5969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3335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6985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</a:t>
                      </a:r>
                      <a:r>
                        <a:rPr sz="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951" y="5448300"/>
            <a:ext cx="5311775" cy="317500"/>
          </a:xfrm>
          <a:custGeom>
            <a:avLst/>
            <a:gdLst/>
            <a:ahLst/>
            <a:cxnLst/>
            <a:rect l="l" t="t" r="r" b="b"/>
            <a:pathLst>
              <a:path w="5311775" h="317500">
                <a:moveTo>
                  <a:pt x="5256589" y="0"/>
                </a:moveTo>
                <a:lnTo>
                  <a:pt x="54892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2" y="316991"/>
                </a:lnTo>
                <a:lnTo>
                  <a:pt x="5256589" y="316991"/>
                </a:lnTo>
                <a:lnTo>
                  <a:pt x="5284036" y="279828"/>
                </a:lnTo>
                <a:lnTo>
                  <a:pt x="5302334" y="234543"/>
                </a:lnTo>
                <a:lnTo>
                  <a:pt x="5311483" y="184386"/>
                </a:lnTo>
                <a:lnTo>
                  <a:pt x="5311483" y="132605"/>
                </a:lnTo>
                <a:lnTo>
                  <a:pt x="5302334" y="82448"/>
                </a:lnTo>
                <a:lnTo>
                  <a:pt x="5284036" y="37163"/>
                </a:lnTo>
                <a:lnTo>
                  <a:pt x="5256589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58606" y="5143017"/>
            <a:ext cx="3390265" cy="317500"/>
          </a:xfrm>
          <a:custGeom>
            <a:avLst/>
            <a:gdLst/>
            <a:ahLst/>
            <a:cxnLst/>
            <a:rect l="l" t="t" r="r" b="b"/>
            <a:pathLst>
              <a:path w="3390265" h="317500">
                <a:moveTo>
                  <a:pt x="3335225" y="0"/>
                </a:moveTo>
                <a:lnTo>
                  <a:pt x="54946" y="0"/>
                </a:lnTo>
                <a:lnTo>
                  <a:pt x="27473" y="37199"/>
                </a:lnTo>
                <a:lnTo>
                  <a:pt x="9157" y="82527"/>
                </a:lnTo>
                <a:lnTo>
                  <a:pt x="0" y="132733"/>
                </a:lnTo>
                <a:lnTo>
                  <a:pt x="0" y="184563"/>
                </a:lnTo>
                <a:lnTo>
                  <a:pt x="9157" y="234768"/>
                </a:lnTo>
                <a:lnTo>
                  <a:pt x="27473" y="280096"/>
                </a:lnTo>
                <a:lnTo>
                  <a:pt x="54946" y="317296"/>
                </a:lnTo>
                <a:lnTo>
                  <a:pt x="3335225" y="317296"/>
                </a:lnTo>
                <a:lnTo>
                  <a:pt x="3362698" y="280096"/>
                </a:lnTo>
                <a:lnTo>
                  <a:pt x="3381013" y="234768"/>
                </a:lnTo>
                <a:lnTo>
                  <a:pt x="3390171" y="184563"/>
                </a:lnTo>
                <a:lnTo>
                  <a:pt x="3390171" y="132733"/>
                </a:lnTo>
                <a:lnTo>
                  <a:pt x="3381013" y="82527"/>
                </a:lnTo>
                <a:lnTo>
                  <a:pt x="3362698" y="37199"/>
                </a:lnTo>
                <a:lnTo>
                  <a:pt x="3335225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31258" y="4076446"/>
            <a:ext cx="2839720" cy="317500"/>
          </a:xfrm>
          <a:custGeom>
            <a:avLst/>
            <a:gdLst/>
            <a:ahLst/>
            <a:cxnLst/>
            <a:rect l="l" t="t" r="r" b="b"/>
            <a:pathLst>
              <a:path w="2839720" h="317500">
                <a:moveTo>
                  <a:pt x="2784204" y="0"/>
                </a:moveTo>
                <a:lnTo>
                  <a:pt x="54892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2" y="316991"/>
                </a:lnTo>
                <a:lnTo>
                  <a:pt x="2784204" y="316991"/>
                </a:lnTo>
                <a:lnTo>
                  <a:pt x="2811650" y="279828"/>
                </a:lnTo>
                <a:lnTo>
                  <a:pt x="2829948" y="234543"/>
                </a:lnTo>
                <a:lnTo>
                  <a:pt x="2839097" y="184386"/>
                </a:lnTo>
                <a:lnTo>
                  <a:pt x="2839097" y="132605"/>
                </a:lnTo>
                <a:lnTo>
                  <a:pt x="2829948" y="82448"/>
                </a:lnTo>
                <a:lnTo>
                  <a:pt x="2811650" y="37163"/>
                </a:lnTo>
                <a:lnTo>
                  <a:pt x="2784204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6951" y="3390265"/>
            <a:ext cx="4173854" cy="317500"/>
          </a:xfrm>
          <a:custGeom>
            <a:avLst/>
            <a:gdLst/>
            <a:ahLst/>
            <a:cxnLst/>
            <a:rect l="l" t="t" r="r" b="b"/>
            <a:pathLst>
              <a:path w="4173854" h="317500">
                <a:moveTo>
                  <a:pt x="4118475" y="0"/>
                </a:moveTo>
                <a:lnTo>
                  <a:pt x="54892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2" y="316992"/>
                </a:lnTo>
                <a:lnTo>
                  <a:pt x="4118475" y="316992"/>
                </a:lnTo>
                <a:lnTo>
                  <a:pt x="4145921" y="279828"/>
                </a:lnTo>
                <a:lnTo>
                  <a:pt x="4164219" y="234543"/>
                </a:lnTo>
                <a:lnTo>
                  <a:pt x="4173368" y="184386"/>
                </a:lnTo>
                <a:lnTo>
                  <a:pt x="4173368" y="132605"/>
                </a:lnTo>
                <a:lnTo>
                  <a:pt x="4164219" y="82448"/>
                </a:lnTo>
                <a:lnTo>
                  <a:pt x="4145921" y="37163"/>
                </a:lnTo>
                <a:lnTo>
                  <a:pt x="4118475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51526" y="3009264"/>
            <a:ext cx="3788410" cy="317500"/>
          </a:xfrm>
          <a:custGeom>
            <a:avLst/>
            <a:gdLst/>
            <a:ahLst/>
            <a:cxnLst/>
            <a:rect l="l" t="t" r="r" b="b"/>
            <a:pathLst>
              <a:path w="3788409" h="317500">
                <a:moveTo>
                  <a:pt x="3733129" y="0"/>
                </a:moveTo>
                <a:lnTo>
                  <a:pt x="54892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2" y="316992"/>
                </a:lnTo>
                <a:lnTo>
                  <a:pt x="3733129" y="316992"/>
                </a:lnTo>
                <a:lnTo>
                  <a:pt x="3760575" y="279828"/>
                </a:lnTo>
                <a:lnTo>
                  <a:pt x="3778873" y="234543"/>
                </a:lnTo>
                <a:lnTo>
                  <a:pt x="3788022" y="184386"/>
                </a:lnTo>
                <a:lnTo>
                  <a:pt x="3788022" y="132605"/>
                </a:lnTo>
                <a:lnTo>
                  <a:pt x="3778873" y="82448"/>
                </a:lnTo>
                <a:lnTo>
                  <a:pt x="3760575" y="37163"/>
                </a:lnTo>
                <a:lnTo>
                  <a:pt x="3733129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05043" y="2627782"/>
            <a:ext cx="1897380" cy="317500"/>
          </a:xfrm>
          <a:custGeom>
            <a:avLst/>
            <a:gdLst/>
            <a:ahLst/>
            <a:cxnLst/>
            <a:rect l="l" t="t" r="r" b="b"/>
            <a:pathLst>
              <a:path w="1897379" h="317500">
                <a:moveTo>
                  <a:pt x="1842434" y="0"/>
                </a:moveTo>
                <a:lnTo>
                  <a:pt x="54946" y="0"/>
                </a:lnTo>
                <a:lnTo>
                  <a:pt x="27473" y="37199"/>
                </a:lnTo>
                <a:lnTo>
                  <a:pt x="9157" y="82527"/>
                </a:lnTo>
                <a:lnTo>
                  <a:pt x="0" y="132733"/>
                </a:lnTo>
                <a:lnTo>
                  <a:pt x="0" y="184563"/>
                </a:lnTo>
                <a:lnTo>
                  <a:pt x="9157" y="234768"/>
                </a:lnTo>
                <a:lnTo>
                  <a:pt x="27473" y="280096"/>
                </a:lnTo>
                <a:lnTo>
                  <a:pt x="54946" y="317296"/>
                </a:lnTo>
                <a:lnTo>
                  <a:pt x="1842434" y="317296"/>
                </a:lnTo>
                <a:lnTo>
                  <a:pt x="1869907" y="280096"/>
                </a:lnTo>
                <a:lnTo>
                  <a:pt x="1888222" y="234768"/>
                </a:lnTo>
                <a:lnTo>
                  <a:pt x="1897380" y="184563"/>
                </a:lnTo>
                <a:lnTo>
                  <a:pt x="1897380" y="132733"/>
                </a:lnTo>
                <a:lnTo>
                  <a:pt x="1888222" y="82527"/>
                </a:lnTo>
                <a:lnTo>
                  <a:pt x="1869907" y="37199"/>
                </a:lnTo>
                <a:lnTo>
                  <a:pt x="1842434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6823" y="1942210"/>
            <a:ext cx="5269865" cy="317500"/>
          </a:xfrm>
          <a:custGeom>
            <a:avLst/>
            <a:gdLst/>
            <a:ahLst/>
            <a:cxnLst/>
            <a:rect l="l" t="t" r="r" b="b"/>
            <a:pathLst>
              <a:path w="5269865" h="317500">
                <a:moveTo>
                  <a:pt x="5214821" y="0"/>
                </a:moveTo>
                <a:lnTo>
                  <a:pt x="54893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3" y="316991"/>
                </a:lnTo>
                <a:lnTo>
                  <a:pt x="5214821" y="316991"/>
                </a:lnTo>
                <a:lnTo>
                  <a:pt x="5242267" y="279828"/>
                </a:lnTo>
                <a:lnTo>
                  <a:pt x="5260565" y="234543"/>
                </a:lnTo>
                <a:lnTo>
                  <a:pt x="5269714" y="184386"/>
                </a:lnTo>
                <a:lnTo>
                  <a:pt x="5269714" y="132605"/>
                </a:lnTo>
                <a:lnTo>
                  <a:pt x="5260565" y="82448"/>
                </a:lnTo>
                <a:lnTo>
                  <a:pt x="5242267" y="37163"/>
                </a:lnTo>
                <a:lnTo>
                  <a:pt x="5214821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95920" y="1637410"/>
            <a:ext cx="2165985" cy="317500"/>
          </a:xfrm>
          <a:custGeom>
            <a:avLst/>
            <a:gdLst/>
            <a:ahLst/>
            <a:cxnLst/>
            <a:rect l="l" t="t" r="r" b="b"/>
            <a:pathLst>
              <a:path w="2165984" h="317500">
                <a:moveTo>
                  <a:pt x="2110660" y="0"/>
                </a:moveTo>
                <a:lnTo>
                  <a:pt x="54892" y="0"/>
                </a:lnTo>
                <a:lnTo>
                  <a:pt x="27446" y="37163"/>
                </a:lnTo>
                <a:lnTo>
                  <a:pt x="9148" y="82448"/>
                </a:lnTo>
                <a:lnTo>
                  <a:pt x="0" y="132605"/>
                </a:lnTo>
                <a:lnTo>
                  <a:pt x="0" y="184386"/>
                </a:lnTo>
                <a:lnTo>
                  <a:pt x="9148" y="234543"/>
                </a:lnTo>
                <a:lnTo>
                  <a:pt x="27446" y="279828"/>
                </a:lnTo>
                <a:lnTo>
                  <a:pt x="54892" y="316991"/>
                </a:lnTo>
                <a:lnTo>
                  <a:pt x="2110660" y="316991"/>
                </a:lnTo>
                <a:lnTo>
                  <a:pt x="2138107" y="279828"/>
                </a:lnTo>
                <a:lnTo>
                  <a:pt x="2156405" y="234543"/>
                </a:lnTo>
                <a:lnTo>
                  <a:pt x="2165554" y="184386"/>
                </a:lnTo>
                <a:lnTo>
                  <a:pt x="2165554" y="132605"/>
                </a:lnTo>
                <a:lnTo>
                  <a:pt x="2156405" y="82448"/>
                </a:lnTo>
                <a:lnTo>
                  <a:pt x="2138107" y="37163"/>
                </a:lnTo>
                <a:lnTo>
                  <a:pt x="2110660" y="0"/>
                </a:lnTo>
                <a:close/>
              </a:path>
            </a:pathLst>
          </a:custGeom>
          <a:solidFill>
            <a:srgbClr val="FFD1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24306" y="461899"/>
            <a:ext cx="7691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Grupo </a:t>
            </a:r>
            <a:r>
              <a:rPr sz="4400" spc="-5" dirty="0"/>
              <a:t>de </a:t>
            </a:r>
            <a:r>
              <a:rPr sz="4400" spc="-10" dirty="0"/>
              <a:t>Procesos </a:t>
            </a:r>
            <a:r>
              <a:rPr sz="4400" spc="-5" dirty="0"/>
              <a:t>de</a:t>
            </a:r>
            <a:r>
              <a:rPr sz="4400" spc="-35" dirty="0"/>
              <a:t> </a:t>
            </a:r>
            <a:r>
              <a:rPr sz="4400" spc="-10" dirty="0"/>
              <a:t>INICIACION</a:t>
            </a:r>
            <a:endParaRPr sz="4400"/>
          </a:p>
        </p:txBody>
      </p:sp>
      <p:sp>
        <p:nvSpPr>
          <p:cNvPr id="11" name="object 11"/>
          <p:cNvSpPr txBox="1"/>
          <p:nvPr/>
        </p:nvSpPr>
        <p:spPr>
          <a:xfrm>
            <a:off x="535940" y="1545462"/>
            <a:ext cx="8074025" cy="42170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3535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libri"/>
                <a:cs typeface="Calibri"/>
              </a:rPr>
              <a:t>Los procesos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5" dirty="0">
                <a:latin typeface="Calibri"/>
                <a:cs typeface="Calibri"/>
              </a:rPr>
              <a:t>este </a:t>
            </a:r>
            <a:r>
              <a:rPr sz="2500" spc="-5" dirty="0">
                <a:latin typeface="Calibri"/>
                <a:cs typeface="Calibri"/>
              </a:rPr>
              <a:t>grupo </a:t>
            </a:r>
            <a:r>
              <a:rPr sz="2500" spc="-10" dirty="0">
                <a:latin typeface="Calibri"/>
                <a:cs typeface="Calibri"/>
              </a:rPr>
              <a:t>definen </a:t>
            </a:r>
            <a:r>
              <a:rPr sz="2500" spc="-5" dirty="0">
                <a:latin typeface="Calibri"/>
                <a:cs typeface="Calibri"/>
              </a:rPr>
              <a:t>un </a:t>
            </a:r>
            <a:r>
              <a:rPr sz="2500" spc="-10" dirty="0">
                <a:latin typeface="Calibri"/>
                <a:cs typeface="Calibri"/>
              </a:rPr>
              <a:t>nuevo </a:t>
            </a:r>
            <a:r>
              <a:rPr sz="2500" spc="-20" dirty="0">
                <a:latin typeface="Calibri"/>
                <a:cs typeface="Calibri"/>
              </a:rPr>
              <a:t>Proyecto </a:t>
            </a:r>
            <a:r>
              <a:rPr sz="2500" spc="-5" dirty="0">
                <a:latin typeface="Calibri"/>
                <a:cs typeface="Calibri"/>
              </a:rPr>
              <a:t>o  </a:t>
            </a:r>
            <a:r>
              <a:rPr sz="2500" spc="-10" dirty="0">
                <a:latin typeface="Calibri"/>
                <a:cs typeface="Calibri"/>
              </a:rPr>
              <a:t>una </a:t>
            </a:r>
            <a:r>
              <a:rPr sz="2500" spc="-15" dirty="0">
                <a:latin typeface="Calibri"/>
                <a:cs typeface="Calibri"/>
              </a:rPr>
              <a:t>nueva </a:t>
            </a:r>
            <a:r>
              <a:rPr sz="2500" spc="-20" dirty="0">
                <a:latin typeface="Calibri"/>
                <a:cs typeface="Calibri"/>
              </a:rPr>
              <a:t>Fase </a:t>
            </a:r>
            <a:r>
              <a:rPr sz="2500" spc="-5" dirty="0">
                <a:latin typeface="Calibri"/>
                <a:cs typeface="Calibri"/>
              </a:rPr>
              <a:t>de un </a:t>
            </a:r>
            <a:r>
              <a:rPr sz="2500" spc="-20" dirty="0">
                <a:latin typeface="Calibri"/>
                <a:cs typeface="Calibri"/>
              </a:rPr>
              <a:t>Proyecto </a:t>
            </a:r>
            <a:r>
              <a:rPr sz="2500" spc="-25" dirty="0">
                <a:latin typeface="Calibri"/>
                <a:cs typeface="Calibri"/>
              </a:rPr>
              <a:t>ya </a:t>
            </a:r>
            <a:r>
              <a:rPr sz="2500" spc="-20" dirty="0">
                <a:latin typeface="Calibri"/>
                <a:cs typeface="Calibri"/>
              </a:rPr>
              <a:t>existente, </a:t>
            </a:r>
            <a:r>
              <a:rPr sz="2500" spc="-10" dirty="0">
                <a:latin typeface="Calibri"/>
                <a:cs typeface="Calibri"/>
              </a:rPr>
              <a:t>mediante </a:t>
            </a:r>
            <a:r>
              <a:rPr sz="2500" spc="10" dirty="0">
                <a:latin typeface="Calibri"/>
                <a:cs typeface="Calibri"/>
              </a:rPr>
              <a:t>la  </a:t>
            </a:r>
            <a:r>
              <a:rPr sz="2500" spc="-10" dirty="0">
                <a:latin typeface="Calibri"/>
                <a:cs typeface="Calibri"/>
              </a:rPr>
              <a:t>obtención </a:t>
            </a:r>
            <a:r>
              <a:rPr sz="2500" spc="-5" dirty="0">
                <a:latin typeface="Calibri"/>
                <a:cs typeface="Calibri"/>
              </a:rPr>
              <a:t>de la </a:t>
            </a:r>
            <a:r>
              <a:rPr sz="2500" spc="-10" dirty="0">
                <a:latin typeface="Calibri"/>
                <a:cs typeface="Calibri"/>
              </a:rPr>
              <a:t>autorización </a:t>
            </a:r>
            <a:r>
              <a:rPr sz="2500" spc="-20" dirty="0">
                <a:latin typeface="Calibri"/>
                <a:cs typeface="Calibri"/>
              </a:rPr>
              <a:t>para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comenzar.</a:t>
            </a:r>
            <a:endParaRPr sz="2500" dirty="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latin typeface="Calibri"/>
                <a:cs typeface="Calibri"/>
              </a:rPr>
              <a:t>Se </a:t>
            </a:r>
            <a:r>
              <a:rPr sz="2500" spc="-10" dirty="0">
                <a:latin typeface="Calibri"/>
                <a:cs typeface="Calibri"/>
              </a:rPr>
              <a:t>define </a:t>
            </a:r>
            <a:r>
              <a:rPr sz="2500" spc="-5" dirty="0">
                <a:latin typeface="Calibri"/>
                <a:cs typeface="Calibri"/>
              </a:rPr>
              <a:t>el alcance</a:t>
            </a:r>
            <a:r>
              <a:rPr sz="2500" spc="6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inicial</a:t>
            </a:r>
            <a:endParaRPr sz="2500" dirty="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500" dirty="0">
                <a:latin typeface="Calibri"/>
                <a:cs typeface="Calibri"/>
              </a:rPr>
              <a:t>Se </a:t>
            </a:r>
            <a:r>
              <a:rPr sz="2500" spc="-15" dirty="0">
                <a:latin typeface="Calibri"/>
                <a:cs typeface="Calibri"/>
              </a:rPr>
              <a:t>comprometen </a:t>
            </a:r>
            <a:r>
              <a:rPr sz="2500" spc="-5" dirty="0">
                <a:latin typeface="Calibri"/>
                <a:cs typeface="Calibri"/>
              </a:rPr>
              <a:t>los </a:t>
            </a:r>
            <a:r>
              <a:rPr sz="2500" spc="-15" dirty="0">
                <a:latin typeface="Calibri"/>
                <a:cs typeface="Calibri"/>
              </a:rPr>
              <a:t>recursos </a:t>
            </a:r>
            <a:r>
              <a:rPr sz="2500" spc="-10" dirty="0">
                <a:latin typeface="Calibri"/>
                <a:cs typeface="Calibri"/>
              </a:rPr>
              <a:t>financieros</a:t>
            </a:r>
            <a:r>
              <a:rPr sz="2500" spc="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iniciales</a:t>
            </a:r>
          </a:p>
          <a:p>
            <a:pPr marL="355600" marR="6350" indent="-343535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500" dirty="0">
                <a:latin typeface="Calibri"/>
                <a:cs typeface="Calibri"/>
              </a:rPr>
              <a:t>Se </a:t>
            </a:r>
            <a:r>
              <a:rPr sz="2500" spc="-5" dirty="0">
                <a:latin typeface="Calibri"/>
                <a:cs typeface="Calibri"/>
              </a:rPr>
              <a:t>identifican los </a:t>
            </a:r>
            <a:r>
              <a:rPr sz="2500" spc="-10" dirty="0">
                <a:latin typeface="Calibri"/>
                <a:cs typeface="Calibri"/>
              </a:rPr>
              <a:t>interesados internos </a:t>
            </a:r>
            <a:r>
              <a:rPr sz="2500" spc="-5" dirty="0">
                <a:latin typeface="Calibri"/>
                <a:cs typeface="Calibri"/>
              </a:rPr>
              <a:t>y </a:t>
            </a:r>
            <a:r>
              <a:rPr sz="2500" spc="-10" dirty="0">
                <a:latin typeface="Calibri"/>
                <a:cs typeface="Calibri"/>
              </a:rPr>
              <a:t>externos </a:t>
            </a:r>
            <a:r>
              <a:rPr sz="2500" spc="-5" dirty="0">
                <a:latin typeface="Calibri"/>
                <a:cs typeface="Calibri"/>
              </a:rPr>
              <a:t>(que  </a:t>
            </a:r>
            <a:r>
              <a:rPr sz="2500" spc="-10" dirty="0">
                <a:latin typeface="Calibri"/>
                <a:cs typeface="Calibri"/>
              </a:rPr>
              <a:t>interactúan </a:t>
            </a:r>
            <a:r>
              <a:rPr sz="2500" spc="-5" dirty="0">
                <a:latin typeface="Calibri"/>
                <a:cs typeface="Calibri"/>
              </a:rPr>
              <a:t>o </a:t>
            </a:r>
            <a:r>
              <a:rPr sz="2500" spc="-10" dirty="0">
                <a:latin typeface="Calibri"/>
                <a:cs typeface="Calibri"/>
              </a:rPr>
              <a:t>que </a:t>
            </a:r>
            <a:r>
              <a:rPr sz="2500" spc="-5" dirty="0">
                <a:latin typeface="Calibri"/>
                <a:cs typeface="Calibri"/>
              </a:rPr>
              <a:t>ejercen </a:t>
            </a:r>
            <a:r>
              <a:rPr sz="2500" spc="-10" dirty="0">
                <a:latin typeface="Calibri"/>
                <a:cs typeface="Calibri"/>
              </a:rPr>
              <a:t>influencia) </a:t>
            </a:r>
            <a:r>
              <a:rPr sz="2500" spc="-15" dirty="0">
                <a:latin typeface="Calibri"/>
                <a:cs typeface="Calibri"/>
              </a:rPr>
              <a:t>(Stakeholder</a:t>
            </a:r>
            <a:r>
              <a:rPr sz="2500" spc="14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Register)</a:t>
            </a:r>
            <a:endParaRPr sz="2500" dirty="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6235" algn="l"/>
              </a:tabLst>
            </a:pPr>
            <a:r>
              <a:rPr sz="2500" dirty="0">
                <a:latin typeface="Calibri"/>
                <a:cs typeface="Calibri"/>
              </a:rPr>
              <a:t>Se </a:t>
            </a:r>
            <a:r>
              <a:rPr sz="2500" spc="-5" dirty="0">
                <a:latin typeface="Calibri"/>
                <a:cs typeface="Calibri"/>
              </a:rPr>
              <a:t>selecciona </a:t>
            </a:r>
            <a:r>
              <a:rPr sz="2500" dirty="0">
                <a:latin typeface="Calibri"/>
                <a:cs typeface="Calibri"/>
              </a:rPr>
              <a:t>el </a:t>
            </a:r>
            <a:r>
              <a:rPr sz="2500" spc="-15" dirty="0">
                <a:latin typeface="Calibri"/>
                <a:cs typeface="Calibri"/>
              </a:rPr>
              <a:t>Gerente </a:t>
            </a:r>
            <a:r>
              <a:rPr sz="2500" spc="-5" dirty="0">
                <a:latin typeface="Calibri"/>
                <a:cs typeface="Calibri"/>
              </a:rPr>
              <a:t>del</a:t>
            </a:r>
            <a:r>
              <a:rPr sz="2500" spc="6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Proyecto</a:t>
            </a:r>
            <a:endParaRPr sz="2500" dirty="0">
              <a:latin typeface="Calibri"/>
              <a:cs typeface="Calibri"/>
            </a:endParaRPr>
          </a:p>
          <a:p>
            <a:pPr marL="355600" marR="6350" indent="-343535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500" dirty="0">
                <a:latin typeface="Calibri"/>
                <a:cs typeface="Calibri"/>
              </a:rPr>
              <a:t>Se </a:t>
            </a:r>
            <a:r>
              <a:rPr sz="2500" spc="-10" dirty="0">
                <a:latin typeface="Calibri"/>
                <a:cs typeface="Calibri"/>
              </a:rPr>
              <a:t>documentan </a:t>
            </a:r>
            <a:r>
              <a:rPr sz="2500" spc="-5" dirty="0">
                <a:latin typeface="Calibri"/>
                <a:cs typeface="Calibri"/>
              </a:rPr>
              <a:t>los </a:t>
            </a:r>
            <a:r>
              <a:rPr sz="2500" spc="-10" dirty="0">
                <a:latin typeface="Calibri"/>
                <a:cs typeface="Calibri"/>
              </a:rPr>
              <a:t>supuestos </a:t>
            </a:r>
            <a:r>
              <a:rPr sz="2500" spc="-5" dirty="0">
                <a:latin typeface="Calibri"/>
                <a:cs typeface="Calibri"/>
              </a:rPr>
              <a:t>y restricciones </a:t>
            </a:r>
            <a:r>
              <a:rPr sz="2500" spc="-10" dirty="0">
                <a:latin typeface="Calibri"/>
                <a:cs typeface="Calibri"/>
              </a:rPr>
              <a:t>(Project  Charter)</a:t>
            </a:r>
            <a:endParaRPr sz="2500" dirty="0">
              <a:latin typeface="Calibri"/>
              <a:cs typeface="Calibri"/>
            </a:endParaRPr>
          </a:p>
          <a:p>
            <a:pPr marL="355600" marR="7620" indent="-343535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i="1" spc="-60" dirty="0">
                <a:latin typeface="Calibri"/>
                <a:cs typeface="Calibri"/>
              </a:rPr>
              <a:t>Todo </a:t>
            </a:r>
            <a:r>
              <a:rPr sz="2500" i="1" spc="-5" dirty="0">
                <a:latin typeface="Calibri"/>
                <a:cs typeface="Calibri"/>
              </a:rPr>
              <a:t>lo </a:t>
            </a:r>
            <a:r>
              <a:rPr sz="2500" i="1" spc="-10" dirty="0">
                <a:latin typeface="Calibri"/>
                <a:cs typeface="Calibri"/>
              </a:rPr>
              <a:t>anterior </a:t>
            </a:r>
            <a:r>
              <a:rPr sz="2500" i="1" dirty="0">
                <a:latin typeface="Calibri"/>
                <a:cs typeface="Calibri"/>
              </a:rPr>
              <a:t>se </a:t>
            </a:r>
            <a:r>
              <a:rPr sz="2500" i="1" spc="-5" dirty="0">
                <a:latin typeface="Calibri"/>
                <a:cs typeface="Calibri"/>
              </a:rPr>
              <a:t>plasma </a:t>
            </a:r>
            <a:r>
              <a:rPr sz="2500" i="1" spc="-10" dirty="0">
                <a:latin typeface="Calibri"/>
                <a:cs typeface="Calibri"/>
              </a:rPr>
              <a:t>en el </a:t>
            </a:r>
            <a:r>
              <a:rPr sz="2500" b="1" i="1" spc="-10" dirty="0">
                <a:latin typeface="Calibri"/>
                <a:cs typeface="Calibri"/>
              </a:rPr>
              <a:t>Acta </a:t>
            </a:r>
            <a:r>
              <a:rPr sz="2500" b="1" i="1" spc="-5" dirty="0">
                <a:latin typeface="Calibri"/>
                <a:cs typeface="Calibri"/>
              </a:rPr>
              <a:t>de </a:t>
            </a:r>
            <a:r>
              <a:rPr sz="2500" b="1" i="1" spc="-10" dirty="0">
                <a:latin typeface="Calibri"/>
                <a:cs typeface="Calibri"/>
              </a:rPr>
              <a:t>Constitución </a:t>
            </a:r>
            <a:r>
              <a:rPr sz="2500" b="1" i="1" dirty="0">
                <a:latin typeface="Calibri"/>
                <a:cs typeface="Calibri"/>
              </a:rPr>
              <a:t>del  </a:t>
            </a:r>
            <a:r>
              <a:rPr sz="2500" b="1" i="1" spc="-15" dirty="0">
                <a:latin typeface="Calibri"/>
                <a:cs typeface="Calibri"/>
              </a:rPr>
              <a:t>Proyecto </a:t>
            </a:r>
            <a:r>
              <a:rPr sz="2500" i="1" spc="-5" dirty="0">
                <a:latin typeface="Calibri"/>
                <a:cs typeface="Calibri"/>
              </a:rPr>
              <a:t>y en el </a:t>
            </a:r>
            <a:r>
              <a:rPr sz="2500" b="1" i="1" spc="-15" dirty="0">
                <a:latin typeface="Calibri"/>
                <a:cs typeface="Calibri"/>
              </a:rPr>
              <a:t>Registro </a:t>
            </a:r>
            <a:r>
              <a:rPr sz="2500" b="1" i="1" spc="-5" dirty="0">
                <a:latin typeface="Calibri"/>
                <a:cs typeface="Calibri"/>
              </a:rPr>
              <a:t>de</a:t>
            </a:r>
            <a:r>
              <a:rPr sz="2500" b="1" i="1" spc="15" dirty="0">
                <a:latin typeface="Calibri"/>
                <a:cs typeface="Calibri"/>
              </a:rPr>
              <a:t> </a:t>
            </a:r>
            <a:r>
              <a:rPr sz="2500" b="1" i="1" spc="-10" dirty="0">
                <a:latin typeface="Calibri"/>
                <a:cs typeface="Calibri"/>
              </a:rPr>
              <a:t>Interesados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306" y="461899"/>
            <a:ext cx="7691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Grupo </a:t>
            </a:r>
            <a:r>
              <a:rPr sz="4400" spc="-5" dirty="0"/>
              <a:t>de </a:t>
            </a:r>
            <a:r>
              <a:rPr sz="4400" spc="-10" dirty="0"/>
              <a:t>Procesos </a:t>
            </a:r>
            <a:r>
              <a:rPr sz="4400" spc="-5" dirty="0"/>
              <a:t>de</a:t>
            </a:r>
            <a:r>
              <a:rPr sz="4400" spc="-35" dirty="0"/>
              <a:t> </a:t>
            </a:r>
            <a:r>
              <a:rPr sz="4400" spc="-10" dirty="0"/>
              <a:t>INICIACION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1000" y="1676400"/>
            <a:ext cx="8531860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35" dirty="0">
                <a:latin typeface="Calibri"/>
                <a:cs typeface="Calibri"/>
              </a:rPr>
              <a:t>Para </a:t>
            </a:r>
            <a:r>
              <a:rPr sz="3200" dirty="0">
                <a:latin typeface="Calibri"/>
                <a:cs typeface="Calibri"/>
              </a:rPr>
              <a:t>el </a:t>
            </a:r>
            <a:r>
              <a:rPr sz="3200" spc="-5" dirty="0">
                <a:latin typeface="Calibri"/>
                <a:cs typeface="Calibri"/>
              </a:rPr>
              <a:t>PMI la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factibilidad 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ya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hizo </a:t>
            </a:r>
            <a:r>
              <a:rPr sz="3200" dirty="0">
                <a:latin typeface="Calibri"/>
                <a:cs typeface="Calibri"/>
              </a:rPr>
              <a:t>y </a:t>
            </a:r>
            <a:r>
              <a:rPr sz="3200" spc="-5" dirty="0">
                <a:latin typeface="Calibri"/>
                <a:cs typeface="Calibri"/>
              </a:rPr>
              <a:t>lo </a:t>
            </a:r>
            <a:r>
              <a:rPr sz="3200" dirty="0">
                <a:latin typeface="Calibri"/>
                <a:cs typeface="Calibri"/>
              </a:rPr>
              <a:t>que 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define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es cuáles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son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las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alternativas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para 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ejecutar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3200" spc="-25" dirty="0">
                <a:latin typeface="Calibri"/>
                <a:cs typeface="Calibri"/>
              </a:rPr>
              <a:t>(esta </a:t>
            </a:r>
            <a:r>
              <a:rPr sz="3200" dirty="0">
                <a:latin typeface="Calibri"/>
                <a:cs typeface="Calibri"/>
              </a:rPr>
              <a:t>es </a:t>
            </a: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5" dirty="0">
                <a:latin typeface="Calibri"/>
                <a:cs typeface="Calibri"/>
              </a:rPr>
              <a:t>diferencia  </a:t>
            </a:r>
            <a:r>
              <a:rPr sz="3200" spc="-20" dirty="0">
                <a:latin typeface="Calibri"/>
                <a:cs typeface="Calibri"/>
              </a:rPr>
              <a:t>frente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0" dirty="0">
                <a:latin typeface="Calibri"/>
                <a:cs typeface="Calibri"/>
              </a:rPr>
              <a:t>metodología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dirty="0">
                <a:latin typeface="Calibri"/>
                <a:cs typeface="Calibri"/>
              </a:rPr>
              <a:t>los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ingleses)</a:t>
            </a:r>
            <a:endParaRPr sz="32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20" dirty="0">
                <a:latin typeface="Calibri"/>
                <a:cs typeface="Calibri"/>
              </a:rPr>
              <a:t>“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Key </a:t>
            </a:r>
            <a:r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off</a:t>
            </a:r>
            <a:r>
              <a:rPr sz="3200" spc="30" dirty="0">
                <a:latin typeface="Calibri"/>
                <a:cs typeface="Calibri"/>
              </a:rPr>
              <a:t>” </a:t>
            </a:r>
            <a:r>
              <a:rPr sz="3200" spc="-10" dirty="0">
                <a:latin typeface="Calibri"/>
                <a:cs typeface="Calibri"/>
              </a:rPr>
              <a:t>(lanzamientos) </a:t>
            </a:r>
            <a:r>
              <a:rPr sz="3200" spc="-5" dirty="0">
                <a:latin typeface="Calibri"/>
                <a:cs typeface="Calibri"/>
              </a:rPr>
              <a:t>son reuniones </a:t>
            </a:r>
            <a:r>
              <a:rPr sz="3200" dirty="0">
                <a:latin typeface="Calibri"/>
                <a:cs typeface="Calibri"/>
              </a:rPr>
              <a:t>donde  </a:t>
            </a:r>
            <a:r>
              <a:rPr sz="3200" spc="-10" dirty="0">
                <a:latin typeface="Calibri"/>
                <a:cs typeface="Calibri"/>
              </a:rPr>
              <a:t>conectamos todos </a:t>
            </a:r>
            <a:r>
              <a:rPr sz="3200" dirty="0">
                <a:latin typeface="Calibri"/>
                <a:cs typeface="Calibri"/>
              </a:rPr>
              <a:t>los </a:t>
            </a:r>
            <a:r>
              <a:rPr sz="3200" spc="-10" dirty="0">
                <a:latin typeface="Calibri"/>
                <a:cs typeface="Calibri"/>
              </a:rPr>
              <a:t>Interesados </a:t>
            </a:r>
            <a:r>
              <a:rPr sz="3200" dirty="0">
                <a:latin typeface="Calibri"/>
                <a:cs typeface="Calibri"/>
              </a:rPr>
              <a:t>y  </a:t>
            </a:r>
            <a:r>
              <a:rPr sz="3200" spc="-5" dirty="0">
                <a:latin typeface="Calibri"/>
                <a:cs typeface="Calibri"/>
              </a:rPr>
              <a:t>planeamos lo </a:t>
            </a:r>
            <a:r>
              <a:rPr sz="3200" dirty="0">
                <a:latin typeface="Calibri"/>
                <a:cs typeface="Calibri"/>
              </a:rPr>
              <a:t>que </a:t>
            </a:r>
            <a:r>
              <a:rPr sz="3200" spc="-10" dirty="0">
                <a:latin typeface="Calibri"/>
                <a:cs typeface="Calibri"/>
              </a:rPr>
              <a:t>vamos </a:t>
            </a:r>
            <a:r>
              <a:rPr sz="3200" dirty="0">
                <a:latin typeface="Calibri"/>
                <a:cs typeface="Calibri"/>
              </a:rPr>
              <a:t>a hacer en </a:t>
            </a:r>
            <a:r>
              <a:rPr sz="3200" spc="-20" dirty="0">
                <a:latin typeface="Calibri"/>
                <a:cs typeface="Calibri"/>
              </a:rPr>
              <a:t>esta  </a:t>
            </a:r>
            <a:r>
              <a:rPr sz="3200" spc="-10" dirty="0">
                <a:latin typeface="Calibri"/>
                <a:cs typeface="Calibri"/>
              </a:rPr>
              <a:t>etapa. </a:t>
            </a:r>
            <a:r>
              <a:rPr sz="3200" b="1" spc="-75" dirty="0">
                <a:solidFill>
                  <a:srgbClr val="FF0000"/>
                </a:solidFill>
                <a:latin typeface="Calibri"/>
                <a:cs typeface="Calibri"/>
              </a:rPr>
              <a:t>Todo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el mundo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debe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estar</a:t>
            </a:r>
            <a:r>
              <a:rPr sz="3200" b="1" spc="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enterado</a:t>
            </a:r>
            <a:r>
              <a:rPr sz="3200" spc="-1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015" marR="5080" indent="-29667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7090"/>
            <a:ext cx="807402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Es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documento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formaliza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comienzo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2000" dirty="0">
                <a:latin typeface="Calibri"/>
                <a:cs typeface="Calibri"/>
              </a:rPr>
              <a:t>o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fase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spc="-30" dirty="0">
                <a:latin typeface="Calibri"/>
                <a:cs typeface="Calibri"/>
              </a:rPr>
              <a:t>decir,  </a:t>
            </a:r>
            <a:r>
              <a:rPr sz="2000" dirty="0">
                <a:latin typeface="Calibri"/>
                <a:cs typeface="Calibri"/>
              </a:rPr>
              <a:t>da </a:t>
            </a:r>
            <a:r>
              <a:rPr sz="2000" spc="-5" dirty="0">
                <a:latin typeface="Calibri"/>
                <a:cs typeface="Calibri"/>
              </a:rPr>
              <a:t>la autorización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“arranque” </a:t>
            </a:r>
            <a:r>
              <a:rPr sz="2000" spc="-5" dirty="0">
                <a:latin typeface="Calibri"/>
                <a:cs typeface="Calibri"/>
              </a:rPr>
              <a:t>del </a:t>
            </a:r>
            <a:r>
              <a:rPr sz="2000" spc="-10" dirty="0">
                <a:latin typeface="Calibri"/>
                <a:cs typeface="Calibri"/>
              </a:rPr>
              <a:t>proyecto.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Acta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Constitución  </a:t>
            </a:r>
            <a:r>
              <a:rPr sz="2000" spc="-10" dirty="0">
                <a:latin typeface="Calibri"/>
                <a:cs typeface="Calibri"/>
              </a:rPr>
              <a:t>confiere </a:t>
            </a:r>
            <a:r>
              <a:rPr sz="2000" dirty="0">
                <a:latin typeface="Calibri"/>
                <a:cs typeface="Calibri"/>
              </a:rPr>
              <a:t>al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Director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la autoridad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para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aplicar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recursos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5" dirty="0">
                <a:latin typeface="Calibri"/>
                <a:cs typeface="Calibri"/>
              </a:rPr>
              <a:t>la  </a:t>
            </a:r>
            <a:r>
              <a:rPr sz="2000" spc="-10" dirty="0">
                <a:latin typeface="Calibri"/>
                <a:cs typeface="Calibri"/>
              </a:rPr>
              <a:t>organización </a:t>
            </a:r>
            <a:r>
              <a:rPr sz="2000" dirty="0">
                <a:latin typeface="Calibri"/>
                <a:cs typeface="Calibri"/>
              </a:rPr>
              <a:t>a las actividades </a:t>
            </a:r>
            <a:r>
              <a:rPr sz="2000" spc="-5" dirty="0">
                <a:latin typeface="Calibri"/>
                <a:cs typeface="Calibri"/>
              </a:rPr>
              <a:t>del </a:t>
            </a:r>
            <a:r>
              <a:rPr sz="2000" spc="-15" dirty="0">
                <a:latin typeface="Calibri"/>
                <a:cs typeface="Calibri"/>
              </a:rPr>
              <a:t>proyecto </a:t>
            </a:r>
            <a:r>
              <a:rPr sz="2000" spc="-5" dirty="0">
                <a:latin typeface="Calibri"/>
                <a:cs typeface="Calibri"/>
              </a:rPr>
              <a:t>(los </a:t>
            </a:r>
            <a:r>
              <a:rPr sz="2000" dirty="0">
                <a:latin typeface="Calibri"/>
                <a:cs typeface="Calibri"/>
              </a:rPr>
              <a:t>2 </a:t>
            </a:r>
            <a:r>
              <a:rPr sz="2000" spc="-5" dirty="0">
                <a:latin typeface="Calibri"/>
                <a:cs typeface="Calibri"/>
              </a:rPr>
              <a:t>elementos básicos del  </a:t>
            </a:r>
            <a:r>
              <a:rPr sz="2000" spc="-10" dirty="0">
                <a:latin typeface="Calibri"/>
                <a:cs typeface="Calibri"/>
              </a:rPr>
              <a:t>Project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Charter).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65857" y="3018266"/>
            <a:ext cx="3910481" cy="3511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015" marR="5080" indent="-29667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8073390" cy="297624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autoridad depende </a:t>
            </a:r>
            <a:r>
              <a:rPr sz="2200" spc="-5" dirty="0">
                <a:latin typeface="Calibri"/>
                <a:cs typeface="Calibri"/>
              </a:rPr>
              <a:t>del tipo de </a:t>
            </a:r>
            <a:r>
              <a:rPr sz="2200" spc="-10" dirty="0">
                <a:latin typeface="Calibri"/>
                <a:cs typeface="Calibri"/>
              </a:rPr>
              <a:t>estructura organizacional </a:t>
            </a:r>
            <a:r>
              <a:rPr sz="2200" spc="-5" dirty="0">
                <a:latin typeface="Calibri"/>
                <a:cs typeface="Calibri"/>
              </a:rPr>
              <a:t>de la  </a:t>
            </a:r>
            <a:r>
              <a:rPr sz="2200" spc="-10" dirty="0">
                <a:latin typeface="Calibri"/>
                <a:cs typeface="Calibri"/>
              </a:rPr>
              <a:t>empresa.</a:t>
            </a:r>
            <a:endParaRPr sz="22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surge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de un análisis de necesidades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Interesados  </a:t>
            </a:r>
            <a:r>
              <a:rPr sz="2200" spc="-5" dirty="0">
                <a:latin typeface="Calibri"/>
                <a:cs typeface="Calibri"/>
              </a:rPr>
              <a:t>específicos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5" dirty="0">
                <a:latin typeface="Calibri"/>
                <a:cs typeface="Calibri"/>
              </a:rPr>
              <a:t>organización. </a:t>
            </a:r>
            <a:r>
              <a:rPr sz="2200" spc="-5" dirty="0">
                <a:latin typeface="Calibri"/>
                <a:cs typeface="Calibri"/>
              </a:rPr>
              <a:t>El análisis de necesidades </a:t>
            </a:r>
            <a:r>
              <a:rPr sz="2200" spc="-10" dirty="0">
                <a:latin typeface="Calibri"/>
                <a:cs typeface="Calibri"/>
              </a:rPr>
              <a:t>aparece </a:t>
            </a:r>
            <a:r>
              <a:rPr sz="2200" spc="-5" dirty="0">
                <a:latin typeface="Calibri"/>
                <a:cs typeface="Calibri"/>
              </a:rPr>
              <a:t>a  </a:t>
            </a:r>
            <a:r>
              <a:rPr sz="2200" spc="-20" dirty="0">
                <a:latin typeface="Calibri"/>
                <a:cs typeface="Calibri"/>
              </a:rPr>
              <a:t>través </a:t>
            </a:r>
            <a:r>
              <a:rPr sz="2200" spc="-5" dirty="0">
                <a:latin typeface="Calibri"/>
                <a:cs typeface="Calibri"/>
              </a:rPr>
              <a:t>de un </a:t>
            </a:r>
            <a:r>
              <a:rPr sz="2200" spc="-10" dirty="0">
                <a:latin typeface="Calibri"/>
                <a:cs typeface="Calibri"/>
              </a:rPr>
              <a:t>estudio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factibilidad </a:t>
            </a:r>
            <a:r>
              <a:rPr sz="2200" spc="-5" dirty="0">
                <a:latin typeface="Calibri"/>
                <a:cs typeface="Calibri"/>
              </a:rPr>
              <a:t>o un </a:t>
            </a:r>
            <a:r>
              <a:rPr sz="2200" spc="-10" dirty="0">
                <a:latin typeface="Calibri"/>
                <a:cs typeface="Calibri"/>
              </a:rPr>
              <a:t>caso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negocio (parte  </a:t>
            </a:r>
            <a:r>
              <a:rPr sz="2200" spc="-20" dirty="0">
                <a:latin typeface="Calibri"/>
                <a:cs typeface="Calibri"/>
              </a:rPr>
              <a:t>estratégica </a:t>
            </a:r>
            <a:r>
              <a:rPr sz="2200" spc="-5" dirty="0">
                <a:latin typeface="Calibri"/>
                <a:cs typeface="Calibri"/>
              </a:rPr>
              <a:t>de la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organización)</a:t>
            </a:r>
            <a:endParaRPr sz="2200" dirty="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selecciona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22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0" dirty="0">
                <a:solidFill>
                  <a:srgbClr val="FF0000"/>
                </a:solidFill>
                <a:latin typeface="Calibri"/>
                <a:cs typeface="Calibri"/>
              </a:rPr>
              <a:t>GP.</a:t>
            </a:r>
            <a:endParaRPr sz="2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5715" indent="-343535" algn="just">
              <a:lnSpc>
                <a:spcPct val="801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5" dirty="0">
                <a:latin typeface="Calibri"/>
                <a:cs typeface="Calibri"/>
              </a:rPr>
              <a:t>Acta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Constitución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spc="-10" dirty="0">
                <a:latin typeface="Calibri"/>
                <a:cs typeface="Calibri"/>
              </a:rPr>
              <a:t>Proyecto también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sirve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para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darle  autoridad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al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GP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(especialmente </a:t>
            </a:r>
            <a:r>
              <a:rPr sz="2200" spc="-5" dirty="0">
                <a:latin typeface="Calibri"/>
                <a:cs typeface="Calibri"/>
              </a:rPr>
              <a:t>en </a:t>
            </a:r>
            <a:r>
              <a:rPr sz="2200" spc="-10" dirty="0">
                <a:latin typeface="Calibri"/>
                <a:cs typeface="Calibri"/>
              </a:rPr>
              <a:t>estructuras </a:t>
            </a:r>
            <a:r>
              <a:rPr sz="2200" spc="-5" dirty="0">
                <a:latin typeface="Calibri"/>
                <a:cs typeface="Calibri"/>
              </a:rPr>
              <a:t>funcionales o matriz  </a:t>
            </a:r>
            <a:r>
              <a:rPr sz="2200" spc="-10" dirty="0">
                <a:latin typeface="Calibri"/>
                <a:cs typeface="Calibri"/>
              </a:rPr>
              <a:t>débil).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93814" y="4583429"/>
            <a:ext cx="17138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3190" algn="l"/>
              </a:tabLst>
            </a:pP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spc="-2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ti</a:t>
            </a:r>
            <a:r>
              <a:rPr sz="2200" spc="-30" dirty="0">
                <a:latin typeface="Calibri"/>
                <a:cs typeface="Calibri"/>
              </a:rPr>
              <a:t>s</a:t>
            </a:r>
            <a:r>
              <a:rPr sz="2200" spc="-5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en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las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583429"/>
            <a:ext cx="6126480" cy="9975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67665" marR="5080" indent="-355600">
              <a:lnSpc>
                <a:spcPct val="70000"/>
              </a:lnSpc>
              <a:spcBef>
                <a:spcPts val="885"/>
              </a:spcBef>
              <a:buSzPct val="88636"/>
              <a:buChar char="•"/>
              <a:tabLst>
                <a:tab pos="367665" algn="l"/>
                <a:tab pos="368300" algn="l"/>
                <a:tab pos="1938655" algn="l"/>
                <a:tab pos="2518410" algn="l"/>
                <a:tab pos="4521200" algn="l"/>
                <a:tab pos="5680710" algn="l"/>
              </a:tabLst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cu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nt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equ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rimie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nt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ini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iales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que  necesidades y </a:t>
            </a:r>
            <a:r>
              <a:rPr sz="2200" spc="-15" dirty="0">
                <a:latin typeface="Calibri"/>
                <a:cs typeface="Calibri"/>
              </a:rPr>
              <a:t>expectativas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interesados.</a:t>
            </a:r>
            <a:endParaRPr sz="2200" dirty="0">
              <a:latin typeface="Calibri"/>
              <a:cs typeface="Calibri"/>
            </a:endParaRPr>
          </a:p>
          <a:p>
            <a:pPr marL="367665" indent="-355600">
              <a:lnSpc>
                <a:spcPct val="100000"/>
              </a:lnSpc>
              <a:spcBef>
                <a:spcPts val="530"/>
              </a:spcBef>
              <a:buSzPct val="88636"/>
              <a:buChar char="•"/>
              <a:tabLst>
                <a:tab pos="367665" algn="l"/>
                <a:tab pos="368300" algn="l"/>
              </a:tabLst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Proporciona información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general</a:t>
            </a:r>
            <a:endParaRPr sz="22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015" marR="5080" indent="-29667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</a:p>
        </p:txBody>
      </p:sp>
      <p:sp>
        <p:nvSpPr>
          <p:cNvPr id="3" name="object 3"/>
          <p:cNvSpPr/>
          <p:nvPr/>
        </p:nvSpPr>
        <p:spPr>
          <a:xfrm>
            <a:off x="1475232" y="1484375"/>
            <a:ext cx="5638746" cy="4707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559178"/>
            <a:ext cx="8534400" cy="41705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84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Enunciado del </a:t>
            </a:r>
            <a:r>
              <a:rPr sz="3200" b="1" i="1" spc="-20" dirty="0">
                <a:latin typeface="Calibri"/>
                <a:cs typeface="Calibri"/>
              </a:rPr>
              <a:t>Trabajo </a:t>
            </a:r>
            <a:r>
              <a:rPr sz="3200" b="1" i="1" dirty="0">
                <a:latin typeface="Calibri"/>
                <a:cs typeface="Calibri"/>
              </a:rPr>
              <a:t>del </a:t>
            </a:r>
            <a:r>
              <a:rPr sz="3200" b="1" i="1" spc="-15" dirty="0">
                <a:latin typeface="Calibri"/>
                <a:cs typeface="Calibri"/>
              </a:rPr>
              <a:t>Proyecto  </a:t>
            </a:r>
            <a:r>
              <a:rPr sz="3200" b="1" i="1" spc="-10" dirty="0">
                <a:latin typeface="Calibri"/>
                <a:cs typeface="Calibri"/>
              </a:rPr>
              <a:t>(Statement </a:t>
            </a:r>
            <a:r>
              <a:rPr sz="3200" b="1" i="1" spc="-5" dirty="0">
                <a:latin typeface="Calibri"/>
                <a:cs typeface="Calibri"/>
              </a:rPr>
              <a:t>Of </a:t>
            </a:r>
            <a:r>
              <a:rPr sz="3200" b="1" i="1" spc="-35" dirty="0">
                <a:latin typeface="Calibri"/>
                <a:cs typeface="Calibri"/>
              </a:rPr>
              <a:t>Work </a:t>
            </a:r>
            <a:r>
              <a:rPr sz="3200" b="1" i="1" dirty="0">
                <a:latin typeface="Calibri"/>
                <a:cs typeface="Calibri"/>
              </a:rPr>
              <a:t>- </a:t>
            </a:r>
            <a:r>
              <a:rPr sz="3200" b="1" i="1" spc="-15" dirty="0">
                <a:latin typeface="Calibri"/>
                <a:cs typeface="Calibri"/>
              </a:rPr>
              <a:t>SOW):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Es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la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descripción 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de los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productos,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resultados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o servicios que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se 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van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entregar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en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proyecto.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Relaciona </a:t>
            </a:r>
            <a:r>
              <a:rPr sz="3200" dirty="0">
                <a:latin typeface="Calibri"/>
                <a:cs typeface="Calibri"/>
              </a:rPr>
              <a:t>las  </a:t>
            </a:r>
            <a:r>
              <a:rPr sz="3200" spc="-5" dirty="0">
                <a:latin typeface="Calibri"/>
                <a:cs typeface="Calibri"/>
              </a:rPr>
              <a:t>necesidades del </a:t>
            </a:r>
            <a:r>
              <a:rPr sz="3200" spc="-15" dirty="0">
                <a:latin typeface="Calibri"/>
                <a:cs typeface="Calibri"/>
              </a:rPr>
              <a:t>negocio, </a:t>
            </a:r>
            <a:r>
              <a:rPr sz="3200" spc="-5" dirty="0">
                <a:latin typeface="Calibri"/>
                <a:cs typeface="Calibri"/>
              </a:rPr>
              <a:t>la descripción del  alcance del </a:t>
            </a:r>
            <a:r>
              <a:rPr sz="3200" spc="-20" dirty="0">
                <a:latin typeface="Calibri"/>
                <a:cs typeface="Calibri"/>
              </a:rPr>
              <a:t>producto, </a:t>
            </a:r>
            <a:r>
              <a:rPr sz="3200" dirty="0">
                <a:latin typeface="Calibri"/>
                <a:cs typeface="Calibri"/>
              </a:rPr>
              <a:t>el </a:t>
            </a:r>
            <a:r>
              <a:rPr sz="3200" spc="-5" dirty="0">
                <a:latin typeface="Calibri"/>
                <a:cs typeface="Calibri"/>
              </a:rPr>
              <a:t>plan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estratégico.</a:t>
            </a:r>
            <a:endParaRPr sz="32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ts val="3460"/>
              </a:lnSpc>
              <a:spcBef>
                <a:spcPts val="819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Nos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dice qué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es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lo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que 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hay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que 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hacer</a:t>
            </a:r>
            <a:r>
              <a:rPr sz="3200" spc="-45" dirty="0">
                <a:latin typeface="Calibri"/>
                <a:cs typeface="Calibri"/>
              </a:rPr>
              <a:t>, </a:t>
            </a:r>
            <a:r>
              <a:rPr sz="3200" spc="-5" dirty="0">
                <a:latin typeface="Calibri"/>
                <a:cs typeface="Calibri"/>
              </a:rPr>
              <a:t>desde </a:t>
            </a:r>
            <a:r>
              <a:rPr sz="3200" dirty="0">
                <a:latin typeface="Calibri"/>
                <a:cs typeface="Calibri"/>
              </a:rPr>
              <a:t>el  </a:t>
            </a:r>
            <a:r>
              <a:rPr sz="3200" spc="-15" dirty="0">
                <a:latin typeface="Calibri"/>
                <a:cs typeface="Calibri"/>
              </a:rPr>
              <a:t>punto </a:t>
            </a:r>
            <a:r>
              <a:rPr sz="3200" dirty="0">
                <a:latin typeface="Calibri"/>
                <a:cs typeface="Calibri"/>
              </a:rPr>
              <a:t>de </a:t>
            </a:r>
            <a:r>
              <a:rPr sz="3200" spc="-15" dirty="0">
                <a:latin typeface="Calibri"/>
                <a:cs typeface="Calibri"/>
              </a:rPr>
              <a:t>vista </a:t>
            </a:r>
            <a:r>
              <a:rPr sz="3200" spc="-5" dirty="0">
                <a:latin typeface="Calibri"/>
                <a:cs typeface="Calibri"/>
              </a:rPr>
              <a:t>del </a:t>
            </a:r>
            <a:r>
              <a:rPr sz="3200" dirty="0">
                <a:latin typeface="Calibri"/>
                <a:cs typeface="Calibri"/>
              </a:rPr>
              <a:t>enunciado </a:t>
            </a:r>
            <a:r>
              <a:rPr sz="3200" spc="-5" dirty="0">
                <a:latin typeface="Calibri"/>
                <a:cs typeface="Calibri"/>
              </a:rPr>
              <a:t>del </a:t>
            </a:r>
            <a:r>
              <a:rPr sz="3200" spc="-15" dirty="0">
                <a:latin typeface="Calibri"/>
                <a:cs typeface="Calibri"/>
              </a:rPr>
              <a:t>trabajo,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con  respecto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 los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entregable </a:t>
            </a: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proyecto</a:t>
            </a:r>
            <a:r>
              <a:rPr sz="3200" spc="-2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8074025" cy="42786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6350" indent="-343535" algn="just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6235" algn="l"/>
              </a:tabLst>
            </a:pPr>
            <a:r>
              <a:rPr sz="3000" b="1" i="1" dirty="0">
                <a:latin typeface="Calibri"/>
                <a:cs typeface="Calibri"/>
              </a:rPr>
              <a:t>2. Caso </a:t>
            </a:r>
            <a:r>
              <a:rPr sz="3000" b="1" i="1" spc="-10" dirty="0">
                <a:latin typeface="Calibri"/>
                <a:cs typeface="Calibri"/>
              </a:rPr>
              <a:t>de </a:t>
            </a:r>
            <a:r>
              <a:rPr sz="3000" b="1" i="1" spc="-5" dirty="0">
                <a:latin typeface="Calibri"/>
                <a:cs typeface="Calibri"/>
              </a:rPr>
              <a:t>Negocio</a:t>
            </a:r>
            <a:r>
              <a:rPr sz="3000" spc="-5" dirty="0">
                <a:latin typeface="Calibri"/>
                <a:cs typeface="Calibri"/>
              </a:rPr>
              <a:t>: </a:t>
            </a:r>
            <a:r>
              <a:rPr sz="3000" dirty="0">
                <a:latin typeface="Calibri"/>
                <a:cs typeface="Calibri"/>
              </a:rPr>
              <a:t>Es </a:t>
            </a:r>
            <a:r>
              <a:rPr sz="3000" spc="-5" dirty="0">
                <a:latin typeface="Calibri"/>
                <a:cs typeface="Calibri"/>
              </a:rPr>
              <a:t>el que 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establece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que </a:t>
            </a:r>
            <a:r>
              <a:rPr sz="3000" spc="-5" dirty="0">
                <a:latin typeface="Calibri"/>
                <a:cs typeface="Calibri"/>
              </a:rPr>
              <a:t>el  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vale</a:t>
            </a:r>
            <a:r>
              <a:rPr sz="3000" spc="6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la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pena hacerlo </a:t>
            </a:r>
            <a:r>
              <a:rPr sz="3000" spc="-10" dirty="0">
                <a:latin typeface="Calibri"/>
                <a:cs typeface="Calibri"/>
              </a:rPr>
              <a:t>(estudio </a:t>
            </a:r>
            <a:r>
              <a:rPr sz="3000" spc="-5" dirty="0">
                <a:latin typeface="Calibri"/>
                <a:cs typeface="Calibri"/>
              </a:rPr>
              <a:t>de  </a:t>
            </a:r>
            <a:r>
              <a:rPr sz="3000" spc="-10" dirty="0">
                <a:latin typeface="Calibri"/>
                <a:cs typeface="Calibri"/>
              </a:rPr>
              <a:t>factibilidad, </a:t>
            </a:r>
            <a:r>
              <a:rPr sz="3000" spc="-15" dirty="0">
                <a:latin typeface="Calibri"/>
                <a:cs typeface="Calibri"/>
              </a:rPr>
              <a:t>costos </a:t>
            </a:r>
            <a:r>
              <a:rPr sz="3000" spc="-10" dirty="0">
                <a:latin typeface="Calibri"/>
                <a:cs typeface="Calibri"/>
              </a:rPr>
              <a:t>menores que </a:t>
            </a:r>
            <a:r>
              <a:rPr sz="3000" dirty="0">
                <a:latin typeface="Calibri"/>
                <a:cs typeface="Calibri"/>
              </a:rPr>
              <a:t>los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beneficios).</a:t>
            </a:r>
            <a:endParaRPr sz="30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libri"/>
                <a:cs typeface="Calibri"/>
              </a:rPr>
              <a:t>El </a:t>
            </a:r>
            <a:r>
              <a:rPr sz="3000" spc="-10" dirty="0">
                <a:latin typeface="Calibri"/>
                <a:cs typeface="Calibri"/>
              </a:rPr>
              <a:t>caso de negocio </a:t>
            </a:r>
            <a:r>
              <a:rPr sz="3000" spc="-15" dirty="0">
                <a:latin typeface="Calibri"/>
                <a:cs typeface="Calibri"/>
              </a:rPr>
              <a:t>muestra </a:t>
            </a:r>
            <a:r>
              <a:rPr sz="3000" spc="-5" dirty="0">
                <a:latin typeface="Calibri"/>
                <a:cs typeface="Calibri"/>
              </a:rPr>
              <a:t>que el 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proyecto está 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relacionado</a:t>
            </a:r>
            <a:r>
              <a:rPr sz="3000" spc="-5" dirty="0">
                <a:latin typeface="Calibri"/>
                <a:cs typeface="Calibri"/>
              </a:rPr>
              <a:t> de </a:t>
            </a:r>
            <a:r>
              <a:rPr sz="3000" dirty="0">
                <a:latin typeface="Calibri"/>
                <a:cs typeface="Calibri"/>
              </a:rPr>
              <a:t>alguna </a:t>
            </a:r>
            <a:r>
              <a:rPr sz="3000" spc="-20" dirty="0">
                <a:latin typeface="Calibri"/>
                <a:cs typeface="Calibri"/>
              </a:rPr>
              <a:t>forma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con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alguna  necesidad </a:t>
            </a:r>
            <a:r>
              <a:rPr sz="3000" spc="-5" dirty="0">
                <a:latin typeface="Calibri"/>
                <a:cs typeface="Calibri"/>
              </a:rPr>
              <a:t>de alguno de </a:t>
            </a:r>
            <a:r>
              <a:rPr sz="3000" dirty="0">
                <a:latin typeface="Calibri"/>
                <a:cs typeface="Calibri"/>
              </a:rPr>
              <a:t>los </a:t>
            </a:r>
            <a:r>
              <a:rPr sz="3000" spc="-25" dirty="0">
                <a:latin typeface="Calibri"/>
                <a:cs typeface="Calibri"/>
              </a:rPr>
              <a:t>stakeholders </a:t>
            </a:r>
            <a:r>
              <a:rPr sz="3000" spc="-5" dirty="0">
                <a:latin typeface="Calibri"/>
                <a:cs typeface="Calibri"/>
              </a:rPr>
              <a:t>(de una  demanda de </a:t>
            </a:r>
            <a:r>
              <a:rPr sz="3000" spc="-20" dirty="0">
                <a:latin typeface="Calibri"/>
                <a:cs typeface="Calibri"/>
              </a:rPr>
              <a:t>mercado, </a:t>
            </a:r>
            <a:r>
              <a:rPr sz="3000" spc="-5" dirty="0">
                <a:latin typeface="Calibri"/>
                <a:cs typeface="Calibri"/>
              </a:rPr>
              <a:t>de una necesidad  </a:t>
            </a:r>
            <a:r>
              <a:rPr sz="3000" spc="-15" dirty="0">
                <a:latin typeface="Calibri"/>
                <a:cs typeface="Calibri"/>
              </a:rPr>
              <a:t>organizacional,</a:t>
            </a:r>
            <a:r>
              <a:rPr sz="3000" spc="6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solicitud de un </a:t>
            </a:r>
            <a:r>
              <a:rPr sz="3000" spc="-10" dirty="0">
                <a:latin typeface="Calibri"/>
                <a:cs typeface="Calibri"/>
              </a:rPr>
              <a:t>cliente, </a:t>
            </a:r>
            <a:r>
              <a:rPr sz="3000" spc="-20" dirty="0">
                <a:latin typeface="Calibri"/>
                <a:cs typeface="Calibri"/>
              </a:rPr>
              <a:t>avance  </a:t>
            </a:r>
            <a:r>
              <a:rPr sz="3000" spc="-15" dirty="0">
                <a:latin typeface="Calibri"/>
                <a:cs typeface="Calibri"/>
              </a:rPr>
              <a:t>tecnológico,</a:t>
            </a:r>
            <a:r>
              <a:rPr sz="3000" spc="6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requerimiento  legal,  </a:t>
            </a:r>
            <a:r>
              <a:rPr sz="3000" spc="-5" dirty="0">
                <a:latin typeface="Calibri"/>
                <a:cs typeface="Calibri"/>
              </a:rPr>
              <a:t>impacto  </a:t>
            </a:r>
            <a:r>
              <a:rPr sz="3000" spc="-10" dirty="0">
                <a:latin typeface="Calibri"/>
                <a:cs typeface="Calibri"/>
              </a:rPr>
              <a:t>ambiental, </a:t>
            </a:r>
            <a:r>
              <a:rPr sz="3000" spc="-5" dirty="0">
                <a:latin typeface="Calibri"/>
                <a:cs typeface="Calibri"/>
              </a:rPr>
              <a:t>necesidad social,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etc).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80740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3. </a:t>
            </a:r>
            <a:r>
              <a:rPr sz="2400" b="1" i="1" spc="-10" dirty="0">
                <a:latin typeface="Calibri"/>
                <a:cs typeface="Calibri"/>
              </a:rPr>
              <a:t>Contratos: </a:t>
            </a:r>
            <a:r>
              <a:rPr sz="2400" spc="-5" dirty="0">
                <a:latin typeface="Calibri"/>
                <a:cs typeface="Calibri"/>
              </a:rPr>
              <a:t>Aparecen cuando se ha </a:t>
            </a:r>
            <a:r>
              <a:rPr sz="2400" spc="-10" dirty="0">
                <a:latin typeface="Calibri"/>
                <a:cs typeface="Calibri"/>
              </a:rPr>
              <a:t>definido </a:t>
            </a:r>
            <a:r>
              <a:rPr sz="2400" spc="-5" dirty="0">
                <a:latin typeface="Calibri"/>
                <a:cs typeface="Calibri"/>
              </a:rPr>
              <a:t>que alguna  </a:t>
            </a:r>
            <a:r>
              <a:rPr sz="2400" spc="-10" dirty="0">
                <a:latin typeface="Calibri"/>
                <a:cs typeface="Calibri"/>
              </a:rPr>
              <a:t>parte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spc="-20" dirty="0">
                <a:latin typeface="Calibri"/>
                <a:cs typeface="Calibri"/>
              </a:rPr>
              <a:t>proyecto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se hace por 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fuera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proyecto</a:t>
            </a:r>
            <a:r>
              <a:rPr sz="2400" spc="-2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es decir  </a:t>
            </a:r>
            <a:r>
              <a:rPr sz="2400" spc="-10" dirty="0">
                <a:latin typeface="Calibri"/>
                <a:cs typeface="Calibri"/>
              </a:rPr>
              <a:t>tercerización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5" dirty="0">
                <a:latin typeface="Calibri"/>
                <a:cs typeface="Calibri"/>
              </a:rPr>
              <a:t>ejecución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través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outsourcing.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576" y="5183581"/>
            <a:ext cx="783653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Arial"/>
                <a:cs typeface="Arial"/>
              </a:rPr>
              <a:t>Cuando</a:t>
            </a:r>
            <a:r>
              <a:rPr sz="2400" spc="1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</a:t>
            </a:r>
            <a:r>
              <a:rPr sz="2400" spc="1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terceriza</a:t>
            </a:r>
            <a:r>
              <a:rPr sz="2400" spc="1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deben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revisar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los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contratos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tipo para involucrarlos en el </a:t>
            </a:r>
            <a:r>
              <a:rPr sz="2400" dirty="0">
                <a:latin typeface="Arial"/>
                <a:cs typeface="Arial"/>
              </a:rPr>
              <a:t>Project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Charter.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SzPct val="95833"/>
              <a:buChar char="•"/>
              <a:tabLst>
                <a:tab pos="120650" algn="l"/>
                <a:tab pos="690245" algn="l"/>
                <a:tab pos="1568450" algn="l"/>
                <a:tab pos="2769870" algn="l"/>
                <a:tab pos="3848735" algn="l"/>
                <a:tab pos="4674870" algn="l"/>
                <a:tab pos="5754370" algn="l"/>
              </a:tabLst>
            </a:pPr>
            <a:r>
              <a:rPr sz="2400" spc="-10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debe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evaluar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costos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fij</a:t>
            </a:r>
            <a:r>
              <a:rPr sz="2400" dirty="0">
                <a:latin typeface="Arial"/>
                <a:cs typeface="Arial"/>
              </a:rPr>
              <a:t>os,	costos	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emb</a:t>
            </a:r>
            <a:r>
              <a:rPr sz="2400" dirty="0">
                <a:latin typeface="Arial"/>
                <a:cs typeface="Arial"/>
              </a:rPr>
              <a:t>o</a:t>
            </a:r>
            <a:r>
              <a:rPr sz="2400" spc="-5" dirty="0">
                <a:latin typeface="Arial"/>
                <a:cs typeface="Arial"/>
              </a:rPr>
              <a:t>lsa</a:t>
            </a:r>
            <a:r>
              <a:rPr sz="2400" spc="5" dirty="0">
                <a:latin typeface="Arial"/>
                <a:cs typeface="Arial"/>
              </a:rPr>
              <a:t>b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es,  </a:t>
            </a:r>
            <a:r>
              <a:rPr sz="2400" spc="-5" dirty="0">
                <a:latin typeface="Arial"/>
                <a:cs typeface="Arial"/>
              </a:rPr>
              <a:t>incentivos de honorarios,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etc.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2155" y="2946297"/>
            <a:ext cx="2951988" cy="2229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842"/>
            <a:ext cx="8073390" cy="42424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4. </a:t>
            </a:r>
            <a:r>
              <a:rPr sz="2700" b="1" i="1" spc="-10" dirty="0">
                <a:latin typeface="Calibri"/>
                <a:cs typeface="Calibri"/>
              </a:rPr>
              <a:t>Factores </a:t>
            </a:r>
            <a:r>
              <a:rPr sz="2700" b="1" i="1" spc="-5" dirty="0">
                <a:latin typeface="Calibri"/>
                <a:cs typeface="Calibri"/>
              </a:rPr>
              <a:t>Ambientales </a:t>
            </a:r>
            <a:r>
              <a:rPr sz="2700" b="1" i="1" dirty="0">
                <a:latin typeface="Calibri"/>
                <a:cs typeface="Calibri"/>
              </a:rPr>
              <a:t>de </a:t>
            </a:r>
            <a:r>
              <a:rPr sz="2700" b="1" i="1" spc="-5" dirty="0">
                <a:latin typeface="Calibri"/>
                <a:cs typeface="Calibri"/>
              </a:rPr>
              <a:t>la empresa</a:t>
            </a:r>
            <a:r>
              <a:rPr sz="2700" spc="-5" dirty="0">
                <a:latin typeface="Calibri"/>
                <a:cs typeface="Calibri"/>
              </a:rPr>
              <a:t>: </a:t>
            </a:r>
            <a:r>
              <a:rPr sz="2700" spc="-15" dirty="0">
                <a:latin typeface="Calibri"/>
                <a:cs typeface="Calibri"/>
              </a:rPr>
              <a:t>Cualquiera </a:t>
            </a:r>
            <a:r>
              <a:rPr sz="2700" spc="-5" dirty="0">
                <a:latin typeface="Calibri"/>
                <a:cs typeface="Calibri"/>
              </a:rPr>
              <a:t>de  </a:t>
            </a:r>
            <a:r>
              <a:rPr sz="2700" dirty="0">
                <a:latin typeface="Calibri"/>
                <a:cs typeface="Calibri"/>
              </a:rPr>
              <a:t>los 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factores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y </a:t>
            </a:r>
            <a:r>
              <a:rPr sz="2700" spc="-15" dirty="0">
                <a:latin typeface="Calibri"/>
                <a:cs typeface="Calibri"/>
              </a:rPr>
              <a:t>sistemas </a:t>
            </a:r>
            <a:r>
              <a:rPr sz="2700" spc="-10" dirty="0">
                <a:latin typeface="Calibri"/>
                <a:cs typeface="Calibri"/>
              </a:rPr>
              <a:t>que </a:t>
            </a:r>
            <a:r>
              <a:rPr sz="2700" spc="-20" dirty="0">
                <a:latin typeface="Calibri"/>
                <a:cs typeface="Calibri"/>
              </a:rPr>
              <a:t>están </a:t>
            </a:r>
            <a:r>
              <a:rPr sz="2700" dirty="0">
                <a:latin typeface="Calibri"/>
                <a:cs typeface="Calibri"/>
              </a:rPr>
              <a:t>en el </a:t>
            </a:r>
            <a:r>
              <a:rPr sz="2700" spc="-10" dirty="0">
                <a:latin typeface="Calibri"/>
                <a:cs typeface="Calibri"/>
              </a:rPr>
              <a:t>ambiente </a:t>
            </a:r>
            <a:r>
              <a:rPr sz="2700" spc="-5" dirty="0">
                <a:latin typeface="Calibri"/>
                <a:cs typeface="Calibri"/>
              </a:rPr>
              <a:t>de </a:t>
            </a:r>
            <a:r>
              <a:rPr sz="2700" spc="-10" dirty="0">
                <a:latin typeface="Calibri"/>
                <a:cs typeface="Calibri"/>
              </a:rPr>
              <a:t>la  </a:t>
            </a:r>
            <a:r>
              <a:rPr sz="2700" spc="-15" dirty="0">
                <a:latin typeface="Calibri"/>
                <a:cs typeface="Calibri"/>
              </a:rPr>
              <a:t>organización </a:t>
            </a:r>
            <a:r>
              <a:rPr sz="2700" dirty="0">
                <a:latin typeface="Calibri"/>
                <a:cs typeface="Calibri"/>
              </a:rPr>
              <a:t>y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puede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influenciar</a:t>
            </a:r>
            <a:r>
              <a:rPr sz="2700" spc="-5" dirty="0">
                <a:latin typeface="Calibri"/>
                <a:cs typeface="Calibri"/>
              </a:rPr>
              <a:t> de </a:t>
            </a:r>
            <a:r>
              <a:rPr sz="2700" spc="-15" dirty="0">
                <a:latin typeface="Calibri"/>
                <a:cs typeface="Calibri"/>
              </a:rPr>
              <a:t>forma </a:t>
            </a:r>
            <a:r>
              <a:rPr sz="2700" spc="-10" dirty="0">
                <a:latin typeface="Calibri"/>
                <a:cs typeface="Calibri"/>
              </a:rPr>
              <a:t>positiva </a:t>
            </a:r>
            <a:r>
              <a:rPr sz="2700" dirty="0">
                <a:latin typeface="Calibri"/>
                <a:cs typeface="Calibri"/>
              </a:rPr>
              <a:t>o  </a:t>
            </a:r>
            <a:r>
              <a:rPr sz="2700" spc="-20" dirty="0">
                <a:latin typeface="Calibri"/>
                <a:cs typeface="Calibri"/>
              </a:rPr>
              <a:t>negativa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éxito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proyecto</a:t>
            </a:r>
            <a:r>
              <a:rPr sz="2700" spc="-20" dirty="0">
                <a:latin typeface="Calibri"/>
                <a:cs typeface="Calibri"/>
              </a:rPr>
              <a:t>. </a:t>
            </a:r>
            <a:r>
              <a:rPr sz="2700" spc="-5" dirty="0">
                <a:latin typeface="Calibri"/>
                <a:cs typeface="Calibri"/>
              </a:rPr>
              <a:t>Pueden ser </a:t>
            </a:r>
            <a:r>
              <a:rPr sz="2700" spc="-25" dirty="0">
                <a:latin typeface="Calibri"/>
                <a:cs typeface="Calibri"/>
              </a:rPr>
              <a:t>factores  </a:t>
            </a:r>
            <a:r>
              <a:rPr sz="2700" spc="-10" dirty="0">
                <a:latin typeface="Calibri"/>
                <a:cs typeface="Calibri"/>
              </a:rPr>
              <a:t>internos </a:t>
            </a:r>
            <a:r>
              <a:rPr sz="2700" dirty="0">
                <a:latin typeface="Calibri"/>
                <a:cs typeface="Calibri"/>
              </a:rPr>
              <a:t>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externos.</a:t>
            </a:r>
            <a:endParaRPr sz="2700" dirty="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700" b="1" i="1" dirty="0">
                <a:latin typeface="Calibri"/>
                <a:cs typeface="Calibri"/>
              </a:rPr>
              <a:t>Ejemplos de </a:t>
            </a:r>
            <a:r>
              <a:rPr sz="2700" b="1" i="1" spc="-10" dirty="0">
                <a:latin typeface="Calibri"/>
                <a:cs typeface="Calibri"/>
              </a:rPr>
              <a:t>Factores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spc="-5" dirty="0">
                <a:latin typeface="Calibri"/>
                <a:cs typeface="Calibri"/>
              </a:rPr>
              <a:t>Ambientales: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Cultura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Organizacional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Estructura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Organizacional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Madurez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Procesos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Sindicatos, </a:t>
            </a:r>
            <a:r>
              <a:rPr sz="2400" spc="-5" dirty="0">
                <a:latin typeface="Calibri"/>
                <a:cs typeface="Calibri"/>
              </a:rPr>
              <a:t>Gobierno (cambio de regulaciones),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Industria.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Estándares: </a:t>
            </a:r>
            <a:r>
              <a:rPr sz="2000" dirty="0">
                <a:latin typeface="Calibri"/>
                <a:cs typeface="Calibri"/>
              </a:rPr>
              <a:t>No </a:t>
            </a:r>
            <a:r>
              <a:rPr sz="2000" spc="-15" dirty="0">
                <a:latin typeface="Calibri"/>
                <a:cs typeface="Calibri"/>
              </a:rPr>
              <a:t>obligatorio</a:t>
            </a:r>
            <a:r>
              <a:rPr sz="2000" spc="-5" dirty="0">
                <a:latin typeface="Calibri"/>
                <a:cs typeface="Calibri"/>
              </a:rPr>
              <a:t> (adaptables)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Regulaciones: </a:t>
            </a:r>
            <a:r>
              <a:rPr sz="2000" spc="-10" dirty="0">
                <a:latin typeface="Calibri"/>
                <a:cs typeface="Calibri"/>
              </a:rPr>
              <a:t>Obligatorio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cumplimiento.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452995" cy="444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b="1" i="1" dirty="0">
                <a:latin typeface="Calibri"/>
                <a:cs typeface="Calibri"/>
              </a:rPr>
              <a:t>Ejemplos de </a:t>
            </a:r>
            <a:r>
              <a:rPr sz="3000" b="1" i="1" spc="-15" dirty="0">
                <a:latin typeface="Calibri"/>
                <a:cs typeface="Calibri"/>
              </a:rPr>
              <a:t>Factores</a:t>
            </a:r>
            <a:r>
              <a:rPr sz="3000" b="1" i="1" spc="10" dirty="0">
                <a:latin typeface="Calibri"/>
                <a:cs typeface="Calibri"/>
              </a:rPr>
              <a:t> </a:t>
            </a:r>
            <a:r>
              <a:rPr sz="3000" b="1" i="1" spc="-10" dirty="0">
                <a:latin typeface="Calibri"/>
                <a:cs typeface="Calibri"/>
              </a:rPr>
              <a:t>Ambientales: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Infraestructura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Recursos </a:t>
            </a:r>
            <a:r>
              <a:rPr sz="2600" spc="-5" dirty="0">
                <a:latin typeface="Calibri"/>
                <a:cs typeface="Calibri"/>
              </a:rPr>
              <a:t>Humanos de </a:t>
            </a:r>
            <a:r>
              <a:rPr sz="2600" dirty="0">
                <a:latin typeface="Calibri"/>
                <a:cs typeface="Calibri"/>
              </a:rPr>
              <a:t>la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Organización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30" dirty="0">
                <a:latin typeface="Calibri"/>
                <a:cs typeface="Calibri"/>
              </a:rPr>
              <a:t>Tolerancia </a:t>
            </a:r>
            <a:r>
              <a:rPr sz="2600" dirty="0">
                <a:latin typeface="Calibri"/>
                <a:cs typeface="Calibri"/>
              </a:rPr>
              <a:t>a los </a:t>
            </a:r>
            <a:r>
              <a:rPr sz="2600" spc="-5" dirty="0">
                <a:latin typeface="Calibri"/>
                <a:cs typeface="Calibri"/>
              </a:rPr>
              <a:t>riesgos de </a:t>
            </a:r>
            <a:r>
              <a:rPr sz="2600" dirty="0">
                <a:latin typeface="Calibri"/>
                <a:cs typeface="Calibri"/>
              </a:rPr>
              <a:t>los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Interesados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Administración 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Personal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Sistema </a:t>
            </a:r>
            <a:r>
              <a:rPr sz="2600" spc="-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autorización </a:t>
            </a:r>
            <a:r>
              <a:rPr sz="2600" spc="-5" dirty="0">
                <a:latin typeface="Calibri"/>
                <a:cs typeface="Calibri"/>
              </a:rPr>
              <a:t>del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trabajo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Condiciones 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Mercado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Clima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Político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Canales de Comunicación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organizacional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Bases de </a:t>
            </a:r>
            <a:r>
              <a:rPr sz="2600" spc="-10" dirty="0">
                <a:latin typeface="Calibri"/>
                <a:cs typeface="Calibri"/>
              </a:rPr>
              <a:t>Datos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Comerciales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Sistemas </a:t>
            </a:r>
            <a:r>
              <a:rPr sz="2600" spc="-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Información </a:t>
            </a:r>
            <a:r>
              <a:rPr sz="2600" spc="-5" dirty="0">
                <a:latin typeface="Calibri"/>
                <a:cs typeface="Calibri"/>
              </a:rPr>
              <a:t>de Gestión 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Proyectos.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925" marR="5080" indent="-19926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8074025" cy="45218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695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5. Activos </a:t>
            </a:r>
            <a:r>
              <a:rPr sz="2500" b="1" i="1" spc="-5" dirty="0">
                <a:latin typeface="Calibri"/>
                <a:cs typeface="Calibri"/>
              </a:rPr>
              <a:t>de </a:t>
            </a:r>
            <a:r>
              <a:rPr sz="2500" b="1" i="1" spc="-10" dirty="0">
                <a:latin typeface="Calibri"/>
                <a:cs typeface="Calibri"/>
              </a:rPr>
              <a:t>Procesos </a:t>
            </a:r>
            <a:r>
              <a:rPr sz="2500" b="1" i="1" spc="-5" dirty="0">
                <a:latin typeface="Calibri"/>
                <a:cs typeface="Calibri"/>
              </a:rPr>
              <a:t>de la Organización: </a:t>
            </a:r>
            <a:r>
              <a:rPr sz="2500" b="1" i="1" spc="-10" dirty="0">
                <a:latin typeface="Calibri"/>
                <a:cs typeface="Calibri"/>
              </a:rPr>
              <a:t>(Organizational  Process </a:t>
            </a:r>
            <a:r>
              <a:rPr sz="2500" b="1" i="1" spc="-5" dirty="0">
                <a:latin typeface="Calibri"/>
                <a:cs typeface="Calibri"/>
              </a:rPr>
              <a:t>Assets </a:t>
            </a:r>
            <a:r>
              <a:rPr sz="2500" b="1" i="1" spc="-30" dirty="0">
                <a:latin typeface="Calibri"/>
                <a:cs typeface="Calibri"/>
              </a:rPr>
              <a:t>OPAS):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Es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todo </a:t>
            </a:r>
            <a:r>
              <a:rPr sz="2500" b="1" spc="-5" dirty="0">
                <a:solidFill>
                  <a:srgbClr val="FF0000"/>
                </a:solidFill>
                <a:latin typeface="Calibri"/>
                <a:cs typeface="Calibri"/>
              </a:rPr>
              <a:t>lo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necesario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para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hacer </a:t>
            </a:r>
            <a:r>
              <a:rPr sz="2500" b="1" spc="10" dirty="0">
                <a:solidFill>
                  <a:srgbClr val="FF0000"/>
                </a:solidFill>
                <a:latin typeface="Calibri"/>
                <a:cs typeface="Calibri"/>
              </a:rPr>
              <a:t>el 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trabajo, </a:t>
            </a:r>
            <a:r>
              <a:rPr sz="2500" b="1" spc="-5" dirty="0">
                <a:solidFill>
                  <a:srgbClr val="FF0000"/>
                </a:solidFill>
                <a:latin typeface="Calibri"/>
                <a:cs typeface="Calibri"/>
              </a:rPr>
              <a:t>almacenarlo y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recuperar </a:t>
            </a:r>
            <a:r>
              <a:rPr sz="2500" b="1" spc="-5" dirty="0">
                <a:solidFill>
                  <a:srgbClr val="FF0000"/>
                </a:solidFill>
                <a:latin typeface="Calibri"/>
                <a:cs typeface="Calibri"/>
              </a:rPr>
              <a:t>la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información</a:t>
            </a:r>
            <a:r>
              <a:rPr sz="2500" spc="-10" dirty="0">
                <a:latin typeface="Calibri"/>
                <a:cs typeface="Calibri"/>
              </a:rPr>
              <a:t>. </a:t>
            </a:r>
            <a:r>
              <a:rPr sz="2500" spc="-65" dirty="0">
                <a:latin typeface="Calibri"/>
                <a:cs typeface="Calibri"/>
              </a:rPr>
              <a:t>Todo </a:t>
            </a:r>
            <a:r>
              <a:rPr sz="2500" spc="-5" dirty="0">
                <a:latin typeface="Calibri"/>
                <a:cs typeface="Calibri"/>
              </a:rPr>
              <a:t>lo  que tiene que </a:t>
            </a:r>
            <a:r>
              <a:rPr sz="2500" spc="-10" dirty="0">
                <a:latin typeface="Calibri"/>
                <a:cs typeface="Calibri"/>
              </a:rPr>
              <a:t>ver con </a:t>
            </a:r>
            <a:r>
              <a:rPr sz="2500" spc="-5" dirty="0">
                <a:latin typeface="Calibri"/>
                <a:cs typeface="Calibri"/>
              </a:rPr>
              <a:t>el </a:t>
            </a:r>
            <a:r>
              <a:rPr sz="2500" dirty="0">
                <a:latin typeface="Calibri"/>
                <a:cs typeface="Calibri"/>
              </a:rPr>
              <a:t>manejo </a:t>
            </a:r>
            <a:r>
              <a:rPr sz="2500" spc="-5" dirty="0">
                <a:latin typeface="Calibri"/>
                <a:cs typeface="Calibri"/>
              </a:rPr>
              <a:t>del </a:t>
            </a:r>
            <a:r>
              <a:rPr sz="2500" spc="-10" dirty="0">
                <a:latin typeface="Calibri"/>
                <a:cs typeface="Calibri"/>
              </a:rPr>
              <a:t>conocimiento </a:t>
            </a:r>
            <a:r>
              <a:rPr sz="2500" spc="-5" dirty="0">
                <a:latin typeface="Calibri"/>
                <a:cs typeface="Calibri"/>
              </a:rPr>
              <a:t>de la  </a:t>
            </a:r>
            <a:r>
              <a:rPr sz="2500" spc="-15" dirty="0">
                <a:latin typeface="Calibri"/>
                <a:cs typeface="Calibri"/>
              </a:rPr>
              <a:t>Organización</a:t>
            </a:r>
            <a:r>
              <a:rPr sz="2500" spc="53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0" dirty="0">
                <a:latin typeface="Calibri"/>
                <a:cs typeface="Calibri"/>
              </a:rPr>
              <a:t>una </a:t>
            </a:r>
            <a:r>
              <a:rPr sz="2500" spc="-15" dirty="0">
                <a:latin typeface="Calibri"/>
                <a:cs typeface="Calibri"/>
              </a:rPr>
              <a:t>forma  sistematizada  </a:t>
            </a:r>
            <a:r>
              <a:rPr sz="2500" spc="-10" dirty="0">
                <a:latin typeface="Calibri"/>
                <a:cs typeface="Calibri"/>
              </a:rPr>
              <a:t>(no  necesariamente</a:t>
            </a:r>
            <a:r>
              <a:rPr sz="2500" spc="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automatizada).</a:t>
            </a:r>
            <a:endParaRPr sz="2500" dirty="0">
              <a:latin typeface="Calibri"/>
              <a:cs typeface="Calibri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dirty="0">
                <a:latin typeface="Calibri"/>
                <a:cs typeface="Calibri"/>
              </a:rPr>
              <a:t>El </a:t>
            </a:r>
            <a:r>
              <a:rPr sz="2500" spc="-5" dirty="0">
                <a:latin typeface="Calibri"/>
                <a:cs typeface="Calibri"/>
              </a:rPr>
              <a:t>PMI </a:t>
            </a:r>
            <a:r>
              <a:rPr sz="2500" spc="-10" dirty="0">
                <a:latin typeface="Calibri"/>
                <a:cs typeface="Calibri"/>
              </a:rPr>
              <a:t>supone que </a:t>
            </a:r>
            <a:r>
              <a:rPr sz="2500" spc="-5" dirty="0">
                <a:latin typeface="Calibri"/>
                <a:cs typeface="Calibri"/>
              </a:rPr>
              <a:t>SIEMPRE se tiene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Información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Histórica </a:t>
            </a:r>
            <a:r>
              <a:rPr sz="2500" spc="5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(fases previas, </a:t>
            </a:r>
            <a:r>
              <a:rPr sz="2500" spc="-15" dirty="0">
                <a:latin typeface="Calibri"/>
                <a:cs typeface="Calibri"/>
              </a:rPr>
              <a:t>proyectos  </a:t>
            </a:r>
            <a:r>
              <a:rPr sz="2500" spc="-10" dirty="0">
                <a:latin typeface="Calibri"/>
                <a:cs typeface="Calibri"/>
              </a:rPr>
              <a:t>previos, tomas </a:t>
            </a:r>
            <a:r>
              <a:rPr sz="2500" dirty="0">
                <a:latin typeface="Calibri"/>
                <a:cs typeface="Calibri"/>
              </a:rPr>
              <a:t>de </a:t>
            </a:r>
            <a:r>
              <a:rPr sz="2500" spc="-5" dirty="0">
                <a:latin typeface="Calibri"/>
                <a:cs typeface="Calibri"/>
              </a:rPr>
              <a:t>decisiones  </a:t>
            </a:r>
            <a:r>
              <a:rPr sz="2500" spc="-10" dirty="0">
                <a:latin typeface="Calibri"/>
                <a:cs typeface="Calibri"/>
              </a:rPr>
              <a:t>previas, </a:t>
            </a:r>
            <a:r>
              <a:rPr sz="2500" spc="-15" dirty="0">
                <a:latin typeface="Calibri"/>
                <a:cs typeface="Calibri"/>
              </a:rPr>
              <a:t>proveedores </a:t>
            </a:r>
            <a:r>
              <a:rPr sz="2500" spc="-10" dirty="0">
                <a:latin typeface="Calibri"/>
                <a:cs typeface="Calibri"/>
              </a:rPr>
              <a:t>anteriores, </a:t>
            </a:r>
            <a:r>
              <a:rPr sz="2500" spc="-15" dirty="0">
                <a:latin typeface="Calibri"/>
                <a:cs typeface="Calibri"/>
              </a:rPr>
              <a:t>tareas, </a:t>
            </a:r>
            <a:r>
              <a:rPr sz="2500" spc="-10" dirty="0">
                <a:latin typeface="Calibri"/>
                <a:cs typeface="Calibri"/>
              </a:rPr>
              <a:t>duraciones  planeadas </a:t>
            </a:r>
            <a:r>
              <a:rPr sz="2500" spc="-5" dirty="0">
                <a:latin typeface="Calibri"/>
                <a:cs typeface="Calibri"/>
              </a:rPr>
              <a:t>y reales, </a:t>
            </a:r>
            <a:r>
              <a:rPr sz="2500" spc="-20" dirty="0">
                <a:latin typeface="Calibri"/>
                <a:cs typeface="Calibri"/>
              </a:rPr>
              <a:t>costos </a:t>
            </a:r>
            <a:r>
              <a:rPr sz="2500" spc="-5" dirty="0">
                <a:latin typeface="Calibri"/>
                <a:cs typeface="Calibri"/>
              </a:rPr>
              <a:t>planeados y reales, </a:t>
            </a:r>
            <a:r>
              <a:rPr sz="2500" spc="-10" dirty="0">
                <a:latin typeface="Calibri"/>
                <a:cs typeface="Calibri"/>
              </a:rPr>
              <a:t>reportes,  planes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20" dirty="0">
                <a:latin typeface="Calibri"/>
                <a:cs typeface="Calibri"/>
              </a:rPr>
              <a:t>proyecto, </a:t>
            </a:r>
            <a:r>
              <a:rPr sz="2500" spc="-5" dirty="0">
                <a:latin typeface="Calibri"/>
                <a:cs typeface="Calibri"/>
              </a:rPr>
              <a:t>base del </a:t>
            </a:r>
            <a:r>
              <a:rPr sz="2500" spc="-10" dirty="0">
                <a:latin typeface="Calibri"/>
                <a:cs typeface="Calibri"/>
              </a:rPr>
              <a:t>conocimiento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dirty="0">
                <a:latin typeface="Calibri"/>
                <a:cs typeface="Calibri"/>
              </a:rPr>
              <a:t>lecciones  </a:t>
            </a:r>
            <a:r>
              <a:rPr sz="2500" spc="-5" dirty="0">
                <a:latin typeface="Calibri"/>
                <a:cs typeface="Calibri"/>
              </a:rPr>
              <a:t>aprendidas,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riesgos.</a:t>
            </a:r>
            <a:endParaRPr sz="2500" dirty="0">
              <a:latin typeface="Calibri"/>
              <a:cs typeface="Calibri"/>
            </a:endParaRPr>
          </a:p>
          <a:p>
            <a:pPr marL="355600" marR="7620" indent="-343535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Lecciones aprendidas </a:t>
            </a:r>
            <a:r>
              <a:rPr sz="2500" spc="-5" dirty="0">
                <a:latin typeface="Calibri"/>
                <a:cs typeface="Calibri"/>
              </a:rPr>
              <a:t>(salida), </a:t>
            </a:r>
            <a:r>
              <a:rPr sz="2500" spc="-10" dirty="0">
                <a:latin typeface="Calibri"/>
                <a:cs typeface="Calibri"/>
              </a:rPr>
              <a:t>Información </a:t>
            </a:r>
            <a:r>
              <a:rPr sz="2500" spc="-15" dirty="0">
                <a:latin typeface="Calibri"/>
                <a:cs typeface="Calibri"/>
              </a:rPr>
              <a:t>Histórica  </a:t>
            </a:r>
            <a:r>
              <a:rPr sz="2500" spc="-10" dirty="0">
                <a:latin typeface="Calibri"/>
                <a:cs typeface="Calibri"/>
              </a:rPr>
              <a:t>(entrada).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5080" indent="-3771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8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7090"/>
            <a:ext cx="80727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5" dirty="0">
                <a:latin typeface="Calibri"/>
                <a:cs typeface="Calibri"/>
              </a:rPr>
              <a:t>Juicio </a:t>
            </a:r>
            <a:r>
              <a:rPr sz="2000" b="1" i="1" spc="-10" dirty="0">
                <a:latin typeface="Calibri"/>
                <a:cs typeface="Calibri"/>
              </a:rPr>
              <a:t>Experto: </a:t>
            </a:r>
            <a:r>
              <a:rPr sz="2000" dirty="0">
                <a:latin typeface="Calibri"/>
                <a:cs typeface="Calibri"/>
              </a:rPr>
              <a:t>Es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utilizar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la experiencia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cualquier unidad  </a:t>
            </a:r>
            <a:r>
              <a:rPr sz="2000" spc="-10" dirty="0">
                <a:latin typeface="Calibri"/>
                <a:cs typeface="Calibri"/>
              </a:rPr>
              <a:t>organizacional (consultores, </a:t>
            </a:r>
            <a:r>
              <a:rPr sz="2000" spc="-5" dirty="0">
                <a:latin typeface="Calibri"/>
                <a:cs typeface="Calibri"/>
              </a:rPr>
              <a:t>asociaciones técnicas, </a:t>
            </a:r>
            <a:r>
              <a:rPr sz="2000" spc="-10" dirty="0">
                <a:latin typeface="Calibri"/>
                <a:cs typeface="Calibri"/>
              </a:rPr>
              <a:t>expertos </a:t>
            </a:r>
            <a:r>
              <a:rPr sz="2000" spc="-5" dirty="0">
                <a:latin typeface="Calibri"/>
                <a:cs typeface="Calibri"/>
              </a:rPr>
              <a:t>en la materia,  </a:t>
            </a:r>
            <a:r>
              <a:rPr sz="2000" dirty="0">
                <a:latin typeface="Calibri"/>
                <a:cs typeface="Calibri"/>
              </a:rPr>
              <a:t>PMO´s, </a:t>
            </a:r>
            <a:r>
              <a:rPr sz="2000" spc="-10" dirty="0">
                <a:latin typeface="Calibri"/>
                <a:cs typeface="Calibri"/>
              </a:rPr>
              <a:t>profesionales, </a:t>
            </a:r>
            <a:r>
              <a:rPr sz="2000" spc="-5" dirty="0">
                <a:latin typeface="Calibri"/>
                <a:cs typeface="Calibri"/>
              </a:rPr>
              <a:t>la industria, </a:t>
            </a:r>
            <a:r>
              <a:rPr sz="2000" spc="-10" dirty="0">
                <a:latin typeface="Calibri"/>
                <a:cs typeface="Calibri"/>
              </a:rPr>
              <a:t>clientes, </a:t>
            </a:r>
            <a:r>
              <a:rPr sz="2000" spc="-5" dirty="0">
                <a:latin typeface="Calibri"/>
                <a:cs typeface="Calibri"/>
              </a:rPr>
              <a:t>Interesados,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2680" y="5979058"/>
            <a:ext cx="7621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Cuando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existe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una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PMO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acude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ella.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El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PMI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supone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que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la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PMO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tiene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información histórica o la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supervisa.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9339" y="2636520"/>
            <a:ext cx="4465320" cy="3348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5080" indent="-3771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8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8073390" cy="251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  <a:tab pos="1827530" algn="l"/>
                <a:tab pos="2268220" algn="l"/>
                <a:tab pos="3825875" algn="l"/>
                <a:tab pos="4893310" algn="l"/>
                <a:tab pos="5238750" algn="l"/>
                <a:tab pos="6231255" algn="l"/>
                <a:tab pos="6515100" algn="l"/>
                <a:tab pos="7914005" algn="l"/>
              </a:tabLst>
            </a:pPr>
            <a:r>
              <a:rPr sz="2000" b="1" i="1" dirty="0">
                <a:latin typeface="Calibri"/>
                <a:cs typeface="Calibri"/>
              </a:rPr>
              <a:t>2. 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400" b="1" i="1" spc="-185" dirty="0">
                <a:latin typeface="Calibri"/>
                <a:cs typeface="Calibri"/>
              </a:rPr>
              <a:t>T</a:t>
            </a:r>
            <a:r>
              <a:rPr sz="2400" b="1" i="1" spc="-5" dirty="0">
                <a:latin typeface="Calibri"/>
                <a:cs typeface="Calibri"/>
              </a:rPr>
              <a:t>é</a:t>
            </a:r>
            <a:r>
              <a:rPr sz="2400" b="1" i="1" spc="-10" dirty="0">
                <a:latin typeface="Calibri"/>
                <a:cs typeface="Calibri"/>
              </a:rPr>
              <a:t>c</a:t>
            </a:r>
            <a:r>
              <a:rPr sz="2400" b="1" i="1" spc="-5" dirty="0">
                <a:latin typeface="Calibri"/>
                <a:cs typeface="Calibri"/>
              </a:rPr>
              <a:t>n</a:t>
            </a:r>
            <a:r>
              <a:rPr sz="2400" b="1" i="1" spc="-10" dirty="0">
                <a:latin typeface="Calibri"/>
                <a:cs typeface="Calibri"/>
              </a:rPr>
              <a:t>i</a:t>
            </a:r>
            <a:r>
              <a:rPr sz="2400" b="1" i="1" spc="-30" dirty="0">
                <a:latin typeface="Calibri"/>
                <a:cs typeface="Calibri"/>
              </a:rPr>
              <a:t>c</a:t>
            </a:r>
            <a:r>
              <a:rPr sz="2400" b="1" i="1" dirty="0">
                <a:latin typeface="Calibri"/>
                <a:cs typeface="Calibri"/>
              </a:rPr>
              <a:t>as	</a:t>
            </a:r>
            <a:r>
              <a:rPr sz="2400" b="1" i="1" spc="5" dirty="0">
                <a:latin typeface="Calibri"/>
                <a:cs typeface="Calibri"/>
              </a:rPr>
              <a:t>d</a:t>
            </a:r>
            <a:r>
              <a:rPr sz="2400" b="1" i="1" dirty="0">
                <a:latin typeface="Calibri"/>
                <a:cs typeface="Calibri"/>
              </a:rPr>
              <a:t>e	</a:t>
            </a:r>
            <a:r>
              <a:rPr sz="2400" b="1" i="1" spc="-35" dirty="0">
                <a:latin typeface="Calibri"/>
                <a:cs typeface="Calibri"/>
              </a:rPr>
              <a:t>F</a:t>
            </a:r>
            <a:r>
              <a:rPr sz="2400" b="1" i="1" dirty="0">
                <a:latin typeface="Calibri"/>
                <a:cs typeface="Calibri"/>
              </a:rPr>
              <a:t>acil</a:t>
            </a:r>
            <a:r>
              <a:rPr sz="2400" b="1" i="1" spc="-10" dirty="0">
                <a:latin typeface="Calibri"/>
                <a:cs typeface="Calibri"/>
              </a:rPr>
              <a:t>i</a:t>
            </a:r>
            <a:r>
              <a:rPr sz="2400" b="1" i="1" spc="-30" dirty="0">
                <a:latin typeface="Calibri"/>
                <a:cs typeface="Calibri"/>
              </a:rPr>
              <a:t>t</a:t>
            </a:r>
            <a:r>
              <a:rPr sz="2400" b="1" i="1" dirty="0">
                <a:latin typeface="Calibri"/>
                <a:cs typeface="Calibri"/>
              </a:rPr>
              <a:t>ac</a:t>
            </a:r>
            <a:r>
              <a:rPr sz="2400" b="1" i="1" spc="-15" dirty="0">
                <a:latin typeface="Calibri"/>
                <a:cs typeface="Calibri"/>
              </a:rPr>
              <a:t>i</a:t>
            </a:r>
            <a:r>
              <a:rPr sz="2400" b="1" i="1" spc="-5" dirty="0">
                <a:latin typeface="Calibri"/>
                <a:cs typeface="Calibri"/>
              </a:rPr>
              <a:t>ó</a:t>
            </a:r>
            <a:r>
              <a:rPr sz="2400" b="1" i="1" dirty="0">
                <a:latin typeface="Calibri"/>
                <a:cs typeface="Calibri"/>
              </a:rPr>
              <a:t>n	</a:t>
            </a:r>
            <a:r>
              <a:rPr sz="2400" spc="-4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5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an	al	equipo	e	individuos	a  </a:t>
            </a:r>
            <a:r>
              <a:rPr sz="2400" spc="-10" dirty="0">
                <a:latin typeface="Calibri"/>
                <a:cs typeface="Calibri"/>
              </a:rPr>
              <a:t>llevar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cabo </a:t>
            </a:r>
            <a:r>
              <a:rPr sz="2400" dirty="0">
                <a:latin typeface="Calibri"/>
                <a:cs typeface="Calibri"/>
              </a:rPr>
              <a:t>las actividades del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b="1" i="1" spc="-35" dirty="0">
                <a:latin typeface="Calibri"/>
                <a:cs typeface="Calibri"/>
              </a:rPr>
              <a:t>Tormenta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ideas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b="1" i="1" spc="-10" dirty="0">
                <a:latin typeface="Calibri"/>
                <a:cs typeface="Calibri"/>
              </a:rPr>
              <a:t>Resolución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15" dirty="0">
                <a:latin typeface="Calibri"/>
                <a:cs typeface="Calibri"/>
              </a:rPr>
              <a:t>conflictos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b="1" i="1" spc="-10" dirty="0">
                <a:latin typeface="Calibri"/>
                <a:cs typeface="Calibri"/>
              </a:rPr>
              <a:t>Solución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problemas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b="1" i="1" spc="-10" dirty="0">
                <a:latin typeface="Calibri"/>
                <a:cs typeface="Calibri"/>
              </a:rPr>
              <a:t>Gestión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reuniones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2980" marR="5080" indent="-21786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Acta </a:t>
            </a:r>
            <a:r>
              <a:rPr spc="-5" dirty="0"/>
              <a:t>de Constitución </a:t>
            </a:r>
            <a:r>
              <a:rPr spc="-10" dirty="0"/>
              <a:t>de  </a:t>
            </a:r>
            <a:r>
              <a:rPr spc="-25" dirty="0"/>
              <a:t>Proyecto</a:t>
            </a:r>
            <a:r>
              <a:rPr spc="-15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8073390" cy="42932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3535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1. Project Charter: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Documenta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el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propósito </a:t>
            </a:r>
            <a:r>
              <a:rPr sz="2500" b="1" spc="-5" dirty="0">
                <a:solidFill>
                  <a:srgbClr val="FF0000"/>
                </a:solidFill>
                <a:latin typeface="Calibri"/>
                <a:cs typeface="Calibri"/>
              </a:rPr>
              <a:t>o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justificación  </a:t>
            </a:r>
            <a:r>
              <a:rPr sz="2500" b="1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500" b="1" spc="-20" dirty="0">
                <a:solidFill>
                  <a:srgbClr val="FF0000"/>
                </a:solidFill>
                <a:latin typeface="Calibri"/>
                <a:cs typeface="Calibri"/>
              </a:rPr>
              <a:t>proyecto</a:t>
            </a:r>
            <a:r>
              <a:rPr sz="2500" spc="-20" dirty="0">
                <a:latin typeface="Calibri"/>
                <a:cs typeface="Calibri"/>
              </a:rPr>
              <a:t>, </a:t>
            </a:r>
            <a:r>
              <a:rPr sz="2500" spc="-10" dirty="0">
                <a:latin typeface="Calibri"/>
                <a:cs typeface="Calibri"/>
              </a:rPr>
              <a:t>objetivos </a:t>
            </a:r>
            <a:r>
              <a:rPr sz="2500" spc="-5" dirty="0">
                <a:latin typeface="Calibri"/>
                <a:cs typeface="Calibri"/>
              </a:rPr>
              <a:t>medibles, criterios de </a:t>
            </a:r>
            <a:r>
              <a:rPr sz="2500" spc="-20" dirty="0">
                <a:latin typeface="Calibri"/>
                <a:cs typeface="Calibri"/>
              </a:rPr>
              <a:t>éxito,  </a:t>
            </a:r>
            <a:r>
              <a:rPr sz="2500" spc="-5" dirty="0">
                <a:latin typeface="Calibri"/>
                <a:cs typeface="Calibri"/>
              </a:rPr>
              <a:t>criterios de </a:t>
            </a:r>
            <a:r>
              <a:rPr sz="2500" spc="-10" dirty="0">
                <a:latin typeface="Calibri"/>
                <a:cs typeface="Calibri"/>
              </a:rPr>
              <a:t>aceptación </a:t>
            </a:r>
            <a:r>
              <a:rPr sz="2500" spc="-5" dirty="0">
                <a:latin typeface="Calibri"/>
                <a:cs typeface="Calibri"/>
              </a:rPr>
              <a:t>de los </a:t>
            </a:r>
            <a:r>
              <a:rPr sz="2500" spc="-10" dirty="0">
                <a:latin typeface="Calibri"/>
                <a:cs typeface="Calibri"/>
              </a:rPr>
              <a:t>objetivos (sin</a:t>
            </a:r>
            <a:r>
              <a:rPr sz="2500" spc="5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detallar).</a:t>
            </a:r>
            <a:endParaRPr sz="25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latin typeface="Calibri"/>
                <a:cs typeface="Calibri"/>
              </a:rPr>
              <a:t>El </a:t>
            </a:r>
            <a:r>
              <a:rPr sz="2500" spc="-10" dirty="0">
                <a:latin typeface="Calibri"/>
                <a:cs typeface="Calibri"/>
              </a:rPr>
              <a:t>Project Charter también se complementa </a:t>
            </a:r>
            <a:r>
              <a:rPr sz="2500" spc="-5" dirty="0">
                <a:latin typeface="Calibri"/>
                <a:cs typeface="Calibri"/>
              </a:rPr>
              <a:t>(sin un alto  </a:t>
            </a:r>
            <a:r>
              <a:rPr sz="2500" spc="-10" dirty="0">
                <a:latin typeface="Calibri"/>
                <a:cs typeface="Calibri"/>
              </a:rPr>
              <a:t>nivel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0" dirty="0">
                <a:latin typeface="Calibri"/>
                <a:cs typeface="Calibri"/>
              </a:rPr>
              <a:t>detalle)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Requerimientos,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Descripción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del  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Proyecto,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Riesgos, Resumen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Cronograma 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hitos 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(milestone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schedule),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Presupuesto global, Requerimientos  aprobados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proyecto,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Gerente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del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Proyecto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su nivel de 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autoridad,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quién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es el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Patrocinador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5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Patrocinadores.</a:t>
            </a:r>
            <a:endParaRPr sz="25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6985" indent="-343535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libri"/>
                <a:cs typeface="Calibri"/>
              </a:rPr>
              <a:t>La </a:t>
            </a:r>
            <a:r>
              <a:rPr sz="2500" dirty="0">
                <a:latin typeface="Calibri"/>
                <a:cs typeface="Calibri"/>
              </a:rPr>
              <a:t>emisión </a:t>
            </a:r>
            <a:r>
              <a:rPr sz="2500" spc="-5" dirty="0">
                <a:latin typeface="Calibri"/>
                <a:cs typeface="Calibri"/>
              </a:rPr>
              <a:t>del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Project Charter </a:t>
            </a:r>
            <a:r>
              <a:rPr sz="2500" dirty="0">
                <a:latin typeface="Calibri"/>
                <a:cs typeface="Calibri"/>
              </a:rPr>
              <a:t>es </a:t>
            </a:r>
            <a:r>
              <a:rPr sz="2500" spc="-5" dirty="0">
                <a:latin typeface="Calibri"/>
                <a:cs typeface="Calibri"/>
              </a:rPr>
              <a:t>de la </a:t>
            </a:r>
            <a:r>
              <a:rPr sz="2500" spc="-15" dirty="0">
                <a:latin typeface="Calibri"/>
                <a:cs typeface="Calibri"/>
              </a:rPr>
              <a:t>Alta </a:t>
            </a:r>
            <a:r>
              <a:rPr sz="2500" spc="-5" dirty="0">
                <a:latin typeface="Calibri"/>
                <a:cs typeface="Calibri"/>
              </a:rPr>
              <a:t>Gerencia. </a:t>
            </a:r>
            <a:r>
              <a:rPr sz="2500" b="1" spc="-25" dirty="0">
                <a:solidFill>
                  <a:srgbClr val="FF0000"/>
                </a:solidFill>
                <a:latin typeface="Calibri"/>
                <a:cs typeface="Calibri"/>
              </a:rPr>
              <a:t>Lo  </a:t>
            </a:r>
            <a:r>
              <a:rPr sz="2500" b="1" spc="-15" dirty="0">
                <a:solidFill>
                  <a:srgbClr val="FF0000"/>
                </a:solidFill>
                <a:latin typeface="Calibri"/>
                <a:cs typeface="Calibri"/>
              </a:rPr>
              <a:t>prepara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25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spc="-114" dirty="0">
                <a:solidFill>
                  <a:srgbClr val="FF0000"/>
                </a:solidFill>
                <a:latin typeface="Calibri"/>
                <a:cs typeface="Calibri"/>
              </a:rPr>
              <a:t>GP.</a:t>
            </a:r>
            <a:endParaRPr sz="25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8255" indent="-343535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libri"/>
                <a:cs typeface="Calibri"/>
              </a:rPr>
              <a:t>Un </a:t>
            </a:r>
            <a:r>
              <a:rPr sz="2500" spc="-20" dirty="0">
                <a:latin typeface="Calibri"/>
                <a:cs typeface="Calibri"/>
              </a:rPr>
              <a:t>contrato </a:t>
            </a:r>
            <a:r>
              <a:rPr sz="2500" spc="-5" dirty="0">
                <a:latin typeface="Calibri"/>
                <a:cs typeface="Calibri"/>
              </a:rPr>
              <a:t>puede </a:t>
            </a:r>
            <a:r>
              <a:rPr sz="2500" dirty="0">
                <a:latin typeface="Calibri"/>
                <a:cs typeface="Calibri"/>
              </a:rPr>
              <a:t>actuar </a:t>
            </a:r>
            <a:r>
              <a:rPr sz="2500" spc="-10" dirty="0">
                <a:latin typeface="Calibri"/>
                <a:cs typeface="Calibri"/>
              </a:rPr>
              <a:t>como Project </a:t>
            </a:r>
            <a:r>
              <a:rPr sz="2500" spc="-35" dirty="0">
                <a:latin typeface="Calibri"/>
                <a:cs typeface="Calibri"/>
              </a:rPr>
              <a:t>Charter, </a:t>
            </a:r>
            <a:r>
              <a:rPr sz="2500" spc="-15" dirty="0">
                <a:latin typeface="Calibri"/>
                <a:cs typeface="Calibri"/>
              </a:rPr>
              <a:t>pero </a:t>
            </a:r>
            <a:r>
              <a:rPr sz="2500" spc="-25" dirty="0">
                <a:latin typeface="Calibri"/>
                <a:cs typeface="Calibri"/>
              </a:rPr>
              <a:t>no  </a:t>
            </a:r>
            <a:r>
              <a:rPr sz="2500" spc="-5" dirty="0">
                <a:latin typeface="Calibri"/>
                <a:cs typeface="Calibri"/>
              </a:rPr>
              <a:t>tiene </a:t>
            </a:r>
            <a:r>
              <a:rPr sz="2500" dirty="0">
                <a:latin typeface="Calibri"/>
                <a:cs typeface="Calibri"/>
              </a:rPr>
              <a:t>el </a:t>
            </a:r>
            <a:r>
              <a:rPr sz="2500" spc="-5" dirty="0">
                <a:latin typeface="Calibri"/>
                <a:cs typeface="Calibri"/>
              </a:rPr>
              <a:t>mismo </a:t>
            </a:r>
            <a:r>
              <a:rPr sz="2500" spc="-10" dirty="0">
                <a:latin typeface="Calibri"/>
                <a:cs typeface="Calibri"/>
              </a:rPr>
              <a:t>nivel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0" dirty="0">
                <a:latin typeface="Calibri"/>
                <a:cs typeface="Calibri"/>
              </a:rPr>
              <a:t>detalle</a:t>
            </a:r>
            <a:r>
              <a:rPr sz="2500" spc="6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requerido.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Desarrollar </a:t>
            </a:r>
            <a:r>
              <a:rPr sz="3200" dirty="0"/>
              <a:t>el </a:t>
            </a:r>
            <a:r>
              <a:rPr sz="3200" spc="-15" dirty="0"/>
              <a:t>Acta </a:t>
            </a:r>
            <a:r>
              <a:rPr sz="3200" spc="-5" dirty="0"/>
              <a:t>de </a:t>
            </a:r>
            <a:r>
              <a:rPr sz="3200" spc="-10" dirty="0"/>
              <a:t>Constitución </a:t>
            </a:r>
            <a:r>
              <a:rPr sz="3200" spc="-5" dirty="0"/>
              <a:t>de</a:t>
            </a:r>
            <a:r>
              <a:rPr sz="3200" spc="75" dirty="0"/>
              <a:t> </a:t>
            </a:r>
            <a:r>
              <a:rPr sz="3200" spc="-20" dirty="0"/>
              <a:t>Proyecto</a:t>
            </a:r>
            <a:endParaRPr sz="320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Calibri"/>
                <a:cs typeface="Calibri"/>
              </a:rPr>
              <a:t>Salidas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" y="1091183"/>
            <a:ext cx="7956804" cy="57668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416" y="461899"/>
            <a:ext cx="6280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Identificar </a:t>
            </a:r>
            <a:r>
              <a:rPr sz="4400" dirty="0"/>
              <a:t>a los</a:t>
            </a:r>
            <a:r>
              <a:rPr sz="4400" spc="5" dirty="0"/>
              <a:t> </a:t>
            </a:r>
            <a:r>
              <a:rPr sz="4400" spc="-15" dirty="0"/>
              <a:t>Interesados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8073390" cy="14331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marR="5080" indent="-343535" algn="just">
              <a:lnSpc>
                <a:spcPts val="2110"/>
              </a:lnSpc>
              <a:spcBef>
                <a:spcPts val="60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Es el </a:t>
            </a:r>
            <a:r>
              <a:rPr sz="2200" spc="-10" dirty="0">
                <a:latin typeface="Calibri"/>
                <a:cs typeface="Calibri"/>
              </a:rPr>
              <a:t>proceso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identificar</a:t>
            </a:r>
            <a:r>
              <a:rPr sz="2200" spc="-10" dirty="0">
                <a:latin typeface="Calibri"/>
                <a:cs typeface="Calibri"/>
              </a:rPr>
              <a:t> todos </a:t>
            </a:r>
            <a:r>
              <a:rPr sz="2200" spc="-5" dirty="0">
                <a:latin typeface="Calibri"/>
                <a:cs typeface="Calibri"/>
              </a:rPr>
              <a:t>los que </a:t>
            </a:r>
            <a:r>
              <a:rPr sz="2200" dirty="0">
                <a:latin typeface="Calibri"/>
                <a:cs typeface="Calibri"/>
              </a:rPr>
              <a:t>se </a:t>
            </a:r>
            <a:r>
              <a:rPr sz="2200" spc="-15" dirty="0">
                <a:latin typeface="Calibri"/>
                <a:cs typeface="Calibri"/>
              </a:rPr>
              <a:t>van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impactar positiva 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spc="-15" dirty="0">
                <a:latin typeface="Calibri"/>
                <a:cs typeface="Calibri"/>
              </a:rPr>
              <a:t>negativamente </a:t>
            </a:r>
            <a:r>
              <a:rPr sz="2200" spc="-10" dirty="0">
                <a:latin typeface="Calibri"/>
                <a:cs typeface="Calibri"/>
              </a:rPr>
              <a:t>por </a:t>
            </a: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5" dirty="0">
                <a:latin typeface="Calibri"/>
                <a:cs typeface="Calibri"/>
              </a:rPr>
              <a:t>proyecto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personas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u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organizaciones</a:t>
            </a:r>
            <a:r>
              <a:rPr sz="2200" spc="-10" dirty="0">
                <a:latin typeface="Calibri"/>
                <a:cs typeface="Calibri"/>
              </a:rPr>
              <a:t>).  </a:t>
            </a:r>
            <a:r>
              <a:rPr sz="2200" spc="-5" dirty="0">
                <a:latin typeface="Calibri"/>
                <a:cs typeface="Calibri"/>
              </a:rPr>
              <a:t>Además, </a:t>
            </a:r>
            <a:r>
              <a:rPr sz="2200" dirty="0">
                <a:latin typeface="Calibri"/>
                <a:cs typeface="Calibri"/>
              </a:rPr>
              <a:t>se </a:t>
            </a:r>
            <a:r>
              <a:rPr sz="2200" spc="-5" dirty="0">
                <a:latin typeface="Calibri"/>
                <a:cs typeface="Calibri"/>
              </a:rPr>
              <a:t>debe </a:t>
            </a:r>
            <a:r>
              <a:rPr sz="2200" spc="-10" dirty="0">
                <a:latin typeface="Calibri"/>
                <a:cs typeface="Calibri"/>
              </a:rPr>
              <a:t>documentar información </a:t>
            </a:r>
            <a:r>
              <a:rPr sz="2200" spc="-5" dirty="0">
                <a:latin typeface="Calibri"/>
                <a:cs typeface="Calibri"/>
              </a:rPr>
              <a:t>de cuáles son </a:t>
            </a:r>
            <a:r>
              <a:rPr sz="2200" spc="-10" dirty="0">
                <a:latin typeface="Calibri"/>
                <a:cs typeface="Calibri"/>
              </a:rPr>
              <a:t>sus 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intereses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expectativas</a:t>
            </a:r>
            <a:r>
              <a:rPr sz="2200" spc="-15" dirty="0">
                <a:latin typeface="Calibri"/>
                <a:cs typeface="Calibri"/>
              </a:rPr>
              <a:t>, </a:t>
            </a:r>
            <a:r>
              <a:rPr sz="2200" spc="-10" dirty="0">
                <a:latin typeface="Calibri"/>
                <a:cs typeface="Calibri"/>
              </a:rPr>
              <a:t>qué </a:t>
            </a:r>
            <a:r>
              <a:rPr sz="2200" spc="-20" dirty="0">
                <a:latin typeface="Calibri"/>
                <a:cs typeface="Calibri"/>
              </a:rPr>
              <a:t>tanto </a:t>
            </a:r>
            <a:r>
              <a:rPr sz="2200" spc="5" dirty="0">
                <a:latin typeface="Calibri"/>
                <a:cs typeface="Calibri"/>
              </a:rPr>
              <a:t>se </a:t>
            </a:r>
            <a:r>
              <a:rPr sz="2200" spc="-15" dirty="0">
                <a:latin typeface="Calibri"/>
                <a:cs typeface="Calibri"/>
              </a:rPr>
              <a:t>van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involucrar </a:t>
            </a:r>
            <a:r>
              <a:rPr sz="2200" spc="-5" dirty="0">
                <a:latin typeface="Calibri"/>
                <a:cs typeface="Calibri"/>
              </a:rPr>
              <a:t>y cuál </a:t>
            </a:r>
            <a:r>
              <a:rPr sz="2200" spc="-20" dirty="0">
                <a:latin typeface="Calibri"/>
                <a:cs typeface="Calibri"/>
              </a:rPr>
              <a:t>va </a:t>
            </a:r>
            <a:r>
              <a:rPr sz="2200" spc="-5" dirty="0">
                <a:latin typeface="Calibri"/>
                <a:cs typeface="Calibri"/>
              </a:rPr>
              <a:t>a  ser el </a:t>
            </a:r>
            <a:r>
              <a:rPr sz="2200" spc="-10" dirty="0">
                <a:latin typeface="Calibri"/>
                <a:cs typeface="Calibri"/>
              </a:rPr>
              <a:t>nivel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impacto </a:t>
            </a:r>
            <a:r>
              <a:rPr sz="2200" spc="-5" dirty="0">
                <a:latin typeface="Calibri"/>
                <a:cs typeface="Calibri"/>
              </a:rPr>
              <a:t>e </a:t>
            </a:r>
            <a:r>
              <a:rPr sz="2200" spc="-10" dirty="0">
                <a:latin typeface="Calibri"/>
                <a:cs typeface="Calibri"/>
              </a:rPr>
              <a:t>influencia sobre </a:t>
            </a: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5904" y="3140964"/>
            <a:ext cx="7809093" cy="3526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416" y="461899"/>
            <a:ext cx="6280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Identificar </a:t>
            </a:r>
            <a:r>
              <a:rPr sz="4400" dirty="0"/>
              <a:t>a los</a:t>
            </a:r>
            <a:r>
              <a:rPr sz="4400" spc="5" dirty="0"/>
              <a:t> </a:t>
            </a:r>
            <a:r>
              <a:rPr sz="4400" spc="-15" dirty="0"/>
              <a:t>Interesados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8074659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Con base </a:t>
            </a:r>
            <a:r>
              <a:rPr sz="2400" dirty="0">
                <a:latin typeface="Calibri"/>
                <a:cs typeface="Calibri"/>
              </a:rPr>
              <a:t>en la </a:t>
            </a:r>
            <a:r>
              <a:rPr sz="2400" spc="-5" dirty="0">
                <a:latin typeface="Calibri"/>
                <a:cs typeface="Calibri"/>
              </a:rPr>
              <a:t>identificación se puede </a:t>
            </a:r>
            <a:r>
              <a:rPr sz="2400" spc="-10" dirty="0">
                <a:latin typeface="Calibri"/>
                <a:cs typeface="Calibri"/>
              </a:rPr>
              <a:t>elaborar </a:t>
            </a:r>
            <a:r>
              <a:rPr sz="2400" spc="-5" dirty="0">
                <a:latin typeface="Calibri"/>
                <a:cs typeface="Calibri"/>
              </a:rPr>
              <a:t>una </a:t>
            </a:r>
            <a:r>
              <a:rPr sz="2400" spc="-15" dirty="0">
                <a:latin typeface="Calibri"/>
                <a:cs typeface="Calibri"/>
              </a:rPr>
              <a:t>estrategia  para </a:t>
            </a:r>
            <a:r>
              <a:rPr sz="2400" spc="-10" dirty="0">
                <a:latin typeface="Calibri"/>
                <a:cs typeface="Calibri"/>
              </a:rPr>
              <a:t>abordar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cada uno de </a:t>
            </a:r>
            <a:r>
              <a:rPr sz="2400" dirty="0">
                <a:latin typeface="Calibri"/>
                <a:cs typeface="Calibri"/>
              </a:rPr>
              <a:t>ellos y </a:t>
            </a:r>
            <a:r>
              <a:rPr sz="2400" spc="-5" dirty="0">
                <a:latin typeface="Calibri"/>
                <a:cs typeface="Calibri"/>
              </a:rPr>
              <a:t>determinar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nivel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15" dirty="0">
                <a:latin typeface="Calibri"/>
                <a:cs typeface="Calibri"/>
              </a:rPr>
              <a:t>el  </a:t>
            </a:r>
            <a:r>
              <a:rPr sz="2400" spc="-10" dirty="0">
                <a:latin typeface="Calibri"/>
                <a:cs typeface="Calibri"/>
              </a:rPr>
              <a:t>momento de </a:t>
            </a:r>
            <a:r>
              <a:rPr sz="2400" spc="-5" dirty="0">
                <a:latin typeface="Calibri"/>
                <a:cs typeface="Calibri"/>
              </a:rPr>
              <a:t>su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participación</a:t>
            </a:r>
            <a:r>
              <a:rPr sz="2400" spc="-5" dirty="0">
                <a:latin typeface="Calibri"/>
                <a:cs typeface="Calibri"/>
              </a:rPr>
              <a:t>. Lo </a:t>
            </a:r>
            <a:r>
              <a:rPr sz="2400" spc="-10" dirty="0">
                <a:latin typeface="Calibri"/>
                <a:cs typeface="Calibri"/>
              </a:rPr>
              <a:t>anterior </a:t>
            </a:r>
            <a:r>
              <a:rPr sz="2400" spc="-15" dirty="0">
                <a:latin typeface="Calibri"/>
                <a:cs typeface="Calibri"/>
              </a:rPr>
              <a:t>con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fin de  </a:t>
            </a:r>
            <a:r>
              <a:rPr sz="2400" spc="-10" dirty="0">
                <a:latin typeface="Calibri"/>
                <a:cs typeface="Calibri"/>
              </a:rPr>
              <a:t>maximizar </a:t>
            </a:r>
            <a:r>
              <a:rPr sz="2400" spc="-5" dirty="0">
                <a:latin typeface="Calibri"/>
                <a:cs typeface="Calibri"/>
              </a:rPr>
              <a:t>influencias </a:t>
            </a:r>
            <a:r>
              <a:rPr sz="2400" spc="-10" dirty="0">
                <a:latin typeface="Calibri"/>
                <a:cs typeface="Calibri"/>
              </a:rPr>
              <a:t>positivas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mitigar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5" dirty="0">
                <a:latin typeface="Calibri"/>
                <a:cs typeface="Calibri"/>
              </a:rPr>
              <a:t>impactos  </a:t>
            </a:r>
            <a:r>
              <a:rPr sz="2400" spc="-15" dirty="0">
                <a:latin typeface="Calibri"/>
                <a:cs typeface="Calibri"/>
              </a:rPr>
              <a:t>negativos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potenciales.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500" dirty="0">
              <a:latin typeface="Times New Roman"/>
              <a:cs typeface="Times New Roman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Se </a:t>
            </a:r>
            <a:r>
              <a:rPr sz="2400" spc="-5" dirty="0">
                <a:latin typeface="Calibri"/>
                <a:cs typeface="Calibri"/>
              </a:rPr>
              <a:t>deben también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clasificar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10" dirty="0">
                <a:latin typeface="Calibri"/>
                <a:cs typeface="Calibri"/>
              </a:rPr>
              <a:t>interesados </a:t>
            </a:r>
            <a:r>
              <a:rPr sz="2400" spc="-5" dirty="0">
                <a:latin typeface="Calibri"/>
                <a:cs typeface="Calibri"/>
              </a:rPr>
              <a:t>por su </a:t>
            </a:r>
            <a:r>
              <a:rPr sz="2400" spc="-15" dirty="0">
                <a:latin typeface="Calibri"/>
                <a:cs typeface="Calibri"/>
              </a:rPr>
              <a:t>interés, 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nfluencia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participación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crear </a:t>
            </a:r>
            <a:r>
              <a:rPr sz="2400" spc="-5" dirty="0">
                <a:latin typeface="Calibri"/>
                <a:cs typeface="Calibri"/>
              </a:rPr>
              <a:t>una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estrategia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de 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comunicación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(quién </a:t>
            </a:r>
            <a:r>
              <a:rPr sz="2400" spc="-10" dirty="0">
                <a:latin typeface="Calibri"/>
                <a:cs typeface="Calibri"/>
              </a:rPr>
              <a:t>necesita </a:t>
            </a:r>
            <a:r>
              <a:rPr sz="2400" spc="-5" dirty="0">
                <a:latin typeface="Calibri"/>
                <a:cs typeface="Calibri"/>
              </a:rPr>
              <a:t>qué </a:t>
            </a:r>
            <a:r>
              <a:rPr sz="2400" spc="-10" dirty="0">
                <a:latin typeface="Calibri"/>
                <a:cs typeface="Calibri"/>
              </a:rPr>
              <a:t>información, </a:t>
            </a:r>
            <a:r>
              <a:rPr sz="2400" spc="-5" dirty="0">
                <a:latin typeface="Calibri"/>
                <a:cs typeface="Calibri"/>
              </a:rPr>
              <a:t>cuándo </a:t>
            </a:r>
            <a:r>
              <a:rPr sz="2400" spc="-15" dirty="0">
                <a:latin typeface="Calibri"/>
                <a:cs typeface="Calibri"/>
              </a:rPr>
              <a:t>la  </a:t>
            </a:r>
            <a:r>
              <a:rPr sz="2400" spc="-10" dirty="0">
                <a:latin typeface="Calibri"/>
                <a:cs typeface="Calibri"/>
              </a:rPr>
              <a:t>necesita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cómo </a:t>
            </a:r>
            <a:r>
              <a:rPr sz="2400" spc="-5" dirty="0">
                <a:latin typeface="Calibri"/>
                <a:cs typeface="Calibri"/>
              </a:rPr>
              <a:t>se </a:t>
            </a:r>
            <a:r>
              <a:rPr sz="2400" dirty="0">
                <a:latin typeface="Calibri"/>
                <a:cs typeface="Calibri"/>
              </a:rPr>
              <a:t>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envía)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496950"/>
            <a:ext cx="7649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</a:t>
            </a:r>
            <a:r>
              <a:rPr spc="-10" dirty="0"/>
              <a:t>los </a:t>
            </a:r>
            <a:r>
              <a:rPr spc="-15" dirty="0"/>
              <a:t>Interesados</a:t>
            </a:r>
            <a:r>
              <a:rPr spc="-3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7402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1073150" algn="l"/>
                <a:tab pos="2240915" algn="l"/>
                <a:tab pos="2491105" algn="l"/>
                <a:tab pos="3059430" algn="l"/>
                <a:tab pos="4870450" algn="l"/>
                <a:tab pos="5553075" algn="l"/>
                <a:tab pos="6181090" algn="l"/>
                <a:tab pos="6470650" algn="l"/>
                <a:tab pos="7016115" algn="l"/>
              </a:tabLst>
            </a:pPr>
            <a:r>
              <a:rPr sz="3200" b="1" i="1" spc="-5" dirty="0">
                <a:latin typeface="Calibri"/>
                <a:cs typeface="Calibri"/>
              </a:rPr>
              <a:t>1</a:t>
            </a:r>
            <a:r>
              <a:rPr sz="3200" b="1" i="1" dirty="0">
                <a:latin typeface="Calibri"/>
                <a:cs typeface="Calibri"/>
              </a:rPr>
              <a:t>.	Ac</a:t>
            </a:r>
            <a:r>
              <a:rPr sz="3200" b="1" i="1" spc="-45" dirty="0">
                <a:latin typeface="Calibri"/>
                <a:cs typeface="Calibri"/>
              </a:rPr>
              <a:t>t</a:t>
            </a:r>
            <a:r>
              <a:rPr sz="3200" b="1" i="1" dirty="0">
                <a:latin typeface="Calibri"/>
                <a:cs typeface="Calibri"/>
              </a:rPr>
              <a:t>a	de	Co</a:t>
            </a:r>
            <a:r>
              <a:rPr sz="3200" b="1" i="1" spc="10" dirty="0">
                <a:latin typeface="Calibri"/>
                <a:cs typeface="Calibri"/>
              </a:rPr>
              <a:t>n</a:t>
            </a:r>
            <a:r>
              <a:rPr sz="3200" b="1" i="1" spc="-40" dirty="0">
                <a:latin typeface="Calibri"/>
                <a:cs typeface="Calibri"/>
              </a:rPr>
              <a:t>s</a:t>
            </a:r>
            <a:r>
              <a:rPr sz="3200" b="1" i="1" dirty="0">
                <a:latin typeface="Calibri"/>
                <a:cs typeface="Calibri"/>
              </a:rPr>
              <a:t>tituc</a:t>
            </a:r>
            <a:r>
              <a:rPr sz="3200" b="1" i="1" spc="-15" dirty="0">
                <a:latin typeface="Calibri"/>
                <a:cs typeface="Calibri"/>
              </a:rPr>
              <a:t>i</a:t>
            </a:r>
            <a:r>
              <a:rPr sz="3200" b="1" i="1" spc="-5" dirty="0">
                <a:latin typeface="Calibri"/>
                <a:cs typeface="Calibri"/>
              </a:rPr>
              <a:t>ó</a:t>
            </a:r>
            <a:r>
              <a:rPr sz="3200" b="1" i="1" dirty="0">
                <a:latin typeface="Calibri"/>
                <a:cs typeface="Calibri"/>
              </a:rPr>
              <a:t>n	del		</a:t>
            </a:r>
            <a:r>
              <a:rPr sz="3200" b="1" i="1" spc="-5" dirty="0">
                <a:latin typeface="Calibri"/>
                <a:cs typeface="Calibri"/>
              </a:rPr>
              <a:t>Pr</a:t>
            </a:r>
            <a:r>
              <a:rPr sz="3200" b="1" i="1" spc="-35" dirty="0">
                <a:latin typeface="Calibri"/>
                <a:cs typeface="Calibri"/>
              </a:rPr>
              <a:t>o</a:t>
            </a:r>
            <a:r>
              <a:rPr sz="3200" b="1" i="1" spc="-5" dirty="0">
                <a:latin typeface="Calibri"/>
                <a:cs typeface="Calibri"/>
              </a:rPr>
              <a:t>yec</a:t>
            </a:r>
            <a:r>
              <a:rPr sz="3200" b="1" i="1" spc="-40" dirty="0">
                <a:latin typeface="Calibri"/>
                <a:cs typeface="Calibri"/>
              </a:rPr>
              <a:t>t</a:t>
            </a:r>
            <a:r>
              <a:rPr sz="3200" b="1" i="1" spc="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:  </a:t>
            </a:r>
            <a:r>
              <a:rPr sz="3200" spc="-5" dirty="0">
                <a:latin typeface="Calibri"/>
                <a:cs typeface="Calibri"/>
              </a:rPr>
              <a:t>Su</a:t>
            </a:r>
            <a:r>
              <a:rPr sz="3200" spc="5" dirty="0">
                <a:latin typeface="Calibri"/>
                <a:cs typeface="Calibri"/>
              </a:rPr>
              <a:t>m</a:t>
            </a:r>
            <a:r>
              <a:rPr sz="3200" dirty="0">
                <a:latin typeface="Calibri"/>
                <a:cs typeface="Calibri"/>
              </a:rPr>
              <a:t>ini</a:t>
            </a:r>
            <a:r>
              <a:rPr sz="3200" spc="-40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5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		i</a:t>
            </a:r>
            <a:r>
              <a:rPr sz="3200" spc="-20" dirty="0">
                <a:latin typeface="Calibri"/>
                <a:cs typeface="Calibri"/>
              </a:rPr>
              <a:t>n</a:t>
            </a:r>
            <a:r>
              <a:rPr sz="3200" spc="-80" dirty="0">
                <a:latin typeface="Calibri"/>
                <a:cs typeface="Calibri"/>
              </a:rPr>
              <a:t>f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spc="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mación	</a:t>
            </a:r>
            <a:r>
              <a:rPr sz="3200" spc="-5" dirty="0">
                <a:latin typeface="Calibri"/>
                <a:cs typeface="Calibri"/>
              </a:rPr>
              <a:t>sob</a:t>
            </a:r>
            <a:r>
              <a:rPr sz="3200" spc="-4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	las	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ar</a:t>
            </a:r>
            <a:r>
              <a:rPr sz="3200" spc="-4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19369" y="2583002"/>
            <a:ext cx="29883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71039" algn="l"/>
                <a:tab pos="2678430" algn="l"/>
              </a:tabLst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par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icipan</a:t>
            </a:r>
            <a:r>
              <a:rPr sz="3200" dirty="0">
                <a:latin typeface="Calibri"/>
                <a:cs typeface="Calibri"/>
              </a:rPr>
              <a:t>	en	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9144" y="2583002"/>
            <a:ext cx="14865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internas</a:t>
            </a:r>
            <a:r>
              <a:rPr sz="3200" spc="-10" dirty="0">
                <a:latin typeface="Calibri"/>
                <a:cs typeface="Calibri"/>
              </a:rPr>
              <a:t>  </a:t>
            </a:r>
            <a:r>
              <a:rPr sz="3200" spc="-5" dirty="0">
                <a:latin typeface="Calibri"/>
                <a:cs typeface="Calibri"/>
              </a:rPr>
              <a:t>p</a:t>
            </a:r>
            <a:r>
              <a:rPr sz="3200" spc="-55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spc="-60" dirty="0">
                <a:latin typeface="Calibri"/>
                <a:cs typeface="Calibri"/>
              </a:rPr>
              <a:t>y</a:t>
            </a:r>
            <a:r>
              <a:rPr sz="3200" dirty="0">
                <a:latin typeface="Calibri"/>
                <a:cs typeface="Calibri"/>
              </a:rPr>
              <a:t>ec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5870" y="2583002"/>
            <a:ext cx="28384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 marR="5080" indent="-144145">
              <a:lnSpc>
                <a:spcPct val="100000"/>
              </a:lnSpc>
              <a:spcBef>
                <a:spcPts val="105"/>
              </a:spcBef>
              <a:tabLst>
                <a:tab pos="486409" algn="l"/>
                <a:tab pos="661670" algn="l"/>
                <a:tab pos="1344930" algn="l"/>
                <a:tab pos="2195195" algn="l"/>
              </a:tabLst>
            </a:pPr>
            <a:r>
              <a:rPr sz="3200" dirty="0">
                <a:latin typeface="Calibri"/>
                <a:cs typeface="Calibri"/>
              </a:rPr>
              <a:t>y	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3200" spc="1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3200" spc="-4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ernas	</a:t>
            </a:r>
            <a:r>
              <a:rPr sz="3200" spc="-5" dirty="0">
                <a:latin typeface="Calibri"/>
                <a:cs typeface="Calibri"/>
              </a:rPr>
              <a:t>que  </a:t>
            </a:r>
            <a:r>
              <a:rPr sz="3200" dirty="0">
                <a:latin typeface="Calibri"/>
                <a:cs typeface="Calibri"/>
              </a:rPr>
              <a:t>y		</a:t>
            </a:r>
            <a:r>
              <a:rPr sz="3200" spc="-5" dirty="0">
                <a:latin typeface="Calibri"/>
                <a:cs typeface="Calibri"/>
              </a:rPr>
              <a:t>se	</a:t>
            </a:r>
            <a:r>
              <a:rPr sz="3200" spc="-10" dirty="0">
                <a:latin typeface="Calibri"/>
                <a:cs typeface="Calibri"/>
              </a:rPr>
              <a:t>ven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3558616"/>
            <a:ext cx="675703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78175" algn="l"/>
                <a:tab pos="5052695" algn="l"/>
              </a:tabLst>
            </a:pPr>
            <a:r>
              <a:rPr sz="3200" spc="-15" dirty="0">
                <a:latin typeface="Calibri"/>
                <a:cs typeface="Calibri"/>
              </a:rPr>
              <a:t>(Patrocinadores,	</a:t>
            </a:r>
            <a:r>
              <a:rPr sz="3200" spc="-10" dirty="0">
                <a:latin typeface="Calibri"/>
                <a:cs typeface="Calibri"/>
              </a:rPr>
              <a:t>Clientes,	Miembros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64404" y="3071241"/>
            <a:ext cx="384365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2235835" algn="l"/>
                <a:tab pos="3127375" algn="l"/>
              </a:tabLst>
            </a:pPr>
            <a:r>
              <a:rPr sz="3200" dirty="0">
                <a:latin typeface="Calibri"/>
                <a:cs typeface="Calibri"/>
              </a:rPr>
              <a:t>i</a:t>
            </a:r>
            <a:r>
              <a:rPr sz="3200" spc="10" dirty="0">
                <a:latin typeface="Calibri"/>
                <a:cs typeface="Calibri"/>
              </a:rPr>
              <a:t>m</a:t>
            </a:r>
            <a:r>
              <a:rPr sz="3200" spc="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ac</a:t>
            </a:r>
            <a:r>
              <a:rPr sz="3200" spc="-40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ados	</a:t>
            </a:r>
            <a:r>
              <a:rPr sz="3200" spc="-5" dirty="0">
                <a:latin typeface="Calibri"/>
                <a:cs typeface="Calibri"/>
              </a:rPr>
              <a:t>po</a:t>
            </a:r>
            <a:r>
              <a:rPr sz="3200" dirty="0">
                <a:latin typeface="Calibri"/>
                <a:cs typeface="Calibri"/>
              </a:rPr>
              <a:t>r	é</a:t>
            </a:r>
            <a:r>
              <a:rPr sz="3200" spc="-40" dirty="0">
                <a:latin typeface="Calibri"/>
                <a:cs typeface="Calibri"/>
              </a:rPr>
              <a:t>s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del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4046982"/>
            <a:ext cx="772922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55420" algn="l"/>
                <a:tab pos="2964815" algn="l"/>
                <a:tab pos="5847080" algn="l"/>
                <a:tab pos="7531734" algn="l"/>
              </a:tabLst>
            </a:pPr>
            <a:r>
              <a:rPr sz="3200" spc="-55" dirty="0">
                <a:latin typeface="Calibri"/>
                <a:cs typeface="Calibri"/>
              </a:rPr>
              <a:t>E</a:t>
            </a:r>
            <a:r>
              <a:rPr sz="3200" spc="5" dirty="0">
                <a:latin typeface="Calibri"/>
                <a:cs typeface="Calibri"/>
              </a:rPr>
              <a:t>q</a:t>
            </a:r>
            <a:r>
              <a:rPr sz="3200" spc="-5" dirty="0">
                <a:latin typeface="Calibri"/>
                <a:cs typeface="Calibri"/>
              </a:rPr>
              <a:t>uip</a:t>
            </a:r>
            <a:r>
              <a:rPr sz="3200" spc="-60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,	Grupos,	</a:t>
            </a:r>
            <a:r>
              <a:rPr sz="3200" spc="-5" dirty="0">
                <a:latin typeface="Calibri"/>
                <a:cs typeface="Calibri"/>
              </a:rPr>
              <a:t>Depar</a:t>
            </a:r>
            <a:r>
              <a:rPr sz="3200" spc="-50" dirty="0">
                <a:latin typeface="Calibri"/>
                <a:cs typeface="Calibri"/>
              </a:rPr>
              <a:t>t</a:t>
            </a:r>
            <a:r>
              <a:rPr sz="3200" spc="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me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os</a:t>
            </a:r>
            <a:r>
              <a:rPr sz="3200" dirty="0">
                <a:latin typeface="Calibri"/>
                <a:cs typeface="Calibri"/>
              </a:rPr>
              <a:t>,	</a:t>
            </a:r>
            <a:r>
              <a:rPr sz="3200" spc="-7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sona</a:t>
            </a:r>
            <a:r>
              <a:rPr sz="3200" dirty="0">
                <a:latin typeface="Calibri"/>
                <a:cs typeface="Calibri"/>
              </a:rPr>
              <a:t>s	y  </a:t>
            </a:r>
            <a:r>
              <a:rPr sz="3200" spc="-15" dirty="0">
                <a:latin typeface="Calibri"/>
                <a:cs typeface="Calibri"/>
              </a:rPr>
              <a:t>Organizaciones </a:t>
            </a:r>
            <a:r>
              <a:rPr sz="3200" spc="-20" dirty="0">
                <a:latin typeface="Calibri"/>
                <a:cs typeface="Calibri"/>
              </a:rPr>
              <a:t>afectadas </a:t>
            </a:r>
            <a:r>
              <a:rPr sz="3200" spc="-5" dirty="0">
                <a:latin typeface="Calibri"/>
                <a:cs typeface="Calibri"/>
              </a:rPr>
              <a:t>por </a:t>
            </a:r>
            <a:r>
              <a:rPr sz="3200" dirty="0">
                <a:latin typeface="Calibri"/>
                <a:cs typeface="Calibri"/>
              </a:rPr>
              <a:t>el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mismo.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496950"/>
            <a:ext cx="7649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</a:t>
            </a:r>
            <a:r>
              <a:rPr spc="-10" dirty="0"/>
              <a:t>los </a:t>
            </a:r>
            <a:r>
              <a:rPr spc="-15" dirty="0"/>
              <a:t>Interesados</a:t>
            </a:r>
            <a:r>
              <a:rPr spc="-3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35939" y="1527175"/>
            <a:ext cx="8072120" cy="2064795"/>
          </a:xfrm>
          <a:prstGeom prst="rect">
            <a:avLst/>
          </a:prstGeom>
        </p:spPr>
        <p:txBody>
          <a:bodyPr vert="horz" wrap="square" lIns="0" tIns="94106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2. </a:t>
            </a:r>
            <a:r>
              <a:rPr sz="3200" b="1" i="1" spc="-10" dirty="0">
                <a:latin typeface="Calibri"/>
                <a:cs typeface="Calibri"/>
              </a:rPr>
              <a:t>Documentos </a:t>
            </a:r>
            <a:r>
              <a:rPr sz="3200" b="1" i="1" dirty="0">
                <a:latin typeface="Calibri"/>
                <a:cs typeface="Calibri"/>
              </a:rPr>
              <a:t>de Adquisiciones: </a:t>
            </a:r>
            <a:r>
              <a:rPr sz="3200" spc="-5" dirty="0"/>
              <a:t>En </a:t>
            </a:r>
            <a:r>
              <a:rPr sz="3200" dirty="0"/>
              <a:t>el </a:t>
            </a:r>
            <a:r>
              <a:rPr sz="3200" spc="-5" dirty="0"/>
              <a:t>caso  de que </a:t>
            </a:r>
            <a:r>
              <a:rPr sz="3200" spc="-20" dirty="0"/>
              <a:t>hayan </a:t>
            </a:r>
            <a:r>
              <a:rPr sz="3200" spc="-5" dirty="0"/>
              <a:t>adquisiciones. </a:t>
            </a:r>
            <a:r>
              <a:rPr sz="3200" dirty="0"/>
              <a:t>Algunas </a:t>
            </a:r>
            <a:r>
              <a:rPr sz="3200" spc="-10" dirty="0"/>
              <a:t>veces los  </a:t>
            </a:r>
            <a:r>
              <a:rPr sz="3200" spc="-20" dirty="0"/>
              <a:t>proyectos </a:t>
            </a:r>
            <a:r>
              <a:rPr sz="3200" spc="-5" dirty="0"/>
              <a:t>son </a:t>
            </a:r>
            <a:r>
              <a:rPr sz="3200" spc="-10" dirty="0"/>
              <a:t>resultado </a:t>
            </a:r>
            <a:r>
              <a:rPr sz="3200" dirty="0"/>
              <a:t>de </a:t>
            </a:r>
            <a:r>
              <a:rPr sz="3200" spc="-5" dirty="0"/>
              <a:t>una </a:t>
            </a:r>
            <a:r>
              <a:rPr sz="3200" dirty="0"/>
              <a:t>actividad </a:t>
            </a:r>
            <a:r>
              <a:rPr sz="3200" spc="-5" dirty="0"/>
              <a:t>de  </a:t>
            </a:r>
            <a:r>
              <a:rPr sz="3200" dirty="0">
                <a:solidFill>
                  <a:srgbClr val="FF0000"/>
                </a:solidFill>
              </a:rPr>
              <a:t>adquisición o un </a:t>
            </a:r>
            <a:r>
              <a:rPr sz="3200" spc="-25" dirty="0">
                <a:solidFill>
                  <a:srgbClr val="FF0000"/>
                </a:solidFill>
              </a:rPr>
              <a:t>contrato</a:t>
            </a:r>
            <a:r>
              <a:rPr sz="3200" spc="110" dirty="0">
                <a:solidFill>
                  <a:srgbClr val="FF0000"/>
                </a:solidFill>
              </a:rPr>
              <a:t> </a:t>
            </a:r>
            <a:r>
              <a:rPr sz="3200" spc="-15" dirty="0"/>
              <a:t>establecido, </a:t>
            </a:r>
            <a:r>
              <a:rPr sz="3200" dirty="0"/>
              <a:t>donde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4046982"/>
            <a:ext cx="67589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5215" algn="l"/>
                <a:tab pos="3616960" algn="l"/>
                <a:tab pos="4460240" algn="l"/>
                <a:tab pos="5180965" algn="l"/>
              </a:tabLst>
            </a:pPr>
            <a:r>
              <a:rPr sz="3200" spc="-10" dirty="0">
                <a:latin typeface="Calibri"/>
                <a:cs typeface="Calibri"/>
              </a:rPr>
              <a:t>interesados	</a:t>
            </a:r>
            <a:r>
              <a:rPr sz="3200" spc="-20" dirty="0">
                <a:latin typeface="Calibri"/>
                <a:cs typeface="Calibri"/>
              </a:rPr>
              <a:t>clave	</a:t>
            </a:r>
            <a:r>
              <a:rPr sz="3200" dirty="0">
                <a:latin typeface="Calibri"/>
                <a:cs typeface="Calibri"/>
              </a:rPr>
              <a:t>en	el	</a:t>
            </a:r>
            <a:r>
              <a:rPr sz="3200" spc="-20" dirty="0">
                <a:latin typeface="Calibri"/>
                <a:cs typeface="Calibri"/>
              </a:rPr>
              <a:t>proyecto.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144" y="3558616"/>
            <a:ext cx="773112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4235" algn="l"/>
                <a:tab pos="2315210" algn="l"/>
                <a:tab pos="3135630" algn="l"/>
                <a:tab pos="4449445" algn="l"/>
                <a:tab pos="6255385" algn="l"/>
                <a:tab pos="7249795" algn="l"/>
              </a:tabLst>
            </a:pPr>
            <a:r>
              <a:rPr sz="3200" dirty="0">
                <a:latin typeface="Calibri"/>
                <a:cs typeface="Calibri"/>
              </a:rPr>
              <a:t>las	</a:t>
            </a:r>
            <a:r>
              <a:rPr sz="3200" spc="-5" dirty="0">
                <a:latin typeface="Calibri"/>
                <a:cs typeface="Calibri"/>
              </a:rPr>
              <a:t>par</a:t>
            </a:r>
            <a:r>
              <a:rPr sz="3200" spc="-30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es	</a:t>
            </a:r>
            <a:r>
              <a:rPr sz="3200" spc="-5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dic</a:t>
            </a:r>
            <a:r>
              <a:rPr sz="3200" spc="-15" dirty="0">
                <a:latin typeface="Calibri"/>
                <a:cs typeface="Calibri"/>
              </a:rPr>
              <a:t>h</a:t>
            </a:r>
            <a:r>
              <a:rPr sz="3200" dirty="0">
                <a:latin typeface="Calibri"/>
                <a:cs typeface="Calibri"/>
              </a:rPr>
              <a:t>o	</a:t>
            </a:r>
            <a:r>
              <a:rPr sz="3200" spc="-30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75" dirty="0">
                <a:latin typeface="Calibri"/>
                <a:cs typeface="Calibri"/>
              </a:rPr>
              <a:t>r</a:t>
            </a:r>
            <a:r>
              <a:rPr sz="3200" spc="-4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o	</a:t>
            </a:r>
            <a:r>
              <a:rPr sz="3200" spc="-5" dirty="0">
                <a:latin typeface="Calibri"/>
                <a:cs typeface="Calibri"/>
              </a:rPr>
              <a:t>so</a:t>
            </a:r>
            <a:r>
              <a:rPr sz="3200" dirty="0">
                <a:latin typeface="Calibri"/>
                <a:cs typeface="Calibri"/>
              </a:rPr>
              <a:t>n	los</a:t>
            </a:r>
            <a:endParaRPr sz="320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  <a:spcBef>
                <a:spcPts val="5"/>
              </a:spcBef>
            </a:pPr>
            <a:r>
              <a:rPr sz="3200" spc="5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os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4534661"/>
            <a:ext cx="772985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63775" algn="l"/>
                <a:tab pos="3816985" algn="l"/>
                <a:tab pos="4584700" algn="l"/>
                <a:tab pos="6691630" algn="l"/>
                <a:tab pos="7247890" algn="l"/>
              </a:tabLst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3200" spc="-45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edo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amb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én	</a:t>
            </a:r>
            <a:r>
              <a:rPr sz="3200" spc="-5" dirty="0">
                <a:latin typeface="Calibri"/>
                <a:cs typeface="Calibri"/>
              </a:rPr>
              <a:t>so</a:t>
            </a:r>
            <a:r>
              <a:rPr sz="3200" dirty="0">
                <a:latin typeface="Calibri"/>
                <a:cs typeface="Calibri"/>
              </a:rPr>
              <a:t>n	I</a:t>
            </a:r>
            <a:r>
              <a:rPr sz="3200" spc="-20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esados	</a:t>
            </a:r>
            <a:r>
              <a:rPr sz="3200" spc="-5" dirty="0">
                <a:latin typeface="Calibri"/>
                <a:cs typeface="Calibri"/>
              </a:rPr>
              <a:t>(s</a:t>
            </a:r>
            <a:r>
              <a:rPr sz="3200" dirty="0">
                <a:latin typeface="Calibri"/>
                <a:cs typeface="Calibri"/>
              </a:rPr>
              <a:t>i	l</a:t>
            </a:r>
            <a:r>
              <a:rPr sz="3200" spc="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s  </a:t>
            </a:r>
            <a:r>
              <a:rPr sz="3200" spc="-20" dirty="0">
                <a:latin typeface="Calibri"/>
                <a:cs typeface="Calibri"/>
              </a:rPr>
              <a:t>hay)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496950"/>
            <a:ext cx="7649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</a:t>
            </a:r>
            <a:r>
              <a:rPr spc="-10" dirty="0"/>
              <a:t>los </a:t>
            </a:r>
            <a:r>
              <a:rPr spc="-15" dirty="0"/>
              <a:t>Interesados</a:t>
            </a:r>
            <a:r>
              <a:rPr spc="-3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3535" algn="just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6235" algn="l"/>
              </a:tabLst>
            </a:pPr>
            <a:r>
              <a:rPr b="1" i="1" dirty="0">
                <a:latin typeface="Calibri"/>
                <a:cs typeface="Calibri"/>
              </a:rPr>
              <a:t>3. </a:t>
            </a:r>
            <a:r>
              <a:rPr b="1" i="1" spc="-15" dirty="0">
                <a:latin typeface="Calibri"/>
                <a:cs typeface="Calibri"/>
              </a:rPr>
              <a:t>Factores </a:t>
            </a:r>
            <a:r>
              <a:rPr b="1" i="1" spc="-10" dirty="0">
                <a:latin typeface="Calibri"/>
                <a:cs typeface="Calibri"/>
              </a:rPr>
              <a:t>Ambientales </a:t>
            </a:r>
            <a:r>
              <a:rPr b="1" i="1" dirty="0">
                <a:latin typeface="Calibri"/>
                <a:cs typeface="Calibri"/>
              </a:rPr>
              <a:t>de </a:t>
            </a:r>
            <a:r>
              <a:rPr b="1" i="1" spc="-5" dirty="0">
                <a:latin typeface="Calibri"/>
                <a:cs typeface="Calibri"/>
              </a:rPr>
              <a:t>la empresa: </a:t>
            </a:r>
            <a:r>
              <a:rPr spc="-10" dirty="0"/>
              <a:t>Pueden  influir </a:t>
            </a:r>
            <a:r>
              <a:rPr dirty="0"/>
              <a:t>en </a:t>
            </a:r>
            <a:r>
              <a:rPr spc="-5" dirty="0"/>
              <a:t>el </a:t>
            </a:r>
            <a:r>
              <a:rPr spc="-15" dirty="0"/>
              <a:t>proceso </a:t>
            </a:r>
            <a:r>
              <a:rPr spc="-10" dirty="0"/>
              <a:t>de Identificar </a:t>
            </a:r>
            <a:r>
              <a:rPr dirty="0"/>
              <a:t>a </a:t>
            </a:r>
            <a:r>
              <a:rPr spc="-10" dirty="0"/>
              <a:t>los  Interesados:</a:t>
            </a:r>
          </a:p>
          <a:p>
            <a:pPr marL="756285" lvl="1" indent="-287020" algn="just">
              <a:lnSpc>
                <a:spcPct val="100000"/>
              </a:lnSpc>
              <a:spcBef>
                <a:spcPts val="4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Cultura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y </a:t>
            </a:r>
            <a:r>
              <a:rPr sz="2600" spc="-5" dirty="0">
                <a:solidFill>
                  <a:srgbClr val="FF0000"/>
                </a:solidFill>
                <a:latin typeface="Calibri"/>
                <a:cs typeface="Calibri"/>
              </a:rPr>
              <a:t>Estructura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Organizacional</a:t>
            </a:r>
            <a:endParaRPr sz="2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6285" lvl="1" indent="-287020" algn="just">
              <a:lnSpc>
                <a:spcPts val="3110"/>
              </a:lnSpc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Normas </a:t>
            </a:r>
            <a:r>
              <a:rPr sz="2600" spc="-5" dirty="0">
                <a:solidFill>
                  <a:srgbClr val="FF0000"/>
                </a:solidFill>
                <a:latin typeface="Calibri"/>
                <a:cs typeface="Calibri"/>
              </a:rPr>
              <a:t>gubernamentales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Calibri"/>
                <a:cs typeface="Calibri"/>
              </a:rPr>
              <a:t>Industriales</a:t>
            </a:r>
            <a:r>
              <a:rPr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715"/>
              </a:spcBef>
              <a:buFont typeface="Arial"/>
              <a:buChar char="•"/>
              <a:tabLst>
                <a:tab pos="356235" algn="l"/>
              </a:tabLst>
            </a:pPr>
            <a:r>
              <a:rPr b="1" i="1" dirty="0">
                <a:latin typeface="Calibri"/>
                <a:cs typeface="Calibri"/>
              </a:rPr>
              <a:t>4. </a:t>
            </a:r>
            <a:r>
              <a:rPr b="1" i="1" spc="-5" dirty="0">
                <a:latin typeface="Calibri"/>
                <a:cs typeface="Calibri"/>
              </a:rPr>
              <a:t>Activos </a:t>
            </a:r>
            <a:r>
              <a:rPr b="1" i="1" dirty="0">
                <a:latin typeface="Calibri"/>
                <a:cs typeface="Calibri"/>
              </a:rPr>
              <a:t>del los </a:t>
            </a:r>
            <a:r>
              <a:rPr b="1" i="1" spc="-10" dirty="0">
                <a:latin typeface="Calibri"/>
                <a:cs typeface="Calibri"/>
              </a:rPr>
              <a:t>Procesos </a:t>
            </a:r>
            <a:r>
              <a:rPr b="1" i="1" dirty="0">
                <a:latin typeface="Calibri"/>
                <a:cs typeface="Calibri"/>
              </a:rPr>
              <a:t>de </a:t>
            </a:r>
            <a:r>
              <a:rPr b="1" i="1" spc="-5" dirty="0">
                <a:latin typeface="Calibri"/>
                <a:cs typeface="Calibri"/>
              </a:rPr>
              <a:t>la Organización:  </a:t>
            </a:r>
            <a:r>
              <a:rPr spc="-5" dirty="0"/>
              <a:t>Pueden </a:t>
            </a:r>
            <a:r>
              <a:rPr spc="-10" dirty="0"/>
              <a:t>influir </a:t>
            </a:r>
            <a:r>
              <a:rPr spc="-5" dirty="0"/>
              <a:t>en el </a:t>
            </a:r>
            <a:r>
              <a:rPr spc="-15" dirty="0"/>
              <a:t>proceso </a:t>
            </a:r>
            <a:r>
              <a:rPr spc="-5" dirty="0"/>
              <a:t>de </a:t>
            </a:r>
            <a:r>
              <a:rPr spc="-10" dirty="0"/>
              <a:t>Identificar </a:t>
            </a:r>
            <a:r>
              <a:rPr dirty="0"/>
              <a:t>a </a:t>
            </a:r>
            <a:r>
              <a:rPr spc="-10" dirty="0"/>
              <a:t>los  Interesados:</a:t>
            </a: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solidFill>
                  <a:srgbClr val="FF0000"/>
                </a:solidFill>
                <a:latin typeface="Calibri"/>
                <a:cs typeface="Calibri"/>
              </a:rPr>
              <a:t>Plantillas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spc="-15" dirty="0">
                <a:latin typeface="Calibri"/>
                <a:cs typeface="Calibri"/>
              </a:rPr>
              <a:t>Registros </a:t>
            </a:r>
            <a:r>
              <a:rPr sz="2600" spc="-5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Interesados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solidFill>
                  <a:srgbClr val="FF0000"/>
                </a:solidFill>
                <a:latin typeface="Calibri"/>
                <a:cs typeface="Calibri"/>
              </a:rPr>
              <a:t>Lecciones aprendidas </a:t>
            </a:r>
            <a:r>
              <a:rPr sz="2600" dirty="0">
                <a:latin typeface="Calibri"/>
                <a:cs typeface="Calibri"/>
              </a:rPr>
              <a:t>de </a:t>
            </a:r>
            <a:r>
              <a:rPr sz="2600" spc="-15" dirty="0">
                <a:latin typeface="Calibri"/>
                <a:cs typeface="Calibri"/>
              </a:rPr>
              <a:t>proyectos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anteriores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solidFill>
                  <a:srgbClr val="FF0000"/>
                </a:solidFill>
                <a:latin typeface="Calibri"/>
                <a:cs typeface="Calibri"/>
              </a:rPr>
              <a:t>Registro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Interesados </a:t>
            </a:r>
            <a:r>
              <a:rPr sz="2600" spc="-5" dirty="0">
                <a:latin typeface="Calibri"/>
                <a:cs typeface="Calibri"/>
              </a:rPr>
              <a:t>de </a:t>
            </a:r>
            <a:r>
              <a:rPr sz="2600" spc="-15" dirty="0">
                <a:latin typeface="Calibri"/>
                <a:cs typeface="Calibri"/>
              </a:rPr>
              <a:t>proyectos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anteriores.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2855" marR="5080" indent="-2510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los </a:t>
            </a:r>
            <a:r>
              <a:rPr spc="-15" dirty="0"/>
              <a:t>Interesados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485"/>
            <a:ext cx="8074659" cy="265874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dirty="0">
                <a:latin typeface="Calibri"/>
                <a:cs typeface="Calibri"/>
              </a:rPr>
              <a:t>1. Análisis de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Interesados: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9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A.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Identificación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de los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potenciales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Interesados </a:t>
            </a:r>
            <a:r>
              <a:rPr sz="2800" spc="-5" dirty="0">
                <a:latin typeface="Calibri"/>
                <a:cs typeface="Calibri"/>
              </a:rPr>
              <a:t>e  </a:t>
            </a:r>
            <a:r>
              <a:rPr sz="2800" spc="-15" dirty="0">
                <a:latin typeface="Calibri"/>
                <a:cs typeface="Calibri"/>
              </a:rPr>
              <a:t>información </a:t>
            </a:r>
            <a:r>
              <a:rPr sz="2800" spc="-20" dirty="0">
                <a:latin typeface="Calibri"/>
                <a:cs typeface="Calibri"/>
              </a:rPr>
              <a:t>relevante </a:t>
            </a:r>
            <a:r>
              <a:rPr sz="2800" spc="-15" dirty="0">
                <a:latin typeface="Calibri"/>
                <a:cs typeface="Calibri"/>
              </a:rPr>
              <a:t>(roles, </a:t>
            </a:r>
            <a:r>
              <a:rPr sz="2800" spc="-10" dirty="0">
                <a:latin typeface="Calibri"/>
                <a:cs typeface="Calibri"/>
              </a:rPr>
              <a:t>deptos, </a:t>
            </a:r>
            <a:r>
              <a:rPr sz="2800" spc="-15" dirty="0">
                <a:latin typeface="Calibri"/>
                <a:cs typeface="Calibri"/>
              </a:rPr>
              <a:t>intereses, 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niveles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conocimiento, expectativas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niveles de  influencia)</a:t>
            </a:r>
            <a:endParaRPr sz="2800" dirty="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B. </a:t>
            </a:r>
            <a:r>
              <a:rPr sz="2800" spc="-10" dirty="0">
                <a:latin typeface="Calibri"/>
                <a:cs typeface="Calibri"/>
              </a:rPr>
              <a:t>Identificación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del impacto o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apoyo</a:t>
            </a:r>
            <a:r>
              <a:rPr sz="2800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potencial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9905" y="4098797"/>
            <a:ext cx="732917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190"/>
              </a:lnSpc>
              <a:spcBef>
                <a:spcPts val="95"/>
              </a:spcBef>
              <a:tabLst>
                <a:tab pos="886460" algn="l"/>
                <a:tab pos="1900555" algn="l"/>
                <a:tab pos="3775075" algn="l"/>
                <a:tab pos="5025390" algn="l"/>
                <a:tab pos="6477635" algn="l"/>
                <a:tab pos="6974840" algn="l"/>
              </a:tabLst>
            </a:pP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d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40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ado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pued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ene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5" dirty="0">
                <a:latin typeface="Calibri"/>
                <a:cs typeface="Calibri"/>
              </a:rPr>
              <a:t>su</a:t>
            </a:r>
            <a:endParaRPr sz="2800">
              <a:latin typeface="Calibri"/>
              <a:cs typeface="Calibri"/>
            </a:endParaRPr>
          </a:p>
          <a:p>
            <a:pPr marR="5080" algn="r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9905" y="4482846"/>
            <a:ext cx="400748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2038350" algn="l"/>
                <a:tab pos="2077720" algn="l"/>
                <a:tab pos="3053080" algn="l"/>
              </a:tabLst>
            </a:pPr>
            <a:r>
              <a:rPr sz="2800" spc="-5" dirty="0">
                <a:latin typeface="Calibri"/>
                <a:cs typeface="Calibri"/>
              </a:rPr>
              <a:t>clasif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ión</a:t>
            </a:r>
            <a:r>
              <a:rPr sz="2800" dirty="0">
                <a:latin typeface="Calibri"/>
                <a:cs typeface="Calibri"/>
              </a:rPr>
              <a:t>		</a:t>
            </a:r>
            <a:r>
              <a:rPr sz="2800" spc="-10" dirty="0">
                <a:latin typeface="Calibri"/>
                <a:cs typeface="Calibri"/>
              </a:rPr>
              <a:t>pa</a:t>
            </a:r>
            <a:r>
              <a:rPr sz="2800" spc="-7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3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fi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ir  </a:t>
            </a:r>
            <a:r>
              <a:rPr sz="2800" spc="-10" dirty="0">
                <a:latin typeface="Calibri"/>
                <a:cs typeface="Calibri"/>
              </a:rPr>
              <a:t>abordaje	(matrices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6865" y="4482846"/>
            <a:ext cx="3209925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645">
              <a:lnSpc>
                <a:spcPts val="3190"/>
              </a:lnSpc>
              <a:spcBef>
                <a:spcPts val="95"/>
              </a:spcBef>
              <a:tabLst>
                <a:tab pos="1082675" algn="l"/>
              </a:tabLst>
            </a:pPr>
            <a:r>
              <a:rPr sz="2800" spc="-10" dirty="0">
                <a:latin typeface="Calibri"/>
                <a:cs typeface="Calibri"/>
              </a:rPr>
              <a:t>una	</a:t>
            </a:r>
            <a:r>
              <a:rPr sz="2800" spc="-20" dirty="0">
                <a:latin typeface="Calibri"/>
                <a:cs typeface="Calibri"/>
              </a:rPr>
              <a:t>estrategia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  <a:tabLst>
                <a:tab pos="1118870" algn="l"/>
              </a:tabLst>
            </a:pPr>
            <a:r>
              <a:rPr sz="2800" dirty="0">
                <a:latin typeface="Calibri"/>
                <a:cs typeface="Calibri"/>
              </a:rPr>
              <a:t>de	</a:t>
            </a:r>
            <a:r>
              <a:rPr sz="2800" spc="-15" dirty="0">
                <a:latin typeface="Calibri"/>
                <a:cs typeface="Calibri"/>
              </a:rPr>
              <a:t>poder/interés,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9905" y="5251196"/>
            <a:ext cx="6136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poder/Influencia, influencia/impacto,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etc).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2855" marR="5080" indent="-2510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los </a:t>
            </a:r>
            <a:r>
              <a:rPr spc="-15" dirty="0"/>
              <a:t>Interesados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58242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dirty="0">
                <a:latin typeface="Calibri"/>
                <a:cs typeface="Calibri"/>
              </a:rPr>
              <a:t>1. Análisis de </a:t>
            </a:r>
            <a:r>
              <a:rPr sz="3200" b="1" i="1" spc="-10" dirty="0">
                <a:latin typeface="Calibri"/>
                <a:cs typeface="Calibri"/>
              </a:rPr>
              <a:t>Interesados</a:t>
            </a:r>
            <a:r>
              <a:rPr sz="3200" b="1" i="1" spc="-7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(cont):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0" y="2286000"/>
            <a:ext cx="4285488" cy="430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2855" marR="5080" indent="-2510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los </a:t>
            </a:r>
            <a:r>
              <a:rPr spc="-15" dirty="0"/>
              <a:t>Interesados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/>
          <p:nvPr/>
        </p:nvSpPr>
        <p:spPr>
          <a:xfrm>
            <a:off x="2909724" y="2262016"/>
            <a:ext cx="3534122" cy="3248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819" y="5805627"/>
            <a:ext cx="76307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Matriz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poder/interés: </a:t>
            </a:r>
            <a:r>
              <a:rPr sz="1800" dirty="0">
                <a:latin typeface="Calibri"/>
                <a:cs typeface="Calibri"/>
              </a:rPr>
              <a:t>Agrupa a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interesados </a:t>
            </a:r>
            <a:r>
              <a:rPr sz="1800" dirty="0">
                <a:latin typeface="Calibri"/>
                <a:cs typeface="Calibri"/>
              </a:rPr>
              <a:t>basándose en su </a:t>
            </a:r>
            <a:r>
              <a:rPr sz="1800" spc="-5" dirty="0">
                <a:latin typeface="Calibri"/>
                <a:cs typeface="Calibri"/>
              </a:rPr>
              <a:t>nivel </a:t>
            </a:r>
            <a:r>
              <a:rPr sz="1800" dirty="0">
                <a:latin typeface="Calibri"/>
                <a:cs typeface="Calibri"/>
              </a:rPr>
              <a:t>de  </a:t>
            </a:r>
            <a:r>
              <a:rPr sz="1800" spc="-10" dirty="0">
                <a:latin typeface="Calibri"/>
                <a:cs typeface="Calibri"/>
              </a:rPr>
              <a:t>autoridad </a:t>
            </a:r>
            <a:r>
              <a:rPr sz="1800" spc="5" dirty="0">
                <a:latin typeface="Calibri"/>
                <a:cs typeface="Calibri"/>
              </a:rPr>
              <a:t>(“poder”) </a:t>
            </a:r>
            <a:r>
              <a:rPr sz="1800" dirty="0">
                <a:latin typeface="Calibri"/>
                <a:cs typeface="Calibri"/>
              </a:rPr>
              <a:t>y su </a:t>
            </a:r>
            <a:r>
              <a:rPr sz="1800" spc="-5" dirty="0">
                <a:latin typeface="Calibri"/>
                <a:cs typeface="Calibri"/>
              </a:rPr>
              <a:t>nivel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preocupación </a:t>
            </a:r>
            <a:r>
              <a:rPr sz="1800" spc="-10" dirty="0">
                <a:latin typeface="Calibri"/>
                <a:cs typeface="Calibri"/>
              </a:rPr>
              <a:t>(“interés”) </a:t>
            </a:r>
            <a:r>
              <a:rPr sz="1800" spc="-5" dirty="0">
                <a:latin typeface="Calibri"/>
                <a:cs typeface="Calibri"/>
              </a:rPr>
              <a:t>con </a:t>
            </a:r>
            <a:r>
              <a:rPr sz="1800" spc="-10" dirty="0">
                <a:latin typeface="Calibri"/>
                <a:cs typeface="Calibri"/>
              </a:rPr>
              <a:t>respecto </a:t>
            </a:r>
            <a:r>
              <a:rPr sz="1800" dirty="0">
                <a:latin typeface="Calibri"/>
                <a:cs typeface="Calibri"/>
              </a:rPr>
              <a:t>a los  </a:t>
            </a:r>
            <a:r>
              <a:rPr sz="1800" spc="-10" dirty="0">
                <a:latin typeface="Calibri"/>
                <a:cs typeface="Calibri"/>
              </a:rPr>
              <a:t>resultados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2855" marR="5080" indent="-2510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los </a:t>
            </a:r>
            <a:r>
              <a:rPr spc="-15" dirty="0"/>
              <a:t>Interesados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8073390" cy="4235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56285" marR="5080" indent="-287020" algn="just">
              <a:lnSpc>
                <a:spcPct val="80000"/>
              </a:lnSpc>
              <a:spcBef>
                <a:spcPts val="620"/>
              </a:spcBef>
            </a:pPr>
            <a:r>
              <a:rPr sz="2200" spc="-5" dirty="0">
                <a:latin typeface="Arial"/>
                <a:cs typeface="Arial"/>
              </a:rPr>
              <a:t>– </a:t>
            </a:r>
            <a:r>
              <a:rPr sz="2200" dirty="0">
                <a:latin typeface="Calibri"/>
                <a:cs typeface="Calibri"/>
              </a:rPr>
              <a:t>C. </a:t>
            </a:r>
            <a:r>
              <a:rPr sz="2200" spc="-10" dirty="0">
                <a:latin typeface="Calibri"/>
                <a:cs typeface="Calibri"/>
              </a:rPr>
              <a:t>Planificación </a:t>
            </a:r>
            <a:r>
              <a:rPr sz="2200" spc="-5" dirty="0">
                <a:latin typeface="Calibri"/>
                <a:cs typeface="Calibri"/>
              </a:rPr>
              <a:t>de la </a:t>
            </a:r>
            <a:r>
              <a:rPr sz="2200" spc="-10" dirty="0">
                <a:latin typeface="Calibri"/>
                <a:cs typeface="Calibri"/>
              </a:rPr>
              <a:t>influencia </a:t>
            </a:r>
            <a:r>
              <a:rPr sz="2200" spc="-20" dirty="0">
                <a:latin typeface="Calibri"/>
                <a:cs typeface="Calibri"/>
              </a:rPr>
              <a:t>para </a:t>
            </a:r>
            <a:r>
              <a:rPr sz="2200" spc="-10" dirty="0">
                <a:latin typeface="Calibri"/>
                <a:cs typeface="Calibri"/>
              </a:rPr>
              <a:t>mejorar </a:t>
            </a: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0" dirty="0">
                <a:latin typeface="Calibri"/>
                <a:cs typeface="Calibri"/>
              </a:rPr>
              <a:t>apoyo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spc="-10" dirty="0">
                <a:latin typeface="Calibri"/>
                <a:cs typeface="Calibri"/>
              </a:rPr>
              <a:t>mitigar 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potenciales impactos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negativos.</a:t>
            </a:r>
            <a:endParaRPr sz="2200" dirty="0">
              <a:latin typeface="Calibri"/>
              <a:cs typeface="Calibri"/>
            </a:endParaRPr>
          </a:p>
          <a:p>
            <a:pPr marL="355600" marR="5715" indent="-343535" algn="just">
              <a:lnSpc>
                <a:spcPts val="2400"/>
              </a:lnSpc>
              <a:spcBef>
                <a:spcPts val="570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2. Juicio Experto: 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Para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asegurar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la identificación y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un 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completo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listado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Interesados</a:t>
            </a:r>
            <a:r>
              <a:rPr sz="2500" spc="-10" dirty="0">
                <a:latin typeface="Calibri"/>
                <a:cs typeface="Calibri"/>
              </a:rPr>
              <a:t>, se </a:t>
            </a:r>
            <a:r>
              <a:rPr sz="2500" spc="-5" dirty="0">
                <a:latin typeface="Calibri"/>
                <a:cs typeface="Calibri"/>
              </a:rPr>
              <a:t>debe </a:t>
            </a:r>
            <a:r>
              <a:rPr sz="2500" spc="-15" dirty="0">
                <a:latin typeface="Calibri"/>
                <a:cs typeface="Calibri"/>
              </a:rPr>
              <a:t>contar con </a:t>
            </a:r>
            <a:r>
              <a:rPr sz="2500" spc="-5" dirty="0">
                <a:latin typeface="Calibri"/>
                <a:cs typeface="Calibri"/>
              </a:rPr>
              <a:t>el  </a:t>
            </a:r>
            <a:r>
              <a:rPr sz="2500" spc="-10" dirty="0">
                <a:latin typeface="Calibri"/>
                <a:cs typeface="Calibri"/>
              </a:rPr>
              <a:t>juicio </a:t>
            </a:r>
            <a:r>
              <a:rPr sz="2500" spc="-5" dirty="0">
                <a:latin typeface="Calibri"/>
                <a:cs typeface="Calibri"/>
              </a:rPr>
              <a:t>y </a:t>
            </a:r>
            <a:r>
              <a:rPr sz="2500" spc="-10" dirty="0">
                <a:latin typeface="Calibri"/>
                <a:cs typeface="Calibri"/>
              </a:rPr>
              <a:t>experiencia</a:t>
            </a:r>
            <a:r>
              <a:rPr sz="2500" spc="6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de:</a:t>
            </a:r>
            <a:endParaRPr sz="25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Dirección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General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Otras </a:t>
            </a:r>
            <a:r>
              <a:rPr sz="2200" spc="-5" dirty="0">
                <a:latin typeface="Calibri"/>
                <a:cs typeface="Calibri"/>
              </a:rPr>
              <a:t>Unidades de la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Organización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Interesados </a:t>
            </a:r>
            <a:r>
              <a:rPr sz="2200" spc="-15" dirty="0">
                <a:latin typeface="Calibri"/>
                <a:cs typeface="Calibri"/>
              </a:rPr>
              <a:t>Clave</a:t>
            </a:r>
            <a:r>
              <a:rPr sz="2200" spc="-10" dirty="0">
                <a:latin typeface="Calibri"/>
                <a:cs typeface="Calibri"/>
              </a:rPr>
              <a:t> identificados</a:t>
            </a:r>
            <a:endParaRPr sz="2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5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Directores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15" dirty="0">
                <a:latin typeface="Calibri"/>
                <a:cs typeface="Calibri"/>
              </a:rPr>
              <a:t>Proyecto (directamente </a:t>
            </a:r>
            <a:r>
              <a:rPr sz="2200" spc="-5" dirty="0">
                <a:latin typeface="Calibri"/>
                <a:cs typeface="Calibri"/>
              </a:rPr>
              <a:t>o a </a:t>
            </a:r>
            <a:r>
              <a:rPr sz="2200" spc="-20" dirty="0">
                <a:latin typeface="Calibri"/>
                <a:cs typeface="Calibri"/>
              </a:rPr>
              <a:t>través </a:t>
            </a:r>
            <a:r>
              <a:rPr sz="2200" spc="-5" dirty="0">
                <a:latin typeface="Calibri"/>
                <a:cs typeface="Calibri"/>
              </a:rPr>
              <a:t>de lecciones  aprendidas)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Expertos </a:t>
            </a:r>
            <a:r>
              <a:rPr sz="2200" spc="-5" dirty="0">
                <a:latin typeface="Calibri"/>
                <a:cs typeface="Calibri"/>
              </a:rPr>
              <a:t>en </a:t>
            </a:r>
            <a:r>
              <a:rPr sz="2200" spc="-10" dirty="0">
                <a:latin typeface="Calibri"/>
                <a:cs typeface="Calibri"/>
              </a:rPr>
              <a:t>negocios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Grupos industriales o asesores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Asociaciones </a:t>
            </a:r>
            <a:r>
              <a:rPr sz="2200" spc="-15" dirty="0">
                <a:latin typeface="Calibri"/>
                <a:cs typeface="Calibri"/>
              </a:rPr>
              <a:t>técnicas 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profesionales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2855" marR="5080" indent="-2510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Identificar </a:t>
            </a:r>
            <a:r>
              <a:rPr spc="-5" dirty="0"/>
              <a:t>a los </a:t>
            </a:r>
            <a:r>
              <a:rPr spc="-15" dirty="0"/>
              <a:t>Interesados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355"/>
            <a:ext cx="8074025" cy="30067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3. </a:t>
            </a:r>
            <a:r>
              <a:rPr sz="3200" b="1" i="1" spc="-10" dirty="0">
                <a:latin typeface="Calibri"/>
                <a:cs typeface="Calibri"/>
              </a:rPr>
              <a:t>Reuniones</a:t>
            </a:r>
            <a:endParaRPr sz="3200" dirty="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756920" algn="l"/>
              </a:tabLst>
            </a:pP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Análisis de</a:t>
            </a:r>
            <a:r>
              <a:rPr sz="2800" b="1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perfiles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756920" algn="l"/>
              </a:tabLst>
            </a:pPr>
            <a:r>
              <a:rPr sz="2800" b="1" i="1" spc="-10" dirty="0">
                <a:latin typeface="Calibri"/>
                <a:cs typeface="Calibri"/>
              </a:rPr>
              <a:t>Desarrollan </a:t>
            </a:r>
            <a:r>
              <a:rPr sz="2800" b="1" i="1" spc="-15" dirty="0">
                <a:latin typeface="Calibri"/>
                <a:cs typeface="Calibri"/>
              </a:rPr>
              <a:t>entendimiento </a:t>
            </a:r>
            <a:r>
              <a:rPr sz="2800" b="1" i="1" spc="-10" dirty="0">
                <a:latin typeface="Calibri"/>
                <a:cs typeface="Calibri"/>
              </a:rPr>
              <a:t>sobre </a:t>
            </a:r>
            <a:r>
              <a:rPr sz="2800" b="1" i="1" spc="-5" dirty="0">
                <a:latin typeface="Calibri"/>
                <a:cs typeface="Calibri"/>
              </a:rPr>
              <a:t>los</a:t>
            </a:r>
            <a:r>
              <a:rPr sz="2800" b="1" i="1" spc="114" dirty="0">
                <a:latin typeface="Calibri"/>
                <a:cs typeface="Calibri"/>
              </a:rPr>
              <a:t> </a:t>
            </a:r>
            <a:r>
              <a:rPr sz="2800" b="1" i="1" spc="-15" dirty="0">
                <a:latin typeface="Calibri"/>
                <a:cs typeface="Calibri"/>
              </a:rPr>
              <a:t>interesados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756920" algn="l"/>
              </a:tabLst>
            </a:pPr>
            <a:r>
              <a:rPr sz="2800" b="1" i="1" spc="-15" dirty="0">
                <a:latin typeface="Calibri"/>
                <a:cs typeface="Calibri"/>
              </a:rPr>
              <a:t>Permiten </a:t>
            </a:r>
            <a:r>
              <a:rPr sz="2800" b="1" i="1" spc="-10" dirty="0">
                <a:latin typeface="Calibri"/>
                <a:cs typeface="Calibri"/>
              </a:rPr>
              <a:t>el </a:t>
            </a:r>
            <a:r>
              <a:rPr sz="2800" b="1" i="1" spc="-5" dirty="0">
                <a:latin typeface="Calibri"/>
                <a:cs typeface="Calibri"/>
              </a:rPr>
              <a:t>análisis e </a:t>
            </a:r>
            <a:r>
              <a:rPr sz="2800" b="1" i="1" spc="-10" dirty="0">
                <a:latin typeface="Calibri"/>
                <a:cs typeface="Calibri"/>
              </a:rPr>
              <a:t>intercambio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información  </a:t>
            </a:r>
            <a:r>
              <a:rPr sz="2800" b="1" i="1" spc="-5" dirty="0">
                <a:latin typeface="Calibri"/>
                <a:cs typeface="Calibri"/>
              </a:rPr>
              <a:t>sobre 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roles, </a:t>
            </a:r>
            <a:r>
              <a:rPr sz="2800" b="1" i="1" spc="-15" dirty="0">
                <a:solidFill>
                  <a:srgbClr val="FF0000"/>
                </a:solidFill>
                <a:latin typeface="Calibri"/>
                <a:cs typeface="Calibri"/>
              </a:rPr>
              <a:t>conocimientos </a:t>
            </a:r>
            <a:r>
              <a:rPr sz="2800" b="1" i="1" spc="-5" dirty="0">
                <a:latin typeface="Calibri"/>
                <a:cs typeface="Calibri"/>
              </a:rPr>
              <a:t>y </a:t>
            </a:r>
            <a:r>
              <a:rPr sz="2800" b="1" i="1" spc="-10" dirty="0">
                <a:latin typeface="Calibri"/>
                <a:cs typeface="Calibri"/>
              </a:rPr>
              <a:t>postura </a:t>
            </a:r>
            <a:r>
              <a:rPr sz="2800" b="1" i="1" spc="-15" dirty="0">
                <a:latin typeface="Calibri"/>
                <a:cs typeface="Calibri"/>
              </a:rPr>
              <a:t>frente </a:t>
            </a:r>
            <a:r>
              <a:rPr sz="2800" b="1" i="1" spc="5" dirty="0">
                <a:latin typeface="Calibri"/>
                <a:cs typeface="Calibri"/>
              </a:rPr>
              <a:t>al  </a:t>
            </a:r>
            <a:r>
              <a:rPr sz="2800" b="1" i="1" spc="-10" dirty="0">
                <a:latin typeface="Calibri"/>
                <a:cs typeface="Calibri"/>
              </a:rPr>
              <a:t>proyecto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57" y="461899"/>
            <a:ext cx="8021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Identificar </a:t>
            </a:r>
            <a:r>
              <a:rPr sz="4400" dirty="0"/>
              <a:t>a </a:t>
            </a:r>
            <a:r>
              <a:rPr sz="4400" spc="5" dirty="0"/>
              <a:t>los </a:t>
            </a:r>
            <a:r>
              <a:rPr sz="4400" spc="-10" dirty="0"/>
              <a:t>Interesados</a:t>
            </a:r>
            <a:r>
              <a:rPr sz="4400" spc="-8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8073390" cy="22548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7620" indent="-343535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  <a:tab pos="733425" algn="l"/>
                <a:tab pos="1951355" algn="l"/>
                <a:tab pos="2407285" algn="l"/>
                <a:tab pos="2911475" algn="l"/>
                <a:tab pos="4664710" algn="l"/>
                <a:tab pos="6307455" algn="l"/>
                <a:tab pos="6932295" algn="l"/>
              </a:tabLst>
            </a:pPr>
            <a:r>
              <a:rPr sz="2500" b="1" i="1" spc="-15" dirty="0">
                <a:latin typeface="Calibri"/>
                <a:cs typeface="Calibri"/>
              </a:rPr>
              <a:t>1</a:t>
            </a:r>
            <a:r>
              <a:rPr sz="2500" b="1" i="1" spc="-5" dirty="0">
                <a:latin typeface="Calibri"/>
                <a:cs typeface="Calibri"/>
              </a:rPr>
              <a:t>.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b="1" i="1" spc="-45" dirty="0">
                <a:latin typeface="Calibri"/>
                <a:cs typeface="Calibri"/>
              </a:rPr>
              <a:t>R</a:t>
            </a:r>
            <a:r>
              <a:rPr sz="2500" b="1" i="1" spc="-10" dirty="0">
                <a:latin typeface="Calibri"/>
                <a:cs typeface="Calibri"/>
              </a:rPr>
              <a:t>egi</a:t>
            </a:r>
            <a:r>
              <a:rPr sz="2500" b="1" i="1" spc="-35" dirty="0">
                <a:latin typeface="Calibri"/>
                <a:cs typeface="Calibri"/>
              </a:rPr>
              <a:t>s</a:t>
            </a:r>
            <a:r>
              <a:rPr sz="2500" b="1" i="1" spc="-5" dirty="0">
                <a:latin typeface="Calibri"/>
                <a:cs typeface="Calibri"/>
              </a:rPr>
              <a:t>tro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b="1" i="1" spc="-5" dirty="0">
                <a:latin typeface="Calibri"/>
                <a:cs typeface="Calibri"/>
              </a:rPr>
              <a:t>de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b="1" i="1" spc="-5" dirty="0">
                <a:latin typeface="Calibri"/>
                <a:cs typeface="Calibri"/>
              </a:rPr>
              <a:t>los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b="1" i="1" spc="-5" dirty="0">
                <a:latin typeface="Calibri"/>
                <a:cs typeface="Calibri"/>
              </a:rPr>
              <a:t>I</a:t>
            </a:r>
            <a:r>
              <a:rPr sz="2500" b="1" i="1" spc="-30" dirty="0">
                <a:latin typeface="Calibri"/>
                <a:cs typeface="Calibri"/>
              </a:rPr>
              <a:t>nt</a:t>
            </a:r>
            <a:r>
              <a:rPr sz="2500" b="1" i="1" spc="-10" dirty="0">
                <a:latin typeface="Calibri"/>
                <a:cs typeface="Calibri"/>
              </a:rPr>
              <a:t>eresado</a:t>
            </a:r>
            <a:r>
              <a:rPr sz="2500" b="1" i="1" spc="-5" dirty="0">
                <a:latin typeface="Calibri"/>
                <a:cs typeface="Calibri"/>
              </a:rPr>
              <a:t>s: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Docum</a:t>
            </a:r>
            <a:r>
              <a:rPr sz="250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qu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500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ne  todos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los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detalles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de los 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Interesados identificados</a:t>
            </a:r>
            <a:r>
              <a:rPr sz="2500" spc="-10" dirty="0">
                <a:latin typeface="Calibri"/>
                <a:cs typeface="Calibri"/>
              </a:rPr>
              <a:t>,</a:t>
            </a:r>
            <a:r>
              <a:rPr sz="2500" spc="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como:</a:t>
            </a:r>
            <a:endParaRPr sz="2500" dirty="0">
              <a:latin typeface="Calibri"/>
              <a:cs typeface="Calibri"/>
            </a:endParaRPr>
          </a:p>
          <a:p>
            <a:pPr marL="819150" lvl="1" indent="-349250">
              <a:lnSpc>
                <a:spcPts val="2375"/>
              </a:lnSpc>
              <a:spcBef>
                <a:spcPts val="30"/>
              </a:spcBef>
              <a:buFont typeface="Arial"/>
              <a:buChar char="–"/>
              <a:tabLst>
                <a:tab pos="818515" algn="l"/>
                <a:tab pos="819150" algn="l"/>
              </a:tabLst>
            </a:pPr>
            <a:r>
              <a:rPr sz="2200" i="1" spc="-10" dirty="0">
                <a:latin typeface="Calibri"/>
                <a:cs typeface="Calibri"/>
              </a:rPr>
              <a:t>Información </a:t>
            </a:r>
            <a:r>
              <a:rPr sz="2200" i="1" spc="-5" dirty="0">
                <a:latin typeface="Calibri"/>
                <a:cs typeface="Calibri"/>
              </a:rPr>
              <a:t>de </a:t>
            </a:r>
            <a:r>
              <a:rPr sz="2200" i="1" spc="-10" dirty="0">
                <a:latin typeface="Calibri"/>
                <a:cs typeface="Calibri"/>
              </a:rPr>
              <a:t>identificación </a:t>
            </a:r>
            <a:r>
              <a:rPr sz="2200" spc="-10" dirty="0">
                <a:latin typeface="Calibri"/>
                <a:cs typeface="Calibri"/>
              </a:rPr>
              <a:t>(nombre, </a:t>
            </a:r>
            <a:r>
              <a:rPr sz="2200" spc="-20" dirty="0">
                <a:latin typeface="Calibri"/>
                <a:cs typeface="Calibri"/>
              </a:rPr>
              <a:t>cargo, </a:t>
            </a:r>
            <a:r>
              <a:rPr sz="2200" spc="-10" dirty="0">
                <a:latin typeface="Calibri"/>
                <a:cs typeface="Calibri"/>
              </a:rPr>
              <a:t>ubicación, </a:t>
            </a:r>
            <a:r>
              <a:rPr sz="2200" spc="-15" dirty="0">
                <a:latin typeface="Calibri"/>
                <a:cs typeface="Calibri"/>
              </a:rPr>
              <a:t>rol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20" dirty="0">
                <a:latin typeface="Calibri"/>
                <a:cs typeface="Calibri"/>
              </a:rPr>
              <a:t>proyecto, </a:t>
            </a:r>
            <a:r>
              <a:rPr sz="2200" spc="-10" dirty="0">
                <a:latin typeface="Calibri"/>
                <a:cs typeface="Calibri"/>
              </a:rPr>
              <a:t>información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contacto)</a:t>
            </a:r>
            <a:endParaRPr sz="2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i="1" spc="-10" dirty="0">
                <a:latin typeface="Calibri"/>
                <a:cs typeface="Calibri"/>
              </a:rPr>
              <a:t>Información </a:t>
            </a:r>
            <a:r>
              <a:rPr sz="2200" i="1" spc="-5" dirty="0">
                <a:latin typeface="Calibri"/>
                <a:cs typeface="Calibri"/>
              </a:rPr>
              <a:t>de </a:t>
            </a:r>
            <a:r>
              <a:rPr sz="2200" i="1" spc="-10" dirty="0">
                <a:latin typeface="Calibri"/>
                <a:cs typeface="Calibri"/>
              </a:rPr>
              <a:t>evaluación </a:t>
            </a:r>
            <a:r>
              <a:rPr sz="2200" spc="-10" dirty="0">
                <a:latin typeface="Calibri"/>
                <a:cs typeface="Calibri"/>
              </a:rPr>
              <a:t>(requisitos, </a:t>
            </a:r>
            <a:r>
              <a:rPr sz="2200" spc="-15" dirty="0">
                <a:latin typeface="Calibri"/>
                <a:cs typeface="Calibri"/>
              </a:rPr>
              <a:t>expectativas, </a:t>
            </a:r>
            <a:r>
              <a:rPr sz="2200" spc="-10" dirty="0">
                <a:latin typeface="Calibri"/>
                <a:cs typeface="Calibri"/>
              </a:rPr>
              <a:t>influencia,  </a:t>
            </a:r>
            <a:r>
              <a:rPr sz="2200" spc="-15" dirty="0">
                <a:latin typeface="Calibri"/>
                <a:cs typeface="Calibri"/>
              </a:rPr>
              <a:t>fases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5" dirty="0">
                <a:latin typeface="Calibri"/>
                <a:cs typeface="Calibri"/>
              </a:rPr>
              <a:t>mayor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interés)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i="1" spc="-10" dirty="0">
                <a:latin typeface="Calibri"/>
                <a:cs typeface="Calibri"/>
              </a:rPr>
              <a:t>Clasificación: </a:t>
            </a:r>
            <a:r>
              <a:rPr sz="2200" spc="-15" dirty="0">
                <a:latin typeface="Calibri"/>
                <a:cs typeface="Calibri"/>
              </a:rPr>
              <a:t>(Interno/externo,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favor/neutral/en </a:t>
            </a:r>
            <a:r>
              <a:rPr sz="2200" spc="-20" dirty="0">
                <a:latin typeface="Calibri"/>
                <a:cs typeface="Calibri"/>
              </a:rPr>
              <a:t>contra,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etc)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4775" y="3934966"/>
            <a:ext cx="7269480" cy="2851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665" y="2259025"/>
            <a:ext cx="2298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</a:t>
            </a:r>
            <a:r>
              <a:rPr sz="4400" spc="-60" dirty="0"/>
              <a:t>r</a:t>
            </a:r>
            <a:r>
              <a:rPr sz="4400" dirty="0"/>
              <a:t>egu</a:t>
            </a:r>
            <a:r>
              <a:rPr sz="4400" spc="-25" dirty="0"/>
              <a:t>n</a:t>
            </a:r>
            <a:r>
              <a:rPr sz="4400" spc="-50" dirty="0"/>
              <a:t>t</a:t>
            </a:r>
            <a:r>
              <a:rPr sz="4400" dirty="0"/>
              <a:t>as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104132" y="4131550"/>
            <a:ext cx="1229868" cy="2028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1933</Words>
  <Application>Microsoft Office PowerPoint</Application>
  <PresentationFormat>Presentación en pantalla (4:3)</PresentationFormat>
  <Paragraphs>249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</vt:lpstr>
      <vt:lpstr>Calibri</vt:lpstr>
      <vt:lpstr>Times New Roman</vt:lpstr>
      <vt:lpstr>Trebuchet MS</vt:lpstr>
      <vt:lpstr>Wingdings 3</vt:lpstr>
      <vt:lpstr>Faceta</vt:lpstr>
      <vt:lpstr>GERENCIA DE PROYECTOS</vt:lpstr>
      <vt:lpstr>Agenda</vt:lpstr>
      <vt:lpstr>Grupos de proceso-áreas de conocimiento</vt:lpstr>
      <vt:lpstr>Grupo de Procesos de INICIACION</vt:lpstr>
      <vt:lpstr>Grupo de Procesos de INICIACION</vt:lpstr>
      <vt:lpstr>Desarrollar el Acta de Constitución de  Proyecto</vt:lpstr>
      <vt:lpstr>Desarrollar el Acta de Constitución de  Proyecto</vt:lpstr>
      <vt:lpstr>Desarrollar el Acta de Constitución de  Proyecto</vt:lpstr>
      <vt:lpstr>Desarrollar el Acta de Constitución de  Proyecto Entradas</vt:lpstr>
      <vt:lpstr>Desarrollar el Acta de Constitución de  Proyecto Entradas</vt:lpstr>
      <vt:lpstr>Desarrollar el Acta de Constitución de  Proyecto Entradas</vt:lpstr>
      <vt:lpstr>Desarrollar el Acta de Constitución de  Proyecto Entradas</vt:lpstr>
      <vt:lpstr>Desarrollar el Acta de Constitución de  Proyecto Entradas</vt:lpstr>
      <vt:lpstr>Desarrollar el Acta de Constitución de  Proyecto Entradas</vt:lpstr>
      <vt:lpstr>Desarrollar el Acta de Constitución de  Proyecto Técnicas y Herramientas</vt:lpstr>
      <vt:lpstr>Desarrollar el Acta de Constitución de  Proyecto Técnicas y Herramientas</vt:lpstr>
      <vt:lpstr>Desarrollar el Acta de Constitución de  Proyecto Salidas</vt:lpstr>
      <vt:lpstr>Desarrollar el Acta de Constitución de Proyecto Salidas</vt:lpstr>
      <vt:lpstr>Identificar a los Interesados</vt:lpstr>
      <vt:lpstr>Identificar a los Interesados</vt:lpstr>
      <vt:lpstr>Identificar a los Interesados Entradas</vt:lpstr>
      <vt:lpstr>Identificar a los Interesados Entradas</vt:lpstr>
      <vt:lpstr>Identificar a los Interesados Entradas</vt:lpstr>
      <vt:lpstr>Identificar a los Interesados Técnicas y  Herramientas</vt:lpstr>
      <vt:lpstr>Identificar a los Interesados Técnicas y  Herramientas</vt:lpstr>
      <vt:lpstr>Identificar a los Interesados Técnicas y  Herramientas</vt:lpstr>
      <vt:lpstr>Identificar a los Interesados Técnicas y  Herramientas</vt:lpstr>
      <vt:lpstr>Identificar a los Interesados Técnicas y  Herramientas</vt:lpstr>
      <vt:lpstr>Identificar a los Interesados Salidas</vt:lpstr>
      <vt:lpstr>Preguntas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 DE PROYECTOS</dc:title>
  <dc:creator>JuanCarlos</dc:creator>
  <cp:lastModifiedBy>IVAN ALARCON</cp:lastModifiedBy>
  <cp:revision>7</cp:revision>
  <dcterms:created xsi:type="dcterms:W3CDTF">2020-04-03T17:50:15Z</dcterms:created>
  <dcterms:modified xsi:type="dcterms:W3CDTF">2020-09-22T22:30:55Z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2020-04-03T00:00:00Z</vt:filetime>
  </property>
</Properties>
</file>